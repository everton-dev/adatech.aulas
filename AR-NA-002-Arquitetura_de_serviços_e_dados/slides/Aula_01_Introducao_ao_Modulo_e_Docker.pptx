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6" r:id="rId9"/>
    <p:sldId id="268" r:id="rId10"/>
    <p:sldId id="269" r:id="rId11"/>
    <p:sldId id="270" r:id="rId12"/>
    <p:sldId id="271" r:id="rId13"/>
    <p:sldId id="272" r:id="rId14"/>
    <p:sldId id="273" r:id="rId15"/>
    <p:sldId id="267" r:id="rId16"/>
    <p:sldId id="265" r:id="rId17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9"/>
      <p:bold r:id="rId20"/>
    </p:embeddedFon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Ubuntu" panose="020B0504030602030204" pitchFamily="34" charset="0"/>
      <p:regular r:id="rId25"/>
      <p:bold r:id="rId26"/>
      <p:italic r:id="rId27"/>
      <p:boldItalic r:id="rId28"/>
    </p:embeddedFont>
    <p:embeddedFont>
      <p:font typeface="Ubuntu Light" panose="020B0304030602030204" pitchFamily="34" charset="0"/>
      <p:regular r:id="rId29"/>
      <p:bold r:id="rId30"/>
      <p:italic r:id="rId31"/>
      <p:boldItalic r:id="rId32"/>
    </p:embeddedFont>
    <p:embeddedFont>
      <p:font typeface="Ubuntu Medium" panose="020B060403060203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font" Target="fonts/font18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a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 idx="2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sor">
  <p:cSld name="CUSTOM_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2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Limpo">
  <p:cSld name="CUSTOM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fismo ADA">
  <p:cSld name="CUSTOM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erramento" typ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BF0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3344482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900000"/>
            <a:ext cx="2400000" cy="1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0" b="1" i="0">
                <a:solidFill>
                  <a:srgbClr val="A6F750"/>
                </a:solidFill>
                <a:latin typeface="Ubuntu Ligh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50000"/>
            <a:ext cx="60000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Ubuntu Medium"/>
              </a:rPr>
              <a:t>AULA 01  ·  Segunda, 10/08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20000"/>
            <a:ext cx="6600000" cy="1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0" i="0">
                <a:solidFill>
                  <a:srgbClr val="181C23"/>
                </a:solidFill>
                <a:latin typeface="Ubuntu Medium"/>
              </a:rPr>
              <a:t>Introdução ao Módulo e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Ubuntu Light"/>
              </a:rPr>
              <a:t>Virtualização, containers e o começo de tudo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Ubuntu"/>
              </a:rPr>
              <a:t>Módulo · Arquitetura de Serviços e Dados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8A9C2-2A73-33D2-2899-4DA647301755}"/>
              </a:ext>
            </a:extLst>
          </p:cNvPr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466148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17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A6F750"/>
                </a:solidFill>
                <a:latin typeface="Ubuntu Medium"/>
              </a:rPr>
              <a:t>Seg 10/08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FFFDF8"/>
                </a:solidFill>
                <a:latin typeface="Ubuntu"/>
              </a:rPr>
              <a:t>Introdução ao Módulo e Docker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19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12/08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19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Servidores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42100" y="1596148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1996148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14/08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2100" y="2226148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Apache e Nginx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17/08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Proxy Reverso e DNS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519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19/08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19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CI/CD e Ciclo de Vida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42100" y="2751932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151932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21/08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42100" y="3381932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Cloud Computing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17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Seg 24/08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Arquitetura de Dados e Data Warehouse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519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 26/08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519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Data Lake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2100" y="3907716"/>
            <a:ext cx="2440200" cy="4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A6F750"/>
                </a:solidFill>
                <a:latin typeface="Ubuntu Medium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307716"/>
            <a:ext cx="24402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Sex 28/08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537716"/>
            <a:ext cx="2440200" cy="2457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181C23"/>
                </a:solidFill>
                <a:latin typeface="Ubuntu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346879-8B63-DF47-1482-183EDDD24361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BOAS-VINDAS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vamos aprender neste módulo?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Docker e containers: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empacotar aplicações de forma consistente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073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073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0773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Arquitetura de Servidores: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como os sistemas se organizam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43859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43859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40859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Apache, Nginx e Proxy Reverso: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os guardiões do tráfego web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76982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76982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73982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DNS: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o catálogo telefônico da internet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1010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1010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0710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CI/CD e Cloud: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automatizar e escalar com qualidade</a:t>
            </a:r>
          </a:p>
        </p:txBody>
      </p:sp>
      <p:sp>
        <p:nvSpPr>
          <p:cNvPr id="21" name="Oval 20"/>
          <p:cNvSpPr/>
          <p:nvPr/>
        </p:nvSpPr>
        <p:spPr>
          <a:xfrm>
            <a:off x="311700" y="34322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34322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00" y="34022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Dados: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Arquitetura de Dados, Data Warehouse e Data Lake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Pense neste módulo como montar uma pizzaria: cada tema é um ingrediente. No fim, você terá a pizza completa da Arquitetura de Serviços e Dados pronta para servir!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9A3A83-A6D8-581A-2B34-3D5895701E0F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VIRTUALIZAÇÃO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Máquinas Virtuais e o Hipervisor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00132"/>
            <a:ext cx="4394712" cy="252938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irtualizacao_hypervi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060132"/>
            <a:ext cx="4274712" cy="240938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886412" y="186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6412" y="186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dirty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412" y="1865484"/>
            <a:ext cx="3525888" cy="401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 err="1">
                <a:solidFill>
                  <a:srgbClr val="181C23"/>
                </a:solidFill>
                <a:latin typeface="Ubuntu Medium"/>
              </a:rPr>
              <a:t>Virtualização</a:t>
            </a:r>
            <a:r>
              <a:rPr lang="pt-PT" sz="1300" b="0" i="0" err="1">
                <a:solidFill>
                  <a:srgbClr val="181C23"/>
                </a:solidFill>
                <a:latin typeface="Ubuntu Medium"/>
              </a:rPr>
              <a:t>: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vários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ambientes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isolados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em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um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mesmo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hardware</a:t>
            </a:r>
          </a:p>
        </p:txBody>
      </p:sp>
      <p:sp>
        <p:nvSpPr>
          <p:cNvPr id="11" name="Oval 10"/>
          <p:cNvSpPr/>
          <p:nvPr/>
        </p:nvSpPr>
        <p:spPr>
          <a:xfrm>
            <a:off x="4886412" y="250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412" y="250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6412" y="2505484"/>
            <a:ext cx="3525888" cy="401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dirty="0" err="1">
                <a:solidFill>
                  <a:srgbClr val="181C23"/>
                </a:solidFill>
                <a:latin typeface="Ubuntu Medium"/>
              </a:rPr>
              <a:t>Hipervisor</a:t>
            </a:r>
            <a:r>
              <a:rPr lang="pt-PT" sz="1300" b="0" i="0" err="1">
                <a:solidFill>
                  <a:srgbClr val="181C23"/>
                </a:solidFill>
                <a:latin typeface="Ubuntu Medium"/>
              </a:rPr>
              <a:t>: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camada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que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divide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os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</a:t>
            </a:r>
            <a:r>
              <a:rPr sz="1300" b="0" i="0" dirty="0" err="1">
                <a:solidFill>
                  <a:srgbClr val="6A707D"/>
                </a:solidFill>
                <a:latin typeface="Ubuntu"/>
              </a:rPr>
              <a:t>recursos</a:t>
            </a:r>
            <a:r>
              <a:rPr lang="pt-PT" sz="1300" b="0" i="0" err="1">
                <a:solidFill>
                  <a:srgbClr val="6A707D"/>
                </a:solidFill>
                <a:latin typeface="Ubuntu"/>
              </a:rPr>
              <a:t> entre as VMs</a:t>
            </a:r>
          </a:p>
        </p:txBody>
      </p:sp>
      <p:sp>
        <p:nvSpPr>
          <p:cNvPr id="14" name="Oval 13"/>
          <p:cNvSpPr/>
          <p:nvPr/>
        </p:nvSpPr>
        <p:spPr>
          <a:xfrm>
            <a:off x="4886412" y="314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412" y="314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Cada VM: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tem seu próprio Sistema Operacional completo</a:t>
            </a:r>
          </a:p>
        </p:txBody>
      </p:sp>
      <p:sp>
        <p:nvSpPr>
          <p:cNvPr id="17" name="Oval 16"/>
          <p:cNvSpPr/>
          <p:nvPr/>
        </p:nvSpPr>
        <p:spPr>
          <a:xfrm>
            <a:off x="4886412" y="378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6412" y="378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Benefícios: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aproveitamento do hardware, flexibilidade e isolamento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5BBF62-2044-63F9-01E2-A691F032ECED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COMPARAÇÃO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Virtualização vs Conteinerização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50781" y="1686148"/>
            <a:ext cx="4442438" cy="2627352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vm_vs_contai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0781" y="1746148"/>
            <a:ext cx="4322438" cy="25073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1700" y="4253500"/>
            <a:ext cx="8520600" cy="3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A707D"/>
                </a:solidFill>
                <a:latin typeface="Ubuntu"/>
              </a:rPr>
              <a:t>Containers compartilham o kernel do host — mais leves que as VMs.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700" y="4683500"/>
            <a:ext cx="8520600" cy="1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0" i="1">
                <a:solidFill>
                  <a:srgbClr val="6A707D"/>
                </a:solidFill>
                <a:latin typeface="Ubuntu"/>
              </a:rPr>
              <a:t>Fonte: 4linux.com.br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071CB-13D2-F174-5607-43D0D7130393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o Docker? — Analogia do Condomínio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Terreno (SO Host):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 base onde tudo é construído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Prédio (Docker Engine):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compartilha CPU, memória e rede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Apartamentos (Containers):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cada app isolado em seu espaço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Planta (Dockerfile):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a receita de como construir o container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Catálogo (Docker Hub):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repositório de imagens prontas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Apartamentos num condomínio compartilham a estrutura (água, luz, elevador), mas cada um tem cozinha e banheiro próprios. Containers fazem o mesmo: compartilham o SO, mas isolam cada aplicação.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F9E787F-AF7A-D247-1364-C407A5CA7FE2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Docker na Prática — Comandos Essenciais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Estes são os comandos do dia a dia com Docker: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Verificar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versão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instalada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--version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Testar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instalação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run hello-world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Baixar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uma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imagem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e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rodar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nginx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na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porta 8080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pull nginx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run -d -p 8080:80 --name meu-nginx nginx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Listar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,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parar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e remover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</a:t>
            </a:r>
            <a:r>
              <a:rPr sz="1100" b="0" i="0" dirty="0" err="1">
                <a:solidFill>
                  <a:srgbClr val="A6F750"/>
                </a:solidFill>
                <a:latin typeface="Fira Code"/>
              </a:rPr>
              <a:t>ps</a:t>
            </a:r>
            <a:endParaRPr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stop meu-nginx &amp;&amp; docker rm meu-nginx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64ECC1-9234-AA45-3210-1F1A78131442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860D-F7E1-B410-F6EE-37551866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01E7B9A-0FB3-4206-BE76-2B5F459E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78B0DF-33C9-84C6-29D6-B3FC99F4A9CC}"/>
              </a:ext>
            </a:extLst>
          </p:cNvPr>
          <p:cNvSpPr txBox="1"/>
          <p:nvPr/>
        </p:nvSpPr>
        <p:spPr>
          <a:xfrm>
            <a:off x="311700" y="61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 dirty="0">
                <a:solidFill>
                  <a:srgbClr val="181C23"/>
                </a:solidFill>
                <a:latin typeface="Ubuntu Medium"/>
              </a:rPr>
              <a:t>Docker</a:t>
            </a:r>
            <a:r>
              <a:rPr lang="pt-PT" sz="2600" b="0" i="0">
                <a:solidFill>
                  <a:srgbClr val="181C23"/>
                </a:solidFill>
                <a:latin typeface="Ubuntu Medium"/>
              </a:rPr>
              <a:t> 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— </a:t>
            </a:r>
            <a:r>
              <a:rPr lang="pt-PT" sz="2600" b="0" i="0">
                <a:solidFill>
                  <a:srgbClr val="181C23"/>
                </a:solidFill>
                <a:latin typeface="Ubuntu Medium"/>
              </a:rPr>
              <a:t>Comandos</a:t>
            </a:r>
            <a:r>
              <a:rPr sz="2600" b="0" i="0" dirty="0">
                <a:solidFill>
                  <a:srgbClr val="181C23"/>
                </a:solidFill>
                <a:latin typeface="Ubuntu Medium"/>
              </a:rPr>
              <a:t> </a:t>
            </a:r>
            <a:r>
              <a:rPr lang="pt-PT" sz="2600" b="0" i="0">
                <a:solidFill>
                  <a:srgbClr val="181C23"/>
                </a:solidFill>
                <a:latin typeface="Ubuntu Medium"/>
              </a:rPr>
              <a:t>Essenciais</a:t>
            </a:r>
            <a:endParaRPr sz="2600" b="0" i="0" dirty="0">
              <a:solidFill>
                <a:srgbClr val="181C23"/>
              </a:solidFill>
              <a:latin typeface="Ubuntu Medium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2897E-077F-E2B0-800A-C6DD6C57944F}"/>
              </a:ext>
            </a:extLst>
          </p:cNvPr>
          <p:cNvSpPr/>
          <p:nvPr/>
        </p:nvSpPr>
        <p:spPr>
          <a:xfrm>
            <a:off x="321345" y="106125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302A5B-0FE9-8358-21C3-41391D620270}"/>
              </a:ext>
            </a:extLst>
          </p:cNvPr>
          <p:cNvSpPr/>
          <p:nvPr/>
        </p:nvSpPr>
        <p:spPr>
          <a:xfrm>
            <a:off x="311700" y="1161258"/>
            <a:ext cx="8520600" cy="3186149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894DED-1C20-DCFE-6C54-34EB0178987D}"/>
              </a:ext>
            </a:extLst>
          </p:cNvPr>
          <p:cNvSpPr/>
          <p:nvPr/>
        </p:nvSpPr>
        <p:spPr>
          <a:xfrm>
            <a:off x="311700" y="116125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CFFBAC-CCA1-C9EC-4EE0-4B920E9A61FB}"/>
              </a:ext>
            </a:extLst>
          </p:cNvPr>
          <p:cNvSpPr/>
          <p:nvPr/>
        </p:nvSpPr>
        <p:spPr>
          <a:xfrm>
            <a:off x="461700" y="124125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9673E0-1FC7-7039-E5D9-3AD279F9B5FE}"/>
              </a:ext>
            </a:extLst>
          </p:cNvPr>
          <p:cNvSpPr/>
          <p:nvPr/>
        </p:nvSpPr>
        <p:spPr>
          <a:xfrm>
            <a:off x="661700" y="124125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1C8CE8-34A7-5DA6-B1C9-69F050506385}"/>
              </a:ext>
            </a:extLst>
          </p:cNvPr>
          <p:cNvSpPr/>
          <p:nvPr/>
        </p:nvSpPr>
        <p:spPr>
          <a:xfrm>
            <a:off x="861700" y="124125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3F67E-A706-E9AC-B590-E969181CE052}"/>
              </a:ext>
            </a:extLst>
          </p:cNvPr>
          <p:cNvSpPr txBox="1"/>
          <p:nvPr/>
        </p:nvSpPr>
        <p:spPr>
          <a:xfrm>
            <a:off x="311700" y="116125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bash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BF35-A1C4-9E5A-18DF-509CE9063E5D}"/>
              </a:ext>
            </a:extLst>
          </p:cNvPr>
          <p:cNvSpPr txBox="1"/>
          <p:nvPr/>
        </p:nvSpPr>
        <p:spPr>
          <a:xfrm>
            <a:off x="511700" y="1521258"/>
            <a:ext cx="8120600" cy="2838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endParaRPr lang="pt-PT"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run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&lt;nome-da-imagem&gt;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run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it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&lt;nome da imagem&gt;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ps</a:t>
            </a:r>
            <a:endParaRPr lang="pt-PT"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ps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-a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run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-d &lt;nome da imagem&gt;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run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-d -p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porta-local:porta-conteiner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&lt;nome da imagem&gt;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stop &lt;id ou nome&gt;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start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&lt;id ou nome&gt;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start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it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&lt;id ou nome&gt;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run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–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name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nome_app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&lt;nome da imagem&gt;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logs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&lt;id ou nome&gt;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logs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-f &lt;id ou nome&gt;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docker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rm</a:t>
            </a:r>
            <a:r>
              <a:rPr lang="pt-PT" sz="1100" b="0" i="0" err="1">
                <a:solidFill>
                  <a:srgbClr val="A6F750"/>
                </a:solidFill>
                <a:latin typeface="Fira Code"/>
              </a:rPr>
              <a:t> &lt;id ou nome&gt;</a:t>
            </a:r>
          </a:p>
          <a:p>
            <a:pPr algn="l">
              <a:lnSpc>
                <a:spcPct val="112000"/>
              </a:lnSpc>
            </a:pPr>
            <a:endParaRPr sz="1100" b="0" i="0" dirty="0">
              <a:solidFill>
                <a:srgbClr val="A6F750"/>
              </a:solidFill>
              <a:latin typeface="Fira Cod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FF9476-9DF8-E3AA-3BF8-B20C48FBED8F}"/>
              </a:ext>
            </a:extLst>
          </p:cNvPr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8AEC1-8799-E6E0-F313-3FC8D869A478}"/>
              </a:ext>
            </a:extLst>
          </p:cNvPr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E3E51-E21D-C6A1-A66F-BD3317B7F5F2}"/>
              </a:ext>
            </a:extLst>
          </p:cNvPr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0005B-25FB-C255-68F0-DB323E20A74A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  <p:extLst>
      <p:ext uri="{BB962C8B-B14F-4D97-AF65-F5344CB8AC3E}">
        <p14:creationId xmlns:p14="http://schemas.microsoft.com/office/powerpoint/2010/main" val="2966573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o Dockerfile?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00132"/>
            <a:ext cx="4394712" cy="252938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 do fluxo do Docker: o Dockerfile gera uma imagem com docker build e a imagem gera containers com docker ru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185350"/>
            <a:ext cx="4274712" cy="215894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886412" y="186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6412" y="186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err="1">
                <a:solidFill>
                  <a:srgbClr val="181C23"/>
                </a:solidFill>
                <a:latin typeface="Ubuntu Medium"/>
              </a:rPr>
              <a:t>Receita da imagem: </a:t>
            </a:r>
            <a:r>
              <a:rPr sz="1300" b="0" i="0" err="1">
                <a:solidFill>
                  <a:srgbClr val="6A707D"/>
                </a:solidFill>
                <a:latin typeface="Ubuntu"/>
              </a:rPr>
              <a:t>arquivo de texto com as instruções para construir a imagem</a:t>
            </a:r>
          </a:p>
        </p:txBody>
      </p:sp>
      <p:sp>
        <p:nvSpPr>
          <p:cNvPr id="11" name="Oval 10"/>
          <p:cNvSpPr/>
          <p:nvPr/>
        </p:nvSpPr>
        <p:spPr>
          <a:xfrm>
            <a:off x="4886412" y="250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412" y="250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err="1">
                <a:solidFill>
                  <a:srgbClr val="181C23"/>
                </a:solidFill>
                <a:latin typeface="Ubuntu Medium"/>
              </a:rPr>
              <a:t>Para que serve: </a:t>
            </a:r>
            <a:r>
              <a:rPr sz="1300" b="0" i="0" err="1">
                <a:solidFill>
                  <a:srgbClr val="6A707D"/>
                </a:solidFill>
                <a:latin typeface="Ubuntu"/>
              </a:rPr>
              <a:t>automatiza o build do ambiente com docker build</a:t>
            </a:r>
          </a:p>
        </p:txBody>
      </p:sp>
      <p:sp>
        <p:nvSpPr>
          <p:cNvPr id="14" name="Oval 13"/>
          <p:cNvSpPr/>
          <p:nvPr/>
        </p:nvSpPr>
        <p:spPr>
          <a:xfrm>
            <a:off x="4886412" y="314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412" y="314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Por que usar: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o mesmo ambiente roda igual em qualquer máquina</a:t>
            </a:r>
          </a:p>
        </p:txBody>
      </p:sp>
      <p:sp>
        <p:nvSpPr>
          <p:cNvPr id="17" name="Oval 16"/>
          <p:cNvSpPr/>
          <p:nvPr/>
        </p:nvSpPr>
        <p:spPr>
          <a:xfrm>
            <a:off x="4886412" y="378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6412" y="378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Vantagens: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versionável no Git, reproduzível e fácil de compartilhar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02A30F-943A-11AE-EDB3-0AD4720E35EE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SINTAXE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Principais instruções do Dockerfile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FROM: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define a imagem base a partir da qual você constrói a sua imagem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1073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1700" y="21073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0773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RUN: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executa comandos durante a construção, como instalar pacotes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43859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1700" y="243859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40859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COPY: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copia arquivos do host para dentro da imagem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276982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1700" y="276982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273982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WORKDIR: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define o diretório de trabalho dentro da imagem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31010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700" y="31010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3071048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EXPOSE: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informa a porta em que a aplicação do contêiner vai escutar</a:t>
            </a:r>
          </a:p>
        </p:txBody>
      </p:sp>
      <p:sp>
        <p:nvSpPr>
          <p:cNvPr id="21" name="Oval 20"/>
          <p:cNvSpPr/>
          <p:nvPr/>
        </p:nvSpPr>
        <p:spPr>
          <a:xfrm>
            <a:off x="311700" y="3432273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700" y="3432273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700" y="3402273"/>
            <a:ext cx="8020600" cy="331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CMD: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comando padrão executado quando o contêiner é iniciado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Ubuntu"/>
              </a:rPr>
              <a:t>O Dockerfile é a receita de bolo: FROM é a massa pronta, RUN e COPY são os ingredientes que você acrescenta, e o CMD é o momento de servir. Cada instrução vira uma camada da imagem.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EDEE5E-71E2-62A0-CB2A-44C9C033F6CB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860D-F7E1-B410-F6EE-37551866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01E7B9A-0FB3-4206-BE76-2B5F459E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78B0DF-33C9-84C6-29D6-B3FC99F4A9CC}"/>
              </a:ext>
            </a:extLst>
          </p:cNvPr>
          <p:cNvSpPr txBox="1"/>
          <p:nvPr/>
        </p:nvSpPr>
        <p:spPr>
          <a:xfrm>
            <a:off x="311700" y="616148"/>
            <a:ext cx="852060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Exemplos de Dockerfile — Ubuntu e Nginx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12897E-077F-E2B0-800A-C6DD6C57944F}"/>
              </a:ext>
            </a:extLst>
          </p:cNvPr>
          <p:cNvSpPr/>
          <p:nvPr/>
        </p:nvSpPr>
        <p:spPr>
          <a:xfrm>
            <a:off x="321345" y="106125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302A5B-0FE9-8358-21C3-41391D620270}"/>
              </a:ext>
            </a:extLst>
          </p:cNvPr>
          <p:cNvSpPr/>
          <p:nvPr/>
        </p:nvSpPr>
        <p:spPr>
          <a:xfrm>
            <a:off x="311700" y="1161258"/>
            <a:ext cx="8520600" cy="3186149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894DED-1C20-DCFE-6C54-34EB0178987D}"/>
              </a:ext>
            </a:extLst>
          </p:cNvPr>
          <p:cNvSpPr/>
          <p:nvPr/>
        </p:nvSpPr>
        <p:spPr>
          <a:xfrm>
            <a:off x="311700" y="116125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5CFFBAC-CCA1-C9EC-4EE0-4B920E9A61FB}"/>
              </a:ext>
            </a:extLst>
          </p:cNvPr>
          <p:cNvSpPr/>
          <p:nvPr/>
        </p:nvSpPr>
        <p:spPr>
          <a:xfrm>
            <a:off x="461700" y="124125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9673E0-1FC7-7039-E5D9-3AD279F9B5FE}"/>
              </a:ext>
            </a:extLst>
          </p:cNvPr>
          <p:cNvSpPr/>
          <p:nvPr/>
        </p:nvSpPr>
        <p:spPr>
          <a:xfrm>
            <a:off x="661700" y="124125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1C8CE8-34A7-5DA6-B1C9-69F050506385}"/>
              </a:ext>
            </a:extLst>
          </p:cNvPr>
          <p:cNvSpPr/>
          <p:nvPr/>
        </p:nvSpPr>
        <p:spPr>
          <a:xfrm>
            <a:off x="861700" y="124125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83F67E-A706-E9AC-B590-E969181CE052}"/>
              </a:ext>
            </a:extLst>
          </p:cNvPr>
          <p:cNvSpPr txBox="1"/>
          <p:nvPr/>
        </p:nvSpPr>
        <p:spPr>
          <a:xfrm>
            <a:off x="311700" y="116125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Dockerfile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AFBF35-A1C4-9E5A-18DF-509CE9063E5D}"/>
              </a:ext>
            </a:extLst>
          </p:cNvPr>
          <p:cNvSpPr txBox="1"/>
          <p:nvPr/>
        </p:nvSpPr>
        <p:spPr>
          <a:xfrm>
            <a:off x="511700" y="1521258"/>
            <a:ext cx="8120600" cy="2838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endParaRPr lang="pt-PT"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9AA1AF"/>
                </a:solidFill>
                <a:latin typeface="Fira Code"/>
              </a:rPr>
              <a:t># Exemplo 1 — </a:t>
            </a:r>
            <a:r>
              <a:rPr lang="pt-PT" sz="1100" b="0" i="0" dirty="0" err="1">
                <a:solidFill>
                  <a:srgbClr val="9AA1AF"/>
                </a:solidFill>
                <a:latin typeface="Fira Code"/>
              </a:rPr>
              <a:t>contêiner</a:t>
            </a:r>
            <a:r>
              <a:rPr lang="pt-PT" sz="1100" b="0" i="0" dirty="0">
                <a:solidFill>
                  <a:srgbClr val="9AA1AF"/>
                </a:solidFill>
                <a:latin typeface="Fira Code"/>
              </a:rPr>
              <a:t> Ubuntu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FROM ubuntu:22.04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RUN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apt-get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update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&amp;&amp;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apt-get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install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-y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curl</a:t>
            </a:r>
            <a:endParaRPr lang="pt-PT"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WORKDIR /app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COPY . /app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CMD ["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bash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"]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9AA1AF"/>
                </a:solidFill>
                <a:latin typeface="Fira Code"/>
              </a:rPr>
              <a:t># Exemplo 2 — servidor web </a:t>
            </a:r>
            <a:r>
              <a:rPr lang="pt-PT" sz="1100" b="0" i="0" dirty="0" err="1">
                <a:solidFill>
                  <a:srgbClr val="9AA1AF"/>
                </a:solidFill>
                <a:latin typeface="Fira Code"/>
              </a:rPr>
              <a:t>Nginx</a:t>
            </a:r>
            <a:endParaRPr lang="pt-PT" sz="1100" b="0" i="0" dirty="0">
              <a:solidFill>
                <a:srgbClr val="9AA1AF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FROM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nginx:alpine</a:t>
            </a:r>
            <a:endParaRPr lang="pt-PT"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COPY ./site /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usr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/share/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nginx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/html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EXPOSE 80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CMD ["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nginx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", "-g", "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daemon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</a:t>
            </a:r>
            <a:r>
              <a:rPr lang="pt-PT" sz="1100" b="0" i="0" dirty="0" err="1">
                <a:solidFill>
                  <a:srgbClr val="A6F750"/>
                </a:solidFill>
                <a:latin typeface="Fira Code"/>
              </a:rPr>
              <a:t>off</a:t>
            </a: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;"]</a:t>
            </a:r>
          </a:p>
          <a:p>
            <a:pPr algn="l">
              <a:lnSpc>
                <a:spcPct val="112000"/>
              </a:lnSpc>
            </a:pPr>
            <a:r>
              <a:rPr lang="pt-PT" sz="1100" b="0" i="0" dirty="0">
                <a:solidFill>
                  <a:srgbClr val="A6F750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endParaRPr sz="1100" b="0" i="0" dirty="0">
              <a:solidFill>
                <a:srgbClr val="A6F750"/>
              </a:solidFill>
              <a:latin typeface="Fira Code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FF9476-9DF8-E3AA-3BF8-B20C48FBED8F}"/>
              </a:ext>
            </a:extLst>
          </p:cNvPr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F8AEC1-8799-E6E0-F313-3FC8D869A478}"/>
              </a:ext>
            </a:extLst>
          </p:cNvPr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E3E51-E21D-C6A1-A66F-BD3317B7F5F2}"/>
              </a:ext>
            </a:extLst>
          </p:cNvPr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56778F-A343-F6A7-AB7B-4A4A79087704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  <p:extLst>
      <p:ext uri="{BB962C8B-B14F-4D97-AF65-F5344CB8AC3E}">
        <p14:creationId xmlns:p14="http://schemas.microsoft.com/office/powerpoint/2010/main" val="2966573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Dockerfile na Prática — do build ao contêiner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Crie um Dockerfile na pasta do projeto e execute: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1.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Criar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o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arquivo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Dockerfile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na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pasta do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projeto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nano </a:t>
            </a:r>
            <a:r>
              <a:rPr sz="1100" b="0" i="0" dirty="0" err="1">
                <a:solidFill>
                  <a:srgbClr val="A6F750"/>
                </a:solidFill>
                <a:latin typeface="Fira Code"/>
              </a:rPr>
              <a:t>Dockerfile</a:t>
            </a:r>
            <a:endParaRPr sz="1100" b="0" i="0" dirty="0">
              <a:solidFill>
                <a:srgbClr val="A6F750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2.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Construir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imagem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(o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ponto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=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diretório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atual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build -t meu-site:1.0 .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3.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Conferir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a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imagem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e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subir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o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contêiner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images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run -d -p 8080:80 --name site meu-site:1.0</a:t>
            </a:r>
          </a:p>
          <a:p>
            <a:pPr algn="l">
              <a:lnSpc>
                <a:spcPct val="112000"/>
              </a:lnSpc>
            </a:pPr>
            <a:r>
              <a:rPr sz="600" b="0" i="0" dirty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6A707D"/>
                </a:solidFill>
                <a:latin typeface="Fira Code"/>
              </a:rPr>
              <a:t># 4. Testar,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ver</a:t>
            </a:r>
            <a:r>
              <a:rPr sz="1100" b="0" i="0" dirty="0">
                <a:solidFill>
                  <a:srgbClr val="6A707D"/>
                </a:solidFill>
                <a:latin typeface="Fira Code"/>
              </a:rPr>
              <a:t> logs e </a:t>
            </a:r>
            <a:r>
              <a:rPr sz="1100" b="0" i="0" dirty="0" err="1">
                <a:solidFill>
                  <a:srgbClr val="6A707D"/>
                </a:solidFill>
                <a:latin typeface="Fira Code"/>
              </a:rPr>
              <a:t>limpar</a:t>
            </a:r>
            <a:endParaRPr sz="1100" b="0" i="0" dirty="0">
              <a:solidFill>
                <a:srgbClr val="6A707D"/>
              </a:solidFill>
              <a:latin typeface="Fira Code"/>
            </a:endParaRP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curl localhost:8080 &amp;&amp; docker logs site</a:t>
            </a:r>
          </a:p>
          <a:p>
            <a:pPr algn="l">
              <a:lnSpc>
                <a:spcPct val="112000"/>
              </a:lnSpc>
            </a:pPr>
            <a:r>
              <a:rPr sz="1100" b="0" i="0" dirty="0">
                <a:solidFill>
                  <a:srgbClr val="A6F750"/>
                </a:solidFill>
                <a:latin typeface="Fira Code"/>
              </a:rPr>
              <a:t>docker stop site &amp;&amp; docker rm 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A53EBB-4AD0-2ECC-B18A-139D2E200822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DOCKER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O que é o Docker Hub?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1700" y="2000132"/>
            <a:ext cx="4394712" cy="2529383"/>
          </a:xfrm>
          <a:prstGeom prst="roundRect">
            <a:avLst>
              <a:gd name="adj" fmla="val 4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iagrama do Docker Hub como registro central: a máquina do desenvolvedor envia a imagem com docker push e o servidor a baixa com docker pul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6" y="2073642"/>
            <a:ext cx="3590000" cy="238236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886412" y="186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86412" y="186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412" y="174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err="1">
                <a:solidFill>
                  <a:srgbClr val="181C23"/>
                </a:solidFill>
                <a:latin typeface="Ubuntu Medium"/>
              </a:rPr>
              <a:t>Repositório de imagens: </a:t>
            </a:r>
            <a:r>
              <a:rPr sz="1300" b="0" i="0" err="1">
                <a:solidFill>
                  <a:srgbClr val="6A707D"/>
                </a:solidFill>
                <a:latin typeface="Ubuntu"/>
              </a:rPr>
              <a:t>registro público na nuvem onde as imagens Docker ficam</a:t>
            </a:r>
          </a:p>
        </p:txBody>
      </p:sp>
      <p:sp>
        <p:nvSpPr>
          <p:cNvPr id="11" name="Oval 10"/>
          <p:cNvSpPr/>
          <p:nvPr/>
        </p:nvSpPr>
        <p:spPr>
          <a:xfrm>
            <a:off x="4886412" y="250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6412" y="250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6412" y="238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 err="1">
                <a:solidFill>
                  <a:srgbClr val="181C23"/>
                </a:solidFill>
                <a:latin typeface="Ubuntu Medium"/>
              </a:rPr>
              <a:t>Para que serve: </a:t>
            </a:r>
            <a:r>
              <a:rPr sz="1300" b="0" i="0" err="1">
                <a:solidFill>
                  <a:srgbClr val="6A707D"/>
                </a:solidFill>
                <a:latin typeface="Ubuntu"/>
              </a:rPr>
              <a:t>armazenar, versionar e distribuir imagens com push e pull</a:t>
            </a:r>
          </a:p>
        </p:txBody>
      </p:sp>
      <p:sp>
        <p:nvSpPr>
          <p:cNvPr id="14" name="Oval 13"/>
          <p:cNvSpPr/>
          <p:nvPr/>
        </p:nvSpPr>
        <p:spPr>
          <a:xfrm>
            <a:off x="4886412" y="314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86412" y="314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6412" y="302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Por que usar: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milhares de imagens oficiais prontas: nginx, python, mysql</a:t>
            </a:r>
          </a:p>
        </p:txBody>
      </p:sp>
      <p:sp>
        <p:nvSpPr>
          <p:cNvPr id="17" name="Oval 16"/>
          <p:cNvSpPr/>
          <p:nvPr/>
        </p:nvSpPr>
        <p:spPr>
          <a:xfrm>
            <a:off x="4886412" y="3783134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6412" y="3783134"/>
            <a:ext cx="2600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181C23"/>
                </a:solidFill>
                <a:latin typeface="Ubuntu Medium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6412" y="3666148"/>
            <a:ext cx="3525888" cy="64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 Medium"/>
              </a:rPr>
              <a:t>Vantagens: </a:t>
            </a:r>
            <a:r>
              <a:rPr sz="1300" b="0" i="0">
                <a:solidFill>
                  <a:srgbClr val="6A707D"/>
                </a:solidFill>
                <a:latin typeface="Ubuntu"/>
              </a:rPr>
              <a:t>compartilhe sua imagem com o time e implante em qualquer servidor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FCD547-371E-D9B3-2F5A-45AA8599C976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MÃO NA MASSA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Publicando uma imagem no Docker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1700" y="1746148"/>
            <a:ext cx="8520600" cy="3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6A707D"/>
                </a:solidFill>
                <a:latin typeface="Ubuntu"/>
              </a:rPr>
              <a:t>Crie sua conta no hub.docker.com e execute: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1700" y="2126148"/>
            <a:ext cx="8520600" cy="2657352"/>
          </a:xfrm>
          <a:prstGeom prst="roundRect">
            <a:avLst>
              <a:gd name="adj" fmla="val 3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11700" y="2126148"/>
            <a:ext cx="8520600" cy="260000"/>
          </a:xfrm>
          <a:prstGeom prst="roundRect">
            <a:avLst>
              <a:gd name="adj" fmla="val 3000"/>
            </a:avLst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700" y="2206148"/>
            <a:ext cx="100000" cy="100000"/>
          </a:xfrm>
          <a:prstGeom prst="ellipse">
            <a:avLst/>
          </a:prstGeom>
          <a:solidFill>
            <a:srgbClr val="FF2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1700" y="2206148"/>
            <a:ext cx="100000" cy="10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1700" y="2206148"/>
            <a:ext cx="100000" cy="1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00" y="2126148"/>
            <a:ext cx="8520600" cy="26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0">
                <a:solidFill>
                  <a:srgbClr val="6A707D"/>
                </a:solidFill>
                <a:latin typeface="Fira Code"/>
              </a:rPr>
              <a:t>bash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00" y="2486148"/>
            <a:ext cx="8120600" cy="2197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Fira Code"/>
              </a:rPr>
              <a:t># 1. Autenticar na sua conta do Docker Hub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docker login -u seu-usuario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Fira Code"/>
              </a:rPr>
              <a:t># 2. Marcar a imagem com usuario/repositorio:tag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docker tag meu-site:1.0 seu-usuario/meu-site:1.0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Fira Code"/>
              </a:rPr>
              <a:t># 3. Enviar a imagem para o Docker Hub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docker push seu-usuario/meu-site:1.0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600" b="0" i="0">
                <a:solidFill>
                  <a:srgbClr val="181C23"/>
                </a:solidFill>
                <a:latin typeface="Fira Code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A707D"/>
                </a:solidFill>
                <a:latin typeface="Fira Code"/>
              </a:rPr>
              <a:t># 4. Baixar e rodar a imagem em qualquer máquina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docker pull seu-usuario/meu-site:1.0</a:t>
            </a:r>
          </a:p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A6F750"/>
                </a:solidFill>
                <a:latin typeface="Fira Code"/>
              </a:rPr>
              <a:t>docker run -d -p 8080:80 seu-usuario/meu-site:1.0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0B4B74-66DC-0D92-5805-B45D6837B205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5FBA4-F0E1-8176-CF87-CE75D0A3C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EC7D72CC-5C78-982D-042F-E6EB5A83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2E638B-1F9C-6CA9-93BC-A33F94CD2F24}"/>
              </a:ext>
            </a:extLst>
          </p:cNvPr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QUALIDADE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7582B-57FF-D157-D393-56F818E81EDA}"/>
              </a:ext>
            </a:extLst>
          </p:cNvPr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Boas Práticas com Docker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3CE725-A4F2-17CB-E906-8C7A7272C87A}"/>
              </a:ext>
            </a:extLst>
          </p:cNvPr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8FBB84-7E67-23C4-D8C7-D0C13ABB6BE8}"/>
              </a:ext>
            </a:extLst>
          </p:cNvPr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9F708A-C420-AC44-6C33-63A3562A26ED}"/>
              </a:ext>
            </a:extLst>
          </p:cNvPr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B0CAF0-7551-2393-1CD6-5674839D033E}"/>
              </a:ext>
            </a:extLst>
          </p:cNvPr>
          <p:cNvSpPr txBox="1"/>
          <p:nvPr/>
        </p:nvSpPr>
        <p:spPr>
          <a:xfrm>
            <a:off x="811700" y="174614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Imagens oficiais: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do Docker Hub — mais seguras e atualizadas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C41BB4-C891-5EF6-0EE2-00F7E67EAA59}"/>
              </a:ext>
            </a:extLst>
          </p:cNvPr>
          <p:cNvSpPr/>
          <p:nvPr/>
        </p:nvSpPr>
        <p:spPr>
          <a:xfrm>
            <a:off x="311700" y="217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B990A-2317-2CFD-A949-01F6B373FCB4}"/>
              </a:ext>
            </a:extLst>
          </p:cNvPr>
          <p:cNvSpPr txBox="1"/>
          <p:nvPr/>
        </p:nvSpPr>
        <p:spPr>
          <a:xfrm>
            <a:off x="311700" y="217361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3234A9-6564-49F1-BA4C-924F5F6F2CF2}"/>
              </a:ext>
            </a:extLst>
          </p:cNvPr>
          <p:cNvSpPr txBox="1"/>
          <p:nvPr/>
        </p:nvSpPr>
        <p:spPr>
          <a:xfrm>
            <a:off x="811700" y="214361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Imagens mínimas: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prefira Alpine para reduzir tamanho e riscos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E66E57C-6547-2C1F-8673-C4CCD4560778}"/>
              </a:ext>
            </a:extLst>
          </p:cNvPr>
          <p:cNvSpPr/>
          <p:nvPr/>
        </p:nvSpPr>
        <p:spPr>
          <a:xfrm>
            <a:off x="311700" y="257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FD8561-DD5A-2B8D-8C2A-16CCFF82A324}"/>
              </a:ext>
            </a:extLst>
          </p:cNvPr>
          <p:cNvSpPr txBox="1"/>
          <p:nvPr/>
        </p:nvSpPr>
        <p:spPr>
          <a:xfrm>
            <a:off x="311700" y="257108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564E58-D496-67BA-244A-68D3EBF4353D}"/>
              </a:ext>
            </a:extLst>
          </p:cNvPr>
          <p:cNvSpPr txBox="1"/>
          <p:nvPr/>
        </p:nvSpPr>
        <p:spPr>
          <a:xfrm>
            <a:off x="811700" y="254108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Ubuntu Medium"/>
              </a:rPr>
              <a:t>Ordene o Dockerfile: </a:t>
            </a:r>
            <a:r>
              <a:rPr sz="1400" b="0" i="0">
                <a:solidFill>
                  <a:srgbClr val="6A707D"/>
                </a:solidFill>
                <a:latin typeface="Ubuntu"/>
              </a:rPr>
              <a:t>do que muda menos para o que muda mais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02B8852-B060-27D3-381D-E01234DEE173}"/>
              </a:ext>
            </a:extLst>
          </p:cNvPr>
          <p:cNvSpPr/>
          <p:nvPr/>
        </p:nvSpPr>
        <p:spPr>
          <a:xfrm>
            <a:off x="311700" y="296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750C94-6AA6-DCA5-754B-215EC59BF0B5}"/>
              </a:ext>
            </a:extLst>
          </p:cNvPr>
          <p:cNvSpPr txBox="1"/>
          <p:nvPr/>
        </p:nvSpPr>
        <p:spPr>
          <a:xfrm>
            <a:off x="311700" y="296855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3DDBD3-2949-9F8D-7E3D-28AB266A02E1}"/>
              </a:ext>
            </a:extLst>
          </p:cNvPr>
          <p:cNvSpPr txBox="1"/>
          <p:nvPr/>
        </p:nvSpPr>
        <p:spPr>
          <a:xfrm>
            <a:off x="811700" y="293855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 err="1">
                <a:solidFill>
                  <a:srgbClr val="181C23"/>
                </a:solidFill>
                <a:latin typeface="Ubuntu Medium"/>
              </a:rPr>
              <a:t>Isolamento</a:t>
            </a:r>
            <a:r>
              <a:rPr sz="1400" b="0" i="0" dirty="0">
                <a:solidFill>
                  <a:srgbClr val="181C23"/>
                </a:solidFill>
                <a:latin typeface="Ubuntu Medium"/>
              </a:rPr>
              <a:t> de rede: 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use redes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personalizadas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entre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serviços</a:t>
            </a:r>
            <a:endParaRPr sz="14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A43443B-BC88-0D60-4D44-05F3B2ECB131}"/>
              </a:ext>
            </a:extLst>
          </p:cNvPr>
          <p:cNvSpPr/>
          <p:nvPr/>
        </p:nvSpPr>
        <p:spPr>
          <a:xfrm>
            <a:off x="311700" y="336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EDCA5B-CF2F-1077-271D-AFCBD7F2B16C}"/>
              </a:ext>
            </a:extLst>
          </p:cNvPr>
          <p:cNvSpPr txBox="1"/>
          <p:nvPr/>
        </p:nvSpPr>
        <p:spPr>
          <a:xfrm>
            <a:off x="311700" y="336602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Ubuntu Medium"/>
              </a:rPr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C6134D-E22E-7F33-CB41-9764001A81AA}"/>
              </a:ext>
            </a:extLst>
          </p:cNvPr>
          <p:cNvSpPr txBox="1"/>
          <p:nvPr/>
        </p:nvSpPr>
        <p:spPr>
          <a:xfrm>
            <a:off x="811700" y="3336028"/>
            <a:ext cx="8020600" cy="39747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 dirty="0">
                <a:solidFill>
                  <a:srgbClr val="181C23"/>
                </a:solidFill>
                <a:latin typeface="Ubuntu Medium"/>
              </a:rPr>
              <a:t>Nunca: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armazene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senhas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ou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tokens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dentro</a:t>
            </a:r>
            <a:r>
              <a:rPr sz="1400" b="0" i="0" dirty="0">
                <a:solidFill>
                  <a:srgbClr val="6A707D"/>
                </a:solidFill>
                <a:latin typeface="Ubuntu"/>
              </a:rPr>
              <a:t> da </a:t>
            </a:r>
            <a:r>
              <a:rPr sz="1400" b="0" i="0" dirty="0" err="1">
                <a:solidFill>
                  <a:srgbClr val="6A707D"/>
                </a:solidFill>
                <a:latin typeface="Ubuntu"/>
              </a:rPr>
              <a:t>imagem</a:t>
            </a:r>
            <a:endParaRPr sz="1400" b="0" i="0" dirty="0">
              <a:solidFill>
                <a:srgbClr val="6A707D"/>
              </a:solidFill>
              <a:latin typeface="Ubuntu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91610C3-A069-1F3A-F471-39882BC2D8DA}"/>
              </a:ext>
            </a:extLst>
          </p:cNvPr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766CB2E-39BD-4A54-1690-8D45B7FAF7DA}"/>
              </a:ext>
            </a:extLst>
          </p:cNvPr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C5D908-5646-4613-C498-74ED493CD54B}"/>
              </a:ext>
            </a:extLst>
          </p:cNvPr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💡 ANALOGIA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E804BD-18FE-8FDB-BC6A-4BBE1584C1C2}"/>
              </a:ext>
            </a:extLst>
          </p:cNvPr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 dirty="0">
                <a:solidFill>
                  <a:srgbClr val="181C23"/>
                </a:solidFill>
                <a:latin typeface="Ubuntu"/>
              </a:rPr>
              <a:t>É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como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arrumar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a mochila de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viagem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: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na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base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usa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por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último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(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dependências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fixas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), no topo o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que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abre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primeiro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(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seu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código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). Assim o Docker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aproveita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o cache e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constrói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mais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 </a:t>
            </a:r>
            <a:r>
              <a:rPr sz="1300" b="0" i="1" dirty="0" err="1">
                <a:solidFill>
                  <a:srgbClr val="181C23"/>
                </a:solidFill>
                <a:latin typeface="Ubuntu"/>
              </a:rPr>
              <a:t>rápido</a:t>
            </a:r>
            <a:r>
              <a:rPr sz="1300" b="0" i="1" dirty="0">
                <a:solidFill>
                  <a:srgbClr val="181C23"/>
                </a:solidFill>
                <a:latin typeface="Ubuntu"/>
              </a:rPr>
              <a:t>!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71573A-03BC-6B70-C4E4-E610C60303E9}"/>
              </a:ext>
            </a:extLst>
          </p:cNvPr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06C12E-36C6-E68D-B5D4-3110FE078675}"/>
              </a:ext>
            </a:extLst>
          </p:cNvPr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3A432A-142E-BC08-619D-B357243B99F7}"/>
              </a:ext>
            </a:extLst>
          </p:cNvPr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769A165-78A7-B358-4214-91DECF3C3162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  <p:extLst>
      <p:ext uri="{BB962C8B-B14F-4D97-AF65-F5344CB8AC3E}">
        <p14:creationId xmlns:p14="http://schemas.microsoft.com/office/powerpoint/2010/main" val="15147883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t="900" b="529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Ubuntu Medium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Ubuntu Medium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Virtualização cria VMs com SO completo; containers compartilham o kernel — mais leves e rápidos.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Docker empacota a aplicação com todas as dependências, acabando com o 'funciona na minha máquina'.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Comandos essenciais: pull, run, ps, stop, rm, logs.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Ubuntu Medium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Ubuntu"/>
              </a:rPr>
              <a:t>Boas práticas: imagens oficiais, Alpine e nunca segredos na imagem.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6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Ubuntu"/>
              </a:rPr>
              <a:t>Ada · AR-NA-002 · Arquitetura de Serviços e 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23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Ubuntu Medium"/>
              </a:rPr>
              <a:t>Aula 01 — Introdução ao Módulo e Docker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F537AD-599A-BBB9-648E-7BB04B008F80}"/>
              </a:ext>
            </a:extLst>
          </p:cNvPr>
          <p:cNvSpPr txBox="1"/>
          <p:nvPr/>
        </p:nvSpPr>
        <p:spPr>
          <a:xfrm>
            <a:off x="3072000" y="4883500"/>
            <a:ext cx="3000000" cy="2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0" i="0" dirty="0">
                <a:solidFill>
                  <a:srgbClr val="181C23"/>
                </a:solidFill>
                <a:latin typeface="Ubuntu Medium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1615</Words>
  <Application>Microsoft Office PowerPoint</Application>
  <PresentationFormat>On-screen Show (16:9)</PresentationFormat>
  <Paragraphs>266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Lato</vt:lpstr>
      <vt:lpstr>Ubuntu Light</vt:lpstr>
      <vt:lpstr>Fira Code</vt:lpstr>
      <vt:lpstr>Arial</vt:lpstr>
      <vt:lpstr>Ubuntu Medium</vt:lpstr>
      <vt:lpstr>Ubuntu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Benedicto, Everton Jose (SI IT VC PES PLT)</cp:lastModifiedBy>
  <cp:revision>7</cp:revision>
  <dcterms:modified xsi:type="dcterms:W3CDTF">2026-08-10T21:11:11Z</dcterms:modified>
</cp:coreProperties>
</file>