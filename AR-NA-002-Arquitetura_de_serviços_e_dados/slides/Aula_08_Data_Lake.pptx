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3"/>
  </p:notesMasterIdLst>
  <p:sldIdLst>
    <p:sldId id="256" r:id="rId2"/>
    <p:sldId id="257" r:id="rId3"/>
    <p:sldId id="266" r:id="rId4"/>
    <p:sldId id="264" r:id="rId5"/>
    <p:sldId id="259" r:id="rId6"/>
    <p:sldId id="270" r:id="rId7"/>
    <p:sldId id="271" r:id="rId8"/>
    <p:sldId id="260" r:id="rId9"/>
    <p:sldId id="261" r:id="rId10"/>
    <p:sldId id="262" r:id="rId11"/>
    <p:sldId id="263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Ubuntu" panose="020B0504030602030204" pitchFamily="34" charset="0"/>
      <p:regular r:id="rId18"/>
      <p:bold r:id="rId19"/>
      <p:italic r:id="rId20"/>
      <p:boldItalic r:id="rId21"/>
    </p:embeddedFont>
    <p:embeddedFont>
      <p:font typeface="Ubuntu Light" panose="020B0304030602030204" pitchFamily="34" charset="0"/>
      <p:regular r:id="rId22"/>
      <p:bold r:id="rId23"/>
      <p:italic r:id="rId24"/>
      <p:boldItalic r:id="rId25"/>
    </p:embeddedFont>
    <p:embeddedFont>
      <p:font typeface="Ubuntu Medium" panose="020B060403060203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44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sor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Limpo">
  <p:cSld name="CUSTOM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fismo ADA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erramento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3344482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900000"/>
            <a:ext cx="2400000" cy="142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/>
            <a:r>
              <a:rPr sz="13000" b="1" i="0">
                <a:solidFill>
                  <a:srgbClr val="A6F750"/>
                </a:solidFill>
                <a:latin typeface="Ubuntu Light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50000"/>
            <a:ext cx="6000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2371FF"/>
                </a:solidFill>
                <a:latin typeface="Ubuntu Medium"/>
              </a:rPr>
              <a:t>AULA 08  ·  </a:t>
            </a:r>
            <a:r>
              <a:rPr lang="pt-PT" sz="1300" b="0" i="0" dirty="0">
                <a:solidFill>
                  <a:srgbClr val="2371FF"/>
                </a:solidFill>
                <a:latin typeface="Ubuntu Medium"/>
              </a:rPr>
              <a:t>Terça</a:t>
            </a:r>
            <a:r>
              <a:rPr sz="1300" b="0" i="0" dirty="0">
                <a:solidFill>
                  <a:srgbClr val="2371FF"/>
                </a:solidFill>
                <a:latin typeface="Ubuntu Medium"/>
              </a:rPr>
              <a:t>, 2</a:t>
            </a:r>
            <a:r>
              <a:rPr lang="pt-PT" sz="1300" b="0" i="0" dirty="0">
                <a:solidFill>
                  <a:srgbClr val="2371FF"/>
                </a:solidFill>
                <a:latin typeface="Ubuntu Medium"/>
              </a:rPr>
              <a:t>5</a:t>
            </a:r>
            <a:r>
              <a:rPr sz="13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20000"/>
            <a:ext cx="66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81C23"/>
                </a:solidFill>
                <a:latin typeface="Ubuntu Medium"/>
              </a:rPr>
              <a:t>Data 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Ubuntu Light"/>
              </a:rPr>
              <a:t>Big Data e arquiteturas de dados modernas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Ubuntu"/>
              </a:rPr>
              <a:t>Módulo · Arquitetura de Serviços 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00" y="1596148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10/08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Introdução ao Módulo e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1900" y="1596148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12/08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Arquitetura de Servidores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2100" y="1596148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14/08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Apache e Nginx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00" y="2751932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17/08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Proxy Reverso e DNS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51900" y="2751932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19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19/08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CI/CD e Ciclo de Vida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2100" y="2751932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21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21/08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Cloud Computing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00" y="3907716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24/08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537716"/>
            <a:ext cx="25902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Arquitetura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de Dados e Data Warehouse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51900" y="3907716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A6F750"/>
                </a:solidFill>
                <a:latin typeface="Ubuntu Medium"/>
              </a:rPr>
              <a:t>Ter</a:t>
            </a:r>
            <a:r>
              <a:rPr sz="1100" b="0" i="0" dirty="0">
                <a:solidFill>
                  <a:srgbClr val="A6F750"/>
                </a:solidFill>
                <a:latin typeface="Ubuntu Medium"/>
              </a:rPr>
              <a:t> 2</a:t>
            </a:r>
            <a:r>
              <a:rPr lang="pt-PT" sz="1100" b="0" i="0" dirty="0">
                <a:solidFill>
                  <a:srgbClr val="A6F750"/>
                </a:solidFill>
                <a:latin typeface="Ubuntu Medium"/>
              </a:rPr>
              <a:t>5</a:t>
            </a:r>
            <a:r>
              <a:rPr sz="1100" b="0" i="0" dirty="0">
                <a:solidFill>
                  <a:srgbClr val="A6F750"/>
                </a:solidFill>
                <a:latin typeface="Ubuntu Medium"/>
              </a:rPr>
              <a:t>/08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DF8"/>
                </a:solidFill>
                <a:latin typeface="Ubuntu"/>
              </a:rPr>
              <a:t>Data Lake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100" y="3907716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28/08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099" y="4537716"/>
            <a:ext cx="25902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Concluir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atividades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e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preencher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rubricas</a:t>
            </a:r>
            <a:endParaRPr sz="1100" b="0" i="0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dirty="0">
                <a:solidFill>
                  <a:srgbClr val="2371FF"/>
                </a:solidFill>
                <a:latin typeface="Ubuntu Medium"/>
              </a:rPr>
              <a:t>Aula 08 — Data Lake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Ubuntu Medium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Ubuntu Medium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pPr defTabSz="457200"/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00" y="3703500"/>
            <a:ext cx="2839028" cy="503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Câmera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ligada</a:t>
            </a:r>
            <a:r>
              <a:rPr lang="pt-PT"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+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mão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levantada</a:t>
            </a:r>
            <a:endParaRPr sz="1500" b="0" i="0" dirty="0">
              <a:solidFill>
                <a:schemeClr val="bg1"/>
              </a:solidFill>
              <a:latin typeface="Ubuntu Medium"/>
            </a:endParaRPr>
          </a:p>
          <a:p>
            <a:pPr algn="ctr">
              <a:lnSpc>
                <a:spcPct val="115000"/>
              </a:lnSpc>
            </a:pPr>
            <a:r>
              <a:rPr sz="1500" b="0" i="0" dirty="0">
                <a:solidFill>
                  <a:srgbClr val="A6F750"/>
                </a:solidFill>
                <a:latin typeface="Ubuntu Medium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00" y="4361167"/>
            <a:ext cx="283902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181C23"/>
                </a:solidFill>
                <a:latin typeface="Ubuntu Medium"/>
              </a:rPr>
              <a:t>INTERVALO · </a:t>
            </a:r>
            <a:r>
              <a:rPr lang="pt-PT" sz="1200" b="0" i="0" dirty="0">
                <a:solidFill>
                  <a:srgbClr val="181C23"/>
                </a:solidFill>
                <a:latin typeface="Ubuntu Medium"/>
              </a:rPr>
              <a:t>16:30 BRT</a:t>
            </a:r>
            <a:endParaRPr sz="12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08 — Data </a:t>
            </a:r>
            <a:r>
              <a:rPr lang="pt-PT" sz="800" dirty="0" err="1">
                <a:solidFill>
                  <a:srgbClr val="2371FF"/>
                </a:solidFill>
                <a:latin typeface="Ubuntu Medium"/>
              </a:rPr>
              <a:t>Lake</a:t>
            </a:r>
            <a:endParaRPr lang="pt-PT" sz="800" dirty="0">
              <a:solidFill>
                <a:srgbClr val="2371FF"/>
              </a:solidFill>
              <a:latin typeface="Ubuntu Medium"/>
            </a:endParaRPr>
          </a:p>
        </p:txBody>
      </p:sp>
      <p:pic>
        <p:nvPicPr>
          <p:cNvPr id="34" name="VideoConf">
            <a:extLst>
              <a:ext uri="{FF2B5EF4-FFF2-40B4-BE49-F238E27FC236}">
                <a16:creationId xmlns:a16="http://schemas.microsoft.com/office/drawing/2014/main" id="{9AA18BD3-746B-6E67-FBD7-72460F8DF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92" y="2480575"/>
            <a:ext cx="1150000" cy="1150000"/>
          </a:xfrm>
          <a:prstGeom prst="rect">
            <a:avLst/>
          </a:prstGeom>
        </p:spPr>
      </p:pic>
      <p:pic>
        <p:nvPicPr>
          <p:cNvPr id="36" name="RaiseHand">
            <a:extLst>
              <a:ext uri="{FF2B5EF4-FFF2-40B4-BE49-F238E27FC236}">
                <a16:creationId xmlns:a16="http://schemas.microsoft.com/office/drawing/2014/main" id="{A619174F-F337-F752-FD34-362E34583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092" y="2480575"/>
            <a:ext cx="115000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REVIEW!</a:t>
            </a:r>
            <a:endParaRPr sz="1100" b="0" i="0" dirty="0">
              <a:solidFill>
                <a:srgbClr val="2371FF"/>
              </a:solidFill>
              <a:latin typeface="Ubuntu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 err="1">
                <a:solidFill>
                  <a:srgbClr val="181C23"/>
                </a:solidFill>
                <a:latin typeface="Ubuntu Medium"/>
              </a:rPr>
              <a:t>Recapitulando</a:t>
            </a:r>
            <a:r>
              <a:rPr sz="2600" b="0" i="0" dirty="0">
                <a:solidFill>
                  <a:srgbClr val="181C23"/>
                </a:solidFill>
                <a:latin typeface="Ubuntu Medium"/>
              </a:rPr>
              <a:t> a Aula</a:t>
            </a:r>
            <a:r>
              <a:rPr lang="pt-PT" sz="2600" b="0" i="0" dirty="0">
                <a:solidFill>
                  <a:srgbClr val="181C23"/>
                </a:solidFill>
                <a:latin typeface="Ubuntu Medium"/>
              </a:rPr>
              <a:t> 7</a:t>
            </a:r>
            <a:endParaRPr sz="26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Arquitetura de Dados organiza armazenamento, processamento, disponibilização e visualização.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Data Warehouse: repositório central OLAP para análises e decisões.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ETL: Extrair → Transformar → Carregar.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Data Marts são visões especializadas do DW para cada área de negócio.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08 — Data </a:t>
            </a:r>
            <a:r>
              <a:rPr lang="pt-PT" sz="800" dirty="0" err="1">
                <a:solidFill>
                  <a:srgbClr val="2371FF"/>
                </a:solidFill>
                <a:latin typeface="Ubuntu Medium"/>
              </a:rPr>
              <a:t>Lake</a:t>
            </a:r>
            <a:endParaRPr lang="pt-PT" sz="800" dirty="0">
              <a:solidFill>
                <a:srgbClr val="2371FF"/>
              </a:solidFill>
              <a:latin typeface="Ubuntu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CONCEITO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que é um Data Lake?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1945615"/>
            <a:ext cx="4394712" cy="2378417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atalake_conce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005615"/>
            <a:ext cx="4274712" cy="22584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Ubuntu"/>
              </a:rPr>
              <a:t>Fonte: solvimm.com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842346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842346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Armazena tudo: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dados estruturados, semi e não estruturados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82346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82346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Schema-on-read: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o esquema é definido na leitura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122346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122346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Escala petabytes: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logs, imagens, vídeos, JSON, CSV...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762346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762346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Habilita ML: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análise exploratória e descoberta de dados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dirty="0">
                <a:solidFill>
                  <a:srgbClr val="2371FF"/>
                </a:solidFill>
                <a:latin typeface="Ubuntu Medium"/>
              </a:rPr>
              <a:t>Aula 08 — Data Lake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Como funciona um Data Lake na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1945615"/>
            <a:ext cx="4394712" cy="2378417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luxo_datalak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43" y="2208043"/>
            <a:ext cx="3387625" cy="18535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 dirty="0" err="1">
                <a:solidFill>
                  <a:srgbClr val="6A707D"/>
                </a:solidFill>
                <a:latin typeface="Ubuntu"/>
              </a:rPr>
              <a:t>Fluxo</a:t>
            </a:r>
            <a:r>
              <a:rPr sz="1000" b="0" i="1" dirty="0">
                <a:solidFill>
                  <a:srgbClr val="6A707D"/>
                </a:solidFill>
                <a:latin typeface="Ubuntu"/>
              </a:rPr>
              <a:t>: </a:t>
            </a:r>
            <a:r>
              <a:rPr sz="1000" b="0" i="1" dirty="0" err="1">
                <a:solidFill>
                  <a:srgbClr val="6A707D"/>
                </a:solidFill>
                <a:latin typeface="Ubuntu"/>
              </a:rPr>
              <a:t>Ingestão</a:t>
            </a:r>
            <a:r>
              <a:rPr sz="1000" b="0" i="1" dirty="0">
                <a:solidFill>
                  <a:srgbClr val="6A707D"/>
                </a:solidFill>
                <a:latin typeface="Ubuntu"/>
              </a:rPr>
              <a:t> → </a:t>
            </a:r>
            <a:r>
              <a:rPr sz="1000" b="0" i="1" dirty="0" err="1">
                <a:solidFill>
                  <a:srgbClr val="6A707D"/>
                </a:solidFill>
                <a:latin typeface="Ubuntu"/>
              </a:rPr>
              <a:t>Armazenamento</a:t>
            </a:r>
            <a:r>
              <a:rPr sz="1000" b="0" i="1" dirty="0">
                <a:solidFill>
                  <a:srgbClr val="6A707D"/>
                </a:solidFill>
                <a:latin typeface="Ubuntu"/>
              </a:rPr>
              <a:t> → </a:t>
            </a:r>
            <a:r>
              <a:rPr sz="1000" b="0" i="1" dirty="0" err="1">
                <a:solidFill>
                  <a:srgbClr val="6A707D"/>
                </a:solidFill>
                <a:latin typeface="Ubuntu"/>
              </a:rPr>
              <a:t>Processamento</a:t>
            </a:r>
            <a:r>
              <a:rPr sz="1000" b="0" i="1" dirty="0">
                <a:solidFill>
                  <a:srgbClr val="6A707D"/>
                </a:solidFill>
                <a:latin typeface="Ubuntu"/>
              </a:rPr>
              <a:t> → </a:t>
            </a:r>
            <a:r>
              <a:rPr sz="1000" b="0" i="1" dirty="0" err="1">
                <a:solidFill>
                  <a:srgbClr val="6A707D"/>
                </a:solidFill>
                <a:latin typeface="Ubuntu"/>
              </a:rPr>
              <a:t>Consumo</a:t>
            </a:r>
            <a:endParaRPr sz="1000" b="0" i="1" dirty="0">
              <a:solidFill>
                <a:srgbClr val="6A707D"/>
              </a:solidFill>
              <a:latin typeface="Ubuntu"/>
            </a:endParaRPr>
          </a:p>
        </p:txBody>
      </p:sp>
      <p:sp>
        <p:nvSpPr>
          <p:cNvPr id="9" name="Oval 8"/>
          <p:cNvSpPr/>
          <p:nvPr/>
        </p:nvSpPr>
        <p:spPr>
          <a:xfrm>
            <a:off x="4886412" y="1842346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842346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Ingestão: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coleta em tempo real ou em lotes, de dados estruturados, semi e não estruturados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82346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82346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Armazenamento: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barato e escalável na nuvem (S3, GCS, Azure Data Lake), sem alterar a origem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122346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122346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Processamento: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Spark, Databricks e motores SQL tratam, filtram e transformam os dados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762346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762346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Consumo: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relatórios de BI, modelos de Machine Learning e 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08 — Data Lake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POR BAIXO DOS PANOS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Como gravamos e recuperamos dados no Data Lake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1945615"/>
            <a:ext cx="4394712" cy="2378417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organizacao_e_consulta_datalake.jpg"/>
          <p:cNvPicPr>
            <a:picLocks noChangeAspect="1"/>
          </p:cNvPicPr>
          <p:nvPr/>
        </p:nvPicPr>
        <p:blipFill>
          <a:blip r:embed="rId3"/>
          <a:srcRect t="3255" b="3255"/>
          <a:stretch>
            <a:fillRect/>
          </a:stretch>
        </p:blipFill>
        <p:spPr>
          <a:xfrm>
            <a:off x="755243" y="2208043"/>
            <a:ext cx="3387625" cy="18535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 err="1">
                <a:solidFill>
                  <a:srgbClr val="6A707D"/>
                </a:solidFill>
                <a:latin typeface="Ubuntu"/>
              </a:rPr>
              <a:t>SELECT valor, data FROM financas_faturamento WHERE data &gt;= '2026-01-01';</a:t>
            </a:r>
            <a:endParaRPr sz="1000" b="0" i="1">
              <a:solidFill>
                <a:srgbClr val="6A707D"/>
              </a:solidFill>
              <a:latin typeface="Ubuntu"/>
            </a:endParaRPr>
          </a:p>
        </p:txBody>
      </p:sp>
      <p:sp>
        <p:nvSpPr>
          <p:cNvPr id="9" name="Oval 8"/>
          <p:cNvSpPr/>
          <p:nvPr/>
        </p:nvSpPr>
        <p:spPr>
          <a:xfrm>
            <a:off x="4886412" y="1842346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842346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Gravação: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os dados entram como arquivos (CSV, Parquet, JSON) em um sistema de arquivos na nuvem (S3, Azure Blob)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82346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82346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Organização em pastas: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o particionamento cria caminhos lógicos, como /financas/faturamento/2026/08/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122346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122346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Catálogo de dados: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AWS Glue ou Hive Metastore é o índice: guarda o caminho da tabela e suas colunas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762346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762346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Consulta: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Athena, Spark, Presto ou Databricks leem o índice, vão à pasta certa e aplicam schema-on-read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08 — Data Lake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COMPARAÇÃO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Data Warehouse vs Data Lake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00" y="1746148"/>
            <a:ext cx="383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Ubuntu Medium"/>
              </a:rPr>
              <a:t>Data Warehouse</a:t>
            </a:r>
          </a:p>
        </p:txBody>
      </p:sp>
      <p:sp>
        <p:nvSpPr>
          <p:cNvPr id="9" name="Oval 8"/>
          <p:cNvSpPr/>
          <p:nvPr/>
        </p:nvSpPr>
        <p:spPr>
          <a:xfrm>
            <a:off x="461700" y="2445817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700" y="2206148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Dados relacionais estruturados</a:t>
            </a:r>
          </a:p>
        </p:txBody>
      </p:sp>
      <p:sp>
        <p:nvSpPr>
          <p:cNvPr id="11" name="Oval 10"/>
          <p:cNvSpPr/>
          <p:nvPr/>
        </p:nvSpPr>
        <p:spPr>
          <a:xfrm>
            <a:off x="461700" y="3065155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700" y="2825486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Schema-on-write (antes de gravar)</a:t>
            </a:r>
          </a:p>
        </p:txBody>
      </p:sp>
      <p:sp>
        <p:nvSpPr>
          <p:cNvPr id="13" name="Oval 12"/>
          <p:cNvSpPr/>
          <p:nvPr/>
        </p:nvSpPr>
        <p:spPr>
          <a:xfrm>
            <a:off x="461700" y="3684493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700" y="3444824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Alta qualidade, já tratados</a:t>
            </a:r>
          </a:p>
        </p:txBody>
      </p:sp>
      <p:sp>
        <p:nvSpPr>
          <p:cNvPr id="15" name="Oval 14"/>
          <p:cNvSpPr/>
          <p:nvPr/>
        </p:nvSpPr>
        <p:spPr>
          <a:xfrm>
            <a:off x="461700" y="4303831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700" y="4064162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Analistas de negócio,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20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20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52000" y="1746148"/>
            <a:ext cx="383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81C23"/>
                </a:solidFill>
                <a:latin typeface="Ubuntu Medium"/>
              </a:rPr>
              <a:t>Data Lake</a:t>
            </a:r>
          </a:p>
        </p:txBody>
      </p:sp>
      <p:sp>
        <p:nvSpPr>
          <p:cNvPr id="20" name="Oval 19"/>
          <p:cNvSpPr/>
          <p:nvPr/>
        </p:nvSpPr>
        <p:spPr>
          <a:xfrm>
            <a:off x="4852000" y="2445817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2000" y="2206148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Todos os tipos de dados</a:t>
            </a:r>
          </a:p>
        </p:txBody>
      </p:sp>
      <p:sp>
        <p:nvSpPr>
          <p:cNvPr id="22" name="Oval 21"/>
          <p:cNvSpPr/>
          <p:nvPr/>
        </p:nvSpPr>
        <p:spPr>
          <a:xfrm>
            <a:off x="4852000" y="3065155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2000" y="2825486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Schema-on-read (na leitura)</a:t>
            </a:r>
          </a:p>
        </p:txBody>
      </p:sp>
      <p:sp>
        <p:nvSpPr>
          <p:cNvPr id="24" name="Oval 23"/>
          <p:cNvSpPr/>
          <p:nvPr/>
        </p:nvSpPr>
        <p:spPr>
          <a:xfrm>
            <a:off x="4852000" y="3684493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2000" y="3444824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Dados brutos, maior variedade</a:t>
            </a:r>
          </a:p>
        </p:txBody>
      </p:sp>
      <p:sp>
        <p:nvSpPr>
          <p:cNvPr id="26" name="Oval 25"/>
          <p:cNvSpPr/>
          <p:nvPr/>
        </p:nvSpPr>
        <p:spPr>
          <a:xfrm>
            <a:off x="4852000" y="4303831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2000" y="4064162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Cientistas de dados, 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08 — Data Lake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Arquitetura em Camadas do Data Lake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08546" y="1686148"/>
            <a:ext cx="6526907" cy="262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atalake_cam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46" y="1746148"/>
            <a:ext cx="6406907" cy="2507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253500"/>
            <a:ext cx="8520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A707D"/>
                </a:solidFill>
                <a:latin typeface="Ubuntu"/>
              </a:rPr>
              <a:t>Raw (bruto) → Staging (trabalho) → Curated (pronto para uso).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700" y="4683500"/>
            <a:ext cx="85206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1">
                <a:solidFill>
                  <a:srgbClr val="6A707D"/>
                </a:solidFill>
                <a:latin typeface="Ubuntu"/>
              </a:rPr>
              <a:t>Fonte: dwbi1.wordpress.com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08 — Data Lake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ATENÇÃO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Cuidado com o Data Swamp! 🐊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Data Swamp: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um Data Lake abandonado e sem organização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Causa: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dados sem catalogação, governança ou descarte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Resultado: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ninguém sabe o que existe, custo alto, valor zero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Prevenção: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metadados, controle de acesso e catalogação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LGPD: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dados pessoais precisam de ciclo e criptografia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Um lago sem manutenção vira pântano: lodo, água suja e impossível de navegar. Invista em governança (o jardineiro do lago) para mantê-lo navegável e valioso!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08 — Data Lake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Data Lake armazena qualquer tipo de dado em escala — bruto e flexível.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DW e Data Lake se complementam; use ambos conforme a necessidade.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Cuidado com o Data Swamp: governança, metadados e LGPD são essenciais.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Na nuvem: AWS S3, Azure Blob Storage e Google Cloud Storage.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08 — Data Lake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896</Words>
  <Application>Microsoft Office PowerPoint</Application>
  <PresentationFormat>On-screen Show (16:9)</PresentationFormat>
  <Paragraphs>164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Lato</vt:lpstr>
      <vt:lpstr>Ubuntu Medium</vt:lpstr>
      <vt:lpstr>Ubuntu Light</vt:lpstr>
      <vt:lpstr>Ubuntu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6</cp:revision>
  <dcterms:modified xsi:type="dcterms:W3CDTF">2026-08-25T18:04:42Z</dcterms:modified>
</cp:coreProperties>
</file>