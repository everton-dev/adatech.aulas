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21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0" r:id="rId16"/>
    <p:sldId id="276" r:id="rId17"/>
    <p:sldId id="261" r:id="rId18"/>
    <p:sldId id="277" r:id="rId19"/>
    <p:sldId id="26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Ubuntu" panose="020B0504030602030204" pitchFamily="34" charset="0"/>
      <p:regular r:id="rId26"/>
      <p:bold r:id="rId27"/>
      <p:italic r:id="rId28"/>
      <p:boldItalic r:id="rId29"/>
    </p:embeddedFont>
    <p:embeddedFont>
      <p:font typeface="Ubuntu Light" panose="020B0304030602030204" pitchFamily="34" charset="0"/>
      <p:regular r:id="rId30"/>
      <p:bold r:id="rId31"/>
      <p:italic r:id="rId32"/>
      <p:boldItalic r:id="rId33"/>
    </p:embeddedFont>
    <p:embeddedFont>
      <p:font typeface="Ubuntu Medium" panose="020B0604030602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3864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02  ·  Quarta, 12/08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Arquitetura de Servidores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Monolítico, microserviços e o time de servidores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01900" y="1466148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19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1996148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A6F750"/>
                </a:solidFill>
                <a:latin typeface="Ubuntu Medium"/>
              </a:rPr>
              <a:t>Qui</a:t>
            </a:r>
            <a:r>
              <a:rPr sz="1100" b="0" i="0" dirty="0">
                <a:solidFill>
                  <a:srgbClr val="A6F750"/>
                </a:solidFill>
                <a:latin typeface="Ubuntu Medium"/>
              </a:rPr>
              <a:t> 1</a:t>
            </a:r>
            <a:r>
              <a:rPr lang="pt-PT" sz="1100" dirty="0">
                <a:solidFill>
                  <a:srgbClr val="A6F750"/>
                </a:solidFill>
                <a:latin typeface="Ubuntu Medium"/>
              </a:rPr>
              <a:t>3</a:t>
            </a:r>
            <a:r>
              <a:rPr sz="1100" b="0" i="0" dirty="0">
                <a:solidFill>
                  <a:srgbClr val="A6F750"/>
                </a:solidFill>
                <a:latin typeface="Ubuntu Medium"/>
              </a:rPr>
              <a:t>/08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21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1996148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 err="1">
                <a:solidFill>
                  <a:srgbClr val="2371FF"/>
                </a:solidFill>
                <a:latin typeface="Ubuntu Medium"/>
              </a:rPr>
              <a:t>Sex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14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151932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dirty="0" err="1">
                <a:solidFill>
                  <a:srgbClr val="2371FF"/>
                </a:solidFill>
                <a:latin typeface="Ubuntu Medium"/>
              </a:rPr>
              <a:t>Seg</a:t>
            </a:r>
            <a:r>
              <a:rPr sz="1100" dirty="0">
                <a:solidFill>
                  <a:srgbClr val="2371FF"/>
                </a:solidFill>
                <a:latin typeface="Ubuntu Medium"/>
              </a:rPr>
              <a:t> 1</a:t>
            </a:r>
            <a:r>
              <a:rPr lang="pt-PT" sz="1100" dirty="0">
                <a:solidFill>
                  <a:srgbClr val="2371FF"/>
                </a:solidFill>
                <a:latin typeface="Ubuntu Medium"/>
              </a:rPr>
              <a:t>7</a:t>
            </a:r>
            <a:r>
              <a:rPr sz="110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6103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C00000"/>
                </a:solidFill>
                <a:latin typeface="Ubuntu Medium"/>
              </a:rPr>
              <a:t>Ter</a:t>
            </a:r>
            <a:r>
              <a:rPr sz="1100" b="0" i="0" dirty="0">
                <a:solidFill>
                  <a:srgbClr val="C00000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C00000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C00000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2371FF"/>
                </a:solidFill>
                <a:latin typeface="Ubuntu Medium"/>
              </a:rPr>
              <a:t>Sex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6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099" y="4537716"/>
            <a:ext cx="2537627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 dirty="0">
                <a:solidFill>
                  <a:srgbClr val="2371FF"/>
                </a:solidFill>
                <a:latin typeface="Ubuntu Medium"/>
              </a:rPr>
              <a:t>Aula 02 —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Arquitetura</a:t>
            </a:r>
            <a:r>
              <a:rPr sz="800" b="0" i="0" dirty="0">
                <a:solidFill>
                  <a:srgbClr val="2371FF"/>
                </a:solidFill>
                <a:latin typeface="Ubuntu Medium"/>
              </a:rPr>
              <a:t> de </a:t>
            </a:r>
            <a:r>
              <a:rPr sz="800" b="0" i="0" dirty="0" err="1">
                <a:solidFill>
                  <a:srgbClr val="2371FF"/>
                </a:solidFill>
                <a:latin typeface="Ubuntu Medium"/>
              </a:rPr>
              <a:t>Servidores</a:t>
            </a:r>
            <a:endParaRPr sz="800" b="0" i="0" dirty="0">
              <a:solidFill>
                <a:srgbClr val="2371FF"/>
              </a:solidFill>
              <a:latin typeface="Ubuntu Medium"/>
            </a:endParaRP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ARQUITETURA MONOLÍTICA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é um Monolito?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_arquitetura_monoliti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1" y="2103487"/>
            <a:ext cx="3094010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aplicação monolítica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Base de código única: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modelo tradicional em que uma só aplicação executa várias funções de negócio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Tudo acoplado: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interface, regras de negócio e acesso a dados no mesmo projeto e no mesmo deploy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Vantagens: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simples de desenvolver, testar e implantar no início do projeto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Desafios: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qualquer mudança exige novo deploy do sistema inteiro e a escala é do bloco todo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ARQUITETURA DE MICROSSERVIÇOS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são Microsserviços?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_microsservico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32" y="2103487"/>
            <a:ext cx="3077248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arquitetura de microsserviços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Serviços autônomos: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uma coleção de pequenos serviços independentes, cada um com seu próprio ciclo de vida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Contexto delimitado: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cada serviço implementa um único recurso de negócio e cuida dos próprios dados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Comunicação por APIs: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os serviços conversam entre si por APIs, normalmente via um API Gateway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Escala e deploy: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cada serviço evolui e escala sozinho, mas exige mais rede e monitoramento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CRITÉRIOS DE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Monolito ou Microsserviços?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Ubuntu Medium"/>
              </a:rPr>
              <a:t>Escolha Monolito quando...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Time pequeno e produto no início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Domínio ainda pouco definido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Prazo curto e deploy simples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Carga previsível e estável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Ubuntu Medium"/>
              </a:rPr>
              <a:t>Escolha Microsserviços quando...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Times múltiplos e independentes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Domínios de negócio bem definidos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Partes com escala muito diferente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Maturidade em DevOps e monitoramento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Migrando um Monolito: o caso do 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808783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err="1">
                <a:solidFill>
                  <a:srgbClr val="181C23"/>
                </a:solidFill>
                <a:latin typeface="Ubuntu Medium"/>
              </a:rPr>
              <a:t>Mapear o domínio: </a:t>
            </a:r>
            <a:r>
              <a:rPr sz="1400" b="0" i="0" err="1">
                <a:solidFill>
                  <a:srgbClr val="6A707D"/>
                </a:solidFill>
                <a:latin typeface="Ubuntu"/>
              </a:rPr>
              <a:t>identificar os contextos do sistema (pedidos, pagamentos, estoque, usuários)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073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073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0008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err="1">
                <a:solidFill>
                  <a:srgbClr val="181C23"/>
                </a:solidFill>
                <a:latin typeface="Ubuntu Medium"/>
              </a:rPr>
              <a:t>Priorizar a dor: </a:t>
            </a:r>
            <a:r>
              <a:rPr sz="1400" b="0" i="0" err="1">
                <a:solidFill>
                  <a:srgbClr val="6A707D"/>
                </a:solidFill>
                <a:latin typeface="Ubuntu"/>
              </a:rPr>
              <a:t>começar pelo módulo que mais trava o time ou mais escala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43859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43859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40859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Extrair o primeiro serviço: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tirar Pagamentos do monolito e expor por API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76982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76982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73982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err="1">
                <a:solidFill>
                  <a:srgbClr val="181C23"/>
                </a:solidFill>
                <a:latin typeface="Ubuntu Medium"/>
              </a:rPr>
              <a:t>Separar os dados: </a:t>
            </a:r>
            <a:r>
              <a:rPr sz="1400" b="0" i="0" err="1">
                <a:solidFill>
                  <a:srgbClr val="6A707D"/>
                </a:solidFill>
                <a:latin typeface="Ubuntu"/>
              </a:rPr>
              <a:t>cada serviço passa a ter o próprio banco, sem consultas cruzadas</a:t>
            </a:r>
            <a:endParaRPr sz="1400" b="0" i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11700" y="31010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1010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07104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Rotear pelo gateway: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 API Gateway decide o que vai ao monolito e o que vai ao serviço novo</a:t>
            </a:r>
          </a:p>
        </p:txBody>
      </p:sp>
      <p:sp>
        <p:nvSpPr>
          <p:cNvPr id="21" name="Oval 20"/>
          <p:cNvSpPr/>
          <p:nvPr/>
        </p:nvSpPr>
        <p:spPr>
          <a:xfrm>
            <a:off x="311700" y="34322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34322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00" y="340227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Repetir e observar: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novos serviços aos poucos, com CI/CD, logs e monitoramento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ESTRANGULAMENTO (STRANGLER FIG)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Nunca reescreva tudo de uma vez. O padrão Strangler Fig envolve o monolito com um gateway e substitui um pedaço de cada vez, até o sistema antigo deixar de ser usado.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Antes e Depois da Migração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67003" y="1686148"/>
            <a:ext cx="4349994" cy="25538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igracao_monolito_microsservico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003" y="1746148"/>
            <a:ext cx="4229994" cy="24338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O monolito do e-commerce vira serviços independentes, cada um com o próprio banco, atrás de um API Gateway.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migração pelo padrão Strangler 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TIPOS DE SERVIDOR · 1/6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Servidor de Aplicação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rvidor_aplicaca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77" y="2103487"/>
            <a:ext cx="3992357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o servidor de aplicação executa a lógica de negócio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O que faz: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executa a lógica de negócio da aplicação e devolve conteúdo dinâmico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Recursos: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gerencia sessões, transações, segurança e pool de conexões com o banco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Exemplos: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Apache Tomcat, WildFly/JBoss, GlassFish, WebLogic e IIS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Na prática: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recebe do servidor web o que exige processamento e consulta ao banco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TIPOS DE SERVIDOR · 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Servidor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rvidor_web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1" y="2103487"/>
            <a:ext cx="3094009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o servidor web responde requisições HTTP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O que faz: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recebe requisições HTTP e entrega o conteúdo estático do site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Entrega: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arquivos HTML, CSS, JavaScript e imagens, direto do disco ou do cache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Exemplos: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Apache HTTP Server, Nginx e IIS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Na prática: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é a porta de entrada e repassa ao servidor de aplicação o que é dinâmico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TIPOS DE SERVIDOR · 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Servidor de Banco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rvidor_banco_dado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91" y="2103487"/>
            <a:ext cx="3296729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a aplicação consulta o banco e recebe os dados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O que faz: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armazena, organiza e recupera os dados da aplicação com segurança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Como responde: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recebe consultas (SQL) da aplicação e devolve apenas os dados pedidos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Exemplos: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PostgreSQL, MySQL e SQL Server; MongoDB no mundo NoSQL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Cuidados: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backup, índices e controle de acesso; costuma ser o gargalo do sistema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TIPOS DE SERVIDOR · 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Servidor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rvidor_prox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74" y="2143103"/>
            <a:ext cx="4154964" cy="198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o proxy reverso distribui a carga entre os servidores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O que faz: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fica na frente dos servidores e intermedia todas as requisições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Balanceamento: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distribui a carga entre várias máquinas e desvia das que estão fora do ar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Segurança: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esconde os servidores internos, encerra o HTTPS e filtra tráfego suspeito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Exemplos: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Nginx, HAProxy e Traefik, tema aprofundado na próxima aula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TIPOS DE SERVIDOR · 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Servidor de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rvidor_cach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1" y="2103487"/>
            <a:ext cx="3094009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no cache hit a resposta vem da memória, sem ir ao banco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O que faz: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guarda em memória as respostas mais pedidas para devolvê-las na hora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Cache hit e miss: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se o dado está no cache, responde direto; se não, busca no banco e guarda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Ganhos: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respostas em milissegundos e muito menos carga no banco de dados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Exemplos: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Redis e Memcached; exige definir o tempo de expiração dos 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TIPOS DE SERVIDOR · 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Servidor DNS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43487"/>
            <a:ext cx="4394712" cy="218267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rvidor_dn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63" y="2103487"/>
            <a:ext cx="3128586" cy="2062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o DNS traduz o nome do site no endereço IP do servidor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84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84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O que faz: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traduz nomes de domínio em endereços IP, a agenda de contatos da internet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Como funciona: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o navegador pergunta ao DNS o IP do domínio antes de abrir a conexão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12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12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Registros: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A e AAAA apontam para IPs, CNAME cria apelidos e MX cuida do e-mail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7925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7925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1C23"/>
                </a:solidFill>
                <a:latin typeface="Ubuntu Medium"/>
              </a:rPr>
              <a:t>Na prática: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 o cache do DNS acelera o acesso e o TTL define quando ele expira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Tipos de Servidores — O Time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808783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Servidor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 de </a:t>
            </a: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Aplicação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executa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a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lógica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de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negócio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(Tomcat,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WildFly</a:t>
            </a:r>
            <a:r>
              <a:rPr lang="pt-PT" dirty="0">
                <a:solidFill>
                  <a:srgbClr val="6A707D"/>
                </a:solidFill>
                <a:latin typeface="Ubuntu"/>
              </a:rPr>
              <a:t>, </a:t>
            </a:r>
            <a:r>
              <a:rPr lang="pt-PT" dirty="0" err="1">
                <a:solidFill>
                  <a:srgbClr val="6A707D"/>
                </a:solidFill>
                <a:latin typeface="Ubuntu"/>
              </a:rPr>
              <a:t>GlassFish</a:t>
            </a:r>
            <a:r>
              <a:rPr lang="pt-PT" dirty="0">
                <a:solidFill>
                  <a:srgbClr val="6A707D"/>
                </a:solidFill>
                <a:latin typeface="Ubuntu"/>
              </a:rPr>
              <a:t>, </a:t>
            </a:r>
            <a:r>
              <a:rPr lang="pt-PT" dirty="0" err="1">
                <a:solidFill>
                  <a:srgbClr val="6A707D"/>
                </a:solidFill>
                <a:latin typeface="Ubuntu"/>
              </a:rPr>
              <a:t>WebLogic</a:t>
            </a:r>
            <a:r>
              <a:rPr lang="pt-PT" dirty="0">
                <a:solidFill>
                  <a:srgbClr val="6A707D"/>
                </a:solidFill>
                <a:latin typeface="Ubuntu"/>
              </a:rPr>
              <a:t>, IIS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073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073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0008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Servidor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 Web: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entrega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HTML, CSS e JS (Apache, Nginx</a:t>
            </a:r>
            <a:r>
              <a:rPr lang="pt-PT" sz="1400" b="0" i="0" dirty="0">
                <a:solidFill>
                  <a:srgbClr val="6A707D"/>
                </a:solidFill>
                <a:latin typeface="Ubuntu"/>
              </a:rPr>
              <a:t>, IIS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)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43859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43859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40859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Banco de Dados: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armazena e recupera dados (PostgreSQL, MySQL)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76982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76982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73982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Servidor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 Proxy: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distribui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carga e protege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os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servidores</a:t>
            </a:r>
            <a:endParaRPr sz="140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11700" y="31010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1010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07104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Servidor de Cache: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respostas rápidas da memória (Redis)</a:t>
            </a:r>
          </a:p>
        </p:txBody>
      </p:sp>
      <p:sp>
        <p:nvSpPr>
          <p:cNvPr id="21" name="Oval 20"/>
          <p:cNvSpPr/>
          <p:nvPr/>
        </p:nvSpPr>
        <p:spPr>
          <a:xfrm>
            <a:off x="311700" y="34322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34322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00" y="340227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Servidor DNS: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traduz nomes de domínio em 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Um restaurante: o garçom (web) recebe o pedido, o chef (aplicação) cozinha, o estoque (banco) guarda os ingredientes e o caixa (proxy) organiza os pagamentos.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Caminho Completo de uma Requisição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77170" y="1686148"/>
            <a:ext cx="5589659" cy="25538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luxo_completo_requisica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170" y="1746148"/>
            <a:ext cx="5469659" cy="24338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O navegador resolve o domínio no DNS, o proxy escolhe o servidor, o web entrega o estático, a aplicação processa a lógica e busca os dados no cache ou no banco.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Diagrama ilustrativo · cada peça da arquitetura no seu lugar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ESCALABILIDADE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Como Crescer com Inteligência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Ubuntu Medium"/>
              </a:rPr>
              <a:t>Vertical (Scale-Up)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3236148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309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Adicionar mais CPU/RAM ao servidor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656148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351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Simples de implementar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4076148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93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Tem limite físico de crescimento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496148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35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Ponto único de falha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Ubuntu Medium"/>
              </a:rPr>
              <a:t>Horizontal (Scale-Out)</a:t>
            </a:r>
          </a:p>
        </p:txBody>
      </p:sp>
      <p:pic>
        <p:nvPicPr>
          <p:cNvPr id="40" name="Ilustracao Scale Up" descr="escalabilidade_vertic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0" y="2106148"/>
            <a:ext cx="2640000" cy="11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Ilustracao Scale Out" descr="escalabilidade_horizontal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150" y="2109824"/>
            <a:ext cx="2976000" cy="1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Oval 19"/>
          <p:cNvSpPr/>
          <p:nvPr/>
        </p:nvSpPr>
        <p:spPr>
          <a:xfrm>
            <a:off x="4852000" y="3236148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2000" y="309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Adicionar mais servidores ao pool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656148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2000" y="351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Distribui a carga entre máquinas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4076148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2000" y="393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Flexível e tolerante a falhas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496148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2000" y="4356148"/>
            <a:ext cx="356030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Ideal para picos (Black Friday!)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Mão na Massa: Sua Wiki em 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Criar uma imagem do Nginx ou Apache trazendo uma wiki sobre algum hobbie seu.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Personalize sua index, traga imagens, suba o que achar necessário.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Enviar para o Docker Hub com as devidas instruções.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Entrega: link da imagem no Docker Hub + README com build e run.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Monolítico é simples no início; microserviços são flexíveis, porém mais complexos.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Cada tipo de servidor tem uma função específica na arquitetura.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Escalabilidade vertical (mais poder) vs horizontal (mais máquinas).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Servidores de aplicação gerenciam transações, segurança e pools de conexão.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02 — Arquitetura de Servidores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1811</Words>
  <Application>Microsoft Office PowerPoint</Application>
  <PresentationFormat>On-screen Show (16:9)</PresentationFormat>
  <Paragraphs>277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Ubuntu Medium</vt:lpstr>
      <vt:lpstr>Lato</vt:lpstr>
      <vt:lpstr>Ubuntu Light</vt:lpstr>
      <vt:lpstr>Arial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19</cp:revision>
  <dcterms:modified xsi:type="dcterms:W3CDTF">2026-08-13T21:15:26Z</dcterms:modified>
</cp:coreProperties>
</file>