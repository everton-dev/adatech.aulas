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9"/>
  </p:notesMasterIdLst>
  <p:sldIdLst>
    <p:sldId id="256" r:id="rId2"/>
    <p:sldId id="257" r:id="rId3"/>
    <p:sldId id="266" r:id="rId4"/>
    <p:sldId id="274" r:id="rId5"/>
    <p:sldId id="259" r:id="rId6"/>
    <p:sldId id="267" r:id="rId7"/>
    <p:sldId id="268" r:id="rId8"/>
    <p:sldId id="260" r:id="rId9"/>
    <p:sldId id="261" r:id="rId10"/>
    <p:sldId id="273" r:id="rId11"/>
    <p:sldId id="262" r:id="rId12"/>
    <p:sldId id="269" r:id="rId13"/>
    <p:sldId id="270" r:id="rId14"/>
    <p:sldId id="263" r:id="rId15"/>
    <p:sldId id="272" r:id="rId16"/>
    <p:sldId id="264" r:id="rId17"/>
    <p:sldId id="265" r:id="rId18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20"/>
      <p:bold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Ubuntu" panose="020B0504030602030204" pitchFamily="34" charset="0"/>
      <p:regular r:id="rId26"/>
      <p:bold r:id="rId27"/>
      <p:italic r:id="rId28"/>
      <p:boldItalic r:id="rId29"/>
    </p:embeddedFont>
    <p:embeddedFont>
      <p:font typeface="Ubuntu Light" panose="020B0304030602030204" pitchFamily="34" charset="0"/>
      <p:regular r:id="rId30"/>
      <p:bold r:id="rId31"/>
      <p:italic r:id="rId32"/>
      <p:boldItalic r:id="rId33"/>
    </p:embeddedFont>
    <p:embeddedFont>
      <p:font typeface="Ubuntu Medium" panose="020B060403060203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 idx="2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sor">
  <p:cSld name="CUSTOM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2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Limpo">
  <p:cSld name="CUSTOM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fismo ADA">
  <p:cSld name="CUSTOM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erramento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BF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000" y="3344482"/>
            <a:ext cx="3400000" cy="2299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0000" y="900000"/>
            <a:ext cx="240000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 i="0">
                <a:solidFill>
                  <a:srgbClr val="A6F750"/>
                </a:solidFill>
                <a:latin typeface="Ubuntu Ligh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235000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371FF"/>
                </a:solidFill>
                <a:latin typeface="Ubuntu Medium"/>
              </a:rPr>
              <a:t>AULA 03  ·  Sexta, 14/08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2620000"/>
            <a:ext cx="6600000" cy="1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81C23"/>
                </a:solidFill>
                <a:latin typeface="Ubuntu Medium"/>
              </a:rPr>
              <a:t>Apache e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3720000"/>
            <a:ext cx="66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A707D"/>
                </a:solidFill>
                <a:latin typeface="Ubuntu Light"/>
              </a:rPr>
              <a:t>Os servidores web mais usados do planeta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00" y="4041644"/>
            <a:ext cx="1200000" cy="741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4350000"/>
            <a:ext cx="4600000" cy="300000"/>
          </a:xfrm>
          <a:prstGeom prst="roundRect">
            <a:avLst>
              <a:gd name="adj" fmla="val 50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000" y="4350000"/>
            <a:ext cx="46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A6F750"/>
                </a:solidFill>
                <a:latin typeface="Ubuntu"/>
              </a:rPr>
              <a:t>Módulo · Arquitetura de Serviços 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4720000"/>
            <a:ext cx="4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66148"/>
            <a:ext cx="85206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00" y="127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17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00" y="1596148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10/08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Introdução ao Módulo e 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19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1900" y="1596148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1900" y="1996148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2371FF"/>
                </a:solidFill>
                <a:latin typeface="Ubuntu Medium"/>
              </a:rPr>
              <a:t>Qua 1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3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/08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9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Arquitetura de Servidores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21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92100" y="1466148"/>
            <a:ext cx="70000" cy="1005784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2100" y="1596148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A6F750"/>
                </a:solidFill>
                <a:latin typeface="Ubuntu Medium"/>
              </a:rPr>
              <a:t>Sex 14/08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21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DF8"/>
                </a:solidFill>
                <a:latin typeface="Ubuntu"/>
              </a:rPr>
              <a:t>Apache e Nginx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00" y="2751932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17/08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Proxy Reverso e DNS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19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51900" y="2751932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9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Qua 19/08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19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CI/CD e Ciclo de Vida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21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42100" y="2751932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Sex 21/08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21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Cloud Computing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17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00" y="3907716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00" y="4307716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24/08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00" y="4537716"/>
            <a:ext cx="2610300" cy="16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181C23"/>
                </a:solidFill>
                <a:latin typeface="Ubuntu"/>
              </a:rPr>
              <a:t>Arquitetura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de Dados e Data Warehouse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19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51900" y="3907716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900" y="4307716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2371FF"/>
                </a:solidFill>
                <a:latin typeface="Ubuntu Medium"/>
              </a:rPr>
              <a:t>Qua 2</a:t>
            </a:r>
            <a:r>
              <a:rPr lang="pt-PT" sz="1100" dirty="0">
                <a:solidFill>
                  <a:srgbClr val="2371FF"/>
                </a:solidFill>
                <a:latin typeface="Ubuntu Medium"/>
              </a:rPr>
              <a:t>4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/08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1900" y="4537716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Data Lake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21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2100" y="3907716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00" y="4307716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dirty="0">
                <a:solidFill>
                  <a:srgbClr val="2371FF"/>
                </a:solidFill>
                <a:latin typeface="Ubuntu Medium"/>
              </a:rPr>
              <a:t>Qua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 2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5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/08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100" y="4537716"/>
            <a:ext cx="2590200" cy="16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181C23"/>
                </a:solidFill>
                <a:latin typeface="Ubuntu"/>
              </a:rPr>
              <a:t>Concluir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atividades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e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preencher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rubricas</a:t>
            </a:r>
            <a:endParaRPr sz="1100" b="0" i="0" dirty="0">
              <a:solidFill>
                <a:srgbClr val="181C23"/>
              </a:solidFill>
              <a:latin typeface="Ubuntu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dirty="0">
                <a:solidFill>
                  <a:srgbClr val="2371FF"/>
                </a:solidFill>
                <a:latin typeface="Ubuntu Medium"/>
              </a:rPr>
              <a:t>Aula 03 — Apache e Nginx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00" y="1016148"/>
            <a:ext cx="3000000" cy="2028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700" y="76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6F750"/>
                </a:solidFill>
                <a:latin typeface="Ubuntu Medium"/>
              </a:rPr>
              <a:t>COMBINADO DA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1016148"/>
            <a:ext cx="85206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0" i="0">
                <a:solidFill>
                  <a:srgbClr val="181C23"/>
                </a:solidFill>
                <a:latin typeface="Ubuntu Medium"/>
              </a:rPr>
              <a:t>Por favor!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1700" y="1866148"/>
            <a:ext cx="3139028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866148"/>
            <a:ext cx="3139028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Bora participar!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700" y="2246148"/>
            <a:ext cx="3139028" cy="2537352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pPr defTabSz="457200"/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700" y="3703500"/>
            <a:ext cx="2839028" cy="503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Câmera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ligada</a:t>
            </a:r>
            <a:r>
              <a:rPr lang="pt-PT"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+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mão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levantada</a:t>
            </a:r>
            <a:endParaRPr sz="1500" b="0" i="0" dirty="0">
              <a:solidFill>
                <a:schemeClr val="bg1"/>
              </a:solidFill>
              <a:latin typeface="Ubuntu Medium"/>
            </a:endParaRPr>
          </a:p>
          <a:p>
            <a:pPr algn="ctr">
              <a:lnSpc>
                <a:spcPct val="115000"/>
              </a:lnSpc>
            </a:pPr>
            <a:r>
              <a:rPr sz="1500" b="0" i="0" dirty="0">
                <a:solidFill>
                  <a:srgbClr val="A6F750"/>
                </a:solidFill>
                <a:latin typeface="Ubuntu Medium"/>
              </a:rPr>
              <a:t>= aula top!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00" y="4273500"/>
            <a:ext cx="2839028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00" y="4361167"/>
            <a:ext cx="283902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181C23"/>
                </a:solidFill>
                <a:latin typeface="Ubuntu Medium"/>
              </a:rPr>
              <a:t>INTERVALO · </a:t>
            </a:r>
            <a:r>
              <a:rPr lang="pt-PT" sz="1200" b="0" i="0" dirty="0">
                <a:solidFill>
                  <a:srgbClr val="181C23"/>
                </a:solidFill>
                <a:latin typeface="Ubuntu Medium"/>
              </a:rPr>
              <a:t>16:30 BRT</a:t>
            </a:r>
            <a:endParaRPr sz="12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10728" y="1866148"/>
            <a:ext cx="5121572" cy="300000"/>
          </a:xfrm>
          <a:prstGeom prst="roundRect">
            <a:avLst>
              <a:gd name="adj" fmla="val 1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0728" y="1866148"/>
            <a:ext cx="51215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Combinados da nossa aula</a:t>
            </a:r>
          </a:p>
        </p:txBody>
      </p:sp>
      <p:sp>
        <p:nvSpPr>
          <p:cNvPr id="14" name="Oval 13"/>
          <p:cNvSpPr/>
          <p:nvPr/>
        </p:nvSpPr>
        <p:spPr>
          <a:xfrm>
            <a:off x="3710728" y="239788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10728" y="239788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0728" y="226614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Câmeras ligadas.</a:t>
            </a:r>
          </a:p>
        </p:txBody>
      </p:sp>
      <p:sp>
        <p:nvSpPr>
          <p:cNvPr id="17" name="Oval 16"/>
          <p:cNvSpPr/>
          <p:nvPr/>
        </p:nvSpPr>
        <p:spPr>
          <a:xfrm>
            <a:off x="3710728" y="290135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0728" y="290135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728" y="276961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Entrem no horário: início e intervalo.</a:t>
            </a:r>
          </a:p>
        </p:txBody>
      </p:sp>
      <p:sp>
        <p:nvSpPr>
          <p:cNvPr id="20" name="Oval 19"/>
          <p:cNvSpPr/>
          <p:nvPr/>
        </p:nvSpPr>
        <p:spPr>
          <a:xfrm>
            <a:off x="3710728" y="340482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10728" y="340482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728" y="327308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Participem da aula.</a:t>
            </a:r>
          </a:p>
        </p:txBody>
      </p:sp>
      <p:sp>
        <p:nvSpPr>
          <p:cNvPr id="23" name="Oval 22"/>
          <p:cNvSpPr/>
          <p:nvPr/>
        </p:nvSpPr>
        <p:spPr>
          <a:xfrm>
            <a:off x="3710728" y="390829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10728" y="390829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728" y="377655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Tirem dúvidas.</a:t>
            </a:r>
          </a:p>
        </p:txBody>
      </p:sp>
      <p:sp>
        <p:nvSpPr>
          <p:cNvPr id="26" name="Oval 25"/>
          <p:cNvSpPr/>
          <p:nvPr/>
        </p:nvSpPr>
        <p:spPr>
          <a:xfrm>
            <a:off x="3710728" y="441176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10728" y="441176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728" y="428002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Levantem a mão para tirar dúvidas.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2300" y="4931944"/>
            <a:ext cx="30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dirty="0">
                <a:solidFill>
                  <a:srgbClr val="2371FF"/>
                </a:solidFill>
                <a:latin typeface="Ubuntu Medium"/>
              </a:rPr>
              <a:t>Aula 03 — Apache e </a:t>
            </a:r>
            <a:r>
              <a:rPr lang="pt-PT" sz="800" dirty="0" err="1">
                <a:solidFill>
                  <a:srgbClr val="2371FF"/>
                </a:solidFill>
                <a:latin typeface="Ubuntu Medium"/>
              </a:rPr>
              <a:t>Nginx</a:t>
            </a:r>
            <a:endParaRPr lang="pt-PT" sz="800" dirty="0">
              <a:solidFill>
                <a:srgbClr val="2371FF"/>
              </a:solidFill>
              <a:latin typeface="Ubuntu Medium"/>
            </a:endParaRPr>
          </a:p>
        </p:txBody>
      </p:sp>
      <p:pic>
        <p:nvPicPr>
          <p:cNvPr id="34" name="VideoConf">
            <a:extLst>
              <a:ext uri="{FF2B5EF4-FFF2-40B4-BE49-F238E27FC236}">
                <a16:creationId xmlns:a16="http://schemas.microsoft.com/office/drawing/2014/main" id="{9AA18BD3-746B-6E67-FBD7-72460F8DF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92" y="2480575"/>
            <a:ext cx="1150000" cy="1150000"/>
          </a:xfrm>
          <a:prstGeom prst="rect">
            <a:avLst/>
          </a:prstGeom>
        </p:spPr>
      </p:pic>
      <p:pic>
        <p:nvPicPr>
          <p:cNvPr id="36" name="RaiseHand">
            <a:extLst>
              <a:ext uri="{FF2B5EF4-FFF2-40B4-BE49-F238E27FC236}">
                <a16:creationId xmlns:a16="http://schemas.microsoft.com/office/drawing/2014/main" id="{A619174F-F337-F752-FD34-362E34583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4092" y="2480575"/>
            <a:ext cx="1150000" cy="11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REVIEW!</a:t>
            </a:r>
            <a:endParaRPr sz="1100" b="0" i="0" dirty="0">
              <a:solidFill>
                <a:srgbClr val="2371FF"/>
              </a:solidFill>
              <a:latin typeface="Ubuntu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 dirty="0" err="1">
                <a:solidFill>
                  <a:srgbClr val="181C23"/>
                </a:solidFill>
                <a:latin typeface="Ubuntu Medium"/>
              </a:rPr>
              <a:t>Recapitulando</a:t>
            </a:r>
            <a:r>
              <a:rPr sz="2600" b="0" i="0" dirty="0">
                <a:solidFill>
                  <a:srgbClr val="181C23"/>
                </a:solidFill>
                <a:latin typeface="Ubuntu Medium"/>
              </a:rPr>
              <a:t> a Aula</a:t>
            </a:r>
            <a:r>
              <a:rPr lang="pt-PT" sz="2600" b="0" i="0" dirty="0">
                <a:solidFill>
                  <a:srgbClr val="181C23"/>
                </a:solidFill>
                <a:latin typeface="Ubuntu Medium"/>
              </a:rPr>
              <a:t> 02</a:t>
            </a:r>
            <a:endParaRPr sz="26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Monolítico é simples no início; microserviços são flexíveis, porém mais complexos.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Cada tipo de servidor tem uma função específica na arquitetura.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Escalabilidade vertical (mais poder) vs horizontal (mais máquinas).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Servidores de aplicação gerenciam transações, segurança e pools de conexão.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2300" y="4931944"/>
            <a:ext cx="30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dirty="0">
                <a:solidFill>
                  <a:srgbClr val="2371FF"/>
                </a:solidFill>
                <a:latin typeface="Ubuntu Medium"/>
              </a:rPr>
              <a:t>Aula 03 — Apache e </a:t>
            </a:r>
            <a:r>
              <a:rPr lang="pt-PT" sz="800" dirty="0" err="1">
                <a:solidFill>
                  <a:srgbClr val="2371FF"/>
                </a:solidFill>
                <a:latin typeface="Ubuntu Medium"/>
              </a:rPr>
              <a:t>Nginx</a:t>
            </a:r>
            <a:endParaRPr lang="pt-PT" sz="800" dirty="0">
              <a:solidFill>
                <a:srgbClr val="2371FF"/>
              </a:solidFill>
              <a:latin typeface="Ubuntu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2371FF"/>
                </a:solidFill>
                <a:latin typeface="Ubuntu Medium"/>
              </a:rPr>
              <a:t>SERVIDOR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Apache HTTP Server — O Veterano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2388354"/>
            <a:ext cx="4394712" cy="1752939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pach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448354"/>
            <a:ext cx="4274712" cy="1632939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886412" y="1863131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86412" y="1863131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Criado em 1995: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um dos mais populares do mundo</a:t>
            </a:r>
          </a:p>
        </p:txBody>
      </p:sp>
      <p:sp>
        <p:nvSpPr>
          <p:cNvPr id="11" name="Oval 10"/>
          <p:cNvSpPr/>
          <p:nvPr/>
        </p:nvSpPr>
        <p:spPr>
          <a:xfrm>
            <a:off x="4886412" y="2503131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86412" y="2503131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Open source: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multiplataforma e altamente customizável</a:t>
            </a:r>
          </a:p>
        </p:txBody>
      </p:sp>
      <p:sp>
        <p:nvSpPr>
          <p:cNvPr id="14" name="Oval 13"/>
          <p:cNvSpPr/>
          <p:nvPr/>
        </p:nvSpPr>
        <p:spPr>
          <a:xfrm>
            <a:off x="4886412" y="3143131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86412" y="3143131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Modular: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adicione PHP, Python e SSL com módulos</a:t>
            </a:r>
          </a:p>
        </p:txBody>
      </p:sp>
      <p:sp>
        <p:nvSpPr>
          <p:cNvPr id="17" name="Oval 16"/>
          <p:cNvSpPr/>
          <p:nvPr/>
        </p:nvSpPr>
        <p:spPr>
          <a:xfrm>
            <a:off x="4886412" y="3783131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86412" y="3783131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Por conexão: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usa um processo ou thread para cada requisição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03 — Apache e Nginx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6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100" dirty="0">
                <a:solidFill>
                  <a:srgbClr val="2371FF"/>
                </a:solidFill>
                <a:latin typeface="Ubuntu Medium"/>
              </a:rPr>
              <a:t>SERVIDOR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660000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81C23"/>
                </a:solidFill>
                <a:latin typeface="Ubuntu Medium"/>
              </a:rPr>
              <a:t>Apache — Vantagens e Desvantagens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pach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000" y="820000"/>
            <a:ext cx="1700000" cy="649000"/>
          </a:xfrm>
          <a:prstGeom prst="rect">
            <a:avLst/>
          </a:prstGeom>
        </p:spPr>
      </p:pic>
      <p:sp>
        <p:nvSpPr>
          <p:cNvPr id="30" name="Card30"/>
          <p:cNvSpPr/>
          <p:nvPr/>
        </p:nvSpPr>
        <p:spPr>
          <a:xfrm>
            <a:off x="251700" y="1750000"/>
            <a:ext cx="4200000" cy="29000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ag31"/>
          <p:cNvSpPr/>
          <p:nvPr/>
        </p:nvSpPr>
        <p:spPr>
          <a:xfrm>
            <a:off x="491700" y="1980000"/>
            <a:ext cx="320000" cy="32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ardTitle32"/>
          <p:cNvSpPr txBox="1"/>
          <p:nvPr/>
        </p:nvSpPr>
        <p:spPr>
          <a:xfrm>
            <a:off x="911700" y="2000000"/>
            <a:ext cx="30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81C23"/>
                </a:solidFill>
                <a:latin typeface="Ubuntu Medium"/>
              </a:rPr>
              <a:t>Vantagens</a:t>
            </a:r>
          </a:p>
        </p:txBody>
      </p:sp>
      <p:sp>
        <p:nvSpPr>
          <p:cNvPr id="33" name="Dot33"/>
          <p:cNvSpPr/>
          <p:nvPr/>
        </p:nvSpPr>
        <p:spPr>
          <a:xfrm>
            <a:off x="551700" y="2580000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Item34"/>
          <p:cNvSpPr txBox="1"/>
          <p:nvPr/>
        </p:nvSpPr>
        <p:spPr>
          <a:xfrm>
            <a:off x="811700" y="2510000"/>
            <a:ext cx="334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81C23"/>
                </a:solidFill>
                <a:latin typeface="Ubuntu Medium"/>
              </a:rPr>
              <a:t>Amplo ecossistema de módulos: </a:t>
            </a:r>
            <a:r>
              <a:rPr sz="1150" b="0" i="0">
                <a:solidFill>
                  <a:srgbClr val="6A707D"/>
                </a:solidFill>
                <a:latin typeface="Ubuntu"/>
              </a:rPr>
              <a:t>centenas de módulos oficiais e de terceiros</a:t>
            </a:r>
          </a:p>
        </p:txBody>
      </p:sp>
      <p:sp>
        <p:nvSpPr>
          <p:cNvPr id="35" name="Dot35"/>
          <p:cNvSpPr/>
          <p:nvPr/>
        </p:nvSpPr>
        <p:spPr>
          <a:xfrm>
            <a:off x="551700" y="3080000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Item36"/>
          <p:cNvSpPr txBox="1"/>
          <p:nvPr/>
        </p:nvSpPr>
        <p:spPr>
          <a:xfrm>
            <a:off x="811700" y="3010000"/>
            <a:ext cx="334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81C23"/>
                </a:solidFill>
                <a:latin typeface="Ubuntu Medium"/>
              </a:rPr>
              <a:t>Alta compatibilidade: </a:t>
            </a:r>
            <a:r>
              <a:rPr sz="1150" b="0" i="0">
                <a:solidFill>
                  <a:srgbClr val="6A707D"/>
                </a:solidFill>
                <a:latin typeface="Ubuntu"/>
              </a:rPr>
              <a:t>roda WordPress, Joomla, Drupal e apps PHP sem ajustes</a:t>
            </a:r>
          </a:p>
        </p:txBody>
      </p:sp>
      <p:sp>
        <p:nvSpPr>
          <p:cNvPr id="37" name="Dot37"/>
          <p:cNvSpPr/>
          <p:nvPr/>
        </p:nvSpPr>
        <p:spPr>
          <a:xfrm>
            <a:off x="551700" y="3580000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Item38"/>
          <p:cNvSpPr txBox="1"/>
          <p:nvPr/>
        </p:nvSpPr>
        <p:spPr>
          <a:xfrm>
            <a:off x="811700" y="3510000"/>
            <a:ext cx="334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81C23"/>
                </a:solidFill>
                <a:latin typeface="Ubuntu Medium"/>
              </a:rPr>
              <a:t>Configuração distribuída: </a:t>
            </a:r>
            <a:r>
              <a:rPr sz="1150" b="0" i="0">
                <a:solidFill>
                  <a:srgbClr val="6A707D"/>
                </a:solidFill>
                <a:latin typeface="Ubuntu"/>
              </a:rPr>
              <a:t>o .htaccess permite regras por diretório, sem reiniciar</a:t>
            </a:r>
          </a:p>
        </p:txBody>
      </p:sp>
      <p:sp>
        <p:nvSpPr>
          <p:cNvPr id="39" name="Dot39"/>
          <p:cNvSpPr/>
          <p:nvPr/>
        </p:nvSpPr>
        <p:spPr>
          <a:xfrm>
            <a:off x="551700" y="4080000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Item40"/>
          <p:cNvSpPr txBox="1"/>
          <p:nvPr/>
        </p:nvSpPr>
        <p:spPr>
          <a:xfrm>
            <a:off x="811700" y="4010000"/>
            <a:ext cx="334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81C23"/>
                </a:solidFill>
                <a:latin typeface="Ubuntu Medium"/>
              </a:rPr>
              <a:t>Comunidade enorme: </a:t>
            </a:r>
            <a:r>
              <a:rPr sz="1150" b="0" i="0">
                <a:solidFill>
                  <a:srgbClr val="6A707D"/>
                </a:solidFill>
                <a:latin typeface="Ubuntu"/>
              </a:rPr>
              <a:t>documentação sólida e suporte fácil de encontrar</a:t>
            </a:r>
          </a:p>
        </p:txBody>
      </p:sp>
      <p:sp>
        <p:nvSpPr>
          <p:cNvPr id="41" name="Card41"/>
          <p:cNvSpPr/>
          <p:nvPr/>
        </p:nvSpPr>
        <p:spPr>
          <a:xfrm>
            <a:off x="4692300" y="1750000"/>
            <a:ext cx="4200000" cy="29000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ag42"/>
          <p:cNvSpPr/>
          <p:nvPr/>
        </p:nvSpPr>
        <p:spPr>
          <a:xfrm>
            <a:off x="4932300" y="1980000"/>
            <a:ext cx="320000" cy="32000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CardTitle43"/>
          <p:cNvSpPr txBox="1"/>
          <p:nvPr/>
        </p:nvSpPr>
        <p:spPr>
          <a:xfrm>
            <a:off x="5352300" y="2000000"/>
            <a:ext cx="30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81C23"/>
                </a:solidFill>
                <a:latin typeface="Ubuntu Medium"/>
              </a:rPr>
              <a:t>Desvantagens</a:t>
            </a:r>
          </a:p>
        </p:txBody>
      </p:sp>
      <p:sp>
        <p:nvSpPr>
          <p:cNvPr id="44" name="Dot44"/>
          <p:cNvSpPr/>
          <p:nvPr/>
        </p:nvSpPr>
        <p:spPr>
          <a:xfrm>
            <a:off x="4992300" y="2580000"/>
            <a:ext cx="140000" cy="14000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Item45"/>
          <p:cNvSpPr txBox="1"/>
          <p:nvPr/>
        </p:nvSpPr>
        <p:spPr>
          <a:xfrm>
            <a:off x="5252300" y="2510000"/>
            <a:ext cx="334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81C23"/>
                </a:solidFill>
                <a:latin typeface="Ubuntu Medium"/>
              </a:rPr>
              <a:t>Consumo de memória alto: </a:t>
            </a:r>
            <a:r>
              <a:rPr sz="1150" b="0" i="0">
                <a:solidFill>
                  <a:srgbClr val="6A707D"/>
                </a:solidFill>
                <a:latin typeface="Ubuntu"/>
              </a:rPr>
              <a:t>cada conexão gera processo ou thread próprio</a:t>
            </a:r>
          </a:p>
        </p:txBody>
      </p:sp>
      <p:sp>
        <p:nvSpPr>
          <p:cNvPr id="46" name="Dot46"/>
          <p:cNvSpPr/>
          <p:nvPr/>
        </p:nvSpPr>
        <p:spPr>
          <a:xfrm>
            <a:off x="4992300" y="3080000"/>
            <a:ext cx="140000" cy="14000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Item47"/>
          <p:cNvSpPr txBox="1"/>
          <p:nvPr/>
        </p:nvSpPr>
        <p:spPr>
          <a:xfrm>
            <a:off x="5252300" y="3010000"/>
            <a:ext cx="334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81C23"/>
                </a:solidFill>
                <a:latin typeface="Ubuntu Medium"/>
              </a:rPr>
              <a:t>Escalabilidade limitada: </a:t>
            </a:r>
            <a:r>
              <a:rPr sz="1150" b="0" i="0">
                <a:solidFill>
                  <a:srgbClr val="6A707D"/>
                </a:solidFill>
                <a:latin typeface="Ubuntu"/>
              </a:rPr>
              <a:t>perde para arquiteturas event-driven como o Nginx</a:t>
            </a:r>
          </a:p>
        </p:txBody>
      </p:sp>
      <p:sp>
        <p:nvSpPr>
          <p:cNvPr id="48" name="Dot48"/>
          <p:cNvSpPr/>
          <p:nvPr/>
        </p:nvSpPr>
        <p:spPr>
          <a:xfrm>
            <a:off x="4992300" y="3580000"/>
            <a:ext cx="140000" cy="14000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Item49"/>
          <p:cNvSpPr txBox="1"/>
          <p:nvPr/>
        </p:nvSpPr>
        <p:spPr>
          <a:xfrm>
            <a:off x="5252300" y="3510000"/>
            <a:ext cx="334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81C23"/>
                </a:solidFill>
                <a:latin typeface="Ubuntu Medium"/>
              </a:rPr>
              <a:t>Configuração mais complexa: </a:t>
            </a:r>
            <a:r>
              <a:rPr sz="1150" b="0" i="0">
                <a:solidFill>
                  <a:srgbClr val="6A707D"/>
                </a:solidFill>
                <a:latin typeface="Ubuntu"/>
              </a:rPr>
              <a:t>muitos arquivos e diretivas para dominar</a:t>
            </a:r>
          </a:p>
        </p:txBody>
      </p:sp>
      <p:sp>
        <p:nvSpPr>
          <p:cNvPr id="50" name="Dot50"/>
          <p:cNvSpPr/>
          <p:nvPr/>
        </p:nvSpPr>
        <p:spPr>
          <a:xfrm>
            <a:off x="4992300" y="4080000"/>
            <a:ext cx="140000" cy="14000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Item51"/>
          <p:cNvSpPr txBox="1"/>
          <p:nvPr/>
        </p:nvSpPr>
        <p:spPr>
          <a:xfrm>
            <a:off x="5252300" y="4010000"/>
            <a:ext cx="334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81C23"/>
                </a:solidFill>
                <a:latin typeface="Ubuntu Medium"/>
              </a:rPr>
              <a:t>.htaccess custa desempenho: </a:t>
            </a:r>
            <a:r>
              <a:rPr sz="1150" b="0" i="0">
                <a:solidFill>
                  <a:srgbClr val="6A707D"/>
                </a:solidFill>
                <a:latin typeface="Ubuntu"/>
              </a:rPr>
              <a:t>lido a cada requisição em todos os diretórios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1700" y="4843500"/>
            <a:ext cx="8520600" cy="1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1700" y="4883500"/>
            <a:ext cx="2700000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000" y="4883500"/>
            <a:ext cx="2700000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A707D"/>
                </a:solidFill>
                <a:latin typeface="Ubuntu"/>
              </a:rPr>
              <a:t>Prof.: Everton J Benedicto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2300" y="4883500"/>
            <a:ext cx="3000000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6A707D"/>
                </a:solidFill>
                <a:latin typeface="Ubuntu"/>
              </a:rPr>
              <a:t>Aula 03 — Apache e Nginx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6A707D"/>
                </a:solidFill>
                <a:latin typeface="Ubuntu Medium"/>
              </a:rPr>
              <a:t>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660000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81C23"/>
                </a:solidFill>
                <a:latin typeface="Ubuntu Medium"/>
              </a:rPr>
              <a:t>Apache — Casos de Uso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pach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000" y="820000"/>
            <a:ext cx="1700000" cy="649000"/>
          </a:xfrm>
          <a:prstGeom prst="rect">
            <a:avLst/>
          </a:prstGeom>
        </p:spPr>
      </p:pic>
      <p:sp>
        <p:nvSpPr>
          <p:cNvPr id="30" name="Card30"/>
          <p:cNvSpPr/>
          <p:nvPr/>
        </p:nvSpPr>
        <p:spPr>
          <a:xfrm>
            <a:off x="251700" y="1750000"/>
            <a:ext cx="2760000" cy="24500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Num31"/>
          <p:cNvSpPr/>
          <p:nvPr/>
        </p:nvSpPr>
        <p:spPr>
          <a:xfrm>
            <a:off x="511700" y="2000000"/>
            <a:ext cx="420000" cy="42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umT32"/>
          <p:cNvSpPr txBox="1"/>
          <p:nvPr/>
        </p:nvSpPr>
        <p:spPr>
          <a:xfrm>
            <a:off x="511700" y="200000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33" name="T33"/>
          <p:cNvSpPr txBox="1"/>
          <p:nvPr/>
        </p:nvSpPr>
        <p:spPr>
          <a:xfrm>
            <a:off x="511700" y="2550000"/>
            <a:ext cx="22400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81C23"/>
                </a:solidFill>
                <a:latin typeface="Ubuntu Medium"/>
              </a:rPr>
              <a:t>Hospedagem compartilhada</a:t>
            </a:r>
          </a:p>
        </p:txBody>
      </p:sp>
      <p:sp>
        <p:nvSpPr>
          <p:cNvPr id="34" name="D34"/>
          <p:cNvSpPr txBox="1"/>
          <p:nvPr/>
        </p:nvSpPr>
        <p:spPr>
          <a:xfrm>
            <a:off x="511700" y="3100000"/>
            <a:ext cx="2240000" cy="9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A707D"/>
                </a:solidFill>
                <a:latin typeface="Ubuntu"/>
              </a:rPr>
              <a:t>HostGator, Locaweb e afins: cada cliente configura seu próprio site sem tocar no servidor.</a:t>
            </a:r>
          </a:p>
        </p:txBody>
      </p:sp>
      <p:sp>
        <p:nvSpPr>
          <p:cNvPr id="35" name="Card35"/>
          <p:cNvSpPr/>
          <p:nvPr/>
        </p:nvSpPr>
        <p:spPr>
          <a:xfrm>
            <a:off x="3151700" y="1750000"/>
            <a:ext cx="2760000" cy="24500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Num36"/>
          <p:cNvSpPr/>
          <p:nvPr/>
        </p:nvSpPr>
        <p:spPr>
          <a:xfrm>
            <a:off x="3411700" y="2000000"/>
            <a:ext cx="420000" cy="420000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NumT37"/>
          <p:cNvSpPr txBox="1"/>
          <p:nvPr/>
        </p:nvSpPr>
        <p:spPr>
          <a:xfrm>
            <a:off x="3411700" y="200000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38" name="T38"/>
          <p:cNvSpPr txBox="1"/>
          <p:nvPr/>
        </p:nvSpPr>
        <p:spPr>
          <a:xfrm>
            <a:off x="3411700" y="2550000"/>
            <a:ext cx="22400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81C23"/>
                </a:solidFill>
                <a:latin typeface="Ubuntu Medium"/>
              </a:rPr>
              <a:t>Sites PHP tradicionais</a:t>
            </a:r>
          </a:p>
        </p:txBody>
      </p:sp>
      <p:sp>
        <p:nvSpPr>
          <p:cNvPr id="39" name="D39"/>
          <p:cNvSpPr txBox="1"/>
          <p:nvPr/>
        </p:nvSpPr>
        <p:spPr>
          <a:xfrm>
            <a:off x="3411700" y="3100000"/>
            <a:ext cx="2240000" cy="9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A707D"/>
                </a:solidFill>
                <a:latin typeface="Ubuntu"/>
              </a:rPr>
              <a:t>WordPress, Moodle e Joomla rodam com mod_php ou PHP-FPM praticamente sem ajustes.</a:t>
            </a:r>
          </a:p>
        </p:txBody>
      </p:sp>
      <p:sp>
        <p:nvSpPr>
          <p:cNvPr id="40" name="Card40"/>
          <p:cNvSpPr/>
          <p:nvPr/>
        </p:nvSpPr>
        <p:spPr>
          <a:xfrm>
            <a:off x="6051700" y="1750000"/>
            <a:ext cx="2760000" cy="24500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Num41"/>
          <p:cNvSpPr/>
          <p:nvPr/>
        </p:nvSpPr>
        <p:spPr>
          <a:xfrm>
            <a:off x="6311700" y="2000000"/>
            <a:ext cx="420000" cy="42000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NumT42"/>
          <p:cNvSpPr txBox="1"/>
          <p:nvPr/>
        </p:nvSpPr>
        <p:spPr>
          <a:xfrm>
            <a:off x="6311700" y="200000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43" name="T43"/>
          <p:cNvSpPr txBox="1"/>
          <p:nvPr/>
        </p:nvSpPr>
        <p:spPr>
          <a:xfrm>
            <a:off x="6311700" y="2550000"/>
            <a:ext cx="22400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81C23"/>
                </a:solidFill>
                <a:latin typeface="Ubuntu Medium"/>
              </a:rPr>
              <a:t>Sistemas legados</a:t>
            </a:r>
          </a:p>
        </p:txBody>
      </p:sp>
      <p:sp>
        <p:nvSpPr>
          <p:cNvPr id="44" name="D44"/>
          <p:cNvSpPr txBox="1"/>
          <p:nvPr/>
        </p:nvSpPr>
        <p:spPr>
          <a:xfrm>
            <a:off x="6311700" y="3100000"/>
            <a:ext cx="2240000" cy="9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A707D"/>
                </a:solidFill>
                <a:latin typeface="Ubuntu"/>
              </a:rPr>
              <a:t>Dependem do .htaccess para redirecionamentos, reescrita de URLs e regras de acesso.</a:t>
            </a:r>
          </a:p>
        </p:txBody>
      </p:sp>
      <p:sp>
        <p:nvSpPr>
          <p:cNvPr id="45" name="Nota"/>
          <p:cNvSpPr txBox="1"/>
          <p:nvPr/>
        </p:nvSpPr>
        <p:spPr>
          <a:xfrm>
            <a:off x="311700" y="4340000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1C23"/>
                </a:solidFill>
                <a:latin typeface="Ubuntu Medium"/>
              </a:rPr>
              <a:t>Regra prática: </a:t>
            </a:r>
            <a:r>
              <a:rPr sz="1050" b="0" i="0">
                <a:solidFill>
                  <a:srgbClr val="6A707D"/>
                </a:solidFill>
                <a:latin typeface="Ubuntu"/>
              </a:rPr>
              <a:t>escolha o Apache quando compatibilidade e flexibilidade de configuração importam mais que o volume de conexões.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1700" y="4843500"/>
            <a:ext cx="8520600" cy="1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1700" y="4883500"/>
            <a:ext cx="2700000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000" y="4883500"/>
            <a:ext cx="2700000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A707D"/>
                </a:solidFill>
                <a:latin typeface="Ubuntu"/>
              </a:rPr>
              <a:t>Prof.: Everton J Benedicto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2300" y="4883500"/>
            <a:ext cx="3000000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6A707D"/>
                </a:solidFill>
                <a:latin typeface="Ubuntu"/>
              </a:rPr>
              <a:t>Aula 03 — Apache e Nginx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COMO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O Funcionamento de um Servidor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29447" y="1686148"/>
            <a:ext cx="4285105" cy="262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eb_server_fu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447" y="1746148"/>
            <a:ext cx="4165105" cy="25073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253500"/>
            <a:ext cx="85206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 dirty="0" err="1">
                <a:solidFill>
                  <a:srgbClr val="6A707D"/>
                </a:solidFill>
                <a:latin typeface="Ubuntu"/>
              </a:rPr>
              <a:t>Recepção</a:t>
            </a:r>
            <a:r>
              <a:rPr sz="1200" b="0" i="1" dirty="0">
                <a:solidFill>
                  <a:srgbClr val="6A707D"/>
                </a:solidFill>
                <a:latin typeface="Ubuntu"/>
              </a:rPr>
              <a:t> → </a:t>
            </a:r>
            <a:r>
              <a:rPr sz="1200" b="0" i="1" dirty="0" err="1">
                <a:solidFill>
                  <a:srgbClr val="6A707D"/>
                </a:solidFill>
                <a:latin typeface="Ubuntu"/>
              </a:rPr>
              <a:t>Processamento</a:t>
            </a:r>
            <a:r>
              <a:rPr sz="1200" b="0" i="1" dirty="0">
                <a:solidFill>
                  <a:srgbClr val="6A707D"/>
                </a:solidFill>
                <a:latin typeface="Ubuntu"/>
              </a:rPr>
              <a:t> → </a:t>
            </a:r>
            <a:r>
              <a:rPr sz="1200" b="0" i="1" dirty="0" err="1">
                <a:solidFill>
                  <a:srgbClr val="6A707D"/>
                </a:solidFill>
                <a:latin typeface="Ubuntu"/>
              </a:rPr>
              <a:t>Resposta</a:t>
            </a:r>
            <a:r>
              <a:rPr sz="1200" b="0" i="1" dirty="0">
                <a:solidFill>
                  <a:srgbClr val="6A707D"/>
                </a:solidFill>
                <a:latin typeface="Ubuntu"/>
              </a:rPr>
              <a:t> → </a:t>
            </a:r>
            <a:r>
              <a:rPr sz="1200" b="0" i="1" dirty="0" err="1">
                <a:solidFill>
                  <a:srgbClr val="6A707D"/>
                </a:solidFill>
                <a:latin typeface="Ubuntu"/>
              </a:rPr>
              <a:t>Renderização</a:t>
            </a:r>
            <a:r>
              <a:rPr sz="1200" b="0" i="1" dirty="0">
                <a:solidFill>
                  <a:srgbClr val="6A707D"/>
                </a:solidFill>
                <a:latin typeface="Ubuntu"/>
              </a:rPr>
              <a:t> no </a:t>
            </a:r>
            <a:r>
              <a:rPr sz="1200" b="0" i="1" dirty="0" err="1">
                <a:solidFill>
                  <a:srgbClr val="6A707D"/>
                </a:solidFill>
                <a:latin typeface="Ubuntu"/>
              </a:rPr>
              <a:t>navegador</a:t>
            </a:r>
            <a:r>
              <a:rPr sz="1200" b="0" i="1" dirty="0">
                <a:solidFill>
                  <a:srgbClr val="6A707D"/>
                </a:solidFill>
                <a:latin typeface="Ubuntu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700" y="4683500"/>
            <a:ext cx="85206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1">
                <a:solidFill>
                  <a:srgbClr val="6A707D"/>
                </a:solidFill>
                <a:latin typeface="Ubuntu"/>
              </a:rPr>
              <a:t>Fonte: informationq.com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03 — Apache e Nginx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Apache com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Ubuntu"/>
              </a:rPr>
              <a:t>Suba um Apache sem instalar nada além do Docker: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 dirty="0">
                <a:solidFill>
                  <a:srgbClr val="6A707D"/>
                </a:solidFill>
                <a:latin typeface="Fira Code"/>
              </a:rPr>
              <a:t>bash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182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6A707D"/>
                </a:solidFill>
                <a:latin typeface="Fira Code"/>
              </a:rPr>
              <a:t>#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Baixar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a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imagem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oficial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(httpd)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Fira Code"/>
              </a:rPr>
              <a:t>docker pull httpd</a:t>
            </a:r>
          </a:p>
          <a:p>
            <a:pPr algn="l">
              <a:lnSpc>
                <a:spcPct val="112000"/>
              </a:lnSpc>
            </a:pPr>
            <a:r>
              <a:rPr sz="600" b="0" i="0" dirty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6A707D"/>
                </a:solidFill>
                <a:latin typeface="Fira Code"/>
              </a:rPr>
              <a:t># Rodar o Apache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na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porta 80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Fira Code"/>
              </a:rPr>
              <a:t>docker run -d --name meu-</a:t>
            </a:r>
            <a:r>
              <a:rPr sz="1100" b="0" i="0" dirty="0" err="1">
                <a:solidFill>
                  <a:srgbClr val="A6F750"/>
                </a:solidFill>
                <a:latin typeface="Fira Code"/>
              </a:rPr>
              <a:t>apache</a:t>
            </a:r>
            <a:r>
              <a:rPr sz="1100" b="0" i="0" dirty="0">
                <a:solidFill>
                  <a:srgbClr val="A6F750"/>
                </a:solidFill>
                <a:latin typeface="Fira Code"/>
              </a:rPr>
              <a:t> -p 80:80 httpd</a:t>
            </a:r>
          </a:p>
          <a:p>
            <a:pPr algn="l">
              <a:lnSpc>
                <a:spcPct val="112000"/>
              </a:lnSpc>
            </a:pPr>
            <a:r>
              <a:rPr sz="600" b="0" i="0" dirty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6A707D"/>
                </a:solidFill>
                <a:latin typeface="Fira Code"/>
              </a:rPr>
              <a:t>#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Verificar</a:t>
            </a:r>
            <a:endParaRPr sz="1100" b="0" i="0" dirty="0">
              <a:solidFill>
                <a:srgbClr val="6A707D"/>
              </a:solidFill>
              <a:latin typeface="Fira Code"/>
            </a:endParaRP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Fira Code"/>
              </a:rPr>
              <a:t>docker </a:t>
            </a:r>
            <a:r>
              <a:rPr sz="1100" b="0" i="0" dirty="0" err="1">
                <a:solidFill>
                  <a:srgbClr val="A6F750"/>
                </a:solidFill>
                <a:latin typeface="Fira Code"/>
              </a:rPr>
              <a:t>ps</a:t>
            </a:r>
            <a:endParaRPr sz="1100" b="0" i="0" dirty="0">
              <a:solidFill>
                <a:srgbClr val="A6F750"/>
              </a:solidFill>
              <a:latin typeface="Fira Code"/>
            </a:endParaRPr>
          </a:p>
          <a:p>
            <a:pPr algn="l">
              <a:lnSpc>
                <a:spcPct val="112000"/>
              </a:lnSpc>
            </a:pPr>
            <a:r>
              <a:rPr sz="600" b="0" i="0" dirty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6A707D"/>
                </a:solidFill>
                <a:latin typeface="Fira Code"/>
              </a:rPr>
              <a:t># Abra http://localhost:80  -&gt; 'It works!'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6A707D"/>
                </a:solidFill>
                <a:latin typeface="Fira Code"/>
              </a:rPr>
              <a:t>#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Desafio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: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altere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a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página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inicial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03 — Apache e Nginx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Resolução do Desafio — Trocar a Página Inicial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Ubuntu"/>
              </a:rPr>
              <a:t>Com o container do slide anterior no ar, substitua o index.html do Apache: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Fira Code"/>
              </a:rPr>
              <a:t>powershell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800" b="0" i="0" dirty="0">
                <a:solidFill>
                  <a:srgbClr val="6A707D"/>
                </a:solidFill>
                <a:latin typeface="Fira Code"/>
              </a:rPr>
              <a:t># 1. 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Confirma</a:t>
            </a:r>
            <a:r>
              <a:rPr sz="800" b="0" i="0" dirty="0">
                <a:solidFill>
                  <a:srgbClr val="6A707D"/>
                </a:solidFill>
                <a:latin typeface="Fira Code"/>
              </a:rPr>
              <a:t> 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que</a:t>
            </a:r>
            <a:r>
              <a:rPr sz="800" b="0" i="0" dirty="0">
                <a:solidFill>
                  <a:srgbClr val="6A707D"/>
                </a:solidFill>
                <a:latin typeface="Fira Code"/>
              </a:rPr>
              <a:t> o container 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esta</a:t>
            </a:r>
            <a:r>
              <a:rPr sz="800" b="0" i="0" dirty="0">
                <a:solidFill>
                  <a:srgbClr val="6A707D"/>
                </a:solidFill>
                <a:latin typeface="Fira Code"/>
              </a:rPr>
              <a:t> 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em</a:t>
            </a:r>
            <a:r>
              <a:rPr sz="800" b="0" i="0" dirty="0">
                <a:solidFill>
                  <a:srgbClr val="6A707D"/>
                </a:solidFill>
                <a:latin typeface="Fira Code"/>
              </a:rPr>
              <a:t> 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execucao</a:t>
            </a:r>
            <a:endParaRPr sz="800" b="0" i="0" dirty="0">
              <a:solidFill>
                <a:srgbClr val="6A707D"/>
              </a:solidFill>
              <a:latin typeface="Fira Code"/>
            </a:endParaRPr>
          </a:p>
          <a:p>
            <a:pPr algn="l">
              <a:lnSpc>
                <a:spcPct val="112000"/>
              </a:lnSpc>
            </a:pPr>
            <a:r>
              <a:rPr sz="800" b="0" i="0" dirty="0">
                <a:solidFill>
                  <a:srgbClr val="A6F750"/>
                </a:solidFill>
                <a:latin typeface="Fira Code"/>
              </a:rPr>
              <a:t>docker </a:t>
            </a:r>
            <a:r>
              <a:rPr sz="800" b="0" i="0" dirty="0" err="1">
                <a:solidFill>
                  <a:srgbClr val="A6F750"/>
                </a:solidFill>
                <a:latin typeface="Fira Code"/>
              </a:rPr>
              <a:t>ps</a:t>
            </a:r>
            <a:r>
              <a:rPr sz="800" b="0" i="0" dirty="0">
                <a:solidFill>
                  <a:srgbClr val="A6F750"/>
                </a:solidFill>
                <a:latin typeface="Fira Code"/>
              </a:rPr>
              <a:t> --quiet --filter "name=^/meu-</a:t>
            </a:r>
            <a:r>
              <a:rPr sz="800" b="0" i="0" dirty="0" err="1">
                <a:solidFill>
                  <a:srgbClr val="A6F750"/>
                </a:solidFill>
                <a:latin typeface="Fira Code"/>
              </a:rPr>
              <a:t>apache</a:t>
            </a:r>
            <a:r>
              <a:rPr sz="800" b="0" i="0" dirty="0">
                <a:solidFill>
                  <a:srgbClr val="A6F750"/>
                </a:solidFill>
                <a:latin typeface="Fira Code"/>
              </a:rPr>
              <a:t>$"</a:t>
            </a:r>
          </a:p>
          <a:p>
            <a:pPr algn="l">
              <a:lnSpc>
                <a:spcPct val="112000"/>
              </a:lnSpc>
            </a:pPr>
            <a:r>
              <a:rPr sz="800" b="0" i="0" dirty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800" b="0" i="0" dirty="0">
                <a:solidFill>
                  <a:srgbClr val="6A707D"/>
                </a:solidFill>
                <a:latin typeface="Fira Code"/>
              </a:rPr>
              <a:t># 2. 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Cria</a:t>
            </a:r>
            <a:r>
              <a:rPr sz="800" b="0" i="0" dirty="0">
                <a:solidFill>
                  <a:srgbClr val="6A707D"/>
                </a:solidFill>
                <a:latin typeface="Fira Code"/>
              </a:rPr>
              <a:t> backup da 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pagina</a:t>
            </a:r>
            <a:r>
              <a:rPr sz="800" b="0" i="0" dirty="0">
                <a:solidFill>
                  <a:srgbClr val="6A707D"/>
                </a:solidFill>
                <a:latin typeface="Fira Code"/>
              </a:rPr>
              <a:t> 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atual</a:t>
            </a:r>
            <a:r>
              <a:rPr sz="800" b="0" i="0" dirty="0">
                <a:solidFill>
                  <a:srgbClr val="6A707D"/>
                </a:solidFill>
                <a:latin typeface="Fira Code"/>
              </a:rPr>
              <a:t> (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dentro</a:t>
            </a:r>
            <a:r>
              <a:rPr sz="800" b="0" i="0" dirty="0">
                <a:solidFill>
                  <a:srgbClr val="6A707D"/>
                </a:solidFill>
                <a:latin typeface="Fira Code"/>
              </a:rPr>
              <a:t> do container)</a:t>
            </a:r>
          </a:p>
          <a:p>
            <a:pPr algn="l">
              <a:lnSpc>
                <a:spcPct val="112000"/>
              </a:lnSpc>
            </a:pPr>
            <a:r>
              <a:rPr sz="800" b="0" i="0" dirty="0">
                <a:solidFill>
                  <a:srgbClr val="A6F750"/>
                </a:solidFill>
                <a:latin typeface="Fira Code"/>
              </a:rPr>
              <a:t>docker exec meu-</a:t>
            </a:r>
            <a:r>
              <a:rPr sz="800" b="0" i="0" dirty="0" err="1">
                <a:solidFill>
                  <a:srgbClr val="A6F750"/>
                </a:solidFill>
                <a:latin typeface="Fira Code"/>
              </a:rPr>
              <a:t>apache</a:t>
            </a:r>
            <a:r>
              <a:rPr sz="800" b="0" i="0" dirty="0">
                <a:solidFill>
                  <a:srgbClr val="A6F750"/>
                </a:solidFill>
                <a:latin typeface="Fira Code"/>
              </a:rPr>
              <a:t> </a:t>
            </a:r>
            <a:r>
              <a:rPr sz="800" b="0" i="0" dirty="0" err="1">
                <a:solidFill>
                  <a:srgbClr val="A6F750"/>
                </a:solidFill>
                <a:latin typeface="Fira Code"/>
              </a:rPr>
              <a:t>sh</a:t>
            </a:r>
            <a:r>
              <a:rPr sz="800" b="0" i="0" dirty="0">
                <a:solidFill>
                  <a:srgbClr val="A6F750"/>
                </a:solidFill>
                <a:latin typeface="Fira Code"/>
              </a:rPr>
              <a:t> -c "if [ -f /</a:t>
            </a:r>
            <a:r>
              <a:rPr sz="800" b="0" i="0" dirty="0" err="1">
                <a:solidFill>
                  <a:srgbClr val="A6F750"/>
                </a:solidFill>
                <a:latin typeface="Fira Code"/>
              </a:rPr>
              <a:t>usr</a:t>
            </a:r>
            <a:r>
              <a:rPr sz="800" b="0" i="0" dirty="0">
                <a:solidFill>
                  <a:srgbClr val="A6F750"/>
                </a:solidFill>
                <a:latin typeface="Fira Code"/>
              </a:rPr>
              <a:t>/local/apache2/</a:t>
            </a:r>
            <a:r>
              <a:rPr sz="800" b="0" i="0" dirty="0" err="1">
                <a:solidFill>
                  <a:srgbClr val="A6F750"/>
                </a:solidFill>
                <a:latin typeface="Fira Code"/>
              </a:rPr>
              <a:t>htdocs</a:t>
            </a:r>
            <a:r>
              <a:rPr sz="800" b="0" i="0" dirty="0">
                <a:solidFill>
                  <a:srgbClr val="A6F750"/>
                </a:solidFill>
                <a:latin typeface="Fira Code"/>
              </a:rPr>
              <a:t>/index.html ]; then \</a:t>
            </a:r>
          </a:p>
          <a:p>
            <a:pPr algn="l">
              <a:lnSpc>
                <a:spcPct val="112000"/>
              </a:lnSpc>
            </a:pPr>
            <a:r>
              <a:rPr sz="800" b="0" i="0" dirty="0">
                <a:solidFill>
                  <a:srgbClr val="A6F750"/>
                </a:solidFill>
                <a:latin typeface="Fira Code"/>
              </a:rPr>
              <a:t>  cp /</a:t>
            </a:r>
            <a:r>
              <a:rPr sz="800" b="0" i="0" dirty="0" err="1">
                <a:solidFill>
                  <a:srgbClr val="A6F750"/>
                </a:solidFill>
                <a:latin typeface="Fira Code"/>
              </a:rPr>
              <a:t>usr</a:t>
            </a:r>
            <a:r>
              <a:rPr sz="800" b="0" i="0" dirty="0">
                <a:solidFill>
                  <a:srgbClr val="A6F750"/>
                </a:solidFill>
                <a:latin typeface="Fira Code"/>
              </a:rPr>
              <a:t>/local/apache2/</a:t>
            </a:r>
            <a:r>
              <a:rPr sz="800" b="0" i="0" dirty="0" err="1">
                <a:solidFill>
                  <a:srgbClr val="A6F750"/>
                </a:solidFill>
                <a:latin typeface="Fira Code"/>
              </a:rPr>
              <a:t>htdocs</a:t>
            </a:r>
            <a:r>
              <a:rPr sz="800" b="0" i="0" dirty="0">
                <a:solidFill>
                  <a:srgbClr val="A6F750"/>
                </a:solidFill>
                <a:latin typeface="Fira Code"/>
              </a:rPr>
              <a:t>/index.html /</a:t>
            </a:r>
            <a:r>
              <a:rPr sz="800" b="0" i="0" dirty="0" err="1">
                <a:solidFill>
                  <a:srgbClr val="A6F750"/>
                </a:solidFill>
                <a:latin typeface="Fira Code"/>
              </a:rPr>
              <a:t>usr</a:t>
            </a:r>
            <a:r>
              <a:rPr sz="800" b="0" i="0" dirty="0">
                <a:solidFill>
                  <a:srgbClr val="A6F750"/>
                </a:solidFill>
                <a:latin typeface="Fira Code"/>
              </a:rPr>
              <a:t>/local/apache2/</a:t>
            </a:r>
            <a:r>
              <a:rPr sz="800" b="0" i="0" dirty="0" err="1">
                <a:solidFill>
                  <a:srgbClr val="A6F750"/>
                </a:solidFill>
                <a:latin typeface="Fira Code"/>
              </a:rPr>
              <a:t>htdocs</a:t>
            </a:r>
            <a:r>
              <a:rPr sz="800" b="0" i="0" dirty="0">
                <a:solidFill>
                  <a:srgbClr val="A6F750"/>
                </a:solidFill>
                <a:latin typeface="Fira Code"/>
              </a:rPr>
              <a:t>/</a:t>
            </a:r>
            <a:r>
              <a:rPr sz="800" b="0" i="0" dirty="0" err="1">
                <a:solidFill>
                  <a:srgbClr val="A6F750"/>
                </a:solidFill>
                <a:latin typeface="Fira Code"/>
              </a:rPr>
              <a:t>index.html.backup</a:t>
            </a:r>
            <a:r>
              <a:rPr sz="800" b="0" i="0" dirty="0">
                <a:solidFill>
                  <a:srgbClr val="A6F750"/>
                </a:solidFill>
                <a:latin typeface="Fira Code"/>
              </a:rPr>
              <a:t>; fi"</a:t>
            </a:r>
          </a:p>
          <a:p>
            <a:pPr algn="l">
              <a:lnSpc>
                <a:spcPct val="112000"/>
              </a:lnSpc>
            </a:pPr>
            <a:r>
              <a:rPr sz="800" b="0" i="0" dirty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800" b="0" i="0" dirty="0">
                <a:solidFill>
                  <a:srgbClr val="6A707D"/>
                </a:solidFill>
                <a:latin typeface="Fira Code"/>
              </a:rPr>
              <a:t># 3. Copia o novo HTML da 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sua</a:t>
            </a:r>
            <a:r>
              <a:rPr sz="800" b="0" i="0" dirty="0">
                <a:solidFill>
                  <a:srgbClr val="6A707D"/>
                </a:solidFill>
                <a:latin typeface="Fira Code"/>
              </a:rPr>
              <a:t> 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maquina</a:t>
            </a:r>
            <a:r>
              <a:rPr sz="800" b="0" i="0" dirty="0">
                <a:solidFill>
                  <a:srgbClr val="6A707D"/>
                </a:solidFill>
                <a:latin typeface="Fira Code"/>
              </a:rPr>
              <a:t> para o container</a:t>
            </a:r>
          </a:p>
          <a:p>
            <a:pPr algn="l">
              <a:lnSpc>
                <a:spcPct val="112000"/>
              </a:lnSpc>
            </a:pPr>
            <a:r>
              <a:rPr sz="800" b="0" i="0" dirty="0">
                <a:solidFill>
                  <a:srgbClr val="A6F750"/>
                </a:solidFill>
                <a:latin typeface="Fira Code"/>
              </a:rPr>
              <a:t>docker cp ".\site\index.html" "meu-</a:t>
            </a:r>
            <a:r>
              <a:rPr sz="800" b="0" i="0" dirty="0" err="1">
                <a:solidFill>
                  <a:srgbClr val="A6F750"/>
                </a:solidFill>
                <a:latin typeface="Fira Code"/>
              </a:rPr>
              <a:t>apache</a:t>
            </a:r>
            <a:r>
              <a:rPr sz="800" b="0" i="0" dirty="0">
                <a:solidFill>
                  <a:srgbClr val="A6F750"/>
                </a:solidFill>
                <a:latin typeface="Fira Code"/>
              </a:rPr>
              <a:t>:/</a:t>
            </a:r>
            <a:r>
              <a:rPr sz="800" b="0" i="0" dirty="0" err="1">
                <a:solidFill>
                  <a:srgbClr val="A6F750"/>
                </a:solidFill>
                <a:latin typeface="Fira Code"/>
              </a:rPr>
              <a:t>usr</a:t>
            </a:r>
            <a:r>
              <a:rPr sz="800" b="0" i="0" dirty="0">
                <a:solidFill>
                  <a:srgbClr val="A6F750"/>
                </a:solidFill>
                <a:latin typeface="Fira Code"/>
              </a:rPr>
              <a:t>/local/apache2/</a:t>
            </a:r>
            <a:r>
              <a:rPr sz="800" b="0" i="0" dirty="0" err="1">
                <a:solidFill>
                  <a:srgbClr val="A6F750"/>
                </a:solidFill>
                <a:latin typeface="Fira Code"/>
              </a:rPr>
              <a:t>htdocs</a:t>
            </a:r>
            <a:r>
              <a:rPr sz="800" b="0" i="0" dirty="0">
                <a:solidFill>
                  <a:srgbClr val="A6F750"/>
                </a:solidFill>
                <a:latin typeface="Fira Code"/>
              </a:rPr>
              <a:t>/index.html"</a:t>
            </a:r>
          </a:p>
          <a:p>
            <a:pPr algn="l">
              <a:lnSpc>
                <a:spcPct val="112000"/>
              </a:lnSpc>
            </a:pPr>
            <a:r>
              <a:rPr sz="800" b="0" i="0" dirty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800" b="0" i="0" dirty="0">
                <a:solidFill>
                  <a:srgbClr val="6A707D"/>
                </a:solidFill>
                <a:latin typeface="Fira Code"/>
              </a:rPr>
              <a:t># 4. 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Confirma</a:t>
            </a:r>
            <a:r>
              <a:rPr sz="800" b="0" i="0" dirty="0">
                <a:solidFill>
                  <a:srgbClr val="6A707D"/>
                </a:solidFill>
                <a:latin typeface="Fira Code"/>
              </a:rPr>
              <a:t> 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que</a:t>
            </a:r>
            <a:r>
              <a:rPr sz="800" b="0" i="0" dirty="0">
                <a:solidFill>
                  <a:srgbClr val="6A707D"/>
                </a:solidFill>
                <a:latin typeface="Fira Code"/>
              </a:rPr>
              <a:t> o 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arquivo</a:t>
            </a:r>
            <a:r>
              <a:rPr sz="800" b="0" i="0" dirty="0">
                <a:solidFill>
                  <a:srgbClr val="6A707D"/>
                </a:solidFill>
                <a:latin typeface="Fira Code"/>
              </a:rPr>
              <a:t> 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foi</a:t>
            </a:r>
            <a:r>
              <a:rPr sz="800" b="0" i="0" dirty="0">
                <a:solidFill>
                  <a:srgbClr val="6A707D"/>
                </a:solidFill>
                <a:latin typeface="Fira Code"/>
              </a:rPr>
              <a:t> 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copiado</a:t>
            </a:r>
            <a:endParaRPr sz="800" b="0" i="0" dirty="0">
              <a:solidFill>
                <a:srgbClr val="6A707D"/>
              </a:solidFill>
              <a:latin typeface="Fira Code"/>
            </a:endParaRPr>
          </a:p>
          <a:p>
            <a:pPr algn="l">
              <a:lnSpc>
                <a:spcPct val="112000"/>
              </a:lnSpc>
            </a:pPr>
            <a:r>
              <a:rPr sz="800" b="0" i="0" dirty="0">
                <a:solidFill>
                  <a:srgbClr val="A6F750"/>
                </a:solidFill>
                <a:latin typeface="Fira Code"/>
              </a:rPr>
              <a:t>docker exec meu-</a:t>
            </a:r>
            <a:r>
              <a:rPr sz="800" b="0" i="0" dirty="0" err="1">
                <a:solidFill>
                  <a:srgbClr val="A6F750"/>
                </a:solidFill>
                <a:latin typeface="Fira Code"/>
              </a:rPr>
              <a:t>apache</a:t>
            </a:r>
            <a:r>
              <a:rPr sz="800" b="0" i="0" dirty="0">
                <a:solidFill>
                  <a:srgbClr val="A6F750"/>
                </a:solidFill>
                <a:latin typeface="Fira Code"/>
              </a:rPr>
              <a:t> ls -l /</a:t>
            </a:r>
            <a:r>
              <a:rPr sz="800" b="0" i="0" dirty="0" err="1">
                <a:solidFill>
                  <a:srgbClr val="A6F750"/>
                </a:solidFill>
                <a:latin typeface="Fira Code"/>
              </a:rPr>
              <a:t>usr</a:t>
            </a:r>
            <a:r>
              <a:rPr sz="800" b="0" i="0" dirty="0">
                <a:solidFill>
                  <a:srgbClr val="A6F750"/>
                </a:solidFill>
                <a:latin typeface="Fira Code"/>
              </a:rPr>
              <a:t>/local/apache2/</a:t>
            </a:r>
            <a:r>
              <a:rPr sz="800" b="0" i="0" dirty="0" err="1">
                <a:solidFill>
                  <a:srgbClr val="A6F750"/>
                </a:solidFill>
                <a:latin typeface="Fira Code"/>
              </a:rPr>
              <a:t>htdocs</a:t>
            </a:r>
            <a:r>
              <a:rPr sz="800" b="0" i="0" dirty="0">
                <a:solidFill>
                  <a:srgbClr val="A6F750"/>
                </a:solidFill>
                <a:latin typeface="Fira Code"/>
              </a:rPr>
              <a:t>/index.html</a:t>
            </a:r>
          </a:p>
          <a:p>
            <a:pPr algn="l">
              <a:lnSpc>
                <a:spcPct val="112000"/>
              </a:lnSpc>
            </a:pPr>
            <a:r>
              <a:rPr sz="800" b="0" i="0" dirty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800" b="0" i="0" dirty="0">
                <a:solidFill>
                  <a:srgbClr val="6A707D"/>
                </a:solidFill>
                <a:latin typeface="Fira Code"/>
              </a:rPr>
              <a:t># 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Recarregue</a:t>
            </a:r>
            <a:r>
              <a:rPr sz="800" b="0" i="0" dirty="0">
                <a:solidFill>
                  <a:srgbClr val="6A707D"/>
                </a:solidFill>
                <a:latin typeface="Fira Code"/>
              </a:rPr>
              <a:t> http://localhost:80  -&gt;  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sua</a:t>
            </a:r>
            <a:r>
              <a:rPr sz="800" b="0" i="0" dirty="0">
                <a:solidFill>
                  <a:srgbClr val="6A707D"/>
                </a:solidFill>
                <a:latin typeface="Fira Code"/>
              </a:rPr>
              <a:t> propria 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pagina</a:t>
            </a:r>
            <a:r>
              <a:rPr sz="800" b="0" i="0" dirty="0">
                <a:solidFill>
                  <a:srgbClr val="6A707D"/>
                </a:solidFill>
                <a:latin typeface="Fira Code"/>
              </a:rPr>
              <a:t> no </a:t>
            </a:r>
            <a:r>
              <a:rPr sz="800" b="0" i="0" dirty="0" err="1">
                <a:solidFill>
                  <a:srgbClr val="6A707D"/>
                </a:solidFill>
                <a:latin typeface="Fira Code"/>
              </a:rPr>
              <a:t>ar</a:t>
            </a:r>
            <a:r>
              <a:rPr sz="800" b="0" i="0" dirty="0">
                <a:solidFill>
                  <a:srgbClr val="6A707D"/>
                </a:solidFill>
                <a:latin typeface="Fira Code"/>
              </a:rPr>
              <a:t>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03 — Apache e Nginx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SERVIDOR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Nginx — O Campeão de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2346913"/>
            <a:ext cx="4394712" cy="1835821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nginx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406913"/>
            <a:ext cx="4274712" cy="1715821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886412" y="1847922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86412" y="1847922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6412" y="1904052"/>
            <a:ext cx="3525888" cy="324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PT" sz="1050" b="0" i="0">
                <a:solidFill>
                  <a:srgbClr val="181C23"/>
                </a:solidFill>
                <a:latin typeface="Ubuntu Medium"/>
              </a:rPr>
              <a:t>Criado em 2002 por Igor Sysoev: </a:t>
            </a:r>
            <a:r>
              <a:rPr lang="pt-PT" sz="1050" b="0" i="0">
                <a:solidFill>
                  <a:srgbClr val="6A707D"/>
                </a:solidFill>
                <a:latin typeface="Ubuntu"/>
              </a:rPr>
              <a:t>resolveu o C10k, o limite de 10 mil conexões que derrubava os servidores da época</a:t>
            </a:r>
          </a:p>
        </p:txBody>
      </p:sp>
      <p:sp>
        <p:nvSpPr>
          <p:cNvPr id="11" name="Oval 10"/>
          <p:cNvSpPr/>
          <p:nvPr/>
        </p:nvSpPr>
        <p:spPr>
          <a:xfrm>
            <a:off x="4886412" y="2487922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86412" y="2487922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6412" y="2459221"/>
            <a:ext cx="3525888" cy="4938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PT" sz="1050" b="0" i="0">
                <a:solidFill>
                  <a:srgbClr val="181C23"/>
                </a:solidFill>
                <a:latin typeface="Ubuntu Medium"/>
              </a:rPr>
              <a:t>Assíncrono: </a:t>
            </a:r>
            <a:r>
              <a:rPr lang="pt-PT" sz="1050" b="0" i="0">
                <a:solidFill>
                  <a:srgbClr val="6A707D"/>
                </a:solidFill>
                <a:latin typeface="Ubuntu"/>
              </a:rPr>
              <a:t>como um garçom que anota o pedido e já atende outra mesa, não fica parado esperando; gasta pouca RAM</a:t>
            </a:r>
          </a:p>
        </p:txBody>
      </p:sp>
      <p:sp>
        <p:nvSpPr>
          <p:cNvPr id="14" name="Oval 13"/>
          <p:cNvSpPr/>
          <p:nvPr/>
        </p:nvSpPr>
        <p:spPr>
          <a:xfrm>
            <a:off x="4886412" y="3127922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86412" y="3127922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6412" y="3184052"/>
            <a:ext cx="3525888" cy="324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PT" sz="1050" b="0" i="0">
                <a:solidFill>
                  <a:srgbClr val="181C23"/>
                </a:solidFill>
                <a:latin typeface="Ubuntu Medium"/>
              </a:rPr>
              <a:t>Poucos workers: </a:t>
            </a:r>
            <a:r>
              <a:rPr lang="pt-PT" sz="1050" b="0" i="0">
                <a:solidFill>
                  <a:srgbClr val="6A707D"/>
                </a:solidFill>
                <a:latin typeface="Ubuntu"/>
              </a:rPr>
              <a:t>cerca de 1 por núcleo de CPU, cada um alternando entre milhares de conexões</a:t>
            </a:r>
          </a:p>
        </p:txBody>
      </p:sp>
      <p:sp>
        <p:nvSpPr>
          <p:cNvPr id="17" name="Oval 16"/>
          <p:cNvSpPr/>
          <p:nvPr/>
        </p:nvSpPr>
        <p:spPr>
          <a:xfrm>
            <a:off x="4886412" y="3767922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86412" y="3767922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6412" y="3824052"/>
            <a:ext cx="3525888" cy="324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PT" sz="1050" b="0" i="0" dirty="0">
                <a:solidFill>
                  <a:srgbClr val="181C23"/>
                </a:solidFill>
                <a:latin typeface="Ubuntu Medium"/>
              </a:rPr>
              <a:t>Versátil: </a:t>
            </a:r>
            <a:r>
              <a:rPr lang="pt-PT" sz="1050" b="0" i="0" dirty="0">
                <a:solidFill>
                  <a:srgbClr val="6A707D"/>
                </a:solidFill>
                <a:latin typeface="Ubuntu"/>
              </a:rPr>
              <a:t>servidor web, proxy reverso para Node, Java ou </a:t>
            </a:r>
            <a:r>
              <a:rPr lang="pt-PT" sz="1050" b="0" i="0" dirty="0" err="1">
                <a:solidFill>
                  <a:srgbClr val="6A707D"/>
                </a:solidFill>
                <a:latin typeface="Ubuntu"/>
              </a:rPr>
              <a:t>Python</a:t>
            </a:r>
            <a:r>
              <a:rPr lang="pt-PT" sz="1050" b="0" i="0" dirty="0">
                <a:solidFill>
                  <a:srgbClr val="6A707D"/>
                </a:solidFill>
                <a:latin typeface="Ubuntu"/>
              </a:rPr>
              <a:t>, balanceador de carga e cache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03 — Apache e Nginx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6A707D"/>
                </a:solidFill>
                <a:latin typeface="Ubuntu Medium"/>
              </a:rPr>
              <a:t>SERVIDOR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660000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81C23"/>
                </a:solidFill>
                <a:latin typeface="Ubuntu Medium"/>
              </a:rPr>
              <a:t>Nginx — Vantagens e Desvantagens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nginx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602" y="880000"/>
            <a:ext cx="1314796" cy="529000"/>
          </a:xfrm>
          <a:prstGeom prst="rect">
            <a:avLst/>
          </a:prstGeom>
        </p:spPr>
      </p:pic>
      <p:sp>
        <p:nvSpPr>
          <p:cNvPr id="30" name="Card30"/>
          <p:cNvSpPr/>
          <p:nvPr/>
        </p:nvSpPr>
        <p:spPr>
          <a:xfrm>
            <a:off x="251700" y="1750000"/>
            <a:ext cx="4200000" cy="29000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ag31"/>
          <p:cNvSpPr/>
          <p:nvPr/>
        </p:nvSpPr>
        <p:spPr>
          <a:xfrm>
            <a:off x="491700" y="1980000"/>
            <a:ext cx="320000" cy="32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ardTitle32"/>
          <p:cNvSpPr txBox="1"/>
          <p:nvPr/>
        </p:nvSpPr>
        <p:spPr>
          <a:xfrm>
            <a:off x="911700" y="2000000"/>
            <a:ext cx="30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81C23"/>
                </a:solidFill>
                <a:latin typeface="Ubuntu Medium"/>
              </a:rPr>
              <a:t>Vantagens</a:t>
            </a:r>
          </a:p>
        </p:txBody>
      </p:sp>
      <p:sp>
        <p:nvSpPr>
          <p:cNvPr id="33" name="Dot33"/>
          <p:cNvSpPr/>
          <p:nvPr/>
        </p:nvSpPr>
        <p:spPr>
          <a:xfrm>
            <a:off x="551700" y="2580000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Item34"/>
          <p:cNvSpPr txBox="1"/>
          <p:nvPr/>
        </p:nvSpPr>
        <p:spPr>
          <a:xfrm>
            <a:off x="811700" y="2510000"/>
            <a:ext cx="334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81C23"/>
                </a:solidFill>
                <a:latin typeface="Ubuntu Medium"/>
              </a:rPr>
              <a:t>Desempenho em estático: </a:t>
            </a:r>
            <a:r>
              <a:rPr sz="1150" b="0" i="0">
                <a:solidFill>
                  <a:srgbClr val="6A707D"/>
                </a:solidFill>
                <a:latin typeface="Ubuntu"/>
              </a:rPr>
              <a:t>entrega HTML, CSS, JS e imagens com uso mínimo de memória</a:t>
            </a:r>
          </a:p>
        </p:txBody>
      </p:sp>
      <p:sp>
        <p:nvSpPr>
          <p:cNvPr id="35" name="Dot35"/>
          <p:cNvSpPr/>
          <p:nvPr/>
        </p:nvSpPr>
        <p:spPr>
          <a:xfrm>
            <a:off x="551700" y="3080000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Item36"/>
          <p:cNvSpPr txBox="1"/>
          <p:nvPr/>
        </p:nvSpPr>
        <p:spPr>
          <a:xfrm>
            <a:off x="811700" y="3010000"/>
            <a:ext cx="334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81C23"/>
                </a:solidFill>
                <a:latin typeface="Ubuntu Medium"/>
              </a:rPr>
              <a:t>Proxy reverso e balanceamento: </a:t>
            </a:r>
            <a:r>
              <a:rPr sz="1150" b="0" i="0">
                <a:solidFill>
                  <a:srgbClr val="6A707D"/>
                </a:solidFill>
                <a:latin typeface="Ubuntu"/>
              </a:rPr>
              <a:t>distribui carga entre várias aplicações e servidores</a:t>
            </a:r>
          </a:p>
        </p:txBody>
      </p:sp>
      <p:sp>
        <p:nvSpPr>
          <p:cNvPr id="37" name="Dot37"/>
          <p:cNvSpPr/>
          <p:nvPr/>
        </p:nvSpPr>
        <p:spPr>
          <a:xfrm>
            <a:off x="551700" y="3580000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Item38"/>
          <p:cNvSpPr txBox="1"/>
          <p:nvPr/>
        </p:nvSpPr>
        <p:spPr>
          <a:xfrm>
            <a:off x="811700" y="3510000"/>
            <a:ext cx="334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81C23"/>
                </a:solidFill>
                <a:latin typeface="Ubuntu Medium"/>
              </a:rPr>
              <a:t>Cache embutido: </a:t>
            </a:r>
            <a:r>
              <a:rPr sz="1150" b="0" i="0">
                <a:solidFill>
                  <a:srgbClr val="6A707D"/>
                </a:solidFill>
                <a:latin typeface="Ubuntu"/>
              </a:rPr>
              <a:t>guarda respostas e alivia o backend sem ferramenta extra</a:t>
            </a:r>
          </a:p>
        </p:txBody>
      </p:sp>
      <p:sp>
        <p:nvSpPr>
          <p:cNvPr id="39" name="Dot39"/>
          <p:cNvSpPr/>
          <p:nvPr/>
        </p:nvSpPr>
        <p:spPr>
          <a:xfrm>
            <a:off x="551700" y="4080000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Item40"/>
          <p:cNvSpPr txBox="1"/>
          <p:nvPr/>
        </p:nvSpPr>
        <p:spPr>
          <a:xfrm>
            <a:off x="811700" y="4010000"/>
            <a:ext cx="334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81C23"/>
                </a:solidFill>
                <a:latin typeface="Ubuntu Medium"/>
              </a:rPr>
              <a:t>Configuração direta: </a:t>
            </a:r>
            <a:r>
              <a:rPr sz="1150" b="0" i="0">
                <a:solidFill>
                  <a:srgbClr val="6A707D"/>
                </a:solidFill>
                <a:latin typeface="Ubuntu"/>
              </a:rPr>
              <a:t>server blocks claros e centralizados em poucos arquivos</a:t>
            </a:r>
          </a:p>
        </p:txBody>
      </p:sp>
      <p:sp>
        <p:nvSpPr>
          <p:cNvPr id="41" name="Card41"/>
          <p:cNvSpPr/>
          <p:nvPr/>
        </p:nvSpPr>
        <p:spPr>
          <a:xfrm>
            <a:off x="4692300" y="1750000"/>
            <a:ext cx="4200000" cy="29000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ag42"/>
          <p:cNvSpPr/>
          <p:nvPr/>
        </p:nvSpPr>
        <p:spPr>
          <a:xfrm>
            <a:off x="4932300" y="1980000"/>
            <a:ext cx="320000" cy="32000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CardTitle43"/>
          <p:cNvSpPr txBox="1"/>
          <p:nvPr/>
        </p:nvSpPr>
        <p:spPr>
          <a:xfrm>
            <a:off x="5352300" y="2000000"/>
            <a:ext cx="30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81C23"/>
                </a:solidFill>
                <a:latin typeface="Ubuntu Medium"/>
              </a:rPr>
              <a:t>Desvantagens</a:t>
            </a:r>
          </a:p>
        </p:txBody>
      </p:sp>
      <p:sp>
        <p:nvSpPr>
          <p:cNvPr id="44" name="Dot44"/>
          <p:cNvSpPr/>
          <p:nvPr/>
        </p:nvSpPr>
        <p:spPr>
          <a:xfrm>
            <a:off x="4992300" y="2580000"/>
            <a:ext cx="140000" cy="14000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Item45"/>
          <p:cNvSpPr txBox="1"/>
          <p:nvPr/>
        </p:nvSpPr>
        <p:spPr>
          <a:xfrm>
            <a:off x="5252300" y="2510000"/>
            <a:ext cx="334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81C23"/>
                </a:solidFill>
                <a:latin typeface="Ubuntu Medium"/>
              </a:rPr>
              <a:t>Sem .htaccess: </a:t>
            </a:r>
            <a:r>
              <a:rPr sz="1150" b="0" i="0">
                <a:solidFill>
                  <a:srgbClr val="6A707D"/>
                </a:solidFill>
                <a:latin typeface="Ubuntu"/>
              </a:rPr>
              <a:t>config só com o admin; exige reload a cada mudança</a:t>
            </a:r>
          </a:p>
        </p:txBody>
      </p:sp>
      <p:sp>
        <p:nvSpPr>
          <p:cNvPr id="46" name="Dot46"/>
          <p:cNvSpPr/>
          <p:nvPr/>
        </p:nvSpPr>
        <p:spPr>
          <a:xfrm>
            <a:off x="4992300" y="3080000"/>
            <a:ext cx="140000" cy="14000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Item47"/>
          <p:cNvSpPr txBox="1"/>
          <p:nvPr/>
        </p:nvSpPr>
        <p:spPr>
          <a:xfrm>
            <a:off x="5252300" y="3010000"/>
            <a:ext cx="334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81C23"/>
                </a:solidFill>
                <a:latin typeface="Ubuntu Medium"/>
              </a:rPr>
              <a:t>Menos módulos: </a:t>
            </a:r>
            <a:r>
              <a:rPr sz="1150" b="0" i="0">
                <a:solidFill>
                  <a:srgbClr val="6A707D"/>
                </a:solidFill>
                <a:latin typeface="Ubuntu"/>
              </a:rPr>
              <a:t>ecossistema menor e módulos costumam exigir recompilação</a:t>
            </a:r>
          </a:p>
        </p:txBody>
      </p:sp>
      <p:sp>
        <p:nvSpPr>
          <p:cNvPr id="48" name="Dot48"/>
          <p:cNvSpPr/>
          <p:nvPr/>
        </p:nvSpPr>
        <p:spPr>
          <a:xfrm>
            <a:off x="4992300" y="3580000"/>
            <a:ext cx="140000" cy="14000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Item49"/>
          <p:cNvSpPr txBox="1"/>
          <p:nvPr/>
        </p:nvSpPr>
        <p:spPr>
          <a:xfrm>
            <a:off x="5252300" y="3510000"/>
            <a:ext cx="334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81C23"/>
                </a:solidFill>
                <a:latin typeface="Ubuntu Medium"/>
              </a:rPr>
              <a:t>Não processa PHP: </a:t>
            </a:r>
            <a:r>
              <a:rPr sz="1150" b="0" i="0">
                <a:solidFill>
                  <a:srgbClr val="6A707D"/>
                </a:solidFill>
                <a:latin typeface="Ubuntu"/>
              </a:rPr>
              <a:t>precisa delegar a um PHP-FPM externo</a:t>
            </a:r>
          </a:p>
        </p:txBody>
      </p:sp>
      <p:sp>
        <p:nvSpPr>
          <p:cNvPr id="50" name="Dot50"/>
          <p:cNvSpPr/>
          <p:nvPr/>
        </p:nvSpPr>
        <p:spPr>
          <a:xfrm>
            <a:off x="4992300" y="4080000"/>
            <a:ext cx="140000" cy="14000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Item51"/>
          <p:cNvSpPr txBox="1"/>
          <p:nvPr/>
        </p:nvSpPr>
        <p:spPr>
          <a:xfrm>
            <a:off x="5252300" y="4010000"/>
            <a:ext cx="334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81C23"/>
                </a:solidFill>
                <a:latin typeface="Ubuntu Medium"/>
              </a:rPr>
              <a:t>Curva inicial: </a:t>
            </a:r>
            <a:r>
              <a:rPr sz="1150" b="0" i="0">
                <a:solidFill>
                  <a:srgbClr val="6A707D"/>
                </a:solidFill>
                <a:latin typeface="Ubuntu"/>
              </a:rPr>
              <a:t>eventos e upstreams mudam a lógica de quem vem do Apache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1700" y="4843500"/>
            <a:ext cx="8520600" cy="1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1700" y="4883500"/>
            <a:ext cx="2700000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000" y="4883500"/>
            <a:ext cx="2700000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A707D"/>
                </a:solidFill>
                <a:latin typeface="Ubuntu"/>
              </a:rPr>
              <a:t>Prof.: Everton J Benedicto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2300" y="4883500"/>
            <a:ext cx="3000000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6A707D"/>
                </a:solidFill>
                <a:latin typeface="Ubuntu"/>
              </a:rPr>
              <a:t>Aula 03 — Apache e Nginx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6A707D"/>
                </a:solidFill>
                <a:latin typeface="Ubuntu Medium"/>
              </a:rPr>
              <a:t>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660000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81C23"/>
                </a:solidFill>
                <a:latin typeface="Ubuntu Medium"/>
              </a:rPr>
              <a:t>Nginx — Casos de Uso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nginx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602" y="880000"/>
            <a:ext cx="1314796" cy="529000"/>
          </a:xfrm>
          <a:prstGeom prst="rect">
            <a:avLst/>
          </a:prstGeom>
        </p:spPr>
      </p:pic>
      <p:sp>
        <p:nvSpPr>
          <p:cNvPr id="30" name="Card30"/>
          <p:cNvSpPr/>
          <p:nvPr/>
        </p:nvSpPr>
        <p:spPr>
          <a:xfrm>
            <a:off x="251700" y="1750000"/>
            <a:ext cx="2760000" cy="24500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Num31"/>
          <p:cNvSpPr/>
          <p:nvPr/>
        </p:nvSpPr>
        <p:spPr>
          <a:xfrm>
            <a:off x="511700" y="2000000"/>
            <a:ext cx="420000" cy="42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umT32"/>
          <p:cNvSpPr txBox="1"/>
          <p:nvPr/>
        </p:nvSpPr>
        <p:spPr>
          <a:xfrm>
            <a:off x="511700" y="200000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33" name="T33"/>
          <p:cNvSpPr txBox="1"/>
          <p:nvPr/>
        </p:nvSpPr>
        <p:spPr>
          <a:xfrm>
            <a:off x="511700" y="2550000"/>
            <a:ext cx="22400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81C23"/>
                </a:solidFill>
                <a:latin typeface="Ubuntu Medium"/>
              </a:rPr>
              <a:t>Portais e streaming</a:t>
            </a:r>
          </a:p>
        </p:txBody>
      </p:sp>
      <p:sp>
        <p:nvSpPr>
          <p:cNvPr id="34" name="D34"/>
          <p:cNvSpPr txBox="1"/>
          <p:nvPr/>
        </p:nvSpPr>
        <p:spPr>
          <a:xfrm>
            <a:off x="511700" y="3100000"/>
            <a:ext cx="2240000" cy="9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A707D"/>
                </a:solidFill>
                <a:latin typeface="Ubuntu"/>
              </a:rPr>
              <a:t>Alto volume de acessos simultâneos e entrega de vídeo e arquivos estáticos com pouca memória.</a:t>
            </a:r>
          </a:p>
        </p:txBody>
      </p:sp>
      <p:sp>
        <p:nvSpPr>
          <p:cNvPr id="35" name="Card35"/>
          <p:cNvSpPr/>
          <p:nvPr/>
        </p:nvSpPr>
        <p:spPr>
          <a:xfrm>
            <a:off x="3151700" y="1750000"/>
            <a:ext cx="2760000" cy="24500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Num36"/>
          <p:cNvSpPr/>
          <p:nvPr/>
        </p:nvSpPr>
        <p:spPr>
          <a:xfrm>
            <a:off x="3411700" y="2000000"/>
            <a:ext cx="420000" cy="420000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NumT37"/>
          <p:cNvSpPr txBox="1"/>
          <p:nvPr/>
        </p:nvSpPr>
        <p:spPr>
          <a:xfrm>
            <a:off x="3411700" y="200000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38" name="T38"/>
          <p:cNvSpPr txBox="1"/>
          <p:nvPr/>
        </p:nvSpPr>
        <p:spPr>
          <a:xfrm>
            <a:off x="3411700" y="2550000"/>
            <a:ext cx="22400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81C23"/>
                </a:solidFill>
                <a:latin typeface="Ubuntu Medium"/>
              </a:rPr>
              <a:t>Gateway de API</a:t>
            </a:r>
          </a:p>
        </p:txBody>
      </p:sp>
      <p:sp>
        <p:nvSpPr>
          <p:cNvPr id="39" name="D39"/>
          <p:cNvSpPr txBox="1"/>
          <p:nvPr/>
        </p:nvSpPr>
        <p:spPr>
          <a:xfrm>
            <a:off x="3411700" y="3100000"/>
            <a:ext cx="2240000" cy="9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A707D"/>
                </a:solidFill>
                <a:latin typeface="Ubuntu"/>
              </a:rPr>
              <a:t>Porta de entrada dos microsserviços: roteia, balanceia carga, aplica TLS e limita requisições.</a:t>
            </a:r>
          </a:p>
        </p:txBody>
      </p:sp>
      <p:sp>
        <p:nvSpPr>
          <p:cNvPr id="40" name="Card40"/>
          <p:cNvSpPr/>
          <p:nvPr/>
        </p:nvSpPr>
        <p:spPr>
          <a:xfrm>
            <a:off x="6051700" y="1750000"/>
            <a:ext cx="2760000" cy="24500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Num41"/>
          <p:cNvSpPr/>
          <p:nvPr/>
        </p:nvSpPr>
        <p:spPr>
          <a:xfrm>
            <a:off x="6311700" y="2000000"/>
            <a:ext cx="420000" cy="42000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NumT42"/>
          <p:cNvSpPr txBox="1"/>
          <p:nvPr/>
        </p:nvSpPr>
        <p:spPr>
          <a:xfrm>
            <a:off x="6311700" y="200000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43" name="T43"/>
          <p:cNvSpPr txBox="1"/>
          <p:nvPr/>
        </p:nvSpPr>
        <p:spPr>
          <a:xfrm>
            <a:off x="6311700" y="2550000"/>
            <a:ext cx="22400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81C23"/>
                </a:solidFill>
                <a:latin typeface="Ubuntu Medium"/>
              </a:rPr>
              <a:t>Frontend moderno</a:t>
            </a:r>
          </a:p>
        </p:txBody>
      </p:sp>
      <p:sp>
        <p:nvSpPr>
          <p:cNvPr id="44" name="D44"/>
          <p:cNvSpPr txBox="1"/>
          <p:nvPr/>
        </p:nvSpPr>
        <p:spPr>
          <a:xfrm>
            <a:off x="6311700" y="3100000"/>
            <a:ext cx="2240000" cy="9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A707D"/>
                </a:solidFill>
                <a:latin typeface="Ubuntu"/>
              </a:rPr>
              <a:t>Serve o build de React ou Angular e encaminha /api para o backend, evitando problemas de CORS.</a:t>
            </a:r>
          </a:p>
        </p:txBody>
      </p:sp>
      <p:sp>
        <p:nvSpPr>
          <p:cNvPr id="45" name="Nota"/>
          <p:cNvSpPr txBox="1"/>
          <p:nvPr/>
        </p:nvSpPr>
        <p:spPr>
          <a:xfrm>
            <a:off x="311700" y="4340000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1C23"/>
                </a:solidFill>
                <a:latin typeface="Ubuntu Medium"/>
              </a:rPr>
              <a:t>Quem usa: </a:t>
            </a:r>
            <a:r>
              <a:rPr sz="1050" b="0" i="0">
                <a:solidFill>
                  <a:srgbClr val="6A707D"/>
                </a:solidFill>
                <a:latin typeface="Ubuntu"/>
              </a:rPr>
              <a:t>Netflix, Airbnb, GitHub, Dropbox e Instagram — todos com tráfego na casa dos milhões de requisições.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1700" y="4843500"/>
            <a:ext cx="8520600" cy="1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1700" y="4883500"/>
            <a:ext cx="2700000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000" y="4883500"/>
            <a:ext cx="2700000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A707D"/>
                </a:solidFill>
                <a:latin typeface="Ubuntu"/>
              </a:rPr>
              <a:t>Prof.: Everton J Benedicto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2300" y="4883500"/>
            <a:ext cx="3000000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6A707D"/>
                </a:solidFill>
                <a:latin typeface="Ubuntu"/>
              </a:rPr>
              <a:t>Aula 03 — Apache e Nginx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COMPARAÇÃO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Apache vs Nginx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283243" y="1686148"/>
            <a:ext cx="4577514" cy="262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pache_vs_ngin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243" y="1746148"/>
            <a:ext cx="4457514" cy="25073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253500"/>
            <a:ext cx="85206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6A707D"/>
                </a:solidFill>
                <a:latin typeface="Ubuntu"/>
              </a:rPr>
              <a:t>Apache: processo por conexão. Nginx: eventos assíncronos.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700" y="4683500"/>
            <a:ext cx="85206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1">
                <a:solidFill>
                  <a:srgbClr val="6A707D"/>
                </a:solidFill>
                <a:latin typeface="Ubuntu"/>
              </a:rPr>
              <a:t>Fonte: insightdials.com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03 — Apache e Nginx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6A707D"/>
                </a:solidFill>
                <a:latin typeface="Ubuntu Medium"/>
              </a:rPr>
              <a:t>COMPARAÇÃO DETALHADA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660000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81C23"/>
                </a:solidFill>
                <a:latin typeface="Ubuntu Medium"/>
              </a:rPr>
              <a:t>Apache vs Nginx — Ponto a Ponto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ard30"/>
          <p:cNvSpPr/>
          <p:nvPr/>
        </p:nvSpPr>
        <p:spPr>
          <a:xfrm>
            <a:off x="251700" y="1780000"/>
            <a:ext cx="4200000" cy="21300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Logo31" descr="apach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00" y="1950000"/>
            <a:ext cx="1250000" cy="477000"/>
          </a:xfrm>
          <a:prstGeom prst="rect">
            <a:avLst/>
          </a:prstGeom>
        </p:spPr>
      </p:pic>
      <p:sp>
        <p:nvSpPr>
          <p:cNvPr id="32" name="Dot32"/>
          <p:cNvSpPr/>
          <p:nvPr/>
        </p:nvSpPr>
        <p:spPr>
          <a:xfrm>
            <a:off x="501700" y="2565000"/>
            <a:ext cx="120000" cy="12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33"/>
          <p:cNvSpPr txBox="1"/>
          <p:nvPr/>
        </p:nvSpPr>
        <p:spPr>
          <a:xfrm>
            <a:off x="731700" y="2500000"/>
            <a:ext cx="348000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1C23"/>
                </a:solidFill>
                <a:latin typeface="Ubuntu Medium"/>
              </a:rPr>
              <a:t>Desempenho: </a:t>
            </a:r>
            <a:r>
              <a:rPr lang="pt-PT" sz="1050" b="0" i="0">
                <a:solidFill>
                  <a:srgbClr val="6A707D"/>
                </a:solidFill>
                <a:latin typeface="Ubuntu"/>
              </a:rPr>
              <a:t>integra Java </a:t>
            </a:r>
            <a:r>
              <a:rPr sz="1050" b="0" i="0">
                <a:solidFill>
                  <a:srgbClr val="6A707D"/>
                </a:solidFill>
                <a:latin typeface="Ubuntu"/>
              </a:rPr>
              <a:t>(mod_</a:t>
            </a:r>
            <a:r>
              <a:rPr lang="pt-PT" sz="1050" b="0" i="0">
                <a:solidFill>
                  <a:srgbClr val="6A707D"/>
                </a:solidFill>
                <a:latin typeface="Ubuntu"/>
              </a:rPr>
              <a:t>jk/Tomcat) e .NET via mod_proxy; </a:t>
            </a:r>
            <a:r>
              <a:rPr sz="1050" b="0" i="0">
                <a:solidFill>
                  <a:srgbClr val="6A707D"/>
                </a:solidFill>
                <a:latin typeface="Ubuntu"/>
              </a:rPr>
              <a:t>mais lento em estáticos</a:t>
            </a:r>
          </a:p>
        </p:txBody>
      </p:sp>
      <p:sp>
        <p:nvSpPr>
          <p:cNvPr id="34" name="Dot34"/>
          <p:cNvSpPr/>
          <p:nvPr/>
        </p:nvSpPr>
        <p:spPr>
          <a:xfrm>
            <a:off x="501700" y="3025000"/>
            <a:ext cx="120000" cy="12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35"/>
          <p:cNvSpPr txBox="1"/>
          <p:nvPr/>
        </p:nvSpPr>
        <p:spPr>
          <a:xfrm>
            <a:off x="731700" y="2960000"/>
            <a:ext cx="348000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1C23"/>
                </a:solidFill>
                <a:latin typeface="Ubuntu Medium"/>
              </a:rPr>
              <a:t>Configuração: </a:t>
            </a:r>
            <a:r>
              <a:rPr sz="1050" b="0" i="0">
                <a:solidFill>
                  <a:srgbClr val="6A707D"/>
                </a:solidFill>
                <a:latin typeface="Ubuntu"/>
              </a:rPr>
              <a:t>.htaccess por diretório: muita flexibilidade, custo de desempenho</a:t>
            </a:r>
          </a:p>
        </p:txBody>
      </p:sp>
      <p:sp>
        <p:nvSpPr>
          <p:cNvPr id="36" name="Dot36"/>
          <p:cNvSpPr/>
          <p:nvPr/>
        </p:nvSpPr>
        <p:spPr>
          <a:xfrm>
            <a:off x="501700" y="3485000"/>
            <a:ext cx="120000" cy="12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37"/>
          <p:cNvSpPr txBox="1"/>
          <p:nvPr/>
        </p:nvSpPr>
        <p:spPr>
          <a:xfrm>
            <a:off x="731700" y="3420000"/>
            <a:ext cx="348000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1C23"/>
                </a:solidFill>
                <a:latin typeface="Ubuntu Medium"/>
              </a:rPr>
              <a:t>Casos de uso: </a:t>
            </a:r>
            <a:r>
              <a:rPr sz="1050" b="0" i="0">
                <a:solidFill>
                  <a:srgbClr val="6A707D"/>
                </a:solidFill>
                <a:latin typeface="Ubuntu"/>
              </a:rPr>
              <a:t>hospedagem compartilhada e </a:t>
            </a:r>
            <a:r>
              <a:rPr lang="pt-PT" sz="1050" b="0" i="0">
                <a:solidFill>
                  <a:srgbClr val="6A707D"/>
                </a:solidFill>
                <a:latin typeface="Ubuntu"/>
              </a:rPr>
              <a:t>apps Java legadas em Tomcat</a:t>
            </a:r>
            <a:endParaRPr sz="1050" b="0" i="0">
              <a:solidFill>
                <a:srgbClr val="6A707D"/>
              </a:solidFill>
              <a:latin typeface="Ubuntu"/>
            </a:endParaRPr>
          </a:p>
        </p:txBody>
      </p:sp>
      <p:sp>
        <p:nvSpPr>
          <p:cNvPr id="38" name="Card38"/>
          <p:cNvSpPr/>
          <p:nvPr/>
        </p:nvSpPr>
        <p:spPr>
          <a:xfrm>
            <a:off x="4692300" y="1780000"/>
            <a:ext cx="4200000" cy="21300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Logo39" descr="nginx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125" y="1950000"/>
            <a:ext cx="964349" cy="388000"/>
          </a:xfrm>
          <a:prstGeom prst="rect">
            <a:avLst/>
          </a:prstGeom>
        </p:spPr>
      </p:pic>
      <p:sp>
        <p:nvSpPr>
          <p:cNvPr id="40" name="Dot40"/>
          <p:cNvSpPr/>
          <p:nvPr/>
        </p:nvSpPr>
        <p:spPr>
          <a:xfrm>
            <a:off x="4942300" y="2565000"/>
            <a:ext cx="120000" cy="120000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41"/>
          <p:cNvSpPr txBox="1"/>
          <p:nvPr/>
        </p:nvSpPr>
        <p:spPr>
          <a:xfrm>
            <a:off x="5172300" y="2500000"/>
            <a:ext cx="348000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1C23"/>
                </a:solidFill>
                <a:latin typeface="Ubuntu Medium"/>
              </a:rPr>
              <a:t>Desempenho: </a:t>
            </a:r>
            <a:r>
              <a:rPr sz="1050" b="0" i="0">
                <a:solidFill>
                  <a:srgbClr val="6A707D"/>
                </a:solidFill>
                <a:latin typeface="Ubuntu"/>
              </a:rPr>
              <a:t>muito mais rápido em HTML, CSS e imagens; </a:t>
            </a:r>
            <a:r>
              <a:rPr lang="pt-PT" sz="1050" b="0" i="0">
                <a:solidFill>
                  <a:srgbClr val="6A707D"/>
                </a:solidFill>
                <a:latin typeface="Ubuntu"/>
              </a:rPr>
              <a:t>Java e .NET sempre </a:t>
            </a:r>
            <a:r>
              <a:rPr sz="1050" b="0" i="0">
                <a:solidFill>
                  <a:srgbClr val="6A707D"/>
                </a:solidFill>
                <a:latin typeface="Ubuntu"/>
              </a:rPr>
              <a:t>via </a:t>
            </a:r>
            <a:r>
              <a:rPr lang="pt-PT" sz="1050" b="0" i="0">
                <a:solidFill>
                  <a:srgbClr val="6A707D"/>
                </a:solidFill>
                <a:latin typeface="Ubuntu"/>
              </a:rPr>
              <a:t>proxy</a:t>
            </a:r>
            <a:endParaRPr sz="1050" b="0" i="0">
              <a:solidFill>
                <a:srgbClr val="6A707D"/>
              </a:solidFill>
              <a:latin typeface="Ubuntu"/>
            </a:endParaRPr>
          </a:p>
        </p:txBody>
      </p:sp>
      <p:sp>
        <p:nvSpPr>
          <p:cNvPr id="42" name="Dot42"/>
          <p:cNvSpPr/>
          <p:nvPr/>
        </p:nvSpPr>
        <p:spPr>
          <a:xfrm>
            <a:off x="4942300" y="3025000"/>
            <a:ext cx="120000" cy="120000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43"/>
          <p:cNvSpPr txBox="1"/>
          <p:nvPr/>
        </p:nvSpPr>
        <p:spPr>
          <a:xfrm>
            <a:off x="5172300" y="2960000"/>
            <a:ext cx="348000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1C23"/>
                </a:solidFill>
                <a:latin typeface="Ubuntu Medium"/>
              </a:rPr>
              <a:t>Configuração: </a:t>
            </a:r>
            <a:r>
              <a:rPr sz="1050" b="0" i="0">
                <a:solidFill>
                  <a:srgbClr val="6A707D"/>
                </a:solidFill>
                <a:latin typeface="Ubuntu"/>
              </a:rPr>
              <a:t>centralizada no servidor: mais velocidade e segurança</a:t>
            </a:r>
          </a:p>
        </p:txBody>
      </p:sp>
      <p:sp>
        <p:nvSpPr>
          <p:cNvPr id="44" name="Dot44"/>
          <p:cNvSpPr/>
          <p:nvPr/>
        </p:nvSpPr>
        <p:spPr>
          <a:xfrm>
            <a:off x="4942300" y="3485000"/>
            <a:ext cx="120000" cy="120000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45"/>
          <p:cNvSpPr txBox="1"/>
          <p:nvPr/>
        </p:nvSpPr>
        <p:spPr>
          <a:xfrm>
            <a:off x="5172300" y="3420000"/>
            <a:ext cx="348000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1C23"/>
                </a:solidFill>
                <a:latin typeface="Ubuntu Medium"/>
              </a:rPr>
              <a:t>Casos de uso: </a:t>
            </a:r>
            <a:r>
              <a:rPr sz="1050" b="0" i="0">
                <a:solidFill>
                  <a:srgbClr val="6A707D"/>
                </a:solidFill>
                <a:latin typeface="Ubuntu"/>
              </a:rPr>
              <a:t>altíssimo tráfego, proxy reverso, load balancer e API gateway</a:t>
            </a:r>
          </a:p>
        </p:txBody>
      </p:sp>
      <p:sp>
        <p:nvSpPr>
          <p:cNvPr id="20" name="Hybrid"/>
          <p:cNvSpPr/>
          <p:nvPr/>
        </p:nvSpPr>
        <p:spPr>
          <a:xfrm>
            <a:off x="251700" y="4040000"/>
            <a:ext cx="8640600" cy="620000"/>
          </a:xfrm>
          <a:prstGeom prst="roundRect">
            <a:avLst>
              <a:gd name="adj" fmla="val 8000"/>
            </a:avLst>
          </a:prstGeom>
          <a:solidFill>
            <a:srgbClr val="F2FBE6"/>
          </a:solidFill>
          <a:ln w="9525">
            <a:solidFill>
              <a:srgbClr val="D9EFC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HybLabel"/>
          <p:cNvSpPr txBox="1"/>
          <p:nvPr/>
        </p:nvSpPr>
        <p:spPr>
          <a:xfrm>
            <a:off x="411700" y="4040000"/>
            <a:ext cx="1650000" cy="6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1C23"/>
                </a:solidFill>
                <a:latin typeface="Ubuntu Medium"/>
              </a:rPr>
              <a:t>Abordagem híbrida</a:t>
            </a:r>
          </a:p>
        </p:txBody>
      </p:sp>
      <p:sp>
        <p:nvSpPr>
          <p:cNvPr id="46" name="Pill46"/>
          <p:cNvSpPr/>
          <p:nvPr/>
        </p:nvSpPr>
        <p:spPr>
          <a:xfrm>
            <a:off x="2150000" y="4180000"/>
            <a:ext cx="1400000" cy="34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FC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PillT47"/>
          <p:cNvSpPr txBox="1"/>
          <p:nvPr/>
        </p:nvSpPr>
        <p:spPr>
          <a:xfrm>
            <a:off x="2150000" y="4180000"/>
            <a:ext cx="1400000" cy="3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81C23"/>
                </a:solidFill>
                <a:latin typeface="Ubuntu Medium"/>
              </a:rPr>
              <a:t>Usuário</a:t>
            </a:r>
          </a:p>
        </p:txBody>
      </p:sp>
      <p:sp>
        <p:nvSpPr>
          <p:cNvPr id="48" name="Pill48"/>
          <p:cNvSpPr/>
          <p:nvPr/>
        </p:nvSpPr>
        <p:spPr>
          <a:xfrm>
            <a:off x="4000000" y="4180000"/>
            <a:ext cx="2150000" cy="34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FC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PillT49"/>
          <p:cNvSpPr txBox="1"/>
          <p:nvPr/>
        </p:nvSpPr>
        <p:spPr>
          <a:xfrm>
            <a:off x="4000000" y="4180000"/>
            <a:ext cx="2150000" cy="3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81C23"/>
                </a:solidFill>
                <a:latin typeface="Ubuntu Medium"/>
              </a:rPr>
              <a:t>Nginx · estáticos + proxy</a:t>
            </a:r>
          </a:p>
        </p:txBody>
      </p:sp>
      <p:sp>
        <p:nvSpPr>
          <p:cNvPr id="50" name="Pill50"/>
          <p:cNvSpPr/>
          <p:nvPr/>
        </p:nvSpPr>
        <p:spPr>
          <a:xfrm>
            <a:off x="6600000" y="4180000"/>
            <a:ext cx="2150000" cy="34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FC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PillT51"/>
          <p:cNvSpPr txBox="1"/>
          <p:nvPr/>
        </p:nvSpPr>
        <p:spPr>
          <a:xfrm>
            <a:off x="6600000" y="4180000"/>
            <a:ext cx="2150000" cy="3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lang="pt-PT" sz="950" b="1" i="0">
                <a:solidFill>
                  <a:srgbClr val="181C23"/>
                </a:solidFill>
                <a:latin typeface="Ubuntu Medium"/>
              </a:rPr>
              <a:t>Tomcat / Kestrel </a:t>
            </a:r>
            <a:r>
              <a:rPr sz="950" b="1" i="0">
                <a:solidFill>
                  <a:srgbClr val="181C23"/>
                </a:solidFill>
                <a:latin typeface="Ubuntu Medium"/>
              </a:rPr>
              <a:t>· </a:t>
            </a:r>
            <a:r>
              <a:rPr lang="pt-PT" sz="950" b="1" i="0">
                <a:solidFill>
                  <a:srgbClr val="181C23"/>
                </a:solidFill>
                <a:latin typeface="Ubuntu Medium"/>
              </a:rPr>
              <a:t>Java e .NET</a:t>
            </a:r>
            <a:endParaRPr sz="950" b="1" i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52" name="Arrow52"/>
          <p:cNvSpPr txBox="1"/>
          <p:nvPr/>
        </p:nvSpPr>
        <p:spPr>
          <a:xfrm>
            <a:off x="3600000" y="4180000"/>
            <a:ext cx="340000" cy="3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6A707D"/>
                </a:solidFill>
                <a:latin typeface="Ubuntu Medium"/>
              </a:rPr>
              <a:t>→</a:t>
            </a:r>
          </a:p>
        </p:txBody>
      </p:sp>
      <p:sp>
        <p:nvSpPr>
          <p:cNvPr id="53" name="Arrow53"/>
          <p:cNvSpPr txBox="1"/>
          <p:nvPr/>
        </p:nvSpPr>
        <p:spPr>
          <a:xfrm>
            <a:off x="6200000" y="4180000"/>
            <a:ext cx="340000" cy="3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6A707D"/>
                </a:solidFill>
                <a:latin typeface="Ubuntu Medium"/>
              </a:rPr>
              <a:t>→</a:t>
            </a:r>
          </a:p>
        </p:txBody>
      </p:sp>
      <p:sp>
        <p:nvSpPr>
          <p:cNvPr id="24" name="Rectangle 19"/>
          <p:cNvSpPr/>
          <p:nvPr/>
        </p:nvSpPr>
        <p:spPr>
          <a:xfrm>
            <a:off x="311700" y="4843500"/>
            <a:ext cx="8520600" cy="1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000" name="TextBox 20"/>
          <p:cNvSpPr txBox="1"/>
          <p:nvPr/>
        </p:nvSpPr>
        <p:spPr>
          <a:xfrm>
            <a:off x="311700" y="4883500"/>
            <a:ext cx="2700000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2000" name="TextBox 21"/>
          <p:cNvSpPr txBox="1"/>
          <p:nvPr/>
        </p:nvSpPr>
        <p:spPr>
          <a:xfrm>
            <a:off x="3072000" y="4883500"/>
            <a:ext cx="2700000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A707D"/>
                </a:solidFill>
                <a:latin typeface="Ubuntu"/>
              </a:rPr>
              <a:t>Prof.: Everton J Benedicto</a:t>
            </a:r>
          </a:p>
        </p:txBody>
      </p:sp>
      <p:sp>
        <p:nvSpPr>
          <p:cNvPr id="23000" name="TextBox 22"/>
          <p:cNvSpPr txBox="1"/>
          <p:nvPr/>
        </p:nvSpPr>
        <p:spPr>
          <a:xfrm>
            <a:off x="5832300" y="4883500"/>
            <a:ext cx="3000000" cy="1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6A707D"/>
                </a:solidFill>
                <a:latin typeface="Ubuntu"/>
              </a:rPr>
              <a:t>Aula 03 — Apache e Nginx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Nginx com Docker Compose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Ubuntu"/>
              </a:rPr>
              <a:t>Um servidor Nginx com página customizada via Compose: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00" y="2186898"/>
            <a:ext cx="85206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sz="900" b="0" i="0">
                <a:solidFill>
                  <a:srgbClr val="6A707D"/>
                </a:solidFill>
                <a:latin typeface="Fira Code"/>
              </a:rPr>
              <a:t>yml</a:t>
            </a:r>
            <a:endParaRPr sz="900" b="0" i="0">
              <a:solidFill>
                <a:srgbClr val="6A707D"/>
              </a:solidFill>
              <a:latin typeface="Fira Code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1700" y="2426148"/>
            <a:ext cx="8120600" cy="2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PT" sz="700" b="0" i="0" dirty="0">
                <a:solidFill>
                  <a:srgbClr val="6A707D"/>
                </a:solidFill>
                <a:latin typeface="Fira Code"/>
              </a:rPr>
              <a:t># </a:t>
            </a:r>
            <a:r>
              <a:rPr lang="pt-PT" sz="700" b="0" i="0" dirty="0" err="1">
                <a:solidFill>
                  <a:srgbClr val="6A707D"/>
                </a:solidFill>
                <a:latin typeface="Fira Code"/>
              </a:rPr>
              <a:t>docker-compose.yml</a:t>
            </a:r>
            <a:endParaRPr lang="pt-PT" sz="700" b="0" i="0" dirty="0">
              <a:solidFill>
                <a:srgbClr val="6A707D"/>
              </a:solidFill>
              <a:latin typeface="Fira Code"/>
            </a:endParaRPr>
          </a:p>
          <a:p>
            <a:pPr algn="l">
              <a:lnSpc>
                <a:spcPct val="100000"/>
              </a:lnSpc>
            </a:pP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name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: aula-03-nginx</a:t>
            </a:r>
          </a:p>
          <a:p>
            <a:pPr algn="l">
              <a:lnSpc>
                <a:spcPct val="100000"/>
              </a:lnSpc>
            </a:pP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services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 web:</a:t>
            </a:r>
          </a:p>
          <a:p>
            <a:pPr algn="l">
              <a:lnSpc>
                <a:spcPct val="100000"/>
              </a:lnSpc>
            </a:pP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   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image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: nginx:1.28-alpine</a:t>
            </a:r>
          </a:p>
          <a:p>
            <a:pPr algn="l">
              <a:lnSpc>
                <a:spcPct val="100000"/>
              </a:lnSpc>
            </a:pP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   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ports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     - "8080:80"</a:t>
            </a:r>
          </a:p>
          <a:p>
            <a:pPr algn="l">
              <a:lnSpc>
                <a:spcPct val="100000"/>
              </a:lnSpc>
            </a:pP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   volumes:</a:t>
            </a:r>
          </a:p>
          <a:p>
            <a:pPr algn="l">
              <a:lnSpc>
                <a:spcPct val="100000"/>
              </a:lnSpc>
            </a:pP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     - ./html:/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usr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/share/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nginx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/html</a:t>
            </a:r>
          </a:p>
          <a:p>
            <a:pPr algn="l">
              <a:lnSpc>
                <a:spcPct val="100000"/>
              </a:lnSpc>
            </a:pP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   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restart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: 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unless-stopped</a:t>
            </a:r>
            <a:endParaRPr lang="pt-PT" sz="700" b="0" i="0" dirty="0">
              <a:solidFill>
                <a:srgbClr val="A6F750"/>
              </a:solidFill>
              <a:latin typeface="Fira Code"/>
            </a:endParaRPr>
          </a:p>
          <a:p>
            <a:pPr algn="l">
              <a:lnSpc>
                <a:spcPct val="100000"/>
              </a:lnSpc>
            </a:pP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   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healthcheck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     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test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: ["CMD-SHELL", "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wget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--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quiet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--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spider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http://localhost/ || exit 1"]</a:t>
            </a:r>
          </a:p>
          <a:p>
            <a:pPr algn="l">
              <a:lnSpc>
                <a:spcPct val="100000"/>
              </a:lnSpc>
            </a:pP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     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interval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: 10s</a:t>
            </a:r>
          </a:p>
          <a:p>
            <a:pPr algn="l">
              <a:lnSpc>
                <a:spcPct val="100000"/>
              </a:lnSpc>
            </a:pP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     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timeout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: 3s</a:t>
            </a:r>
          </a:p>
          <a:p>
            <a:pPr algn="l">
              <a:lnSpc>
                <a:spcPct val="100000"/>
              </a:lnSpc>
            </a:pP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     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retries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: 3</a:t>
            </a:r>
          </a:p>
          <a:p>
            <a:pPr algn="l">
              <a:lnSpc>
                <a:spcPct val="100000"/>
              </a:lnSpc>
            </a:pP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     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start_period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: 5s</a:t>
            </a:r>
          </a:p>
          <a:p>
            <a:pPr algn="l">
              <a:lnSpc>
                <a:spcPct val="100000"/>
              </a:lnSpc>
            </a:pP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   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logging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     driver: 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json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-file</a:t>
            </a:r>
          </a:p>
          <a:p>
            <a:pPr algn="l">
              <a:lnSpc>
                <a:spcPct val="100000"/>
              </a:lnSpc>
            </a:pP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     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options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       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max-size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: "10m"</a:t>
            </a:r>
          </a:p>
          <a:p>
            <a:pPr algn="l">
              <a:lnSpc>
                <a:spcPct val="100000"/>
              </a:lnSpc>
            </a:pP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        </a:t>
            </a:r>
            <a:r>
              <a:rPr lang="pt-PT" sz="700" b="0" i="0" dirty="0" err="1">
                <a:solidFill>
                  <a:srgbClr val="A6F750"/>
                </a:solidFill>
                <a:latin typeface="Fira Code"/>
              </a:rPr>
              <a:t>max</a:t>
            </a:r>
            <a:r>
              <a:rPr lang="pt-PT" sz="700" b="0" i="0" dirty="0">
                <a:solidFill>
                  <a:srgbClr val="A6F750"/>
                </a:solidFill>
                <a:latin typeface="Fira Code"/>
              </a:rPr>
              <a:t>-file: "3"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03 — Apache e Nginx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Recapitulando 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Apache: veterano e modular, uma thread/processo por requisição — ótimo para flexibilidade.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Nginx: assíncrono por eventos — ótimo para alta concorrência e proxy reverso.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Podem trabalhar juntos: Nginx na frente (proxy) + Apache/Tomcat atrás (app).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Docker facilita instalar e testar qualquer servidor web.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03 — Apache e Nginx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1701</Words>
  <Application>Microsoft Office PowerPoint</Application>
  <PresentationFormat>On-screen Show (16:9)</PresentationFormat>
  <Paragraphs>267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Ubuntu</vt:lpstr>
      <vt:lpstr>Fira Code</vt:lpstr>
      <vt:lpstr>Ubuntu Light</vt:lpstr>
      <vt:lpstr>Lato</vt:lpstr>
      <vt:lpstr>Ubuntu Medium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16</cp:revision>
  <dcterms:modified xsi:type="dcterms:W3CDTF">2026-08-15T18:55:19Z</dcterms:modified>
</cp:coreProperties>
</file>