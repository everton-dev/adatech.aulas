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3"/>
  </p:notesMasterIdLst>
  <p:sldIdLst>
    <p:sldId id="256" r:id="rId2"/>
    <p:sldId id="257" r:id="rId3"/>
    <p:sldId id="266" r:id="rId4"/>
    <p:sldId id="267" r:id="rId5"/>
    <p:sldId id="259" r:id="rId6"/>
    <p:sldId id="270" r:id="rId7"/>
    <p:sldId id="260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261" r:id="rId19"/>
    <p:sldId id="262" r:id="rId20"/>
    <p:sldId id="263" r:id="rId21"/>
    <p:sldId id="264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Ubuntu" panose="020B0504030602030204" pitchFamily="34" charset="0"/>
      <p:regular r:id="rId28"/>
      <p:bold r:id="rId29"/>
      <p:italic r:id="rId30"/>
      <p:boldItalic r:id="rId31"/>
    </p:embeddedFont>
    <p:embeddedFont>
      <p:font typeface="Ubuntu Light" panose="020B0304030602030204" pitchFamily="34" charset="0"/>
      <p:regular r:id="rId32"/>
      <p:bold r:id="rId33"/>
      <p:italic r:id="rId34"/>
      <p:boldItalic r:id="rId35"/>
    </p:embeddedFont>
    <p:embeddedFont>
      <p:font typeface="Ubuntu Medium" panose="020B060403060203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05  ·  Quarta, 19/08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CI/CD e Ciclo de Vida das Aplicações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Da ideia ao deploy automatizado com qualidade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i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1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3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dirty="0">
                <a:solidFill>
                  <a:srgbClr val="2371FF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dirty="0">
                <a:solidFill>
                  <a:srgbClr val="2371FF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6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05 — CI/CD e Ciclo de Vida das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Aplicações</a:t>
            </a:r>
            <a:endParaRPr sz="800" b="0" i="0" dirty="0">
              <a:solidFill>
                <a:srgbClr val="2371FF"/>
              </a:solidFill>
              <a:latin typeface="Ubuntu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" b="9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REVIEW!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04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Proxy reverso protege, distribui carga e faz cache — o cliente nunca acessa o servidor direto.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DNS converte nomes amigáveis em endereços 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Registros: A (IPv4), AAAA (IPv6), MX (e-mail), CNAME (apelido), TXT (verificação).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Nginx é o proxy reverso mais popular — simples e de alta performance.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INTEGRAÇÃO CONTÍNUA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CI — Integração Contínua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Commits frequentes: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pequenas mudanças várias vezes ao dia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Build automático: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cada commit compila e gera artefatos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Testes automáticos: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unitários, integração e regressão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Feedback rápido: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erros detectados em minutos, não em dias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418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 dirty="0">
                <a:solidFill>
                  <a:srgbClr val="181C23"/>
                </a:solidFill>
                <a:latin typeface="Ubuntu"/>
              </a:rPr>
              <a:t>CI é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como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cozinhar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com um sous chef ao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lado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: 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cada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ingrediente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ele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prova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avisa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. </a:t>
            </a:r>
            <a:endParaRPr lang="pt-PT" sz="1300" b="0" i="1" dirty="0">
              <a:solidFill>
                <a:srgbClr val="181C23"/>
              </a:solidFill>
              <a:latin typeface="Ubuntu"/>
            </a:endParaRPr>
          </a:p>
          <a:p>
            <a:pPr algn="l">
              <a:lnSpc>
                <a:spcPct val="110000"/>
              </a:lnSpc>
            </a:pPr>
            <a:r>
              <a:rPr sz="1300" b="0" i="1" dirty="0" err="1">
                <a:solidFill>
                  <a:srgbClr val="181C23"/>
                </a:solidFill>
                <a:latin typeface="Ubuntu"/>
              </a:rPr>
              <a:t>Colocou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sal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demais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?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Você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descobre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na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hora —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não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na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hora de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servir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prato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Ações e verificações automatizadas a cada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O que pode ser feito no Processo de CI?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0"/>
          <p:cNvSpPr/>
          <p:nvPr/>
        </p:nvSpPr>
        <p:spPr>
          <a:xfrm>
            <a:off x="311700" y="175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0"/>
          <p:cNvSpPr txBox="1"/>
          <p:nvPr/>
        </p:nvSpPr>
        <p:spPr>
          <a:xfrm>
            <a:off x="311700" y="175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0"/>
          <p:cNvSpPr txBox="1"/>
          <p:nvPr/>
        </p:nvSpPr>
        <p:spPr>
          <a:xfrm>
            <a:off x="751700" y="1740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Análise de Código (Linting &amp; SAST):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padrões de estilo, boas práticas e varredura de vulnerabilidades.</a:t>
            </a:r>
          </a:p>
        </p:txBody>
      </p:sp>
      <p:sp>
        <p:nvSpPr>
          <p:cNvPr id="9" name="Oval 1"/>
          <p:cNvSpPr/>
          <p:nvPr/>
        </p:nvSpPr>
        <p:spPr>
          <a:xfrm>
            <a:off x="311700" y="2088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"/>
          <p:cNvSpPr txBox="1"/>
          <p:nvPr/>
        </p:nvSpPr>
        <p:spPr>
          <a:xfrm>
            <a:off x="311700" y="2088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751700" y="2078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Build &amp; Compilação Automatizada: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empacotamento e geração de artefatos (.jar, imagens Docker).</a:t>
            </a:r>
          </a:p>
        </p:txBody>
      </p:sp>
      <p:sp>
        <p:nvSpPr>
          <p:cNvPr id="12" name="Oval 2"/>
          <p:cNvSpPr/>
          <p:nvPr/>
        </p:nvSpPr>
        <p:spPr>
          <a:xfrm>
            <a:off x="311700" y="2426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"/>
          <p:cNvSpPr txBox="1"/>
          <p:nvPr/>
        </p:nvSpPr>
        <p:spPr>
          <a:xfrm>
            <a:off x="311700" y="2426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2"/>
          <p:cNvSpPr txBox="1"/>
          <p:nvPr/>
        </p:nvSpPr>
        <p:spPr>
          <a:xfrm>
            <a:off x="751700" y="2416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Testes Automatizados: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testes unitários, de integração e de regressão da funcionalidade.</a:t>
            </a:r>
          </a:p>
        </p:txBody>
      </p:sp>
      <p:sp>
        <p:nvSpPr>
          <p:cNvPr id="15" name="Oval 3"/>
          <p:cNvSpPr/>
          <p:nvPr/>
        </p:nvSpPr>
        <p:spPr>
          <a:xfrm>
            <a:off x="311700" y="2764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3"/>
          <p:cNvSpPr txBox="1"/>
          <p:nvPr/>
        </p:nvSpPr>
        <p:spPr>
          <a:xfrm>
            <a:off x="311700" y="2764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3"/>
          <p:cNvSpPr txBox="1"/>
          <p:nvPr/>
        </p:nvSpPr>
        <p:spPr>
          <a:xfrm>
            <a:off x="751700" y="2754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Análise de Qualidade de Código: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SonarQube para medir cobertura de testes e débito técnico.</a:t>
            </a:r>
          </a:p>
        </p:txBody>
      </p:sp>
      <p:sp>
        <p:nvSpPr>
          <p:cNvPr id="18" name="Oval 4"/>
          <p:cNvSpPr/>
          <p:nvPr/>
        </p:nvSpPr>
        <p:spPr>
          <a:xfrm>
            <a:off x="311700" y="3102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/>
          <p:cNvSpPr txBox="1"/>
          <p:nvPr/>
        </p:nvSpPr>
        <p:spPr>
          <a:xfrm>
            <a:off x="311700" y="3102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4"/>
          <p:cNvSpPr txBox="1"/>
          <p:nvPr/>
        </p:nvSpPr>
        <p:spPr>
          <a:xfrm>
            <a:off x="751700" y="3092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Gerenciamento de Dependências &amp; Segurança: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bibliotecas desatualizadas ou com falhas conhecidas (SCA).</a:t>
            </a:r>
          </a:p>
        </p:txBody>
      </p:sp>
      <p:sp>
        <p:nvSpPr>
          <p:cNvPr id="21" name="Oval 5"/>
          <p:cNvSpPr/>
          <p:nvPr/>
        </p:nvSpPr>
        <p:spPr>
          <a:xfrm>
            <a:off x="311700" y="344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5"/>
          <p:cNvSpPr txBox="1"/>
          <p:nvPr/>
        </p:nvSpPr>
        <p:spPr>
          <a:xfrm>
            <a:off x="311700" y="344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6</a:t>
            </a:r>
          </a:p>
        </p:txBody>
      </p:sp>
      <p:sp>
        <p:nvSpPr>
          <p:cNvPr id="23" name="TextBox 5"/>
          <p:cNvSpPr txBox="1"/>
          <p:nvPr/>
        </p:nvSpPr>
        <p:spPr>
          <a:xfrm>
            <a:off x="751700" y="3430000"/>
            <a:ext cx="80806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Notificação &amp; Feedback Rápido: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alertas instantâneos (Slack, e-mail ou Teams) sobre a compilação.</a:t>
            </a:r>
          </a:p>
        </p:txBody>
      </p:sp>
      <p:sp>
        <p:nvSpPr>
          <p:cNvPr id="24" name="Rounded Rectangle"/>
          <p:cNvSpPr/>
          <p:nvPr/>
        </p:nvSpPr>
        <p:spPr>
          <a:xfrm>
            <a:off x="311700" y="38100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Accent"/>
          <p:cNvSpPr/>
          <p:nvPr/>
        </p:nvSpPr>
        <p:spPr>
          <a:xfrm>
            <a:off x="311700" y="38100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Kicker Card"/>
          <p:cNvSpPr txBox="1"/>
          <p:nvPr/>
        </p:nvSpPr>
        <p:spPr>
          <a:xfrm>
            <a:off x="511700" y="390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REGRA DE OURO DO CI</a:t>
            </a:r>
          </a:p>
        </p:txBody>
      </p:sp>
      <p:sp>
        <p:nvSpPr>
          <p:cNvPr id="27" name="TextBox Card Body"/>
          <p:cNvSpPr txBox="1"/>
          <p:nvPr/>
        </p:nvSpPr>
        <p:spPr>
          <a:xfrm>
            <a:off x="511700" y="4150000"/>
            <a:ext cx="8120600" cy="402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pt-BR" sz="1250" b="0" i="1" dirty="0">
                <a:solidFill>
                  <a:srgbClr val="181C23"/>
                </a:solidFill>
                <a:latin typeface="Ubuntu"/>
              </a:rPr>
              <a:t>Se qualquer uma dessas etapas falhar, a esteira é interrompida imediatamente e o código não avança.</a:t>
            </a:r>
          </a:p>
          <a:p>
            <a:pPr algn="l">
              <a:lnSpc>
                <a:spcPct val="110000"/>
              </a:lnSpc>
            </a:pPr>
            <a:r>
              <a:rPr lang="pt-BR" sz="1250" b="0" i="1" dirty="0">
                <a:solidFill>
                  <a:srgbClr val="181C23"/>
                </a:solidFill>
                <a:latin typeface="Ubuntu"/>
              </a:rPr>
              <a:t>O feedback deve ser gerado em poucos minutos.</a:t>
            </a:r>
          </a:p>
        </p:txBody>
      </p:sp>
      <p:sp>
        <p:nvSpPr>
          <p:cNvPr id="8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8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8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ENTREGA CONTÍNUA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CD — Entrega e Deploy Contínuos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Entrega Contínua: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código sempre pronto para produção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Deploy Contínuo: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 que passa nos testes vai automático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Ambientes: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Dev → QA → Staging → Produção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Estratégias: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Blue-Green, Canary e Feature Toggles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418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 dirty="0">
                <a:solidFill>
                  <a:srgbClr val="181C23"/>
                </a:solidFill>
                <a:latin typeface="Ubuntu"/>
              </a:rPr>
              <a:t>CD é 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linha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de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montagem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de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carros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: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cada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peça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é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testada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antes de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seguir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. </a:t>
            </a:r>
            <a:endParaRPr lang="pt-PT" sz="1300" b="0" i="1" dirty="0">
              <a:solidFill>
                <a:srgbClr val="181C23"/>
              </a:solidFill>
              <a:latin typeface="Ubuntu"/>
            </a:endParaRPr>
          </a:p>
          <a:p>
            <a:pPr algn="l">
              <a:lnSpc>
                <a:spcPct val="110000"/>
              </a:lnSpc>
            </a:pPr>
            <a:r>
              <a:rPr sz="1300" b="0" i="1" dirty="0">
                <a:solidFill>
                  <a:srgbClr val="181C23"/>
                </a:solidFill>
                <a:latin typeface="Ubuntu"/>
              </a:rPr>
              <a:t>No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fim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,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carro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sai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da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fábrica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pronto para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rodar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,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sem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revisão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manual 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cada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parafuso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2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ESTRATÉGIAS DE DEPLOY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Implantação sem downtime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 5"/>
          <p:cNvSpPr/>
          <p:nvPr/>
        </p:nvSpPr>
        <p:spPr>
          <a:xfrm>
            <a:off x="311700" y="18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11700" y="18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700" y="17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Blue/Green Deployment: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dois ambientes idênticos com troca instantânea do tráfego.</a:t>
            </a:r>
          </a:p>
        </p:txBody>
      </p:sp>
      <p:sp>
        <p:nvSpPr>
          <p:cNvPr id="8" name="Num 8"/>
          <p:cNvSpPr/>
          <p:nvPr/>
        </p:nvSpPr>
        <p:spPr>
          <a:xfrm>
            <a:off x="311700" y="23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11700" y="23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700" y="22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Canary Releases: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liberação gradual para uma porcentagem reduzida de usuários.</a:t>
            </a:r>
          </a:p>
        </p:txBody>
      </p:sp>
      <p:sp>
        <p:nvSpPr>
          <p:cNvPr id="11" name="Num 11"/>
          <p:cNvSpPr/>
          <p:nvPr/>
        </p:nvSpPr>
        <p:spPr>
          <a:xfrm>
            <a:off x="311700" y="28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11700" y="28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700" y="27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Rolling Updates: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atualização progressiva das instâncias/pods, sem parar o serviço.</a:t>
            </a:r>
          </a:p>
        </p:txBody>
      </p:sp>
      <p:sp>
        <p:nvSpPr>
          <p:cNvPr id="14" name="Card 14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dAccent 15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POR QUE IMPORTA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Todas as três estratégias reduzem o raio de impacto de uma falha: se algo der errado, apenas parte do tráfego é afetada e a reversão é imediata.</a:t>
            </a:r>
          </a:p>
        </p:txBody>
      </p:sp>
      <p:sp>
        <p:nvSpPr>
          <p:cNvPr id="18" name="Divider 1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1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GITOPS E IAC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Infraestrutura como Código e GitOps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t 5"/>
          <p:cNvSpPr/>
          <p:nvPr/>
        </p:nvSpPr>
        <p:spPr>
          <a:xfrm>
            <a:off x="351700" y="188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31700" y="176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Estado desejado declarado em código: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a infraestrutura é versionada como qualquer aplicação.</a:t>
            </a:r>
          </a:p>
        </p:txBody>
      </p:sp>
      <p:sp>
        <p:nvSpPr>
          <p:cNvPr id="7" name="Dot 7"/>
          <p:cNvSpPr/>
          <p:nvPr/>
        </p:nvSpPr>
        <p:spPr>
          <a:xfrm>
            <a:off x="351700" y="231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31700" y="219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Sincronização automática: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o agente compara o estado real com o declarado e corrige divergências (drift).</a:t>
            </a:r>
          </a:p>
        </p:txBody>
      </p:sp>
      <p:sp>
        <p:nvSpPr>
          <p:cNvPr id="9" name="Dot 9"/>
          <p:cNvSpPr/>
          <p:nvPr/>
        </p:nvSpPr>
        <p:spPr>
          <a:xfrm>
            <a:off x="351700" y="274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31700" y="262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Ferramentas de IaC: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Terraform, OpenTofu, Ansible e Pulumi.</a:t>
            </a:r>
          </a:p>
        </p:txBody>
      </p:sp>
      <p:sp>
        <p:nvSpPr>
          <p:cNvPr id="11" name="Dot 11"/>
          <p:cNvSpPr/>
          <p:nvPr/>
        </p:nvSpPr>
        <p:spPr>
          <a:xfrm>
            <a:off x="351700" y="317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1700" y="305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Ferramentas de GitOps: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ArgoCD e FluxCD, com reconciliação contínua em Kubernetes.</a:t>
            </a:r>
          </a:p>
        </p:txBody>
      </p:sp>
      <p:sp>
        <p:nvSpPr>
          <p:cNvPr id="13" name="Card 13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Accent 14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DESTAQUE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O repositório Git é a única fonte de verdade da infraestrutura: todo deploy vira um commit auditável e reversível.</a:t>
            </a:r>
          </a:p>
        </p:txBody>
      </p:sp>
      <p:sp>
        <p:nvSpPr>
          <p:cNvPr id="17" name="Divider 1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5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PROMOÇÃO DE AMBIENTES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Promoção entre Ambientes e Gates de Aprovação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 5"/>
          <p:cNvSpPr/>
          <p:nvPr/>
        </p:nvSpPr>
        <p:spPr>
          <a:xfrm>
            <a:off x="311700" y="1847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11700" y="1847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700" y="1760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Dev: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o artefato é construído uma única vez e validado com testes automatizados.</a:t>
            </a:r>
          </a:p>
        </p:txBody>
      </p:sp>
      <p:sp>
        <p:nvSpPr>
          <p:cNvPr id="8" name="Num 8"/>
          <p:cNvSpPr/>
          <p:nvPr/>
        </p:nvSpPr>
        <p:spPr>
          <a:xfrm>
            <a:off x="311700" y="2322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11700" y="2322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700" y="2235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Staging / UAT: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validação funcional e de aceite com dados e configuração próximos da produção.</a:t>
            </a:r>
          </a:p>
        </p:txBody>
      </p:sp>
      <p:sp>
        <p:nvSpPr>
          <p:cNvPr id="11" name="Num 11"/>
          <p:cNvSpPr/>
          <p:nvPr/>
        </p:nvSpPr>
        <p:spPr>
          <a:xfrm>
            <a:off x="311700" y="2797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11700" y="2797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700" y="2710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Produção: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promoção do mesmo artefato, mudando apenas variáveis e segredos por ambiente.</a:t>
            </a:r>
          </a:p>
        </p:txBody>
      </p:sp>
      <p:sp>
        <p:nvSpPr>
          <p:cNvPr id="14" name="Num 14"/>
          <p:cNvSpPr/>
          <p:nvPr/>
        </p:nvSpPr>
        <p:spPr>
          <a:xfrm>
            <a:off x="311700" y="3272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11700" y="3272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700" y="3185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Gates de qualidade: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aprovações manuais, regras de compliance e janelas de manutenção automatizadas.</a:t>
            </a:r>
          </a:p>
        </p:txBody>
      </p:sp>
      <p:sp>
        <p:nvSpPr>
          <p:cNvPr id="17" name="Card 17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rdAccent 18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REGRA DE OURO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Build once, deploy anywhere: o mesmo artefato percorre todos os ambientes — o que muda é apenas a configuração.</a:t>
            </a:r>
          </a:p>
        </p:txBody>
      </p:sp>
      <p:sp>
        <p:nvSpPr>
          <p:cNvPr id="21" name="Divider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2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BANCO DE DADOS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Migrações de Banco sem Downtime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 5"/>
          <p:cNvSpPr/>
          <p:nvPr/>
        </p:nvSpPr>
        <p:spPr>
          <a:xfrm>
            <a:off x="311700" y="18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11700" y="18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700" y="17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Expand: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adiciona a nova coluna ou tabela mantendo a estrutura antiga em uso.</a:t>
            </a:r>
          </a:p>
        </p:txBody>
      </p:sp>
      <p:sp>
        <p:nvSpPr>
          <p:cNvPr id="8" name="Num 8"/>
          <p:cNvSpPr/>
          <p:nvPr/>
        </p:nvSpPr>
        <p:spPr>
          <a:xfrm>
            <a:off x="311700" y="23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11700" y="23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700" y="22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Transition: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a aplicação escreve nas duas estruturas enquanto os dados são migrados.</a:t>
            </a:r>
          </a:p>
        </p:txBody>
      </p:sp>
      <p:sp>
        <p:nvSpPr>
          <p:cNvPr id="11" name="Num 11"/>
          <p:cNvSpPr/>
          <p:nvPr/>
        </p:nvSpPr>
        <p:spPr>
          <a:xfrm>
            <a:off x="311700" y="28800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11700" y="28800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700" y="2780000"/>
            <a:ext cx="8080600" cy="4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200" b="0" i="0">
                <a:solidFill>
                  <a:srgbClr val="181C23"/>
                </a:solidFill>
                <a:latin typeface="Ubuntu Medium"/>
              </a:rPr>
              <a:t>Contract: </a:t>
            </a:r>
            <a:r>
              <a:rPr lang="pt-BR" sz="1200" b="0" i="0">
                <a:solidFill>
                  <a:srgbClr val="6A707D"/>
                </a:solidFill>
                <a:latin typeface="Ubuntu"/>
              </a:rPr>
              <a:t>a estrutura legada é removida após a migração completa dos dados.</a:t>
            </a:r>
          </a:p>
        </p:txBody>
      </p:sp>
      <p:sp>
        <p:nvSpPr>
          <p:cNvPr id="14" name="Card 14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dAccent 15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FERRAMENTAS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Flyway e Liquibase versionam e aplicam as migrações dentro do pipeline — o schema evolui junto com o código, de forma controlada.</a:t>
            </a:r>
          </a:p>
        </p:txBody>
      </p:sp>
      <p:sp>
        <p:nvSpPr>
          <p:cNvPr id="18" name="Divider 1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PROGRESSIVE DELIVERY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Feature Flags e Entrega Progressiva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t 5"/>
          <p:cNvSpPr/>
          <p:nvPr/>
        </p:nvSpPr>
        <p:spPr>
          <a:xfrm>
            <a:off x="351700" y="1855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31700" y="1760000"/>
            <a:ext cx="8200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Deploy ≠ Release: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o código vai para produção desligado e é ativado quando o negócio decidir.</a:t>
            </a:r>
          </a:p>
        </p:txBody>
      </p:sp>
      <p:sp>
        <p:nvSpPr>
          <p:cNvPr id="7" name="Dot 7"/>
          <p:cNvSpPr/>
          <p:nvPr/>
        </p:nvSpPr>
        <p:spPr>
          <a:xfrm>
            <a:off x="351700" y="2235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31700" y="2140000"/>
            <a:ext cx="8200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Toggles em tempo real: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ativar ou desativar recursos sem exigir um novo deploy.</a:t>
            </a:r>
          </a:p>
        </p:txBody>
      </p:sp>
      <p:sp>
        <p:nvSpPr>
          <p:cNvPr id="9" name="Dot 9"/>
          <p:cNvSpPr/>
          <p:nvPr/>
        </p:nvSpPr>
        <p:spPr>
          <a:xfrm>
            <a:off x="351700" y="2615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31700" y="2520000"/>
            <a:ext cx="8200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Liberação segmentada: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por localização, tipo de usuário, plano ou permissão.</a:t>
            </a:r>
          </a:p>
        </p:txBody>
      </p:sp>
      <p:sp>
        <p:nvSpPr>
          <p:cNvPr id="11" name="Dot 11"/>
          <p:cNvSpPr/>
          <p:nvPr/>
        </p:nvSpPr>
        <p:spPr>
          <a:xfrm>
            <a:off x="351700" y="2995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1700" y="2900000"/>
            <a:ext cx="8200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Testes A/B: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comparação de variantes com métricas reais de uso.</a:t>
            </a:r>
          </a:p>
        </p:txBody>
      </p:sp>
      <p:sp>
        <p:nvSpPr>
          <p:cNvPr id="13" name="Dot 13"/>
          <p:cNvSpPr/>
          <p:nvPr/>
        </p:nvSpPr>
        <p:spPr>
          <a:xfrm>
            <a:off x="351700" y="3375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31700" y="3280000"/>
            <a:ext cx="8200600" cy="3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 dirty="0">
                <a:solidFill>
                  <a:srgbClr val="181C23"/>
                </a:solidFill>
                <a:latin typeface="Ubuntu Medium"/>
              </a:rPr>
              <a:t>Ferramentas: </a:t>
            </a:r>
            <a:r>
              <a:rPr lang="pt-BR" sz="1150" b="0" i="0" dirty="0">
                <a:solidFill>
                  <a:srgbClr val="6A707D"/>
                </a:solidFill>
                <a:latin typeface="Ubuntu"/>
              </a:rPr>
              <a:t>LaunchDarkly, Unleash e Flagsmith.</a:t>
            </a:r>
          </a:p>
        </p:txBody>
      </p:sp>
      <p:sp>
        <p:nvSpPr>
          <p:cNvPr id="15" name="Card 15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Accent 16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BENEFÍCIO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Separar deploy de release reduz o risco: uma funcionalidade problemática é desligada em segundos, sem pipeline e sem rollback.</a:t>
            </a:r>
          </a:p>
        </p:txBody>
      </p:sp>
      <p:sp>
        <p:nvSpPr>
          <p:cNvPr id="19" name="Divider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1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VERIFICAÇÃO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Testes em Produção e Verificação Automatizada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t 5"/>
          <p:cNvSpPr/>
          <p:nvPr/>
        </p:nvSpPr>
        <p:spPr>
          <a:xfrm>
            <a:off x="351700" y="188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31700" y="176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Smoke tests pós-deploy: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validação automática dos fluxos críticos logo após a publicação.</a:t>
            </a:r>
          </a:p>
        </p:txBody>
      </p:sp>
      <p:sp>
        <p:nvSpPr>
          <p:cNvPr id="7" name="Dot 7"/>
          <p:cNvSpPr/>
          <p:nvPr/>
        </p:nvSpPr>
        <p:spPr>
          <a:xfrm>
            <a:off x="351700" y="231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31700" y="219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Synthetic monitoring: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robôs simulam jornadas reais de usuário em intervalos regulares.</a:t>
            </a:r>
          </a:p>
        </p:txBody>
      </p:sp>
      <p:sp>
        <p:nvSpPr>
          <p:cNvPr id="9" name="Dot 9"/>
          <p:cNvSpPr/>
          <p:nvPr/>
        </p:nvSpPr>
        <p:spPr>
          <a:xfrm>
            <a:off x="351700" y="274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31700" y="262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 dirty="0">
                <a:solidFill>
                  <a:srgbClr val="181C23"/>
                </a:solidFill>
                <a:latin typeface="Ubuntu Medium"/>
              </a:rPr>
              <a:t>Health probes: </a:t>
            </a:r>
            <a:r>
              <a:rPr lang="pt-BR" sz="1150" b="0" i="0" dirty="0">
                <a:solidFill>
                  <a:srgbClr val="6A707D"/>
                </a:solidFill>
                <a:latin typeface="Ubuntu"/>
              </a:rPr>
              <a:t>liveness e readiness no Kubernetes controlam tráfego e reinícios.</a:t>
            </a:r>
          </a:p>
        </p:txBody>
      </p:sp>
      <p:sp>
        <p:nvSpPr>
          <p:cNvPr id="11" name="Dot 11"/>
          <p:cNvSpPr/>
          <p:nvPr/>
        </p:nvSpPr>
        <p:spPr>
          <a:xfrm>
            <a:off x="351700" y="317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1700" y="305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Métricas em tempo real: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latência, taxa de erro e saturação validam a saúde do novo deploy.</a:t>
            </a:r>
          </a:p>
        </p:txBody>
      </p:sp>
      <p:sp>
        <p:nvSpPr>
          <p:cNvPr id="13" name="Card 13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Accent 14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IDEIA-CHAVE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Produção é o único ambiente real. Verificar continuamente lá é o que transforma o deploy em uma decisão baseada em dados.</a:t>
            </a:r>
          </a:p>
        </p:txBody>
      </p:sp>
      <p:sp>
        <p:nvSpPr>
          <p:cNvPr id="17" name="Divider 1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5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RESILIÊNCIA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Rollback Automatizado e Auto-Healing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um 5"/>
          <p:cNvSpPr/>
          <p:nvPr/>
        </p:nvSpPr>
        <p:spPr>
          <a:xfrm>
            <a:off x="311700" y="1847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11700" y="1847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700" y="1760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Detecção automática: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APM e observabilidade acusam aumento de erros 5xx ou de latência.</a:t>
            </a:r>
          </a:p>
        </p:txBody>
      </p:sp>
      <p:sp>
        <p:nvSpPr>
          <p:cNvPr id="8" name="Num 8"/>
          <p:cNvSpPr/>
          <p:nvPr/>
        </p:nvSpPr>
        <p:spPr>
          <a:xfrm>
            <a:off x="311700" y="2322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11700" y="2322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700" y="2235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Reversão automática: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falha nos testes canary ou nas probes dispara a volta para a versão anterior.</a:t>
            </a:r>
          </a:p>
        </p:txBody>
      </p:sp>
      <p:sp>
        <p:nvSpPr>
          <p:cNvPr id="11" name="Num 11"/>
          <p:cNvSpPr/>
          <p:nvPr/>
        </p:nvSpPr>
        <p:spPr>
          <a:xfrm>
            <a:off x="311700" y="2797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11700" y="2797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700" y="2710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Circuit breaker: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isola dependências instáveis e protege o restante da infraestrutura.</a:t>
            </a:r>
          </a:p>
        </p:txBody>
      </p:sp>
      <p:sp>
        <p:nvSpPr>
          <p:cNvPr id="14" name="Num 14"/>
          <p:cNvSpPr/>
          <p:nvPr/>
        </p:nvSpPr>
        <p:spPr>
          <a:xfrm>
            <a:off x="311700" y="3272500"/>
            <a:ext cx="260000" cy="26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11700" y="3272500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12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700" y="3185000"/>
            <a:ext cx="8080600" cy="4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Auto-healing: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instâncias não saudáveis são substituídas automaticamente pelo orquestrador.</a:t>
            </a:r>
          </a:p>
        </p:txBody>
      </p:sp>
      <p:sp>
        <p:nvSpPr>
          <p:cNvPr id="17" name="Card 17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rdAccent 18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META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Reduzir o MTTR: importa menos evitar toda falha e mais voltar ao estado saudável em minutos, de forma automática.</a:t>
            </a:r>
          </a:p>
        </p:txBody>
      </p:sp>
      <p:sp>
        <p:nvSpPr>
          <p:cNvPr id="21" name="Divider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1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DEVSECOPS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Segurança e Governança no CD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t 5"/>
          <p:cNvSpPr/>
          <p:nvPr/>
        </p:nvSpPr>
        <p:spPr>
          <a:xfrm>
            <a:off x="351700" y="188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31700" y="176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Segredos dinâmicos: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HashiCorp Vault e AWS Secrets Manager, sem credenciais no repositório.</a:t>
            </a:r>
          </a:p>
        </p:txBody>
      </p:sp>
      <p:sp>
        <p:nvSpPr>
          <p:cNvPr id="7" name="Dot 7"/>
          <p:cNvSpPr/>
          <p:nvPr/>
        </p:nvSpPr>
        <p:spPr>
          <a:xfrm>
            <a:off x="351700" y="231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31700" y="219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Menor privilégio: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RBAC e IAM restritos para as service accounts do pipeline.</a:t>
            </a:r>
          </a:p>
        </p:txBody>
      </p:sp>
      <p:sp>
        <p:nvSpPr>
          <p:cNvPr id="9" name="Dot 9"/>
          <p:cNvSpPr/>
          <p:nvPr/>
        </p:nvSpPr>
        <p:spPr>
          <a:xfrm>
            <a:off x="351700" y="274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31700" y="262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Policy as code: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Open Policy Agent e Kyverno bloqueiam deploys fora da política.</a:t>
            </a:r>
          </a:p>
        </p:txBody>
      </p:sp>
      <p:sp>
        <p:nvSpPr>
          <p:cNvPr id="11" name="Dot 11"/>
          <p:cNvSpPr/>
          <p:nvPr/>
        </p:nvSpPr>
        <p:spPr>
          <a:xfrm>
            <a:off x="351700" y="317000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1700" y="3050000"/>
            <a:ext cx="82006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50" b="0" i="0">
                <a:solidFill>
                  <a:srgbClr val="181C23"/>
                </a:solidFill>
                <a:latin typeface="Ubuntu Medium"/>
              </a:rPr>
              <a:t>Trilha de auditoria: </a:t>
            </a:r>
            <a:r>
              <a:rPr lang="pt-BR" sz="1150" b="0" i="0">
                <a:solidFill>
                  <a:srgbClr val="6A707D"/>
                </a:solidFill>
                <a:latin typeface="Ubuntu"/>
              </a:rPr>
              <a:t>registro completo de quem aprovou, o que subiu e quando.</a:t>
            </a:r>
          </a:p>
        </p:txBody>
      </p:sp>
      <p:sp>
        <p:nvSpPr>
          <p:cNvPr id="13" name="Card 13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Accent 14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GOVERNANÇA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Segurança no CD não é um portão no fim do processo: é um conjunto de verificações automáticas dentro do próprio pipeline.</a:t>
            </a:r>
          </a:p>
        </p:txBody>
      </p:sp>
      <p:sp>
        <p:nvSpPr>
          <p:cNvPr id="17" name="Divider 1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5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ECOSSISTEMA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Matriz de Ferramentas de CD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51700" y="172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pt-BR" sz="900" b="0" i="0">
                <a:solidFill>
                  <a:srgbClr val="2371FF"/>
                </a:solidFill>
                <a:latin typeface="Ubuntu Medium"/>
              </a:rPr>
              <a:t>ETAPA DO PIPELINE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11700" y="1720000"/>
            <a:ext cx="51206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pt-BR" sz="900" b="0" i="0">
                <a:solidFill>
                  <a:srgbClr val="2371FF"/>
                </a:solidFill>
                <a:latin typeface="Ubuntu Medium"/>
              </a:rPr>
              <a:t>FERRAMENTAS</a:t>
            </a:r>
          </a:p>
        </p:txBody>
      </p:sp>
      <p:sp>
        <p:nvSpPr>
          <p:cNvPr id="7" name="Row 7"/>
          <p:cNvSpPr/>
          <p:nvPr/>
        </p:nvSpPr>
        <p:spPr>
          <a:xfrm>
            <a:off x="311700" y="1900000"/>
            <a:ext cx="8520600" cy="320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wAccent 8"/>
          <p:cNvSpPr/>
          <p:nvPr/>
        </p:nvSpPr>
        <p:spPr>
          <a:xfrm>
            <a:off x="311700" y="1900000"/>
            <a:ext cx="60000" cy="3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51700" y="1900000"/>
            <a:ext cx="3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181C23"/>
                </a:solidFill>
                <a:latin typeface="Ubuntu Medium"/>
              </a:rPr>
              <a:t>GitOps / Deploy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11700" y="1900000"/>
            <a:ext cx="50806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6A707D"/>
                </a:solidFill>
                <a:latin typeface="Ubuntu"/>
              </a:rPr>
              <a:t>ArgoCD · FluxCD · Octopus Deploy</a:t>
            </a:r>
          </a:p>
        </p:txBody>
      </p:sp>
      <p:sp>
        <p:nvSpPr>
          <p:cNvPr id="11" name="Row 11"/>
          <p:cNvSpPr/>
          <p:nvPr/>
        </p:nvSpPr>
        <p:spPr>
          <a:xfrm>
            <a:off x="311700" y="2250000"/>
            <a:ext cx="8520600" cy="3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wAccent 12"/>
          <p:cNvSpPr/>
          <p:nvPr/>
        </p:nvSpPr>
        <p:spPr>
          <a:xfrm>
            <a:off x="311700" y="2250000"/>
            <a:ext cx="60000" cy="32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1700" y="2250000"/>
            <a:ext cx="3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181C23"/>
                </a:solidFill>
                <a:latin typeface="Ubuntu Medium"/>
              </a:rPr>
              <a:t>Infraestrutura como Código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11700" y="2250000"/>
            <a:ext cx="50806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pt-BR" sz="1100" b="0" i="0" dirty="0">
                <a:solidFill>
                  <a:srgbClr val="6A707D"/>
                </a:solidFill>
                <a:latin typeface="Ubuntu"/>
              </a:rPr>
              <a:t>Terraform · Ansible · Pulumi</a:t>
            </a:r>
            <a:r>
              <a:rPr lang="pt-BR" sz="1100" dirty="0">
                <a:solidFill>
                  <a:srgbClr val="6A707D"/>
                </a:solidFill>
                <a:latin typeface="Ubuntu"/>
              </a:rPr>
              <a:t> · ARM Template · CLI</a:t>
            </a:r>
            <a:endParaRPr lang="pt-BR" sz="11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5" name="Row 15"/>
          <p:cNvSpPr/>
          <p:nvPr/>
        </p:nvSpPr>
        <p:spPr>
          <a:xfrm>
            <a:off x="311700" y="2600000"/>
            <a:ext cx="8520600" cy="320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wAccent 16"/>
          <p:cNvSpPr/>
          <p:nvPr/>
        </p:nvSpPr>
        <p:spPr>
          <a:xfrm>
            <a:off x="311700" y="2600000"/>
            <a:ext cx="60000" cy="3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51700" y="2600000"/>
            <a:ext cx="3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181C23"/>
                </a:solidFill>
                <a:latin typeface="Ubuntu Medium"/>
              </a:rPr>
              <a:t>Feature Flags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11700" y="2600000"/>
            <a:ext cx="50806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6A707D"/>
                </a:solidFill>
                <a:latin typeface="Ubuntu"/>
              </a:rPr>
              <a:t>LaunchDarkly · Unleash</a:t>
            </a:r>
          </a:p>
        </p:txBody>
      </p:sp>
      <p:sp>
        <p:nvSpPr>
          <p:cNvPr id="19" name="Row 19"/>
          <p:cNvSpPr/>
          <p:nvPr/>
        </p:nvSpPr>
        <p:spPr>
          <a:xfrm>
            <a:off x="311700" y="2950000"/>
            <a:ext cx="8520600" cy="3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wAccent 20"/>
          <p:cNvSpPr/>
          <p:nvPr/>
        </p:nvSpPr>
        <p:spPr>
          <a:xfrm>
            <a:off x="311700" y="2950000"/>
            <a:ext cx="60000" cy="32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51700" y="2950000"/>
            <a:ext cx="3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181C23"/>
                </a:solidFill>
                <a:latin typeface="Ubuntu Medium"/>
              </a:rPr>
              <a:t>Observabilidade / Canary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11700" y="2950000"/>
            <a:ext cx="50806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pt-BR" sz="1100" b="0" i="0" dirty="0">
                <a:solidFill>
                  <a:srgbClr val="6A707D"/>
                </a:solidFill>
                <a:latin typeface="Ubuntu"/>
              </a:rPr>
              <a:t>Prometheus · Datadog · Flagger</a:t>
            </a:r>
            <a:r>
              <a:rPr lang="pt-BR" sz="1100" dirty="0">
                <a:solidFill>
                  <a:srgbClr val="6A707D"/>
                </a:solidFill>
                <a:latin typeface="Ubuntu"/>
              </a:rPr>
              <a:t> · Azure Application Insights</a:t>
            </a:r>
            <a:endParaRPr lang="pt-BR" sz="11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23" name="Row 23"/>
          <p:cNvSpPr/>
          <p:nvPr/>
        </p:nvSpPr>
        <p:spPr>
          <a:xfrm>
            <a:off x="311700" y="3300000"/>
            <a:ext cx="8520600" cy="32000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wAccent 24"/>
          <p:cNvSpPr/>
          <p:nvPr/>
        </p:nvSpPr>
        <p:spPr>
          <a:xfrm>
            <a:off x="311700" y="3300000"/>
            <a:ext cx="60000" cy="3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1700" y="3300000"/>
            <a:ext cx="30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1100" b="0" i="0">
                <a:solidFill>
                  <a:srgbClr val="181C23"/>
                </a:solidFill>
                <a:latin typeface="Ubuntu Medium"/>
              </a:rPr>
              <a:t>Gestão de Segredos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11700" y="3300000"/>
            <a:ext cx="50806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pt-BR" sz="1100" b="0" i="0" dirty="0">
                <a:solidFill>
                  <a:srgbClr val="6A707D"/>
                </a:solidFill>
                <a:latin typeface="Ubuntu"/>
              </a:rPr>
              <a:t>HashiCorp Vault · AWS Secrets Manager</a:t>
            </a:r>
            <a:r>
              <a:rPr lang="pt-BR" sz="1100" dirty="0">
                <a:solidFill>
                  <a:srgbClr val="6A707D"/>
                </a:solidFill>
                <a:latin typeface="Ubuntu"/>
              </a:rPr>
              <a:t> · Azure KeyVault</a:t>
            </a:r>
            <a:endParaRPr lang="pt-BR" sz="11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27" name="Card 27"/>
          <p:cNvSpPr/>
          <p:nvPr/>
        </p:nvSpPr>
        <p:spPr>
          <a:xfrm>
            <a:off x="311700" y="3760000"/>
            <a:ext cx="8520600" cy="88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Accent 28"/>
          <p:cNvSpPr/>
          <p:nvPr/>
        </p:nvSpPr>
        <p:spPr>
          <a:xfrm>
            <a:off x="311700" y="3760000"/>
            <a:ext cx="70000" cy="88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511700" y="385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COMO ESCOLHER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1700" y="4100000"/>
            <a:ext cx="8120600" cy="4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Não existe stack única: escolha por maturidade do time, ecossistema de nuvem e nível de automação que a operação consegue sustentar.</a:t>
            </a:r>
          </a:p>
        </p:txBody>
      </p:sp>
      <p:sp>
        <p:nvSpPr>
          <p:cNvPr id="31" name="Divider 3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CONCLUSÃO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600" b="0" i="0">
                <a:solidFill>
                  <a:srgbClr val="181C23"/>
                </a:solidFill>
                <a:latin typeface="Ubuntu Medium"/>
              </a:rPr>
              <a:t>Conclusão e Perguntas</a:t>
            </a:r>
          </a:p>
        </p:txBody>
      </p:sp>
      <p:sp>
        <p:nvSpPr>
          <p:cNvPr id="4" name="Accent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Q 5"/>
          <p:cNvSpPr/>
          <p:nvPr/>
        </p:nvSpPr>
        <p:spPr>
          <a:xfrm>
            <a:off x="311700" y="1780000"/>
            <a:ext cx="8520600" cy="9000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QAccent 6"/>
          <p:cNvSpPr/>
          <p:nvPr/>
        </p:nvSpPr>
        <p:spPr>
          <a:xfrm>
            <a:off x="311700" y="17800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51700" y="1900000"/>
            <a:ext cx="804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PERGUNTA PARA REFLEXÃO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1700" y="2180000"/>
            <a:ext cx="80406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400" b="0" i="1">
                <a:solidFill>
                  <a:srgbClr val="181C23"/>
                </a:solidFill>
                <a:latin typeface="Ubuntu"/>
              </a:rPr>
              <a:t>Sua equipe tem confiança suficiente para fazer deploy na sexta-feira às 17h?</a:t>
            </a:r>
          </a:p>
        </p:txBody>
      </p:sp>
      <p:sp>
        <p:nvSpPr>
          <p:cNvPr id="9" name="Dot 9"/>
          <p:cNvSpPr/>
          <p:nvPr/>
        </p:nvSpPr>
        <p:spPr>
          <a:xfrm>
            <a:off x="351700" y="2871666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31700" y="2820000"/>
            <a:ext cx="8200600" cy="2633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Automatize o caminho até produção,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não apenas o build.</a:t>
            </a:r>
          </a:p>
        </p:txBody>
      </p:sp>
      <p:sp>
        <p:nvSpPr>
          <p:cNvPr id="11" name="Dot 11"/>
          <p:cNvSpPr/>
          <p:nvPr/>
        </p:nvSpPr>
        <p:spPr>
          <a:xfrm>
            <a:off x="351700" y="3164999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1700" y="3113333"/>
            <a:ext cx="8200600" cy="2633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Meça cada deploy: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frequência, lead time, taxa de falha e tempo de recuperação.</a:t>
            </a:r>
          </a:p>
        </p:txBody>
      </p:sp>
      <p:sp>
        <p:nvSpPr>
          <p:cNvPr id="13" name="Dot 13"/>
          <p:cNvSpPr/>
          <p:nvPr/>
        </p:nvSpPr>
        <p:spPr>
          <a:xfrm>
            <a:off x="351700" y="3458332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31700" y="3406666"/>
            <a:ext cx="8200600" cy="26333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lang="pt-BR" sz="1100" b="0" i="0">
                <a:solidFill>
                  <a:srgbClr val="181C23"/>
                </a:solidFill>
                <a:latin typeface="Ubuntu Medium"/>
              </a:rPr>
              <a:t>Prepare a reversão </a:t>
            </a:r>
            <a:r>
              <a:rPr lang="pt-BR" sz="1100" b="0" i="0">
                <a:solidFill>
                  <a:srgbClr val="6A707D"/>
                </a:solidFill>
                <a:latin typeface="Ubuntu"/>
              </a:rPr>
              <a:t>antes de precisar dela.</a:t>
            </a:r>
          </a:p>
        </p:txBody>
      </p:sp>
      <p:sp>
        <p:nvSpPr>
          <p:cNvPr id="15" name="Card 15"/>
          <p:cNvSpPr/>
          <p:nvPr/>
        </p:nvSpPr>
        <p:spPr>
          <a:xfrm>
            <a:off x="311700" y="3800000"/>
            <a:ext cx="8520600" cy="84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Accent 16"/>
          <p:cNvSpPr/>
          <p:nvPr/>
        </p:nvSpPr>
        <p:spPr>
          <a:xfrm>
            <a:off x="311700" y="3800000"/>
            <a:ext cx="70000" cy="84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511700" y="38900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0" i="0">
                <a:solidFill>
                  <a:srgbClr val="2371FF"/>
                </a:solidFill>
                <a:latin typeface="Ubuntu Medium"/>
              </a:rPr>
              <a:t>💡 RESUMO FINAL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1700" y="4140000"/>
            <a:ext cx="81206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pt-BR" sz="1250" b="0" i="1">
                <a:solidFill>
                  <a:srgbClr val="181C23"/>
                </a:solidFill>
                <a:latin typeface="Ubuntu"/>
              </a:rPr>
              <a:t>Um pipeline de CD bem estruturado elimina o medo do deploy e transforma lançamentos em eventos rotineiros e de baixo risco.</a:t>
            </a:r>
          </a:p>
        </p:txBody>
      </p:sp>
      <p:sp>
        <p:nvSpPr>
          <p:cNvPr id="19" name="Divider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pt-BR"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pt-BR"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Caminho do Código — Pipeline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Zone 601"/>
          <p:cNvSpPr/>
          <p:nvPr/>
        </p:nvSpPr>
        <p:spPr>
          <a:xfrm>
            <a:off x="601497" y="1700000"/>
            <a:ext cx="7941005" cy="123000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ZoneAccent 602"/>
          <p:cNvSpPr/>
          <p:nvPr/>
        </p:nvSpPr>
        <p:spPr>
          <a:xfrm>
            <a:off x="601497" y="1700000"/>
            <a:ext cx="70000" cy="123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Badge 603"/>
          <p:cNvSpPr/>
          <p:nvPr/>
        </p:nvSpPr>
        <p:spPr>
          <a:xfrm>
            <a:off x="771497" y="1850000"/>
            <a:ext cx="300000" cy="230000"/>
          </a:xfrm>
          <a:prstGeom prst="roundRect">
            <a:avLst>
              <a:gd name="adj" fmla="val 25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TextBox 604"/>
          <p:cNvSpPr txBox="1"/>
          <p:nvPr/>
        </p:nvSpPr>
        <p:spPr>
          <a:xfrm>
            <a:off x="771497" y="1850000"/>
            <a:ext cx="300000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900" b="1" i="0">
                <a:solidFill>
                  <a:srgbClr val="FFFDF8"/>
                </a:solidFill>
                <a:latin typeface="Ubuntu Medium"/>
              </a:rPr>
              <a:t>CI</a:t>
            </a:r>
          </a:p>
        </p:txBody>
      </p:sp>
      <p:sp>
        <p:nvSpPr>
          <p:cNvPr id="605" name="TextBox 605"/>
          <p:cNvSpPr txBox="1"/>
          <p:nvPr/>
        </p:nvSpPr>
        <p:spPr>
          <a:xfrm>
            <a:off x="1151497" y="1850000"/>
            <a:ext cx="7221005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1000" b="0" i="0">
                <a:solidFill>
                  <a:srgbClr val="181C23"/>
                </a:solidFill>
                <a:latin typeface="Ubuntu Medium"/>
              </a:rPr>
              <a:t>INTEGRAÇÃO CONTÍNUA  </a:t>
            </a:r>
            <a:r>
              <a:rPr lang="pt-BR" sz="1000" b="0" i="0">
                <a:solidFill>
                  <a:srgbClr val="6A707D"/>
                </a:solidFill>
                <a:latin typeface="Ubuntu"/>
              </a:rPr>
              <a:t>— do commit ao artefato validado</a:t>
            </a:r>
          </a:p>
        </p:txBody>
      </p:sp>
      <p:sp>
        <p:nvSpPr>
          <p:cNvPr id="606" name="Chip 606"/>
          <p:cNvSpPr/>
          <p:nvPr/>
        </p:nvSpPr>
        <p:spPr>
          <a:xfrm>
            <a:off x="771497" y="217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ChipBar 607"/>
          <p:cNvSpPr/>
          <p:nvPr/>
        </p:nvSpPr>
        <p:spPr>
          <a:xfrm>
            <a:off x="771497" y="2170000"/>
            <a:ext cx="1368201" cy="45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TextBox 608"/>
          <p:cNvSpPr txBox="1"/>
          <p:nvPr/>
        </p:nvSpPr>
        <p:spPr>
          <a:xfrm>
            <a:off x="831497" y="226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Commit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push na branch</a:t>
            </a:r>
          </a:p>
        </p:txBody>
      </p:sp>
      <p:sp>
        <p:nvSpPr>
          <p:cNvPr id="609" name="Arrow 609"/>
          <p:cNvSpPr/>
          <p:nvPr/>
        </p:nvSpPr>
        <p:spPr>
          <a:xfrm>
            <a:off x="2174698" y="2420000"/>
            <a:ext cx="120000" cy="11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Chip 610"/>
          <p:cNvSpPr/>
          <p:nvPr/>
        </p:nvSpPr>
        <p:spPr>
          <a:xfrm>
            <a:off x="2329698" y="217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ChipBar 611"/>
          <p:cNvSpPr/>
          <p:nvPr/>
        </p:nvSpPr>
        <p:spPr>
          <a:xfrm>
            <a:off x="2329698" y="2170000"/>
            <a:ext cx="1368201" cy="45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TextBox 612"/>
          <p:cNvSpPr txBox="1"/>
          <p:nvPr/>
        </p:nvSpPr>
        <p:spPr>
          <a:xfrm>
            <a:off x="2389698" y="226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Pull Request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review + merge</a:t>
            </a:r>
          </a:p>
        </p:txBody>
      </p:sp>
      <p:sp>
        <p:nvSpPr>
          <p:cNvPr id="613" name="Arrow 613"/>
          <p:cNvSpPr/>
          <p:nvPr/>
        </p:nvSpPr>
        <p:spPr>
          <a:xfrm>
            <a:off x="3732899" y="2420000"/>
            <a:ext cx="120000" cy="11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Chip 614"/>
          <p:cNvSpPr/>
          <p:nvPr/>
        </p:nvSpPr>
        <p:spPr>
          <a:xfrm>
            <a:off x="3887899" y="217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ChipBar 615"/>
          <p:cNvSpPr/>
          <p:nvPr/>
        </p:nvSpPr>
        <p:spPr>
          <a:xfrm>
            <a:off x="3887899" y="2170000"/>
            <a:ext cx="1368201" cy="45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TextBox 616"/>
          <p:cNvSpPr txBox="1"/>
          <p:nvPr/>
        </p:nvSpPr>
        <p:spPr>
          <a:xfrm>
            <a:off x="3947899" y="226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Build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compila e empacota</a:t>
            </a:r>
          </a:p>
        </p:txBody>
      </p:sp>
      <p:sp>
        <p:nvSpPr>
          <p:cNvPr id="617" name="Arrow 617"/>
          <p:cNvSpPr/>
          <p:nvPr/>
        </p:nvSpPr>
        <p:spPr>
          <a:xfrm>
            <a:off x="5291100" y="2420000"/>
            <a:ext cx="120000" cy="11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Chip 618"/>
          <p:cNvSpPr/>
          <p:nvPr/>
        </p:nvSpPr>
        <p:spPr>
          <a:xfrm>
            <a:off x="5446100" y="217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ChipBar 619"/>
          <p:cNvSpPr/>
          <p:nvPr/>
        </p:nvSpPr>
        <p:spPr>
          <a:xfrm>
            <a:off x="5446100" y="2170000"/>
            <a:ext cx="1368201" cy="45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TextBox 620"/>
          <p:cNvSpPr txBox="1"/>
          <p:nvPr/>
        </p:nvSpPr>
        <p:spPr>
          <a:xfrm>
            <a:off x="5506100" y="226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Testes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unitários e integração</a:t>
            </a:r>
          </a:p>
        </p:txBody>
      </p:sp>
      <p:sp>
        <p:nvSpPr>
          <p:cNvPr id="621" name="Arrow 621"/>
          <p:cNvSpPr/>
          <p:nvPr/>
        </p:nvSpPr>
        <p:spPr>
          <a:xfrm>
            <a:off x="6849301" y="2420000"/>
            <a:ext cx="120000" cy="11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Chip 622"/>
          <p:cNvSpPr/>
          <p:nvPr/>
        </p:nvSpPr>
        <p:spPr>
          <a:xfrm>
            <a:off x="7004301" y="217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ChipBar 623"/>
          <p:cNvSpPr/>
          <p:nvPr/>
        </p:nvSpPr>
        <p:spPr>
          <a:xfrm>
            <a:off x="7004301" y="2170000"/>
            <a:ext cx="1368201" cy="45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TextBox 624"/>
          <p:cNvSpPr txBox="1"/>
          <p:nvPr/>
        </p:nvSpPr>
        <p:spPr>
          <a:xfrm>
            <a:off x="7064301" y="226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Qualidade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SAST, SCA e artefato</a:t>
            </a:r>
          </a:p>
        </p:txBody>
      </p:sp>
      <p:sp>
        <p:nvSpPr>
          <p:cNvPr id="625" name="Zone 625"/>
          <p:cNvSpPr/>
          <p:nvPr/>
        </p:nvSpPr>
        <p:spPr>
          <a:xfrm>
            <a:off x="601497" y="3060000"/>
            <a:ext cx="7941005" cy="1230000"/>
          </a:xfrm>
          <a:prstGeom prst="roundRect">
            <a:avLst>
              <a:gd name="adj" fmla="val 5000"/>
            </a:avLst>
          </a:prstGeom>
          <a:solidFill>
            <a:srgbClr val="F1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ZoneAccent 626"/>
          <p:cNvSpPr/>
          <p:nvPr/>
        </p:nvSpPr>
        <p:spPr>
          <a:xfrm>
            <a:off x="601497" y="3060000"/>
            <a:ext cx="70000" cy="1230000"/>
          </a:xfrm>
          <a:prstGeom prst="roundRect">
            <a:avLst>
              <a:gd name="adj" fmla="val 50000"/>
            </a:avLst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Badge 627"/>
          <p:cNvSpPr/>
          <p:nvPr/>
        </p:nvSpPr>
        <p:spPr>
          <a:xfrm>
            <a:off x="771497" y="3210000"/>
            <a:ext cx="300000" cy="230000"/>
          </a:xfrm>
          <a:prstGeom prst="roundRect">
            <a:avLst>
              <a:gd name="adj" fmla="val 25000"/>
            </a:avLst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TextBox 628"/>
          <p:cNvSpPr txBox="1"/>
          <p:nvPr/>
        </p:nvSpPr>
        <p:spPr>
          <a:xfrm>
            <a:off x="771497" y="3210000"/>
            <a:ext cx="300000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pt-BR" sz="900" b="1" i="0">
                <a:solidFill>
                  <a:srgbClr val="FFFDF8"/>
                </a:solidFill>
                <a:latin typeface="Ubuntu Medium"/>
              </a:rPr>
              <a:t>CD</a:t>
            </a:r>
          </a:p>
        </p:txBody>
      </p:sp>
      <p:sp>
        <p:nvSpPr>
          <p:cNvPr id="629" name="TextBox 629"/>
          <p:cNvSpPr txBox="1"/>
          <p:nvPr/>
        </p:nvSpPr>
        <p:spPr>
          <a:xfrm>
            <a:off x="1151497" y="3210000"/>
            <a:ext cx="7221005" cy="2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1000" b="0" i="0">
                <a:solidFill>
                  <a:srgbClr val="181C23"/>
                </a:solidFill>
                <a:latin typeface="Ubuntu Medium"/>
              </a:rPr>
              <a:t>ENTREGA E IMPLANTAÇÃO CONTÍNUAS  </a:t>
            </a:r>
            <a:r>
              <a:rPr lang="pt-BR" sz="1000" b="0" i="0">
                <a:solidFill>
                  <a:srgbClr val="6A707D"/>
                </a:solidFill>
                <a:latin typeface="Ubuntu"/>
              </a:rPr>
              <a:t>— do artefato validado à produção</a:t>
            </a:r>
          </a:p>
        </p:txBody>
      </p:sp>
      <p:sp>
        <p:nvSpPr>
          <p:cNvPr id="630" name="Chip 630"/>
          <p:cNvSpPr/>
          <p:nvPr/>
        </p:nvSpPr>
        <p:spPr>
          <a:xfrm>
            <a:off x="771497" y="353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ChipBar 631"/>
          <p:cNvSpPr/>
          <p:nvPr/>
        </p:nvSpPr>
        <p:spPr>
          <a:xfrm>
            <a:off x="771497" y="3530000"/>
            <a:ext cx="1368201" cy="45000"/>
          </a:xfrm>
          <a:prstGeom prst="rect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TextBox 632"/>
          <p:cNvSpPr txBox="1"/>
          <p:nvPr/>
        </p:nvSpPr>
        <p:spPr>
          <a:xfrm>
            <a:off x="831497" y="362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Staging / UAT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validação de aceite</a:t>
            </a:r>
          </a:p>
        </p:txBody>
      </p:sp>
      <p:sp>
        <p:nvSpPr>
          <p:cNvPr id="633" name="Arrow 633"/>
          <p:cNvSpPr/>
          <p:nvPr/>
        </p:nvSpPr>
        <p:spPr>
          <a:xfrm>
            <a:off x="2174698" y="3780000"/>
            <a:ext cx="120000" cy="110000"/>
          </a:xfrm>
          <a:prstGeom prst="rightArrow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Chip 634"/>
          <p:cNvSpPr/>
          <p:nvPr/>
        </p:nvSpPr>
        <p:spPr>
          <a:xfrm>
            <a:off x="2329698" y="353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ChipBar 635"/>
          <p:cNvSpPr/>
          <p:nvPr/>
        </p:nvSpPr>
        <p:spPr>
          <a:xfrm>
            <a:off x="2329698" y="3530000"/>
            <a:ext cx="1368201" cy="45000"/>
          </a:xfrm>
          <a:prstGeom prst="rect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TextBox 636"/>
          <p:cNvSpPr txBox="1"/>
          <p:nvPr/>
        </p:nvSpPr>
        <p:spPr>
          <a:xfrm>
            <a:off x="2389698" y="362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Gate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aprovação ou automático</a:t>
            </a:r>
          </a:p>
        </p:txBody>
      </p:sp>
      <p:sp>
        <p:nvSpPr>
          <p:cNvPr id="637" name="Arrow 637"/>
          <p:cNvSpPr/>
          <p:nvPr/>
        </p:nvSpPr>
        <p:spPr>
          <a:xfrm>
            <a:off x="3732899" y="3780000"/>
            <a:ext cx="120000" cy="110000"/>
          </a:xfrm>
          <a:prstGeom prst="rightArrow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Chip 638"/>
          <p:cNvSpPr/>
          <p:nvPr/>
        </p:nvSpPr>
        <p:spPr>
          <a:xfrm>
            <a:off x="3887899" y="353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ChipBar 639"/>
          <p:cNvSpPr/>
          <p:nvPr/>
        </p:nvSpPr>
        <p:spPr>
          <a:xfrm>
            <a:off x="3887899" y="3530000"/>
            <a:ext cx="1368201" cy="45000"/>
          </a:xfrm>
          <a:prstGeom prst="rect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TextBox 640"/>
          <p:cNvSpPr txBox="1"/>
          <p:nvPr/>
        </p:nvSpPr>
        <p:spPr>
          <a:xfrm>
            <a:off x="3947899" y="362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Deploy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blue-green e canary</a:t>
            </a:r>
          </a:p>
        </p:txBody>
      </p:sp>
      <p:sp>
        <p:nvSpPr>
          <p:cNvPr id="641" name="Arrow 641"/>
          <p:cNvSpPr/>
          <p:nvPr/>
        </p:nvSpPr>
        <p:spPr>
          <a:xfrm>
            <a:off x="5291100" y="3780000"/>
            <a:ext cx="120000" cy="110000"/>
          </a:xfrm>
          <a:prstGeom prst="rightArrow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Chip 642"/>
          <p:cNvSpPr/>
          <p:nvPr/>
        </p:nvSpPr>
        <p:spPr>
          <a:xfrm>
            <a:off x="5446100" y="353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ChipBar 643"/>
          <p:cNvSpPr/>
          <p:nvPr/>
        </p:nvSpPr>
        <p:spPr>
          <a:xfrm>
            <a:off x="5446100" y="3530000"/>
            <a:ext cx="1368201" cy="45000"/>
          </a:xfrm>
          <a:prstGeom prst="rect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TextBox 644"/>
          <p:cNvSpPr txBox="1"/>
          <p:nvPr/>
        </p:nvSpPr>
        <p:spPr>
          <a:xfrm>
            <a:off x="5506100" y="362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Produção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release progressivo</a:t>
            </a:r>
          </a:p>
        </p:txBody>
      </p:sp>
      <p:sp>
        <p:nvSpPr>
          <p:cNvPr id="645" name="Arrow 645"/>
          <p:cNvSpPr/>
          <p:nvPr/>
        </p:nvSpPr>
        <p:spPr>
          <a:xfrm>
            <a:off x="6849301" y="3780000"/>
            <a:ext cx="120000" cy="110000"/>
          </a:xfrm>
          <a:prstGeom prst="rightArrow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Chip 646"/>
          <p:cNvSpPr/>
          <p:nvPr/>
        </p:nvSpPr>
        <p:spPr>
          <a:xfrm>
            <a:off x="7004301" y="3530000"/>
            <a:ext cx="1368201" cy="6100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ChipBar 647"/>
          <p:cNvSpPr/>
          <p:nvPr/>
        </p:nvSpPr>
        <p:spPr>
          <a:xfrm>
            <a:off x="7004301" y="3530000"/>
            <a:ext cx="1368201" cy="45000"/>
          </a:xfrm>
          <a:prstGeom prst="rect">
            <a:avLst/>
          </a:prstGeom>
          <a:solidFill>
            <a:srgbClr val="3E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TextBox 648"/>
          <p:cNvSpPr txBox="1"/>
          <p:nvPr/>
        </p:nvSpPr>
        <p:spPr>
          <a:xfrm>
            <a:off x="7064301" y="3620000"/>
            <a:ext cx="1248201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</a:pPr>
            <a:r>
              <a:rPr lang="pt-BR" sz="950" b="0" i="0">
                <a:solidFill>
                  <a:srgbClr val="181C23"/>
                </a:solidFill>
                <a:latin typeface="Ubuntu Medium"/>
              </a:rPr>
              <a:t>Monitorar</a:t>
            </a:r>
          </a:p>
          <a:p>
            <a:pPr algn="ctr">
              <a:lnSpc>
                <a:spcPct val="105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métricas e rollback</a:t>
            </a:r>
          </a:p>
        </p:txBody>
      </p:sp>
      <p:sp>
        <p:nvSpPr>
          <p:cNvPr id="649" name="Link 649"/>
          <p:cNvSpPr/>
          <p:nvPr/>
        </p:nvSpPr>
        <p:spPr>
          <a:xfrm>
            <a:off x="4501999" y="2930000"/>
            <a:ext cx="140000" cy="130000"/>
          </a:xfrm>
          <a:prstGeom prst="downArrow">
            <a:avLst/>
          </a:prstGeom>
          <a:solidFill>
            <a:srgbClr val="6A7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TextBox 650"/>
          <p:cNvSpPr txBox="1"/>
          <p:nvPr/>
        </p:nvSpPr>
        <p:spPr>
          <a:xfrm>
            <a:off x="4701999" y="2905000"/>
            <a:ext cx="3200000" cy="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800" b="0" i="0">
                <a:solidFill>
                  <a:srgbClr val="6A707D"/>
                </a:solidFill>
                <a:latin typeface="Ubuntu"/>
              </a:rPr>
              <a:t>artefato aprovado segue para o CD</a:t>
            </a:r>
          </a:p>
        </p:txBody>
      </p:sp>
      <p:sp>
        <p:nvSpPr>
          <p:cNvPr id="651" name="TextBox 651"/>
          <p:cNvSpPr txBox="1"/>
          <p:nvPr/>
        </p:nvSpPr>
        <p:spPr>
          <a:xfrm>
            <a:off x="771497" y="4310000"/>
            <a:ext cx="7601005" cy="1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pt-BR" sz="800" b="0" i="0" dirty="0">
                <a:solidFill>
                  <a:srgbClr val="2371FF"/>
                </a:solidFill>
                <a:latin typeface="Ubuntu Medium"/>
              </a:rPr>
              <a:t>Feedback contínuo: </a:t>
            </a:r>
            <a:r>
              <a:rPr lang="pt-BR" sz="800" b="0" i="0" dirty="0">
                <a:solidFill>
                  <a:srgbClr val="6A707D"/>
                </a:solidFill>
                <a:latin typeface="Ubuntu"/>
              </a:rPr>
              <a:t>falhou no CI, o merge é bloqueado; falhou no CD, o rollback é automático se necessário.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700" y="4483500"/>
            <a:ext cx="8520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Commit → </a:t>
            </a:r>
            <a:r>
              <a:rPr lang="pt-PT" sz="1200" b="0" i="1">
                <a:solidFill>
                  <a:srgbClr val="6A707D"/>
                </a:solidFill>
                <a:latin typeface="Ubuntu"/>
              </a:rPr>
              <a:t>Pull Request → </a:t>
            </a:r>
            <a:r>
              <a:rPr sz="1200" b="0" i="1">
                <a:solidFill>
                  <a:srgbClr val="6A707D"/>
                </a:solidFill>
                <a:latin typeface="Ubuntu"/>
              </a:rPr>
              <a:t>Build → Testes → </a:t>
            </a:r>
            <a:r>
              <a:rPr lang="pt-PT" sz="1200" b="0" i="1">
                <a:solidFill>
                  <a:srgbClr val="6A707D"/>
                </a:solidFill>
                <a:latin typeface="Ubuntu"/>
              </a:rPr>
              <a:t>Qualidade → </a:t>
            </a:r>
            <a:r>
              <a:rPr sz="1200" b="0" i="1">
                <a:solidFill>
                  <a:srgbClr val="6A707D"/>
                </a:solidFill>
                <a:latin typeface="Ubuntu"/>
              </a:rPr>
              <a:t>Staging</a:t>
            </a:r>
            <a:r>
              <a:rPr lang="pt-PT" sz="1200" b="0" i="1">
                <a:solidFill>
                  <a:srgbClr val="6A707D"/>
                </a:solidFill>
                <a:latin typeface="Ubuntu"/>
              </a:rPr>
              <a:t> → Aprovação → Deploy</a:t>
            </a:r>
            <a:r>
              <a:rPr sz="1200" b="0" i="1">
                <a:solidFill>
                  <a:srgbClr val="6A707D"/>
                </a:solidFill>
                <a:latin typeface="Ubuntu"/>
              </a:rPr>
              <a:t> → Produção.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Ferramentas Populares de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Jenkins: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open source, flexível — o clássico do mercado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GitLab CI/CD: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pipeline em YAML dentro do repositório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GitHub Actions: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workflows automáticos direto no GitHub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Azure DevOps: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pipelines, boards e repositórios integrados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ArgoCD: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especialista em Kubernetes — GitOps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São assistentes com perfis diferentes: Jenkins é o veterano que faz tudo, GitHub Actions é o moderno integrado ao código, e ArgoCD é o especialista em Kubernetes.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ALM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 - </a:t>
            </a:r>
            <a:r>
              <a:rPr lang="pt-PT" sz="1100" b="0" i="0" dirty="0" err="1">
                <a:solidFill>
                  <a:srgbClr val="2371FF"/>
                </a:solidFill>
                <a:latin typeface="Ubuntu Medium"/>
              </a:rPr>
              <a:t>Application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 </a:t>
            </a:r>
            <a:r>
              <a:rPr lang="pt-PT" sz="1100" b="0" i="0" dirty="0" err="1">
                <a:solidFill>
                  <a:srgbClr val="2371FF"/>
                </a:solidFill>
                <a:latin typeface="Ubuntu Medium"/>
              </a:rPr>
              <a:t>Lifecycle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 Management 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dirty="0">
                <a:solidFill>
                  <a:srgbClr val="181C23"/>
                </a:solidFill>
                <a:latin typeface="Ubuntu Medium"/>
              </a:rPr>
              <a:t>Ciclo de Vida das </a:t>
            </a:r>
            <a:r>
              <a:rPr sz="2800" b="0" i="0" dirty="0" err="1">
                <a:solidFill>
                  <a:srgbClr val="181C23"/>
                </a:solidFill>
                <a:latin typeface="Ubuntu Medium"/>
              </a:rPr>
              <a:t>Aplicações</a:t>
            </a:r>
            <a:r>
              <a:rPr sz="2800" b="0" i="0" dirty="0">
                <a:solidFill>
                  <a:srgbClr val="181C23"/>
                </a:solidFill>
                <a:latin typeface="Ubuntu Medium"/>
              </a:rPr>
              <a:t> (ALM)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801181"/>
            <a:ext cx="8020600" cy="386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b="0" i="0" dirty="0">
                <a:solidFill>
                  <a:srgbClr val="181C23"/>
                </a:solidFill>
                <a:latin typeface="Ubuntu Medium"/>
              </a:rPr>
              <a:t>Governança: </a:t>
            </a:r>
            <a:r>
              <a:rPr lang="pt-BR" b="0" i="0" dirty="0">
                <a:solidFill>
                  <a:srgbClr val="6A707D"/>
                </a:solidFill>
                <a:latin typeface="Ubuntu"/>
              </a:rPr>
              <a:t>requisitos, planejamento e priorização</a:t>
            </a:r>
          </a:p>
          <a:p>
            <a:pPr algn="l">
              <a:lnSpc>
                <a:spcPct val="110000"/>
              </a:lnSpc>
            </a:pPr>
            <a:r>
              <a:rPr lang="pt-BR" sz="1050" b="0" i="0" dirty="0">
                <a:solidFill>
                  <a:srgbClr val="6A707D"/>
                </a:solidFill>
                <a:latin typeface="Ubuntu"/>
              </a:rPr>
              <a:t>Define o que fazer e por quê — viabilidade financeira, portfólio e valor de negócio.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98019"/>
            <a:ext cx="8020600" cy="386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b="0" i="0" dirty="0">
                <a:solidFill>
                  <a:srgbClr val="181C23"/>
                </a:solidFill>
                <a:latin typeface="Ubuntu Medium"/>
              </a:rPr>
              <a:t>Desenvolvimento: </a:t>
            </a:r>
            <a:r>
              <a:rPr lang="pt-BR" b="0" i="0" dirty="0">
                <a:solidFill>
                  <a:srgbClr val="6A707D"/>
                </a:solidFill>
                <a:latin typeface="Ubuntu"/>
              </a:rPr>
              <a:t>design, código, CI e testes</a:t>
            </a:r>
          </a:p>
          <a:p>
            <a:pPr algn="l">
              <a:lnSpc>
                <a:spcPct val="110000"/>
              </a:lnSpc>
            </a:pPr>
            <a:r>
              <a:rPr lang="pt-BR" sz="1050" b="0" i="0" dirty="0">
                <a:solidFill>
                  <a:srgbClr val="6A707D"/>
                </a:solidFill>
                <a:latin typeface="Ubuntu"/>
              </a:rPr>
              <a:t>Arquitetura e UX, codificação e automação de testes com integração contínua antes do go-live.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94857"/>
            <a:ext cx="8020600" cy="386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b="0" i="0" dirty="0">
                <a:solidFill>
                  <a:srgbClr val="181C23"/>
                </a:solidFill>
                <a:latin typeface="Ubuntu Medium"/>
              </a:rPr>
              <a:t>Operações: </a:t>
            </a:r>
            <a:r>
              <a:rPr lang="pt-BR" b="0" i="0" dirty="0">
                <a:solidFill>
                  <a:srgbClr val="6A707D"/>
                </a:solidFill>
                <a:latin typeface="Ubuntu"/>
              </a:rPr>
              <a:t>monitoramento, incidentes e atualizações</a:t>
            </a:r>
          </a:p>
          <a:p>
            <a:pPr algn="l">
              <a:lnSpc>
                <a:spcPct val="110000"/>
              </a:lnSpc>
            </a:pPr>
            <a:r>
              <a:rPr lang="pt-BR" sz="1050" b="0" i="0" dirty="0">
                <a:solidFill>
                  <a:srgbClr val="6A707D"/>
                </a:solidFill>
                <a:latin typeface="Ubuntu"/>
              </a:rPr>
              <a:t>Infraestrutura, métricas e logs, resolução de incidentes e correções entregues via CD.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91695"/>
            <a:ext cx="8020600" cy="386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b="0" i="0" dirty="0">
                <a:solidFill>
                  <a:srgbClr val="181C23"/>
                </a:solidFill>
                <a:latin typeface="Ubuntu Medium"/>
              </a:rPr>
              <a:t>Metodologias: </a:t>
            </a:r>
            <a:r>
              <a:rPr lang="pt-BR" b="0" i="0" dirty="0">
                <a:solidFill>
                  <a:srgbClr val="6A707D"/>
                </a:solidFill>
                <a:latin typeface="Ubuntu"/>
              </a:rPr>
              <a:t>Waterfall, Agile e DevOps</a:t>
            </a:r>
          </a:p>
          <a:p>
            <a:pPr algn="l">
              <a:lnSpc>
                <a:spcPct val="110000"/>
              </a:lnSpc>
            </a:pPr>
            <a:r>
              <a:rPr lang="pt-BR" sz="1050" b="0" i="0" dirty="0">
                <a:solidFill>
                  <a:srgbClr val="6A707D"/>
                </a:solidFill>
                <a:latin typeface="Ubuntu"/>
              </a:rPr>
              <a:t>Do modelo linear aos frameworks ágeis (Scrum, Kanban) até a cultura DevOps</a:t>
            </a:r>
            <a:r>
              <a:rPr lang="pt-BR" sz="900" b="0" i="0" dirty="0">
                <a:solidFill>
                  <a:srgbClr val="6A707D"/>
                </a:solidFill>
                <a:latin typeface="Ubuntu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ALM é gerir uma cidade: planejamento urbano (governança), construção das casas (desenvolvimento) e manutenção de ruas e serviços (operações). Todas as fases importam!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CI = integrar e testar com frequência para achar problemas cedo.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CD = manter o código pronto para produção e automatizar o deploy.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Pipeline: commit → build → testes → staging → produção.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ALM cobre todo o ciclo, do requisito ao monitoramento em produção.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05 — CI/CD e Ciclo de Vida das Aplicações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2393</Words>
  <Application>Microsoft Office PowerPoint</Application>
  <PresentationFormat>On-screen Show (16:9)</PresentationFormat>
  <Paragraphs>335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Ubuntu Light</vt:lpstr>
      <vt:lpstr>Arial</vt:lpstr>
      <vt:lpstr>Ubuntu</vt:lpstr>
      <vt:lpstr>Lato</vt:lpstr>
      <vt:lpstr>Ubuntu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11</cp:revision>
  <dcterms:modified xsi:type="dcterms:W3CDTF">2026-08-19T21:08:06Z</dcterms:modified>
</cp:coreProperties>
</file>