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10"/>
  </p:notesMasterIdLst>
  <p:sldIdLst>
    <p:sldId id="256" r:id="rId2"/>
    <p:sldId id="257" r:id="rId3"/>
    <p:sldId id="266" r:id="rId4"/>
    <p:sldId id="259" r:id="rId5"/>
    <p:sldId id="260" r:id="rId6"/>
    <p:sldId id="261" r:id="rId7"/>
    <p:sldId id="263" r:id="rId8"/>
    <p:sldId id="264" r:id="rId9"/>
  </p:sldIdLst>
  <p:sldSz cx="9144000" cy="5143500" type="screen16x9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Ubuntu" panose="020B0504030602030204" pitchFamily="34" charset="0"/>
      <p:regular r:id="rId15"/>
      <p:bold r:id="rId16"/>
      <p:italic r:id="rId17"/>
      <p:boldItalic r:id="rId18"/>
    </p:embeddedFont>
    <p:embeddedFont>
      <p:font typeface="Ubuntu Light" panose="020B0304030602030204" pitchFamily="34" charset="0"/>
      <p:regular r:id="rId19"/>
      <p:bold r:id="rId20"/>
      <p:italic r:id="rId21"/>
      <p:boldItalic r:id="rId22"/>
    </p:embeddedFont>
    <p:embeddedFont>
      <p:font typeface="Ubuntu Medium" panose="020B060403060203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 idx="2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sor">
  <p:cSld name="CUSTOM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2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Limpo">
  <p:cSld name="CUSTOM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fismo ADA">
  <p:cSld name="CUSTOM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erramento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BF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200" b="12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000" y="3344482"/>
            <a:ext cx="3400000" cy="22990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0000" y="900000"/>
            <a:ext cx="2400000" cy="142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/>
            <a:r>
              <a:rPr sz="13000" b="1" i="0">
                <a:solidFill>
                  <a:srgbClr val="A6F750"/>
                </a:solidFill>
                <a:latin typeface="Ubuntu Light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" y="2350000"/>
            <a:ext cx="60000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2371FF"/>
                </a:solidFill>
                <a:latin typeface="Ubuntu Medium"/>
              </a:rPr>
              <a:t>AULA 09  ·  </a:t>
            </a:r>
            <a:r>
              <a:rPr lang="pt-PT" sz="1300" b="0" i="0" dirty="0">
                <a:solidFill>
                  <a:srgbClr val="2371FF"/>
                </a:solidFill>
                <a:latin typeface="Ubuntu Medium"/>
              </a:rPr>
              <a:t>Quarta</a:t>
            </a:r>
            <a:r>
              <a:rPr sz="1300" b="0" i="0" dirty="0">
                <a:solidFill>
                  <a:srgbClr val="2371FF"/>
                </a:solidFill>
                <a:latin typeface="Ubuntu Medium"/>
              </a:rPr>
              <a:t>, 2</a:t>
            </a:r>
            <a:r>
              <a:rPr lang="pt-PT" sz="1300" b="0" i="0">
                <a:solidFill>
                  <a:srgbClr val="2371FF"/>
                </a:solidFill>
                <a:latin typeface="Ubuntu Medium"/>
              </a:rPr>
              <a:t>6</a:t>
            </a:r>
            <a:r>
              <a:rPr sz="1300" b="0" i="0">
                <a:solidFill>
                  <a:srgbClr val="2371FF"/>
                </a:solidFill>
                <a:latin typeface="Ubuntu Medium"/>
              </a:rPr>
              <a:t>/08</a:t>
            </a:r>
            <a:endParaRPr sz="1300" b="0" i="0" dirty="0">
              <a:solidFill>
                <a:srgbClr val="2371FF"/>
              </a:solidFill>
              <a:latin typeface="Ubuntu Mediu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0000" y="2620000"/>
            <a:ext cx="6600000" cy="1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81C23"/>
                </a:solidFill>
                <a:latin typeface="Ubuntu Medium"/>
              </a:rPr>
              <a:t>Concluir Atividades e Preencher Rubricas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" y="3720000"/>
            <a:ext cx="66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 dirty="0" err="1">
                <a:solidFill>
                  <a:srgbClr val="6A707D"/>
                </a:solidFill>
                <a:latin typeface="Ubuntu Light"/>
              </a:rPr>
              <a:t>Encerramento</a:t>
            </a:r>
            <a:r>
              <a:rPr sz="1600" b="0" i="1" dirty="0">
                <a:solidFill>
                  <a:srgbClr val="6A707D"/>
                </a:solidFill>
                <a:latin typeface="Ubuntu Light"/>
              </a:rPr>
              <a:t> do </a:t>
            </a:r>
            <a:r>
              <a:rPr sz="1600" b="0" i="1" dirty="0" err="1">
                <a:solidFill>
                  <a:srgbClr val="6A707D"/>
                </a:solidFill>
                <a:latin typeface="Ubuntu Light"/>
              </a:rPr>
              <a:t>módulo</a:t>
            </a:r>
            <a:r>
              <a:rPr sz="1600" b="0" i="1" dirty="0">
                <a:solidFill>
                  <a:srgbClr val="6A707D"/>
                </a:solidFill>
                <a:latin typeface="Ubuntu Light"/>
              </a:rPr>
              <a:t>, </a:t>
            </a:r>
            <a:r>
              <a:rPr lang="pt-PT" sz="1600" b="0" i="1" dirty="0">
                <a:solidFill>
                  <a:srgbClr val="6A707D"/>
                </a:solidFill>
                <a:latin typeface="Ubuntu Light"/>
              </a:rPr>
              <a:t>apresentação dos trabalhos e rubricas</a:t>
            </a:r>
            <a:endParaRPr sz="1600" b="0" i="1" dirty="0">
              <a:solidFill>
                <a:srgbClr val="6A707D"/>
              </a:solidFill>
              <a:latin typeface="Ubuntu Light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000" y="4041644"/>
            <a:ext cx="1200000" cy="7418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4350000"/>
            <a:ext cx="4600000" cy="300000"/>
          </a:xfrm>
          <a:prstGeom prst="roundRect">
            <a:avLst>
              <a:gd name="adj" fmla="val 50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000" y="4350000"/>
            <a:ext cx="46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A6F750"/>
                </a:solidFill>
                <a:latin typeface="Ubuntu"/>
              </a:rPr>
              <a:t>Módulo · Arquitetura de Serviços 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4720000"/>
            <a:ext cx="4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200" b="12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66148"/>
            <a:ext cx="85206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700" y="127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17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700" y="1596148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10/08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Introdução ao Módulo e Docker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19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1900" y="1596148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19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Qua 12/08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19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Arquitetura de Servidores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21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42100" y="1596148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21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Sex 14/08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Apache e Nginx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17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00" y="2751932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17/08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Proxy Reverso e DNS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19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51900" y="2751932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19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Qua 19/08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19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CI/CD e Ciclo de Vida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21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42100" y="2751932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21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Sex 21/08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Cloud Computing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17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700" y="3907716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00" y="4307716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24/08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00" y="4537716"/>
            <a:ext cx="2590200" cy="16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 err="1">
                <a:solidFill>
                  <a:srgbClr val="181C23"/>
                </a:solidFill>
                <a:latin typeface="Ubuntu"/>
              </a:rPr>
              <a:t>Arquitetura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de Dados e Data Warehouse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19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51900" y="3907716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51900" y="4307716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Qua 26/08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1900" y="4537716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Data Lake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21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092100" y="3777716"/>
            <a:ext cx="70000" cy="1005784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42100" y="3907716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2100" y="4307716"/>
            <a:ext cx="244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100" b="0" i="0" dirty="0">
                <a:solidFill>
                  <a:srgbClr val="A6F750"/>
                </a:solidFill>
                <a:latin typeface="Ubuntu Medium"/>
              </a:rPr>
              <a:t>Qua</a:t>
            </a:r>
            <a:r>
              <a:rPr sz="1100" b="0" i="0" dirty="0">
                <a:solidFill>
                  <a:srgbClr val="A6F750"/>
                </a:solidFill>
                <a:latin typeface="Ubuntu Medium"/>
              </a:rPr>
              <a:t> 2</a:t>
            </a:r>
            <a:r>
              <a:rPr lang="pt-PT" sz="1100" b="0" i="0" dirty="0">
                <a:solidFill>
                  <a:srgbClr val="A6F750"/>
                </a:solidFill>
                <a:latin typeface="Ubuntu Medium"/>
              </a:rPr>
              <a:t>5</a:t>
            </a:r>
            <a:r>
              <a:rPr sz="1100" b="0" i="0" dirty="0">
                <a:solidFill>
                  <a:srgbClr val="A6F750"/>
                </a:solidFill>
                <a:latin typeface="Ubuntu Medium"/>
              </a:rPr>
              <a:t>/08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100" y="4537716"/>
            <a:ext cx="2590200" cy="16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 err="1">
                <a:solidFill>
                  <a:srgbClr val="FFFDF8"/>
                </a:solidFill>
                <a:latin typeface="Ubuntu"/>
              </a:rPr>
              <a:t>Concluir</a:t>
            </a:r>
            <a:r>
              <a:rPr sz="1100" b="0" i="0" dirty="0">
                <a:solidFill>
                  <a:srgbClr val="FFFDF8"/>
                </a:solidFill>
                <a:latin typeface="Ubuntu"/>
              </a:rPr>
              <a:t> </a:t>
            </a:r>
            <a:r>
              <a:rPr sz="1100" b="0" i="0" dirty="0" err="1">
                <a:solidFill>
                  <a:srgbClr val="FFFDF8"/>
                </a:solidFill>
                <a:latin typeface="Ubuntu"/>
              </a:rPr>
              <a:t>atividades</a:t>
            </a:r>
            <a:r>
              <a:rPr sz="1100" b="0" i="0" dirty="0">
                <a:solidFill>
                  <a:srgbClr val="FFFDF8"/>
                </a:solidFill>
                <a:latin typeface="Ubuntu"/>
              </a:rPr>
              <a:t> e </a:t>
            </a:r>
            <a:r>
              <a:rPr sz="1100" b="0" i="0" dirty="0" err="1">
                <a:solidFill>
                  <a:srgbClr val="FFFDF8"/>
                </a:solidFill>
                <a:latin typeface="Ubuntu"/>
              </a:rPr>
              <a:t>preencher</a:t>
            </a:r>
            <a:r>
              <a:rPr sz="1100" b="0" i="0" dirty="0">
                <a:solidFill>
                  <a:srgbClr val="FFFDF8"/>
                </a:solidFill>
                <a:latin typeface="Ubuntu"/>
              </a:rPr>
              <a:t> </a:t>
            </a:r>
            <a:r>
              <a:rPr sz="1100" b="0" i="0" dirty="0" err="1">
                <a:solidFill>
                  <a:srgbClr val="FFFDF8"/>
                </a:solidFill>
                <a:latin typeface="Ubuntu"/>
              </a:rPr>
              <a:t>rubricas</a:t>
            </a:r>
            <a:endParaRPr sz="1100" b="0" i="0" dirty="0">
              <a:solidFill>
                <a:srgbClr val="FFFDF8"/>
              </a:solidFill>
              <a:latin typeface="Ubuntu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dirty="0">
                <a:solidFill>
                  <a:srgbClr val="2371FF"/>
                </a:solidFill>
                <a:latin typeface="Ubuntu Medium"/>
              </a:rPr>
              <a:t>Aula 09 — </a:t>
            </a:r>
            <a:r>
              <a:rPr sz="800" b="0" i="0" dirty="0" err="1">
                <a:solidFill>
                  <a:srgbClr val="2371FF"/>
                </a:solidFill>
                <a:latin typeface="Ubuntu Medium"/>
              </a:rPr>
              <a:t>Concluir</a:t>
            </a:r>
            <a:r>
              <a:rPr sz="800" b="0" i="0" dirty="0">
                <a:solidFill>
                  <a:srgbClr val="2371FF"/>
                </a:solidFill>
                <a:latin typeface="Ubuntu Medium"/>
              </a:rPr>
              <a:t> </a:t>
            </a:r>
            <a:r>
              <a:rPr sz="800" b="0" i="0" dirty="0" err="1">
                <a:solidFill>
                  <a:srgbClr val="2371FF"/>
                </a:solidFill>
                <a:latin typeface="Ubuntu Medium"/>
              </a:rPr>
              <a:t>Atividades</a:t>
            </a:r>
            <a:r>
              <a:rPr sz="800" b="0" i="0" dirty="0">
                <a:solidFill>
                  <a:srgbClr val="2371FF"/>
                </a:solidFill>
                <a:latin typeface="Ubuntu Medium"/>
              </a:rPr>
              <a:t> e </a:t>
            </a:r>
            <a:r>
              <a:rPr sz="800" b="0" i="0" dirty="0" err="1">
                <a:solidFill>
                  <a:srgbClr val="2371FF"/>
                </a:solidFill>
                <a:latin typeface="Ubuntu Medium"/>
              </a:rPr>
              <a:t>Preencher</a:t>
            </a:r>
            <a:r>
              <a:rPr sz="800" b="0" i="0" dirty="0">
                <a:solidFill>
                  <a:srgbClr val="2371FF"/>
                </a:solidFill>
                <a:latin typeface="Ubuntu Medium"/>
              </a:rPr>
              <a:t> </a:t>
            </a:r>
            <a:r>
              <a:rPr sz="800" b="0" i="0" dirty="0" err="1">
                <a:solidFill>
                  <a:srgbClr val="2371FF"/>
                </a:solidFill>
                <a:latin typeface="Ubuntu Medium"/>
              </a:rPr>
              <a:t>Rubricas</a:t>
            </a:r>
            <a:endParaRPr sz="800" b="0" i="0" dirty="0">
              <a:solidFill>
                <a:srgbClr val="2371FF"/>
              </a:solidFill>
              <a:latin typeface="Ubuntu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000" y="1016148"/>
            <a:ext cx="3000000" cy="20285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1700" y="76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6F750"/>
                </a:solidFill>
                <a:latin typeface="Ubuntu Medium"/>
              </a:rPr>
              <a:t>COMBINADO DA TURMA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1016148"/>
            <a:ext cx="85206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0" i="0">
                <a:solidFill>
                  <a:srgbClr val="181C23"/>
                </a:solidFill>
                <a:latin typeface="Ubuntu Medium"/>
              </a:rPr>
              <a:t>Por favor!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1700" y="1866148"/>
            <a:ext cx="3139028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866148"/>
            <a:ext cx="3139028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Bora participar!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1700" y="2246148"/>
            <a:ext cx="3139028" cy="2537352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pPr defTabSz="457200"/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700" y="3703500"/>
            <a:ext cx="2839028" cy="503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Câmera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ligada</a:t>
            </a:r>
            <a:r>
              <a:rPr lang="pt-PT"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+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mão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levantada</a:t>
            </a:r>
            <a:endParaRPr sz="1500" b="0" i="0" dirty="0">
              <a:solidFill>
                <a:schemeClr val="bg1"/>
              </a:solidFill>
              <a:latin typeface="Ubuntu Medium"/>
            </a:endParaRPr>
          </a:p>
          <a:p>
            <a:pPr algn="ctr">
              <a:lnSpc>
                <a:spcPct val="115000"/>
              </a:lnSpc>
            </a:pPr>
            <a:r>
              <a:rPr sz="1500" b="0" i="0" dirty="0">
                <a:solidFill>
                  <a:srgbClr val="A6F750"/>
                </a:solidFill>
                <a:latin typeface="Ubuntu Medium"/>
              </a:rPr>
              <a:t>= aula top!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00" y="4273500"/>
            <a:ext cx="2839028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00" y="4361167"/>
            <a:ext cx="283902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dirty="0">
                <a:solidFill>
                  <a:srgbClr val="181C23"/>
                </a:solidFill>
                <a:latin typeface="Ubuntu Medium"/>
              </a:rPr>
              <a:t>INTERVALO · </a:t>
            </a:r>
            <a:r>
              <a:rPr lang="pt-PT" sz="1200" b="0" i="0" dirty="0">
                <a:solidFill>
                  <a:srgbClr val="181C23"/>
                </a:solidFill>
                <a:latin typeface="Ubuntu Medium"/>
              </a:rPr>
              <a:t>16:30 BRT</a:t>
            </a:r>
            <a:endParaRPr sz="1200" b="0" i="0" dirty="0">
              <a:solidFill>
                <a:srgbClr val="181C23"/>
              </a:solidFill>
              <a:latin typeface="Ubuntu Medium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10728" y="1866148"/>
            <a:ext cx="5121572" cy="300000"/>
          </a:xfrm>
          <a:prstGeom prst="roundRect">
            <a:avLst>
              <a:gd name="adj" fmla="val 1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10728" y="1866148"/>
            <a:ext cx="5121572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Combinados da nossa aula</a:t>
            </a:r>
          </a:p>
        </p:txBody>
      </p:sp>
      <p:sp>
        <p:nvSpPr>
          <p:cNvPr id="14" name="Oval 13"/>
          <p:cNvSpPr/>
          <p:nvPr/>
        </p:nvSpPr>
        <p:spPr>
          <a:xfrm>
            <a:off x="3710728" y="239788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10728" y="239788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0728" y="226614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Câmeras ligadas.</a:t>
            </a:r>
          </a:p>
        </p:txBody>
      </p:sp>
      <p:sp>
        <p:nvSpPr>
          <p:cNvPr id="17" name="Oval 16"/>
          <p:cNvSpPr/>
          <p:nvPr/>
        </p:nvSpPr>
        <p:spPr>
          <a:xfrm>
            <a:off x="3710728" y="290135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10728" y="290135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0728" y="276961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Entrem no horário: início e intervalo.</a:t>
            </a:r>
          </a:p>
        </p:txBody>
      </p:sp>
      <p:sp>
        <p:nvSpPr>
          <p:cNvPr id="20" name="Oval 19"/>
          <p:cNvSpPr/>
          <p:nvPr/>
        </p:nvSpPr>
        <p:spPr>
          <a:xfrm>
            <a:off x="3710728" y="340482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10728" y="340482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0728" y="327308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Participem da aula.</a:t>
            </a:r>
          </a:p>
        </p:txBody>
      </p:sp>
      <p:sp>
        <p:nvSpPr>
          <p:cNvPr id="23" name="Oval 22"/>
          <p:cNvSpPr/>
          <p:nvPr/>
        </p:nvSpPr>
        <p:spPr>
          <a:xfrm>
            <a:off x="3710728" y="390829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10728" y="390829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0728" y="377655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Tirem dúvidas.</a:t>
            </a:r>
          </a:p>
        </p:txBody>
      </p:sp>
      <p:sp>
        <p:nvSpPr>
          <p:cNvPr id="26" name="Oval 25"/>
          <p:cNvSpPr/>
          <p:nvPr/>
        </p:nvSpPr>
        <p:spPr>
          <a:xfrm>
            <a:off x="3710728" y="441176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10728" y="441176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0728" y="428002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Levantem a mão para tirar dúvidas.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2300" y="4931944"/>
            <a:ext cx="30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dirty="0">
                <a:solidFill>
                  <a:srgbClr val="2371FF"/>
                </a:solidFill>
                <a:latin typeface="Ubuntu Medium"/>
              </a:rPr>
              <a:t>Aula 09 — Concluir Atividades e Preencher Rubricas</a:t>
            </a:r>
          </a:p>
        </p:txBody>
      </p:sp>
      <p:pic>
        <p:nvPicPr>
          <p:cNvPr id="34" name="VideoConf">
            <a:extLst>
              <a:ext uri="{FF2B5EF4-FFF2-40B4-BE49-F238E27FC236}">
                <a16:creationId xmlns:a16="http://schemas.microsoft.com/office/drawing/2014/main" id="{9AA18BD3-746B-6E67-FBD7-72460F8DF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92" y="2480575"/>
            <a:ext cx="1150000" cy="1150000"/>
          </a:xfrm>
          <a:prstGeom prst="rect">
            <a:avLst/>
          </a:prstGeom>
        </p:spPr>
      </p:pic>
      <p:pic>
        <p:nvPicPr>
          <p:cNvPr id="36" name="RaiseHand">
            <a:extLst>
              <a:ext uri="{FF2B5EF4-FFF2-40B4-BE49-F238E27FC236}">
                <a16:creationId xmlns:a16="http://schemas.microsoft.com/office/drawing/2014/main" id="{A619174F-F337-F752-FD34-362E34583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4092" y="2480575"/>
            <a:ext cx="1150000" cy="115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200" b="12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ENCERRAMENTO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Objetivos da Última Aula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84541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84541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891590"/>
            <a:ext cx="8020600" cy="2059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pt-PT" dirty="0">
                <a:solidFill>
                  <a:srgbClr val="181C23"/>
                </a:solidFill>
                <a:latin typeface="Ubuntu Medium"/>
              </a:rPr>
              <a:t>Revisão geral: </a:t>
            </a:r>
            <a:r>
              <a:rPr lang="pt-PT" dirty="0">
                <a:solidFill>
                  <a:srgbClr val="6A707D"/>
                </a:solidFill>
                <a:latin typeface="Ubuntu"/>
              </a:rPr>
              <a:t>amarrar todos os conceitos aprendidos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342256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342256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388428"/>
            <a:ext cx="8020600" cy="2059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pt-PT">
                <a:solidFill>
                  <a:srgbClr val="181C23"/>
                </a:solidFill>
                <a:latin typeface="Ubuntu Medium"/>
              </a:rPr>
              <a:t>Concluir atividades: </a:t>
            </a:r>
            <a:r>
              <a:rPr lang="pt-PT">
                <a:solidFill>
                  <a:srgbClr val="6A707D"/>
                </a:solidFill>
                <a:latin typeface="Ubuntu"/>
              </a:rPr>
              <a:t>apresentação dos trabalhos</a:t>
            </a:r>
            <a:endParaRPr lang="pt-PT" dirty="0">
              <a:solidFill>
                <a:srgbClr val="6A707D"/>
              </a:solidFill>
              <a:latin typeface="Ubuntu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11700" y="2839094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839094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739824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Tirar dúvidas: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momento aberto para perguntas finais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335932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3335932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236662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Preencher rubricas: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avaliação de aprendizado e feedback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Ubuntu"/>
              </a:rPr>
              <a:t>É a formatura do módulo: hora de revisar tudo o que construímos, entregar os últimos trabalhos e celebrar a jornada de aprendizado!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09 — Concluir Atividades e Preencher Rubricas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200" b="12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REVISÃO · PARTE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O que Aprendemos — Infraestrutura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Docker: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empacota apps em containers portáveis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272986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272986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242986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Servidores: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aplicação, web, banco, proxy e cache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769824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769824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739824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Apache e Nginx: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servem e processam requisições web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266662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3266662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236662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Proxy Reverso e DNS: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roteiam e protegem o tráfego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Ubuntu"/>
              </a:rPr>
              <a:t>Sua aplicação é uma cidade: Docker são os blocos de prédios, Nginx são as avenidas e o DNS é o GPS que leva todo mundo ao endereço certo.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09 — Concluir Atividades e Preencher Rubricas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200" b="12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REVISÃO · 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O que Aprendemos — Entrega e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CI/CD: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automatiza testes e entregas com qualidade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272986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272986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242986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Cloud Computing: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IaaS, PaaS, SaaS — escale sob demanda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769824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769824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739824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Arquitetura de Dados: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organiza o ciclo de vida do dado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266662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3266662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236662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Data Warehouse e Data Lake: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armazenam e disponibilizam dados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Ubuntu"/>
              </a:rPr>
              <a:t>Se a infraestrutura é a cidade, os dados são a memória dela: o Data Warehouse é o arquivo histórico organizado e o Data Lake é o grande depósito de tudo que pode virar valor.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09 — Concluir Atividades e Preencher Rubricas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200" b="12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 dirty="0" err="1">
                <a:solidFill>
                  <a:srgbClr val="181C23"/>
                </a:solidFill>
                <a:latin typeface="Ubuntu Medium"/>
              </a:rPr>
              <a:t>Recapitula</a:t>
            </a:r>
            <a:r>
              <a:rPr lang="pt-PT" sz="2600" b="0" i="0" dirty="0" err="1">
                <a:solidFill>
                  <a:srgbClr val="181C23"/>
                </a:solidFill>
                <a:latin typeface="Ubuntu Medium"/>
              </a:rPr>
              <a:t>ção</a:t>
            </a:r>
            <a:r>
              <a:rPr lang="pt-PT" sz="2600" b="0" i="0" dirty="0">
                <a:solidFill>
                  <a:srgbClr val="181C23"/>
                </a:solidFill>
                <a:latin typeface="Ubuntu Medium"/>
              </a:rPr>
              <a:t> final</a:t>
            </a:r>
            <a:endParaRPr sz="2600" b="0" i="0" dirty="0">
              <a:solidFill>
                <a:srgbClr val="181C23"/>
              </a:solidFill>
              <a:latin typeface="Ubuntu Medium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Concluímos todas as atividades e exercícios do módulo.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635512"/>
            <a:ext cx="7680600" cy="1912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 dirty="0" err="1">
                <a:solidFill>
                  <a:srgbClr val="181C23"/>
                </a:solidFill>
                <a:latin typeface="Ubuntu"/>
              </a:rPr>
              <a:t>Revisamos</a:t>
            </a:r>
            <a:r>
              <a:rPr sz="1300" b="0" i="0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0" dirty="0" err="1">
                <a:solidFill>
                  <a:srgbClr val="181C23"/>
                </a:solidFill>
                <a:latin typeface="Ubuntu"/>
              </a:rPr>
              <a:t>infraestrutura</a:t>
            </a:r>
            <a:r>
              <a:rPr sz="1300" b="0" i="0" dirty="0">
                <a:solidFill>
                  <a:srgbClr val="181C23"/>
                </a:solidFill>
                <a:latin typeface="Ubuntu"/>
              </a:rPr>
              <a:t> (Docker, </a:t>
            </a:r>
            <a:r>
              <a:rPr sz="1300" b="0" i="0" dirty="0" err="1">
                <a:solidFill>
                  <a:srgbClr val="181C23"/>
                </a:solidFill>
                <a:latin typeface="Ubuntu"/>
              </a:rPr>
              <a:t>servidores</a:t>
            </a:r>
            <a:r>
              <a:rPr sz="1300" b="0" i="0" dirty="0">
                <a:solidFill>
                  <a:srgbClr val="181C23"/>
                </a:solidFill>
                <a:latin typeface="Ubuntu"/>
              </a:rPr>
              <a:t>, cloud) e dados (DW, Data Lake).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As rubricas registram seu aprendizado e orientam os próximos passos.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Parabéns! Você concluiu o módulo Arquitetura de Serviços e Dados! 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dirty="0">
                <a:solidFill>
                  <a:srgbClr val="6A707D"/>
                </a:solidFill>
                <a:latin typeface="Ubuntu"/>
              </a:rPr>
              <a:t>Ada · AR-NA-002 · </a:t>
            </a:r>
            <a:r>
              <a:rPr sz="800" b="0" i="0" dirty="0" err="1">
                <a:solidFill>
                  <a:srgbClr val="6A707D"/>
                </a:solidFill>
                <a:latin typeface="Ubuntu"/>
              </a:rPr>
              <a:t>Arquitetura</a:t>
            </a:r>
            <a:r>
              <a:rPr sz="800" b="0" i="0" dirty="0">
                <a:solidFill>
                  <a:srgbClr val="6A707D"/>
                </a:solidFill>
                <a:latin typeface="Ubuntu"/>
              </a:rPr>
              <a:t> de Serviços e 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09 — Concluir Atividades e Preencher Rubricas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200" b="12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000" y="800000"/>
            <a:ext cx="3800000" cy="25694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680000"/>
            <a:ext cx="9144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0" i="0">
                <a:solidFill>
                  <a:srgbClr val="181C23"/>
                </a:solidFill>
                <a:latin typeface="Ubuntu Medium"/>
              </a:rPr>
              <a:t>Parabéns e 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480000"/>
            <a:ext cx="9144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 dirty="0" err="1">
                <a:solidFill>
                  <a:srgbClr val="6A707D"/>
                </a:solidFill>
                <a:latin typeface="Ubuntu Light"/>
              </a:rPr>
              <a:t>Dúvidas</a:t>
            </a:r>
            <a:r>
              <a:rPr sz="1600" b="0" i="1" dirty="0">
                <a:solidFill>
                  <a:srgbClr val="6A707D"/>
                </a:solidFill>
                <a:latin typeface="Ubuntu Light"/>
              </a:rPr>
              <a:t>? Levante a </a:t>
            </a:r>
            <a:r>
              <a:rPr sz="1600" b="0" i="1" dirty="0" err="1">
                <a:solidFill>
                  <a:srgbClr val="6A707D"/>
                </a:solidFill>
                <a:latin typeface="Ubuntu Light"/>
              </a:rPr>
              <a:t>mão</a:t>
            </a:r>
            <a:r>
              <a:rPr sz="1600" b="0" i="1" dirty="0">
                <a:solidFill>
                  <a:srgbClr val="6A707D"/>
                </a:solidFill>
                <a:latin typeface="Ubuntu Light"/>
              </a:rPr>
              <a:t>!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000" y="4190000"/>
            <a:ext cx="1000000" cy="618213"/>
          </a:xfrm>
          <a:prstGeom prst="rect">
            <a:avLst/>
          </a:prstGeom>
        </p:spPr>
      </p:pic>
      <p:pic>
        <p:nvPicPr>
          <p:cNvPr id="20" name="QR Code LinkedIn" descr="QR code para o perfil do Linked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7000" y="2900000"/>
            <a:ext cx="950000" cy="950000"/>
          </a:xfrm>
          <a:prstGeom prst="rect">
            <a:avLst/>
          </a:prstGeom>
        </p:spPr>
      </p:pic>
      <p:sp>
        <p:nvSpPr>
          <p:cNvPr id="21" name="LinkedIn Icon"/>
          <p:cNvSpPr/>
          <p:nvPr/>
        </p:nvSpPr>
        <p:spPr>
          <a:xfrm>
            <a:off x="3083500" y="3895000"/>
            <a:ext cx="190000" cy="190000"/>
          </a:xfrm>
          <a:prstGeom prst="roundRect">
            <a:avLst>
              <a:gd name="adj" fmla="val 20000"/>
            </a:avLst>
          </a:prstGeom>
          <a:solidFill>
            <a:srgbClr val="0A66C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Ubuntu Medium"/>
              </a:rPr>
              <a:t>in</a:t>
            </a:r>
          </a:p>
        </p:txBody>
      </p:sp>
      <p:sp>
        <p:nvSpPr>
          <p:cNvPr id="22" name="TextBox LinkedIn URL"/>
          <p:cNvSpPr txBox="1"/>
          <p:nvPr/>
        </p:nvSpPr>
        <p:spPr>
          <a:xfrm>
            <a:off x="3368500" y="38800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 dirty="0">
                <a:solidFill>
                  <a:srgbClr val="181C23"/>
                </a:solidFill>
                <a:latin typeface="Ubuntu Light"/>
              </a:rPr>
              <a:t>https://www.linkedin.com/in/ejbenedicto/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868F2-FFCF-E098-288E-BA304F582F67}"/>
              </a:ext>
            </a:extLst>
          </p:cNvPr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56E7EF-B7D7-2D14-6C9E-6B8974489C5F}"/>
              </a:ext>
            </a:extLst>
          </p:cNvPr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dirty="0">
                <a:solidFill>
                  <a:srgbClr val="6A707D"/>
                </a:solidFill>
                <a:latin typeface="Ubuntu"/>
              </a:rPr>
              <a:t>Ada · AR-NA-002 · </a:t>
            </a:r>
            <a:r>
              <a:rPr sz="800" b="0" i="0" dirty="0" err="1">
                <a:solidFill>
                  <a:srgbClr val="6A707D"/>
                </a:solidFill>
                <a:latin typeface="Ubuntu"/>
              </a:rPr>
              <a:t>Arquitetura</a:t>
            </a:r>
            <a:r>
              <a:rPr sz="800" b="0" i="0" dirty="0">
                <a:solidFill>
                  <a:srgbClr val="6A707D"/>
                </a:solidFill>
                <a:latin typeface="Ubuntu"/>
              </a:rPr>
              <a:t> de Serviços e Dados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0A4010-EE33-80F5-1BE4-DA95D5DE4597}"/>
              </a:ext>
            </a:extLst>
          </p:cNvPr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0A5CD0-AE0E-297E-C5D5-81A792F79AAD}"/>
              </a:ext>
            </a:extLst>
          </p:cNvPr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09 — Concluir Atividades e Preencher Rubricas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641</Words>
  <Application>Microsoft Office PowerPoint</Application>
  <PresentationFormat>On-screen Show (16:9)</PresentationFormat>
  <Paragraphs>122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Ubuntu Medium</vt:lpstr>
      <vt:lpstr>Ubuntu Light</vt:lpstr>
      <vt:lpstr>Lato</vt:lpstr>
      <vt:lpstr>Arial</vt:lpstr>
      <vt:lpstr>Ubuntu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5</cp:revision>
  <dcterms:modified xsi:type="dcterms:W3CDTF">2026-08-26T18:07:44Z</dcterms:modified>
</cp:coreProperties>
</file>