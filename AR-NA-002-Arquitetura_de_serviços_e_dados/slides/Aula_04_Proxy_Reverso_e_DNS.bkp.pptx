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17"/>
  </p:notesMasterIdLst>
  <p:sldIdLst>
    <p:sldId id="256" r:id="rId2"/>
    <p:sldId id="257" r:id="rId3"/>
    <p:sldId id="266" r:id="rId4"/>
    <p:sldId id="265" r:id="rId5"/>
    <p:sldId id="259" r:id="rId6"/>
    <p:sldId id="267" r:id="rId7"/>
    <p:sldId id="268" r:id="rId8"/>
    <p:sldId id="269" r:id="rId9"/>
    <p:sldId id="270" r:id="rId10"/>
    <p:sldId id="260" r:id="rId11"/>
    <p:sldId id="271" r:id="rId12"/>
    <p:sldId id="261" r:id="rId13"/>
    <p:sldId id="262" r:id="rId14"/>
    <p:sldId id="263" r:id="rId15"/>
    <p:sldId id="264" r:id="rId16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18"/>
      <p:bold r:id="rId19"/>
    </p:embeddedFont>
    <p:embeddedFont>
      <p:font typeface="Lato" panose="020F0502020204030203" pitchFamily="34" charset="0"/>
      <p:regular r:id="rId20"/>
      <p:bold r:id="rId21"/>
      <p:italic r:id="rId22"/>
      <p:boldItalic r:id="rId23"/>
    </p:embeddedFont>
    <p:embeddedFont>
      <p:font typeface="Ubuntu" panose="020B0504030602030204" pitchFamily="34" charset="0"/>
      <p:regular r:id="rId24"/>
      <p:bold r:id="rId25"/>
      <p:italic r:id="rId26"/>
      <p:boldItalic r:id="rId27"/>
    </p:embeddedFont>
    <p:embeddedFont>
      <p:font typeface="Ubuntu Light" panose="020B0304030602030204" pitchFamily="34" charset="0"/>
      <p:regular r:id="rId28"/>
      <p:bold r:id="rId29"/>
      <p:italic r:id="rId30"/>
      <p:boldItalic r:id="rId31"/>
    </p:embeddedFont>
    <p:embeddedFont>
      <p:font typeface="Ubuntu Medium" panose="020B0604030602030204" pitchFamily="3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a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691650" y="2017200"/>
            <a:ext cx="3370500" cy="4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Ubuntu Light"/>
              <a:buNone/>
              <a:defRPr sz="2200">
                <a:latin typeface="Ubuntu Light"/>
                <a:ea typeface="Ubuntu Light"/>
                <a:cs typeface="Ubuntu Light"/>
                <a:sym typeface="Ubuntu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 idx="2"/>
          </p:nvPr>
        </p:nvSpPr>
        <p:spPr>
          <a:xfrm>
            <a:off x="691650" y="2582150"/>
            <a:ext cx="3370500" cy="5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Ubuntu Medium"/>
              <a:buNone/>
              <a:defRPr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9225" y="-18825"/>
            <a:ext cx="198350" cy="5208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sor">
  <p:cSld name="CUSTOM_2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 title="BG colorido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683025" y="2071050"/>
            <a:ext cx="3921300" cy="10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pic>
        <p:nvPicPr>
          <p:cNvPr id="17" name="Google Shape;17;p3" title="Ad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8399" y="4348525"/>
            <a:ext cx="737449" cy="45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3131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371FF"/>
              </a:buClr>
              <a:buSzPts val="2200"/>
              <a:buFont typeface="Ubuntu"/>
              <a:buNone/>
              <a:defRPr sz="2200">
                <a:solidFill>
                  <a:srgbClr val="2371FF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511075"/>
            <a:ext cx="8520600" cy="30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8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2"/>
          </p:nvPr>
        </p:nvSpPr>
        <p:spPr>
          <a:xfrm>
            <a:off x="311700" y="720025"/>
            <a:ext cx="5698800" cy="3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200"/>
              <a:buFont typeface="Lato"/>
              <a:buNone/>
              <a:defRPr sz="1200"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Limpo">
  <p:cSld name="CUSTOM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fismo ADA">
  <p:cSld name="CUSTOM_1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6" title="verde.png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6076250" y="2628925"/>
            <a:ext cx="4844777" cy="3275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erramento" type="blank">
  <p:cSld name="BLANK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7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7"/>
          <p:cNvSpPr txBox="1"/>
          <p:nvPr/>
        </p:nvSpPr>
        <p:spPr>
          <a:xfrm>
            <a:off x="778150" y="2431300"/>
            <a:ext cx="27312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181C23"/>
                </a:solidFill>
                <a:latin typeface="Ubuntu Light"/>
                <a:ea typeface="Ubuntu Light"/>
                <a:cs typeface="Ubuntu Light"/>
                <a:sym typeface="Ubuntu Light"/>
              </a:rPr>
              <a:t>print("thank you")</a:t>
            </a:r>
            <a:endParaRPr sz="1700">
              <a:solidFill>
                <a:srgbClr val="181C23"/>
              </a:solidFill>
              <a:latin typeface="Ubuntu Light"/>
              <a:ea typeface="Ubuntu Light"/>
              <a:cs typeface="Ubuntu Light"/>
              <a:sym typeface="Ubuntu Light"/>
            </a:endParaRPr>
          </a:p>
        </p:txBody>
      </p:sp>
      <p:pic>
        <p:nvPicPr>
          <p:cNvPr id="29" name="Google Shape;2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3507151" y="4767018"/>
            <a:ext cx="5641001" cy="3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BF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500" b="9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000" y="3344482"/>
            <a:ext cx="3400000" cy="22990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0000" y="900000"/>
            <a:ext cx="2400000" cy="1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0" b="1" i="0">
                <a:solidFill>
                  <a:srgbClr val="A6F750"/>
                </a:solidFill>
                <a:latin typeface="Ubuntu Light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0000" y="2350000"/>
            <a:ext cx="6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2371FF"/>
                </a:solidFill>
                <a:latin typeface="Ubuntu Medium"/>
              </a:rPr>
              <a:t>AULA 04  ·  Segunda, 17/08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0000" y="2620000"/>
            <a:ext cx="6600000" cy="1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181C23"/>
                </a:solidFill>
                <a:latin typeface="Ubuntu Medium"/>
              </a:rPr>
              <a:t>Proxy Reverso e DNS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0000" y="3720000"/>
            <a:ext cx="660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6A707D"/>
                </a:solidFill>
                <a:latin typeface="Ubuntu Light"/>
              </a:rPr>
              <a:t>Intermediários inteligentes e o catálogo da internet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000" y="4041644"/>
            <a:ext cx="1200000" cy="74185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0000" y="4350000"/>
            <a:ext cx="4600000" cy="300000"/>
          </a:xfrm>
          <a:prstGeom prst="roundRect">
            <a:avLst>
              <a:gd name="adj" fmla="val 50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0000" y="4350000"/>
            <a:ext cx="46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A6F750"/>
                </a:solidFill>
                <a:latin typeface="Ubuntu"/>
              </a:rPr>
              <a:t>Módulo · Arquitetura de Serviços e Dados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000" y="4720000"/>
            <a:ext cx="4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500" b="9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66148"/>
            <a:ext cx="852060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Cronograma das Aulas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11700" y="127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117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1700" y="1596148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00" y="1996148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Seg 10/08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00" y="2226148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Introdução ao Módulo e Docker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19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51900" y="1596148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1900" y="1996148"/>
            <a:ext cx="2440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2371FF"/>
                </a:solidFill>
                <a:latin typeface="Ubuntu Medium"/>
              </a:rPr>
              <a:t>Qua 1</a:t>
            </a:r>
            <a:r>
              <a:rPr lang="pt-PT" sz="1100" b="0" i="0" dirty="0">
                <a:solidFill>
                  <a:srgbClr val="2371FF"/>
                </a:solidFill>
                <a:latin typeface="Ubuntu Medium"/>
              </a:rPr>
              <a:t>3</a:t>
            </a:r>
            <a:r>
              <a:rPr sz="1100" b="0" i="0" dirty="0">
                <a:solidFill>
                  <a:srgbClr val="2371FF"/>
                </a:solidFill>
                <a:latin typeface="Ubuntu Medium"/>
              </a:rPr>
              <a:t>/08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1900" y="2226148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Arquitetura de Servidores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21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42100" y="1596148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2100" y="1996148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Sex 14/08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2100" y="2226148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Apache e Nginx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17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11700" y="2621932"/>
            <a:ext cx="70000" cy="1005784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1700" y="2751932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00" y="3151932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A6F750"/>
                </a:solidFill>
                <a:latin typeface="Ubuntu Medium"/>
              </a:rPr>
              <a:t>Seg 17/08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00" y="3381932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FFDF8"/>
                </a:solidFill>
                <a:latin typeface="Ubuntu"/>
              </a:rPr>
              <a:t>Proxy Reverso e DNS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19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51900" y="2751932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1900" y="3151932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Qua 19/08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51900" y="3381932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CI/CD e Ciclo de Vida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921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42100" y="2751932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2100" y="3151932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Sex 21/08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2100" y="3381932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Cloud Computing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17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1700" y="3907716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00" y="4307716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Seg 24/08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00" y="4537716"/>
            <a:ext cx="2590200" cy="16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 dirty="0" err="1">
                <a:solidFill>
                  <a:srgbClr val="181C23"/>
                </a:solidFill>
                <a:latin typeface="Ubuntu"/>
              </a:rPr>
              <a:t>Arquitetura</a:t>
            </a:r>
            <a:r>
              <a:rPr sz="1100" b="0" i="0" dirty="0">
                <a:solidFill>
                  <a:srgbClr val="181C23"/>
                </a:solidFill>
                <a:latin typeface="Ubuntu"/>
              </a:rPr>
              <a:t> de Dados e Data Warehouse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19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351900" y="3907716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51900" y="4307716"/>
            <a:ext cx="2440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1100" b="0" i="0" dirty="0">
                <a:solidFill>
                  <a:srgbClr val="2371FF"/>
                </a:solidFill>
                <a:latin typeface="Ubuntu Medium"/>
              </a:rPr>
              <a:t>Ter</a:t>
            </a:r>
            <a:r>
              <a:rPr sz="1100" b="0" i="0" dirty="0">
                <a:solidFill>
                  <a:srgbClr val="2371FF"/>
                </a:solidFill>
                <a:latin typeface="Ubuntu Medium"/>
              </a:rPr>
              <a:t> 2</a:t>
            </a:r>
            <a:r>
              <a:rPr lang="pt-PT" sz="1100" b="0" i="0" dirty="0">
                <a:solidFill>
                  <a:srgbClr val="2371FF"/>
                </a:solidFill>
                <a:latin typeface="Ubuntu Medium"/>
              </a:rPr>
              <a:t>5</a:t>
            </a:r>
            <a:r>
              <a:rPr sz="1100" b="0" i="0" dirty="0">
                <a:solidFill>
                  <a:srgbClr val="2371FF"/>
                </a:solidFill>
                <a:latin typeface="Ubuntu Medium"/>
              </a:rPr>
              <a:t>/08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1900" y="4537716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Data Lake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921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42100" y="3907716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42100" y="4307716"/>
            <a:ext cx="2440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1100" b="0" i="0" dirty="0">
                <a:solidFill>
                  <a:srgbClr val="2371FF"/>
                </a:solidFill>
                <a:latin typeface="Ubuntu Medium"/>
              </a:rPr>
              <a:t>Qua</a:t>
            </a:r>
            <a:r>
              <a:rPr sz="1100" b="0" i="0" dirty="0">
                <a:solidFill>
                  <a:srgbClr val="2371FF"/>
                </a:solidFill>
                <a:latin typeface="Ubuntu Medium"/>
              </a:rPr>
              <a:t> 2</a:t>
            </a:r>
            <a:r>
              <a:rPr lang="pt-PT" sz="1100" b="0" i="0" dirty="0">
                <a:solidFill>
                  <a:srgbClr val="2371FF"/>
                </a:solidFill>
                <a:latin typeface="Ubuntu Medium"/>
              </a:rPr>
              <a:t>6</a:t>
            </a:r>
            <a:r>
              <a:rPr sz="1100" b="0" i="0" dirty="0">
                <a:solidFill>
                  <a:srgbClr val="2371FF"/>
                </a:solidFill>
                <a:latin typeface="Ubuntu Medium"/>
              </a:rPr>
              <a:t>/08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2100" y="4537716"/>
            <a:ext cx="2590200" cy="16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 dirty="0" err="1">
                <a:solidFill>
                  <a:srgbClr val="181C23"/>
                </a:solidFill>
                <a:latin typeface="Ubuntu"/>
              </a:rPr>
              <a:t>Concluir</a:t>
            </a:r>
            <a:r>
              <a:rPr sz="1100" b="0" i="0" dirty="0">
                <a:solidFill>
                  <a:srgbClr val="181C23"/>
                </a:solidFill>
                <a:latin typeface="Ubuntu"/>
              </a:rPr>
              <a:t> </a:t>
            </a:r>
            <a:r>
              <a:rPr sz="1100" b="0" i="0" dirty="0" err="1">
                <a:solidFill>
                  <a:srgbClr val="181C23"/>
                </a:solidFill>
                <a:latin typeface="Ubuntu"/>
              </a:rPr>
              <a:t>atividades</a:t>
            </a:r>
            <a:r>
              <a:rPr sz="1100" b="0" i="0" dirty="0">
                <a:solidFill>
                  <a:srgbClr val="181C23"/>
                </a:solidFill>
                <a:latin typeface="Ubuntu"/>
              </a:rPr>
              <a:t> e </a:t>
            </a:r>
            <a:r>
              <a:rPr sz="1100" b="0" i="0" dirty="0" err="1">
                <a:solidFill>
                  <a:srgbClr val="181C23"/>
                </a:solidFill>
                <a:latin typeface="Ubuntu"/>
              </a:rPr>
              <a:t>preencher</a:t>
            </a:r>
            <a:r>
              <a:rPr sz="1100" b="0" i="0" dirty="0">
                <a:solidFill>
                  <a:srgbClr val="181C23"/>
                </a:solidFill>
                <a:latin typeface="Ubuntu"/>
              </a:rPr>
              <a:t> </a:t>
            </a:r>
            <a:r>
              <a:rPr sz="1100" b="0" i="0" dirty="0" err="1">
                <a:solidFill>
                  <a:srgbClr val="181C23"/>
                </a:solidFill>
                <a:latin typeface="Ubuntu"/>
              </a:rPr>
              <a:t>rubricas</a:t>
            </a:r>
            <a:endParaRPr sz="1100" b="0" i="0" dirty="0">
              <a:solidFill>
                <a:srgbClr val="181C23"/>
              </a:solidFill>
              <a:latin typeface="Ubuntu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 dirty="0">
                <a:solidFill>
                  <a:srgbClr val="2371FF"/>
                </a:solidFill>
                <a:latin typeface="Ubuntu Medium"/>
              </a:rPr>
              <a:t>Aula 04 — Proxy Reverso e DNS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000" y="1016148"/>
            <a:ext cx="3000000" cy="20285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1700" y="766148"/>
            <a:ext cx="85206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A6F750"/>
                </a:solidFill>
                <a:latin typeface="Ubuntu Medium"/>
              </a:rPr>
              <a:t>COMBINADO DA TURMA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1700" y="1016148"/>
            <a:ext cx="85206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0" i="0">
                <a:solidFill>
                  <a:srgbClr val="181C23"/>
                </a:solidFill>
                <a:latin typeface="Ubuntu Medium"/>
              </a:rPr>
              <a:t>Por favor!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1700" y="1866148"/>
            <a:ext cx="3139028" cy="30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1700" y="1866148"/>
            <a:ext cx="3139028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FFFDF8"/>
                </a:solidFill>
                <a:latin typeface="Ubuntu Medium"/>
              </a:rPr>
              <a:t>Bora participar!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1700" y="2246148"/>
            <a:ext cx="3139028" cy="2537352"/>
          </a:xfrm>
          <a:prstGeom prst="roundRect">
            <a:avLst>
              <a:gd name="adj" fmla="val 5000"/>
            </a:avLst>
          </a:prstGeom>
          <a:solidFill>
            <a:srgbClr val="2A2F3A"/>
          </a:solidFill>
          <a:ln>
            <a:noFill/>
          </a:ln>
        </p:spPr>
        <p:txBody>
          <a:bodyPr/>
          <a:lstStyle/>
          <a:p>
            <a:pPr defTabSz="457200"/>
            <a:endParaRPr sz="1800" kern="120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1700" y="3703500"/>
            <a:ext cx="2839028" cy="503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 dirty="0" err="1">
                <a:solidFill>
                  <a:schemeClr val="bg1"/>
                </a:solidFill>
                <a:latin typeface="Ubuntu Medium"/>
              </a:rPr>
              <a:t>Câmera</a:t>
            </a:r>
            <a:r>
              <a:rPr sz="1500" b="0" i="0" dirty="0">
                <a:solidFill>
                  <a:schemeClr val="bg1"/>
                </a:solidFill>
                <a:latin typeface="Ubuntu Medium"/>
              </a:rPr>
              <a:t> </a:t>
            </a:r>
            <a:r>
              <a:rPr sz="1500" b="0" i="0" dirty="0" err="1">
                <a:solidFill>
                  <a:schemeClr val="bg1"/>
                </a:solidFill>
                <a:latin typeface="Ubuntu Medium"/>
              </a:rPr>
              <a:t>ligada</a:t>
            </a:r>
            <a:r>
              <a:rPr lang="pt-PT" sz="1500" b="0" i="0" dirty="0">
                <a:solidFill>
                  <a:schemeClr val="bg1"/>
                </a:solidFill>
                <a:latin typeface="Ubuntu Medium"/>
              </a:rPr>
              <a:t> </a:t>
            </a:r>
            <a:r>
              <a:rPr sz="1500" b="0" i="0" dirty="0">
                <a:solidFill>
                  <a:schemeClr val="bg1"/>
                </a:solidFill>
                <a:latin typeface="Ubuntu Medium"/>
              </a:rPr>
              <a:t>+ </a:t>
            </a:r>
            <a:r>
              <a:rPr sz="1500" b="0" i="0" dirty="0" err="1">
                <a:solidFill>
                  <a:schemeClr val="bg1"/>
                </a:solidFill>
                <a:latin typeface="Ubuntu Medium"/>
              </a:rPr>
              <a:t>mão</a:t>
            </a:r>
            <a:r>
              <a:rPr sz="1500" b="0" i="0" dirty="0">
                <a:solidFill>
                  <a:schemeClr val="bg1"/>
                </a:solidFill>
                <a:latin typeface="Ubuntu Medium"/>
              </a:rPr>
              <a:t> </a:t>
            </a:r>
            <a:r>
              <a:rPr sz="1500" b="0" i="0" dirty="0" err="1">
                <a:solidFill>
                  <a:schemeClr val="bg1"/>
                </a:solidFill>
                <a:latin typeface="Ubuntu Medium"/>
              </a:rPr>
              <a:t>levantada</a:t>
            </a:r>
            <a:endParaRPr sz="1500" b="0" i="0" dirty="0">
              <a:solidFill>
                <a:schemeClr val="bg1"/>
              </a:solidFill>
              <a:latin typeface="Ubuntu Medium"/>
            </a:endParaRPr>
          </a:p>
          <a:p>
            <a:pPr algn="ctr">
              <a:lnSpc>
                <a:spcPct val="115000"/>
              </a:lnSpc>
            </a:pPr>
            <a:r>
              <a:rPr sz="1500" b="0" i="0" dirty="0">
                <a:solidFill>
                  <a:srgbClr val="A6F750"/>
                </a:solidFill>
                <a:latin typeface="Ubuntu Medium"/>
              </a:rPr>
              <a:t>= aula top!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00" y="4273500"/>
            <a:ext cx="2839028" cy="36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00" y="4361167"/>
            <a:ext cx="2839028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 dirty="0">
                <a:solidFill>
                  <a:srgbClr val="181C23"/>
                </a:solidFill>
                <a:latin typeface="Ubuntu Medium"/>
              </a:rPr>
              <a:t>INTERVALO · </a:t>
            </a:r>
            <a:r>
              <a:rPr lang="pt-PT" sz="1200" b="0" i="0" dirty="0">
                <a:solidFill>
                  <a:srgbClr val="181C23"/>
                </a:solidFill>
                <a:latin typeface="Ubuntu Medium"/>
              </a:rPr>
              <a:t>16:30 BRT</a:t>
            </a:r>
            <a:endParaRPr sz="1200" b="0" i="0" dirty="0">
              <a:solidFill>
                <a:srgbClr val="181C23"/>
              </a:solidFill>
              <a:latin typeface="Ubuntu Medium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710728" y="1866148"/>
            <a:ext cx="5121572" cy="300000"/>
          </a:xfrm>
          <a:prstGeom prst="roundRect">
            <a:avLst>
              <a:gd name="adj" fmla="val 10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10728" y="1866148"/>
            <a:ext cx="5121572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FFFDF8"/>
                </a:solidFill>
                <a:latin typeface="Ubuntu Medium"/>
              </a:rPr>
              <a:t>Combinados da nossa aula</a:t>
            </a:r>
          </a:p>
        </p:txBody>
      </p:sp>
      <p:sp>
        <p:nvSpPr>
          <p:cNvPr id="14" name="Oval 13"/>
          <p:cNvSpPr/>
          <p:nvPr/>
        </p:nvSpPr>
        <p:spPr>
          <a:xfrm>
            <a:off x="3710728" y="239788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10728" y="239788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Ubuntu Medium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0728" y="226614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Ubuntu"/>
              </a:rPr>
              <a:t>Câmeras ligadas.</a:t>
            </a:r>
          </a:p>
        </p:txBody>
      </p:sp>
      <p:sp>
        <p:nvSpPr>
          <p:cNvPr id="17" name="Oval 16"/>
          <p:cNvSpPr/>
          <p:nvPr/>
        </p:nvSpPr>
        <p:spPr>
          <a:xfrm>
            <a:off x="3710728" y="290135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10728" y="290135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Ubuntu Medium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0728" y="276961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Ubuntu"/>
              </a:rPr>
              <a:t>Entrem no horário: início e intervalo.</a:t>
            </a:r>
          </a:p>
        </p:txBody>
      </p:sp>
      <p:sp>
        <p:nvSpPr>
          <p:cNvPr id="20" name="Oval 19"/>
          <p:cNvSpPr/>
          <p:nvPr/>
        </p:nvSpPr>
        <p:spPr>
          <a:xfrm>
            <a:off x="3710728" y="340482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10728" y="340482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Ubuntu Medium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30728" y="327308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Ubuntu"/>
              </a:rPr>
              <a:t>Participem da aula.</a:t>
            </a:r>
          </a:p>
        </p:txBody>
      </p:sp>
      <p:sp>
        <p:nvSpPr>
          <p:cNvPr id="23" name="Oval 22"/>
          <p:cNvSpPr/>
          <p:nvPr/>
        </p:nvSpPr>
        <p:spPr>
          <a:xfrm>
            <a:off x="3710728" y="390829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10728" y="390829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Ubuntu Medium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30728" y="377655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Ubuntu"/>
              </a:rPr>
              <a:t>Tirem dúvidas.</a:t>
            </a:r>
          </a:p>
        </p:txBody>
      </p:sp>
      <p:sp>
        <p:nvSpPr>
          <p:cNvPr id="26" name="Oval 25"/>
          <p:cNvSpPr/>
          <p:nvPr/>
        </p:nvSpPr>
        <p:spPr>
          <a:xfrm>
            <a:off x="3710728" y="441176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10728" y="441176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Ubuntu Medium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30728" y="428002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Ubuntu"/>
              </a:rPr>
              <a:t>Levantem a mão para tirar dúvidas.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2300" y="4931944"/>
            <a:ext cx="3000000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PT" sz="800" dirty="0">
                <a:solidFill>
                  <a:srgbClr val="2371FF"/>
                </a:solidFill>
                <a:latin typeface="Ubuntu Medium"/>
              </a:rPr>
              <a:t>Aula 04 — Proxy Reverso e DNS</a:t>
            </a:r>
          </a:p>
        </p:txBody>
      </p:sp>
      <p:pic>
        <p:nvPicPr>
          <p:cNvPr id="34" name="VideoConf">
            <a:extLst>
              <a:ext uri="{FF2B5EF4-FFF2-40B4-BE49-F238E27FC236}">
                <a16:creationId xmlns:a16="http://schemas.microsoft.com/office/drawing/2014/main" id="{9AA18BD3-746B-6E67-FBD7-72460F8DF0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092" y="2480575"/>
            <a:ext cx="1150000" cy="1150000"/>
          </a:xfrm>
          <a:prstGeom prst="rect">
            <a:avLst/>
          </a:prstGeom>
        </p:spPr>
      </p:pic>
      <p:pic>
        <p:nvPicPr>
          <p:cNvPr id="36" name="RaiseHand">
            <a:extLst>
              <a:ext uri="{FF2B5EF4-FFF2-40B4-BE49-F238E27FC236}">
                <a16:creationId xmlns:a16="http://schemas.microsoft.com/office/drawing/2014/main" id="{A619174F-F337-F752-FD34-362E345837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4092" y="2480575"/>
            <a:ext cx="1150000" cy="115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1100" b="0" i="0" dirty="0">
                <a:solidFill>
                  <a:srgbClr val="2371FF"/>
                </a:solidFill>
                <a:latin typeface="Ubuntu Medium"/>
              </a:rPr>
              <a:t>REVIEW!</a:t>
            </a:r>
            <a:endParaRPr sz="1100" b="0" i="0" dirty="0">
              <a:solidFill>
                <a:srgbClr val="2371FF"/>
              </a:solidFill>
              <a:latin typeface="Ubuntu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 dirty="0" err="1">
                <a:solidFill>
                  <a:srgbClr val="181C23"/>
                </a:solidFill>
                <a:latin typeface="Ubuntu Medium"/>
              </a:rPr>
              <a:t>Recapitulando</a:t>
            </a:r>
            <a:r>
              <a:rPr sz="2600" b="0" i="0" dirty="0">
                <a:solidFill>
                  <a:srgbClr val="181C23"/>
                </a:solidFill>
                <a:latin typeface="Ubuntu Medium"/>
              </a:rPr>
              <a:t> a Aula</a:t>
            </a:r>
            <a:r>
              <a:rPr lang="pt-PT" sz="2600" b="0" i="0" dirty="0">
                <a:solidFill>
                  <a:srgbClr val="181C23"/>
                </a:solidFill>
                <a:latin typeface="Ubuntu Medium"/>
              </a:rPr>
              <a:t> 3</a:t>
            </a:r>
            <a:endParaRPr sz="2600" b="0" i="0" dirty="0">
              <a:solidFill>
                <a:srgbClr val="181C23"/>
              </a:solidFill>
              <a:latin typeface="Ubuntu Medium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11700" y="17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11700" y="17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91700" y="18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1700" y="18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700" y="17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Apache: veterano e modular, uma thread/processo por requisição — ótimo para flexibilidade.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1700" y="24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11700" y="24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91700" y="25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1700" y="25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700" y="24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Nginx: assíncrono por eventos — ótimo para alta concorrência e proxy reverso.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1700" y="31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11700" y="31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91700" y="32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1700" y="32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700" y="31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Podem trabalhar juntos: Nginx na frente (proxy) + Apache/Tomcat atrás (app).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1700" y="38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11700" y="38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91700" y="39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1700" y="39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700" y="38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Docker facilita instalar e testar qualquer servidor web.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32300" y="4931944"/>
            <a:ext cx="3000000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PT" sz="800" dirty="0">
                <a:solidFill>
                  <a:srgbClr val="2371FF"/>
                </a:solidFill>
                <a:latin typeface="Ubuntu Medium"/>
              </a:rPr>
              <a:t>Aula 04 — Proxy Reverso e DNS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500" b="9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PROXY REVERSO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Proxy Reverso — O Segurança do Prédio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51700" y="2005957"/>
            <a:ext cx="4394712" cy="2257733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roxy_reverso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2065957"/>
            <a:ext cx="4274712" cy="21377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1700" y="4553500"/>
            <a:ext cx="4274712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1">
                <a:solidFill>
                  <a:srgbClr val="6A707D"/>
                </a:solidFill>
                <a:latin typeface="Ubuntu"/>
              </a:rPr>
              <a:t>Fonte: cloudflare.com</a:t>
            </a:r>
          </a:p>
        </p:txBody>
      </p:sp>
      <p:sp>
        <p:nvSpPr>
          <p:cNvPr id="9" name="Oval 8"/>
          <p:cNvSpPr/>
          <p:nvPr/>
        </p:nvSpPr>
        <p:spPr>
          <a:xfrm>
            <a:off x="4886412" y="176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86412" y="1766148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6412" y="174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 Medium"/>
              </a:rPr>
              <a:t>Fica na frente: </a:t>
            </a:r>
            <a:r>
              <a:rPr sz="1300" b="0" i="0">
                <a:solidFill>
                  <a:srgbClr val="6A707D"/>
                </a:solidFill>
                <a:latin typeface="Ubuntu"/>
              </a:rPr>
              <a:t>recebe as requisições dos clientes</a:t>
            </a:r>
          </a:p>
        </p:txBody>
      </p:sp>
      <p:sp>
        <p:nvSpPr>
          <p:cNvPr id="12" name="Oval 11"/>
          <p:cNvSpPr/>
          <p:nvPr/>
        </p:nvSpPr>
        <p:spPr>
          <a:xfrm>
            <a:off x="4886412" y="240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86412" y="2406148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6412" y="238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 Medium"/>
              </a:rPr>
              <a:t>Esconde o backend: </a:t>
            </a:r>
            <a:r>
              <a:rPr sz="1300" b="0" i="0">
                <a:solidFill>
                  <a:srgbClr val="6A707D"/>
                </a:solidFill>
                <a:latin typeface="Ubuntu"/>
              </a:rPr>
              <a:t>o cliente só fala com o proxy</a:t>
            </a:r>
          </a:p>
        </p:txBody>
      </p:sp>
      <p:sp>
        <p:nvSpPr>
          <p:cNvPr id="15" name="Oval 14"/>
          <p:cNvSpPr/>
          <p:nvPr/>
        </p:nvSpPr>
        <p:spPr>
          <a:xfrm>
            <a:off x="4886412" y="304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86412" y="3046148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6412" y="302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 Medium"/>
              </a:rPr>
              <a:t>Balanceia carga: </a:t>
            </a:r>
            <a:r>
              <a:rPr sz="1300" b="0" i="0">
                <a:solidFill>
                  <a:srgbClr val="6A707D"/>
                </a:solidFill>
                <a:latin typeface="Ubuntu"/>
              </a:rPr>
              <a:t>distribui o tráfego entre servidores</a:t>
            </a:r>
          </a:p>
        </p:txBody>
      </p:sp>
      <p:sp>
        <p:nvSpPr>
          <p:cNvPr id="18" name="Oval 17"/>
          <p:cNvSpPr/>
          <p:nvPr/>
        </p:nvSpPr>
        <p:spPr>
          <a:xfrm>
            <a:off x="4886412" y="368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86412" y="3686148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6412" y="366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 Medium"/>
              </a:rPr>
              <a:t>Protege e faz cache: </a:t>
            </a:r>
            <a:r>
              <a:rPr sz="1300" b="0" i="0">
                <a:solidFill>
                  <a:srgbClr val="6A707D"/>
                </a:solidFill>
                <a:latin typeface="Ubuntu"/>
              </a:rPr>
              <a:t>absorve ataques e acelera respostas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04 — Proxy Reverso e DNS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500" b="9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PROXY REVERSO +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40011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pt-BR" sz="2400" b="0" i="0">
                <a:solidFill>
                  <a:srgbClr val="181C23"/>
                </a:solidFill>
                <a:latin typeface="Ubuntu Medium"/>
              </a:rPr>
              <a:t>Nginx como proxy reverso no Docker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1700" y="1746148"/>
            <a:ext cx="8520600" cy="19127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pt-BR" sz="1300" b="0" i="0">
                <a:solidFill>
                  <a:srgbClr val="6A707D"/>
                </a:solidFill>
                <a:latin typeface="Ubuntu"/>
              </a:rPr>
              <a:t>Um container Nginx na frente; as APIs ficam atrás, na rede interna.</a:t>
            </a:r>
          </a:p>
        </p:txBody>
      </p:sp>
      <p:sp>
        <p:nvSpPr>
          <p:cNvPr id="7" name="Steps"/>
          <p:cNvSpPr txBox="1"/>
          <p:nvPr/>
        </p:nvSpPr>
        <p:spPr>
          <a:xfrm>
            <a:off x="311700" y="2126148"/>
            <a:ext cx="3900000" cy="25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lang="pt-BR" sz="1000" b="1" i="0">
                <a:solidFill>
                  <a:srgbClr val="2371FF"/>
                </a:solidFill>
                <a:latin typeface="Ubuntu Medium"/>
              </a:rPr>
              <a:t>Passo a passo</a:t>
            </a:r>
          </a:p>
          <a:p>
            <a:pPr algn="l">
              <a:lnSpc>
                <a:spcPct val="110000"/>
              </a:lnSpc>
            </a:pPr>
            <a:r>
              <a:rPr lang="pt-BR" sz="400" b="0" i="0">
                <a:solidFill>
                  <a:srgbClr val="181C23"/>
                </a:solidFill>
                <a:latin typeface="Ubuntu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lang="pt-BR" sz="1150" b="0" i="0">
                <a:solidFill>
                  <a:srgbClr val="181C23"/>
                </a:solidFill>
                <a:latin typeface="Ubuntu"/>
              </a:rPr>
              <a:t>1 · Escreva o nginx.conf com os upstreams e as rotas /api.</a:t>
            </a:r>
          </a:p>
          <a:p>
            <a:pPr algn="l">
              <a:lnSpc>
                <a:spcPct val="110000"/>
              </a:lnSpc>
            </a:pPr>
            <a:r>
              <a:rPr lang="pt-BR" sz="400" b="0" i="0">
                <a:solidFill>
                  <a:srgbClr val="181C23"/>
                </a:solidFill>
                <a:latin typeface="Ubuntu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lang="pt-BR" sz="1150" b="0" i="0">
                <a:solidFill>
                  <a:srgbClr val="181C23"/>
                </a:solidFill>
                <a:latin typeface="Ubuntu"/>
              </a:rPr>
              <a:t>2 · Crie a imagem do gateway a partir do nginx:alpine.</a:t>
            </a:r>
          </a:p>
          <a:p>
            <a:pPr algn="l">
              <a:lnSpc>
                <a:spcPct val="110000"/>
              </a:lnSpc>
            </a:pPr>
            <a:r>
              <a:rPr lang="pt-BR" sz="400" b="0" i="0">
                <a:solidFill>
                  <a:srgbClr val="181C23"/>
                </a:solidFill>
                <a:latin typeface="Ubuntu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lang="pt-BR" sz="1150" b="0" i="0">
                <a:solidFill>
                  <a:srgbClr val="181C23"/>
                </a:solidFill>
                <a:latin typeface="Ubuntu"/>
              </a:rPr>
              <a:t>3 · Publique apenas a porta 8080 do gateway.</a:t>
            </a:r>
          </a:p>
          <a:p>
            <a:pPr algn="l">
              <a:lnSpc>
                <a:spcPct val="110000"/>
              </a:lnSpc>
            </a:pPr>
            <a:r>
              <a:rPr lang="pt-BR" sz="400" b="0" i="0">
                <a:solidFill>
                  <a:srgbClr val="181C23"/>
                </a:solidFill>
                <a:latin typeface="Ubuntu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lang="pt-BR" sz="1150" b="0" i="0">
                <a:solidFill>
                  <a:srgbClr val="181C23"/>
                </a:solidFill>
                <a:latin typeface="Ubuntu"/>
              </a:rPr>
              <a:t>4 · Coloque todos os containers na mesma rede Docker.</a:t>
            </a:r>
          </a:p>
        </p:txBody>
      </p:sp>
      <p:sp>
        <p:nvSpPr>
          <p:cNvPr id="20" name="CodeCard"/>
          <p:cNvSpPr/>
          <p:nvPr/>
        </p:nvSpPr>
        <p:spPr>
          <a:xfrm>
            <a:off x="4431700" y="2126148"/>
            <a:ext cx="4400600" cy="2450000"/>
          </a:xfrm>
          <a:prstGeom prst="roundRect">
            <a:avLst>
              <a:gd name="adj" fmla="val 3000"/>
            </a:avLst>
          </a:prstGeom>
          <a:solidFill>
            <a:srgbClr val="181C2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odeBar"/>
          <p:cNvSpPr/>
          <p:nvPr/>
        </p:nvSpPr>
        <p:spPr>
          <a:xfrm>
            <a:off x="4431700" y="2126148"/>
            <a:ext cx="4400600" cy="260000"/>
          </a:xfrm>
          <a:prstGeom prst="roundRect">
            <a:avLst>
              <a:gd name="adj" fmla="val 3000"/>
            </a:avLst>
          </a:prstGeom>
          <a:solidFill>
            <a:srgbClr val="2A2F3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2"/>
          <p:cNvSpPr/>
          <p:nvPr/>
        </p:nvSpPr>
        <p:spPr>
          <a:xfrm>
            <a:off x="4581700" y="2206148"/>
            <a:ext cx="100000" cy="100000"/>
          </a:xfrm>
          <a:prstGeom prst="ellipse">
            <a:avLst/>
          </a:prstGeom>
          <a:solidFill>
            <a:srgbClr val="FF234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3"/>
          <p:cNvSpPr/>
          <p:nvPr/>
        </p:nvSpPr>
        <p:spPr>
          <a:xfrm>
            <a:off x="4781700" y="2206148"/>
            <a:ext cx="100000" cy="10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4"/>
          <p:cNvSpPr/>
          <p:nvPr/>
        </p:nvSpPr>
        <p:spPr>
          <a:xfrm>
            <a:off x="4981700" y="2206148"/>
            <a:ext cx="100000" cy="100000"/>
          </a:xfrm>
          <a:prstGeom prst="ellipse">
            <a:avLst/>
          </a:prstGeom>
          <a:solidFill>
            <a:srgbClr val="2371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CodeLabel"/>
          <p:cNvSpPr txBox="1"/>
          <p:nvPr/>
        </p:nvSpPr>
        <p:spPr>
          <a:xfrm>
            <a:off x="4431700" y="2126148"/>
            <a:ext cx="4400600" cy="2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</a:pPr>
            <a:r>
              <a:rPr lang="pt-BR" sz="900" b="0" i="0">
                <a:solidFill>
                  <a:srgbClr val="6A707D"/>
                </a:solidFill>
                <a:latin typeface="Fira Code"/>
              </a:rPr>
              <a:t>estrutura do projeto</a:t>
            </a:r>
          </a:p>
        </p:txBody>
      </p:sp>
      <p:sp>
        <p:nvSpPr>
          <p:cNvPr id="26" name="CodeText"/>
          <p:cNvSpPr txBox="1"/>
          <p:nvPr/>
        </p:nvSpPr>
        <p:spPr>
          <a:xfrm>
            <a:off x="4631700" y="2526148"/>
            <a:ext cx="4000600" cy="19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pt-BR" sz="950" b="0" i="0" dirty="0">
                <a:solidFill>
                  <a:srgbClr val="A6F750"/>
                </a:solidFill>
                <a:latin typeface="Fira Code"/>
              </a:rPr>
              <a:t>projeto/</a:t>
            </a:r>
          </a:p>
          <a:p>
            <a:pPr algn="l">
              <a:lnSpc>
                <a:spcPct val="112000"/>
              </a:lnSpc>
            </a:pPr>
            <a:r>
              <a:rPr lang="pt-BR" sz="950" b="0" i="0" dirty="0">
                <a:solidFill>
                  <a:srgbClr val="A6F750"/>
                </a:solidFill>
                <a:latin typeface="Fira Code"/>
              </a:rPr>
              <a:t>├── docker-compose.yml</a:t>
            </a:r>
          </a:p>
          <a:p>
            <a:pPr algn="l">
              <a:lnSpc>
                <a:spcPct val="112000"/>
              </a:lnSpc>
            </a:pPr>
            <a:r>
              <a:rPr lang="pt-BR" sz="950" b="0" i="0" dirty="0">
                <a:solidFill>
                  <a:srgbClr val="A6F750"/>
                </a:solidFill>
                <a:latin typeface="Fira Code"/>
              </a:rPr>
              <a:t>├── gateway/</a:t>
            </a:r>
          </a:p>
          <a:p>
            <a:pPr algn="l">
              <a:lnSpc>
                <a:spcPct val="112000"/>
              </a:lnSpc>
            </a:pPr>
            <a:r>
              <a:rPr lang="pt-BR" sz="950" b="0" i="0" dirty="0">
                <a:solidFill>
                  <a:srgbClr val="A6F750"/>
                </a:solidFill>
                <a:latin typeface="Fira Code"/>
              </a:rPr>
              <a:t>│   ├── Dockerfile</a:t>
            </a:r>
          </a:p>
          <a:p>
            <a:pPr algn="l">
              <a:lnSpc>
                <a:spcPct val="112000"/>
              </a:lnSpc>
            </a:pPr>
            <a:r>
              <a:rPr lang="pt-BR" sz="950" b="0" i="0" dirty="0">
                <a:solidFill>
                  <a:srgbClr val="A6F750"/>
                </a:solidFill>
                <a:latin typeface="Fira Code"/>
              </a:rPr>
              <a:t>│   └── nginx.conf</a:t>
            </a:r>
          </a:p>
          <a:p>
            <a:pPr algn="l">
              <a:lnSpc>
                <a:spcPct val="112000"/>
              </a:lnSpc>
            </a:pPr>
            <a:r>
              <a:rPr lang="pt-BR" sz="950" b="0" i="0" dirty="0">
                <a:solidFill>
                  <a:srgbClr val="A6F750"/>
                </a:solidFill>
                <a:latin typeface="Fira Code"/>
              </a:rPr>
              <a:t>├── messages/</a:t>
            </a:r>
          </a:p>
          <a:p>
            <a:pPr algn="l">
              <a:lnSpc>
                <a:spcPct val="112000"/>
              </a:lnSpc>
            </a:pPr>
            <a:r>
              <a:rPr lang="pt-BR" sz="950" b="0" i="0" dirty="0">
                <a:solidFill>
                  <a:srgbClr val="A6F750"/>
                </a:solidFill>
                <a:latin typeface="Fira Code"/>
              </a:rPr>
              <a:t>└── payments/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04 — Proxy Reverso e DNS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500" b="9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MÃO NA MASSA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40011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pt-BR" sz="2400" b="0" i="0">
                <a:solidFill>
                  <a:srgbClr val="181C23"/>
                </a:solidFill>
                <a:latin typeface="Ubuntu Medium"/>
              </a:rPr>
              <a:t>O arquivo nginx.conf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1700" y="1746148"/>
            <a:ext cx="8520600" cy="19127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pt-BR" sz="1300" b="0" i="0">
                <a:solidFill>
                  <a:srgbClr val="6A707D"/>
                </a:solidFill>
                <a:latin typeface="Ubuntu"/>
              </a:rPr>
              <a:t>Cada upstream aponta para o nome do container; o location repassa o caminho.</a:t>
            </a:r>
          </a:p>
        </p:txBody>
      </p:sp>
      <p:sp>
        <p:nvSpPr>
          <p:cNvPr id="20" name="CodeCard"/>
          <p:cNvSpPr/>
          <p:nvPr/>
        </p:nvSpPr>
        <p:spPr>
          <a:xfrm>
            <a:off x="311700" y="2126148"/>
            <a:ext cx="8520600" cy="2300000"/>
          </a:xfrm>
          <a:prstGeom prst="roundRect">
            <a:avLst>
              <a:gd name="adj" fmla="val 3000"/>
            </a:avLst>
          </a:prstGeom>
          <a:solidFill>
            <a:srgbClr val="181C2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odeBar"/>
          <p:cNvSpPr/>
          <p:nvPr/>
        </p:nvSpPr>
        <p:spPr>
          <a:xfrm>
            <a:off x="311700" y="2126148"/>
            <a:ext cx="8520600" cy="260000"/>
          </a:xfrm>
          <a:prstGeom prst="roundRect">
            <a:avLst>
              <a:gd name="adj" fmla="val 3000"/>
            </a:avLst>
          </a:prstGeom>
          <a:solidFill>
            <a:srgbClr val="2A2F3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2"/>
          <p:cNvSpPr/>
          <p:nvPr/>
        </p:nvSpPr>
        <p:spPr>
          <a:xfrm>
            <a:off x="461700" y="2206148"/>
            <a:ext cx="100000" cy="100000"/>
          </a:xfrm>
          <a:prstGeom prst="ellipse">
            <a:avLst/>
          </a:prstGeom>
          <a:solidFill>
            <a:srgbClr val="FF234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3"/>
          <p:cNvSpPr/>
          <p:nvPr/>
        </p:nvSpPr>
        <p:spPr>
          <a:xfrm>
            <a:off x="661700" y="2206148"/>
            <a:ext cx="100000" cy="10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4"/>
          <p:cNvSpPr/>
          <p:nvPr/>
        </p:nvSpPr>
        <p:spPr>
          <a:xfrm>
            <a:off x="861700" y="2206148"/>
            <a:ext cx="100000" cy="100000"/>
          </a:xfrm>
          <a:prstGeom prst="ellipse">
            <a:avLst/>
          </a:prstGeom>
          <a:solidFill>
            <a:srgbClr val="2371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CodeLabel"/>
          <p:cNvSpPr txBox="1"/>
          <p:nvPr/>
        </p:nvSpPr>
        <p:spPr>
          <a:xfrm>
            <a:off x="311700" y="2126148"/>
            <a:ext cx="8520600" cy="2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</a:pPr>
            <a:r>
              <a:rPr lang="pt-BR" sz="900" b="0" i="0">
                <a:solidFill>
                  <a:srgbClr val="6A707D"/>
                </a:solidFill>
                <a:latin typeface="Fira Code"/>
              </a:rPr>
              <a:t>gateway/nginx.conf</a:t>
            </a:r>
          </a:p>
        </p:txBody>
      </p:sp>
      <p:sp>
        <p:nvSpPr>
          <p:cNvPr id="26" name="CodeText"/>
          <p:cNvSpPr txBox="1"/>
          <p:nvPr/>
        </p:nvSpPr>
        <p:spPr>
          <a:xfrm>
            <a:off x="511700" y="2526148"/>
            <a:ext cx="8120600" cy="20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pt-BR" sz="750" b="0" i="0">
                <a:solidFill>
                  <a:srgbClr val="A6F750"/>
                </a:solidFill>
                <a:latin typeface="Fira Code"/>
              </a:rPr>
              <a:t>upstream messages { server messages:3000; }</a:t>
            </a:r>
          </a:p>
          <a:p>
            <a:pPr algn="l">
              <a:lnSpc>
                <a:spcPct val="112000"/>
              </a:lnSpc>
            </a:pPr>
            <a:r>
              <a:rPr lang="pt-BR" sz="750" b="0" i="0">
                <a:solidFill>
                  <a:srgbClr val="A6F750"/>
                </a:solidFill>
                <a:latin typeface="Fira Code"/>
              </a:rPr>
              <a:t>upstream payments { server payments:4000; }</a:t>
            </a:r>
          </a:p>
          <a:p>
            <a:pPr algn="l">
              <a:lnSpc>
                <a:spcPct val="112000"/>
              </a:lnSpc>
            </a:pPr>
            <a:r>
              <a:rPr lang="pt-BR" sz="750" b="0" i="0">
                <a:solidFill>
                  <a:srgbClr val="181C23"/>
                </a:solidFill>
                <a:latin typeface="Fira Code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lang="pt-BR" sz="750" b="0" i="0">
                <a:solidFill>
                  <a:srgbClr val="A6F750"/>
                </a:solidFill>
                <a:latin typeface="Fira Code"/>
              </a:rPr>
              <a:t>server {</a:t>
            </a:r>
          </a:p>
          <a:p>
            <a:pPr algn="l">
              <a:lnSpc>
                <a:spcPct val="112000"/>
              </a:lnSpc>
            </a:pPr>
            <a:r>
              <a:rPr lang="pt-BR" sz="750" b="0" i="0">
                <a:solidFill>
                  <a:srgbClr val="A6F750"/>
                </a:solidFill>
                <a:latin typeface="Fira Code"/>
              </a:rPr>
              <a:t>    listen 8080;</a:t>
            </a:r>
          </a:p>
          <a:p>
            <a:pPr algn="l">
              <a:lnSpc>
                <a:spcPct val="112000"/>
              </a:lnSpc>
            </a:pPr>
            <a:r>
              <a:rPr lang="pt-BR" sz="750" b="0" i="0">
                <a:solidFill>
                  <a:srgbClr val="181C23"/>
                </a:solidFill>
                <a:latin typeface="Fira Code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lang="pt-BR" sz="750" b="0" i="0">
                <a:solidFill>
                  <a:srgbClr val="A6F750"/>
                </a:solidFill>
                <a:latin typeface="Fira Code"/>
              </a:rPr>
              <a:t>    location /api/messages/ {</a:t>
            </a:r>
          </a:p>
          <a:p>
            <a:pPr algn="l">
              <a:lnSpc>
                <a:spcPct val="112000"/>
              </a:lnSpc>
            </a:pPr>
            <a:r>
              <a:rPr lang="pt-BR" sz="750" b="0" i="0">
                <a:solidFill>
                  <a:srgbClr val="A6F750"/>
                </a:solidFill>
                <a:latin typeface="Fira Code"/>
              </a:rPr>
              <a:t>        proxy_pass http://messages/;</a:t>
            </a:r>
          </a:p>
          <a:p>
            <a:pPr algn="l">
              <a:lnSpc>
                <a:spcPct val="112000"/>
              </a:lnSpc>
            </a:pPr>
            <a:r>
              <a:rPr lang="pt-BR" sz="750" b="0" i="0">
                <a:solidFill>
                  <a:srgbClr val="A6F750"/>
                </a:solidFill>
                <a:latin typeface="Fira Code"/>
              </a:rPr>
              <a:t>        proxy_set_header Host $host;</a:t>
            </a:r>
          </a:p>
          <a:p>
            <a:pPr algn="l">
              <a:lnSpc>
                <a:spcPct val="112000"/>
              </a:lnSpc>
            </a:pPr>
            <a:r>
              <a:rPr lang="pt-BR" sz="750" b="0" i="0">
                <a:solidFill>
                  <a:srgbClr val="A6F750"/>
                </a:solidFill>
                <a:latin typeface="Fira Code"/>
              </a:rPr>
              <a:t>    }</a:t>
            </a:r>
          </a:p>
          <a:p>
            <a:pPr algn="l">
              <a:lnSpc>
                <a:spcPct val="112000"/>
              </a:lnSpc>
            </a:pPr>
            <a:r>
              <a:rPr lang="pt-BR" sz="750" b="0" i="0">
                <a:solidFill>
                  <a:srgbClr val="181C23"/>
                </a:solidFill>
                <a:latin typeface="Fira Code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lang="pt-BR" sz="750" b="0" i="0">
                <a:solidFill>
                  <a:srgbClr val="A6F750"/>
                </a:solidFill>
                <a:latin typeface="Fira Code"/>
              </a:rPr>
              <a:t>    location /api/payments/ {</a:t>
            </a:r>
          </a:p>
          <a:p>
            <a:pPr algn="l">
              <a:lnSpc>
                <a:spcPct val="112000"/>
              </a:lnSpc>
            </a:pPr>
            <a:r>
              <a:rPr lang="pt-BR" sz="750" b="0" i="0">
                <a:solidFill>
                  <a:srgbClr val="A6F750"/>
                </a:solidFill>
                <a:latin typeface="Fira Code"/>
              </a:rPr>
              <a:t>        proxy_pass http://payments/;</a:t>
            </a:r>
          </a:p>
          <a:p>
            <a:pPr algn="l">
              <a:lnSpc>
                <a:spcPct val="112000"/>
              </a:lnSpc>
            </a:pPr>
            <a:r>
              <a:rPr lang="pt-BR" sz="750" b="0" i="0">
                <a:solidFill>
                  <a:srgbClr val="A6F750"/>
                </a:solidFill>
                <a:latin typeface="Fira Code"/>
              </a:rPr>
              <a:t>    }</a:t>
            </a:r>
          </a:p>
          <a:p>
            <a:pPr algn="l">
              <a:lnSpc>
                <a:spcPct val="112000"/>
              </a:lnSpc>
            </a:pPr>
            <a:r>
              <a:rPr lang="pt-BR" sz="750" b="0" i="0">
                <a:solidFill>
                  <a:srgbClr val="A6F750"/>
                </a:solidFill>
                <a:latin typeface="Fira Code"/>
              </a:rP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04 — Proxy Reverso e DNS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500" b="9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REDE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40011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pt-BR" sz="2400" b="0" i="0">
                <a:solidFill>
                  <a:srgbClr val="181C23"/>
                </a:solidFill>
                <a:latin typeface="Ubuntu Medium"/>
              </a:rPr>
              <a:t>Rede Docker: só o gateway é exposto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1700" y="1746148"/>
            <a:ext cx="8520600" cy="19127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pt-BR" sz="1300" b="0" i="0">
                <a:solidFill>
                  <a:srgbClr val="6A707D"/>
                </a:solidFill>
                <a:latin typeface="Ubuntu"/>
              </a:rPr>
              <a:t>Sem portas publicadas, as APIs existem apenas dentro da rede interna.</a:t>
            </a:r>
          </a:p>
        </p:txBody>
      </p:sp>
      <p:sp>
        <p:nvSpPr>
          <p:cNvPr id="7" name="Net"/>
          <p:cNvSpPr txBox="1"/>
          <p:nvPr/>
        </p:nvSpPr>
        <p:spPr>
          <a:xfrm>
            <a:off x="311700" y="2126148"/>
            <a:ext cx="4100000" cy="25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lang="pt-BR" sz="1000" b="1" i="0" dirty="0">
                <a:solidFill>
                  <a:srgbClr val="2371FF"/>
                </a:solidFill>
                <a:latin typeface="Ubuntu Medium"/>
              </a:rPr>
              <a:t>Isolando as APIs</a:t>
            </a:r>
          </a:p>
          <a:p>
            <a:pPr algn="l">
              <a:lnSpc>
                <a:spcPct val="110000"/>
              </a:lnSpc>
            </a:pPr>
            <a:r>
              <a:rPr lang="pt-BR" sz="400" b="0" i="0" dirty="0">
                <a:solidFill>
                  <a:srgbClr val="181C23"/>
                </a:solidFill>
                <a:latin typeface="Ubuntu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lang="pt-BR" sz="1100" b="0" i="0" dirty="0">
                <a:solidFill>
                  <a:srgbClr val="181C23"/>
                </a:solidFill>
                <a:latin typeface="Ubuntu"/>
              </a:rPr>
              <a:t>Crie uma rede bridge própria: os containers se enxergam pelo nome do serviço.</a:t>
            </a:r>
          </a:p>
          <a:p>
            <a:pPr algn="l">
              <a:lnSpc>
                <a:spcPct val="110000"/>
              </a:lnSpc>
            </a:pPr>
            <a:r>
              <a:rPr lang="pt-BR" sz="400" b="0" i="0" dirty="0">
                <a:solidFill>
                  <a:srgbClr val="181C23"/>
                </a:solidFill>
                <a:latin typeface="Ubuntu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lang="pt-BR" sz="1100" b="0" i="0" dirty="0">
                <a:solidFill>
                  <a:srgbClr val="181C23"/>
                </a:solidFill>
                <a:latin typeface="Ubuntu"/>
              </a:rPr>
              <a:t>Só o gateway publica portas (8080:80) para o host.</a:t>
            </a:r>
          </a:p>
          <a:p>
            <a:pPr algn="l">
              <a:lnSpc>
                <a:spcPct val="110000"/>
              </a:lnSpc>
            </a:pPr>
            <a:r>
              <a:rPr lang="pt-BR" sz="400" b="0" i="0" dirty="0">
                <a:solidFill>
                  <a:srgbClr val="181C23"/>
                </a:solidFill>
                <a:latin typeface="Ubuntu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lang="pt-BR" sz="1100" b="0" i="0" dirty="0">
                <a:solidFill>
                  <a:srgbClr val="181C23"/>
                </a:solidFill>
                <a:latin typeface="Ubuntu"/>
              </a:rPr>
              <a:t>As APIs não publicam nada — usam expose e ficam invisíveis de fora.</a:t>
            </a:r>
          </a:p>
          <a:p>
            <a:pPr algn="l">
              <a:lnSpc>
                <a:spcPct val="110000"/>
              </a:lnSpc>
            </a:pPr>
            <a:r>
              <a:rPr lang="pt-BR" sz="400" b="0" i="0" dirty="0">
                <a:solidFill>
                  <a:srgbClr val="181C23"/>
                </a:solidFill>
                <a:latin typeface="Ubuntu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lang="pt-BR" sz="1100" b="0" i="0" dirty="0">
                <a:solidFill>
                  <a:srgbClr val="181C23"/>
                </a:solidFill>
                <a:latin typeface="Ubuntu"/>
              </a:rPr>
              <a:t>Resultado: a única porta de entrada é o proxy reverso.</a:t>
            </a:r>
          </a:p>
        </p:txBody>
      </p:sp>
      <p:pic>
        <p:nvPicPr>
          <p:cNvPr id="60" name="Diagrama de rede" descr="Diagrama: gateway na frente e duas APIs dentro da rede intern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686" y="2160000"/>
            <a:ext cx="3906027" cy="2373797"/>
          </a:xfrm>
          <a:prstGeom prst="rect">
            <a:avLst/>
          </a:prstGeom>
        </p:spPr>
      </p:pic>
      <p:sp>
        <p:nvSpPr>
          <p:cNvPr id="61" name="Legenda"/>
          <p:cNvSpPr txBox="1"/>
          <p:nvPr/>
        </p:nvSpPr>
        <p:spPr>
          <a:xfrm>
            <a:off x="4731700" y="4570000"/>
            <a:ext cx="3950000" cy="2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pt-BR" sz="850" b="0" i="0">
                <a:solidFill>
                  <a:srgbClr val="6A707D"/>
                </a:solidFill>
                <a:latin typeface="Ubuntu"/>
              </a:rPr>
              <a:t>Cliente → gateway (8080) → APIs na rede interna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04 — Proxy Reverso e DNS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500" b="9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DOCKER COMPOSE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40011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pt-BR" sz="2400" b="0" i="0">
                <a:solidFill>
                  <a:srgbClr val="181C23"/>
                </a:solidFill>
                <a:latin typeface="Ubuntu Medium"/>
              </a:rPr>
              <a:t>Toda a topologia em um docker-compose.yml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1700" y="1746148"/>
            <a:ext cx="8520600" cy="19127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pt-BR" sz="1300" b="0" i="0">
                <a:solidFill>
                  <a:srgbClr val="6A707D"/>
                </a:solidFill>
                <a:latin typeface="Ubuntu"/>
              </a:rPr>
              <a:t>Um arquivo descreve serviços, rede e dependências da aplicação.</a:t>
            </a:r>
          </a:p>
        </p:txBody>
      </p:sp>
      <p:sp>
        <p:nvSpPr>
          <p:cNvPr id="7" name="Why"/>
          <p:cNvSpPr txBox="1"/>
          <p:nvPr/>
        </p:nvSpPr>
        <p:spPr>
          <a:xfrm>
            <a:off x="311700" y="2126148"/>
            <a:ext cx="3900000" cy="25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lang="pt-BR" sz="1000" b="1" i="0" dirty="0">
                <a:solidFill>
                  <a:srgbClr val="2371FF"/>
                </a:solidFill>
                <a:latin typeface="Ubuntu Medium"/>
              </a:rPr>
              <a:t>Por que usar Compose</a:t>
            </a:r>
          </a:p>
          <a:p>
            <a:pPr algn="l">
              <a:lnSpc>
                <a:spcPct val="110000"/>
              </a:lnSpc>
            </a:pPr>
            <a:r>
              <a:rPr lang="pt-BR" sz="400" b="0" i="0" dirty="0">
                <a:solidFill>
                  <a:srgbClr val="181C23"/>
                </a:solidFill>
                <a:latin typeface="Ubuntu"/>
              </a:rPr>
              <a:t> </a:t>
            </a:r>
          </a:p>
          <a:p>
            <a:pPr marL="171450" indent="-171450" algn="l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pt-BR" sz="1100" b="1" i="0" dirty="0">
                <a:solidFill>
                  <a:srgbClr val="181C23"/>
                </a:solidFill>
                <a:latin typeface="Ubuntu"/>
              </a:rPr>
              <a:t>Reprodutível</a:t>
            </a:r>
            <a:r>
              <a:rPr lang="pt-BR" sz="1100" b="0" i="0" dirty="0">
                <a:solidFill>
                  <a:srgbClr val="181C23"/>
                </a:solidFill>
                <a:latin typeface="Ubuntu"/>
              </a:rPr>
              <a:t>: o ambiente inteiro sobe com um docker compose up.</a:t>
            </a:r>
            <a:endParaRPr lang="pt-BR" sz="400" b="0" i="0" dirty="0">
              <a:solidFill>
                <a:srgbClr val="181C23"/>
              </a:solidFill>
              <a:latin typeface="Ubuntu"/>
            </a:endParaRPr>
          </a:p>
          <a:p>
            <a:pPr marL="171450" indent="-171450" algn="l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pt-BR" sz="1100" b="0" i="0" dirty="0">
                <a:solidFill>
                  <a:srgbClr val="181C23"/>
                </a:solidFill>
                <a:latin typeface="Ubuntu"/>
              </a:rPr>
              <a:t>A </a:t>
            </a:r>
            <a:r>
              <a:rPr lang="pt-BR" sz="1100" b="1" i="0" dirty="0">
                <a:solidFill>
                  <a:srgbClr val="181C23"/>
                </a:solidFill>
                <a:latin typeface="Ubuntu"/>
              </a:rPr>
              <a:t>rede</a:t>
            </a:r>
            <a:r>
              <a:rPr lang="pt-BR" sz="1100" b="0" i="0" dirty="0">
                <a:solidFill>
                  <a:srgbClr val="181C23"/>
                </a:solidFill>
                <a:latin typeface="Ubuntu"/>
              </a:rPr>
              <a:t> e o </a:t>
            </a:r>
            <a:r>
              <a:rPr lang="pt-BR" sz="1100" b="1" i="0" dirty="0">
                <a:solidFill>
                  <a:srgbClr val="181C23"/>
                </a:solidFill>
                <a:latin typeface="Ubuntu"/>
              </a:rPr>
              <a:t>DNS</a:t>
            </a:r>
            <a:r>
              <a:rPr lang="pt-BR" sz="1100" b="0" i="0" dirty="0">
                <a:solidFill>
                  <a:srgbClr val="181C23"/>
                </a:solidFill>
                <a:latin typeface="Ubuntu"/>
              </a:rPr>
              <a:t> interno dos serviços são criados automaticamente.</a:t>
            </a:r>
            <a:endParaRPr lang="pt-BR" sz="400" b="0" i="0" dirty="0">
              <a:solidFill>
                <a:srgbClr val="181C23"/>
              </a:solidFill>
              <a:latin typeface="Ubuntu"/>
            </a:endParaRPr>
          </a:p>
          <a:p>
            <a:pPr marL="171450" indent="-171450" algn="l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pt-BR" sz="1100" b="1" i="0" dirty="0">
                <a:solidFill>
                  <a:srgbClr val="181C23"/>
                </a:solidFill>
                <a:latin typeface="Ubuntu"/>
              </a:rPr>
              <a:t>depends_on</a:t>
            </a:r>
            <a:r>
              <a:rPr lang="pt-BR" sz="1100" b="0" i="0" dirty="0">
                <a:solidFill>
                  <a:srgbClr val="181C23"/>
                </a:solidFill>
                <a:latin typeface="Ubuntu"/>
              </a:rPr>
              <a:t> organiza a ordem de subida dos containers.</a:t>
            </a:r>
            <a:endParaRPr lang="pt-BR" sz="400" b="0" i="0" dirty="0">
              <a:solidFill>
                <a:srgbClr val="181C23"/>
              </a:solidFill>
              <a:latin typeface="Ubuntu"/>
            </a:endParaRPr>
          </a:p>
          <a:p>
            <a:pPr marL="171450" indent="-171450" algn="l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pt-BR" sz="1100" b="1" i="0" dirty="0">
                <a:solidFill>
                  <a:srgbClr val="181C23"/>
                </a:solidFill>
                <a:latin typeface="Ubuntu"/>
              </a:rPr>
              <a:t>Infra como código</a:t>
            </a:r>
            <a:r>
              <a:rPr lang="pt-BR" sz="1100" b="0" i="0" dirty="0">
                <a:solidFill>
                  <a:srgbClr val="181C23"/>
                </a:solidFill>
                <a:latin typeface="Ubuntu"/>
              </a:rPr>
              <a:t>: tudo versionado no Git junto do projeto.</a:t>
            </a:r>
          </a:p>
        </p:txBody>
      </p:sp>
      <p:sp>
        <p:nvSpPr>
          <p:cNvPr id="20" name="CodeCard"/>
          <p:cNvSpPr/>
          <p:nvPr/>
        </p:nvSpPr>
        <p:spPr>
          <a:xfrm>
            <a:off x="4431700" y="2126149"/>
            <a:ext cx="4400600" cy="2500000"/>
          </a:xfrm>
          <a:prstGeom prst="roundRect">
            <a:avLst>
              <a:gd name="adj" fmla="val 3000"/>
            </a:avLst>
          </a:prstGeom>
          <a:solidFill>
            <a:srgbClr val="181C2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odeBar"/>
          <p:cNvSpPr/>
          <p:nvPr/>
        </p:nvSpPr>
        <p:spPr>
          <a:xfrm>
            <a:off x="4431700" y="2126148"/>
            <a:ext cx="4400600" cy="260000"/>
          </a:xfrm>
          <a:prstGeom prst="roundRect">
            <a:avLst>
              <a:gd name="adj" fmla="val 3000"/>
            </a:avLst>
          </a:prstGeom>
          <a:solidFill>
            <a:srgbClr val="2A2F3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2"/>
          <p:cNvSpPr/>
          <p:nvPr/>
        </p:nvSpPr>
        <p:spPr>
          <a:xfrm>
            <a:off x="4581700" y="2206148"/>
            <a:ext cx="100000" cy="100000"/>
          </a:xfrm>
          <a:prstGeom prst="ellipse">
            <a:avLst/>
          </a:prstGeom>
          <a:solidFill>
            <a:srgbClr val="FF234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3"/>
          <p:cNvSpPr/>
          <p:nvPr/>
        </p:nvSpPr>
        <p:spPr>
          <a:xfrm>
            <a:off x="4781700" y="2206148"/>
            <a:ext cx="100000" cy="10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4"/>
          <p:cNvSpPr/>
          <p:nvPr/>
        </p:nvSpPr>
        <p:spPr>
          <a:xfrm>
            <a:off x="4981700" y="2206148"/>
            <a:ext cx="100000" cy="100000"/>
          </a:xfrm>
          <a:prstGeom prst="ellipse">
            <a:avLst/>
          </a:prstGeom>
          <a:solidFill>
            <a:srgbClr val="2371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CodeLabel"/>
          <p:cNvSpPr txBox="1"/>
          <p:nvPr/>
        </p:nvSpPr>
        <p:spPr>
          <a:xfrm>
            <a:off x="4431700" y="2126148"/>
            <a:ext cx="4400600" cy="2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</a:pPr>
            <a:r>
              <a:rPr lang="pt-BR" sz="900" b="0" i="0">
                <a:solidFill>
                  <a:srgbClr val="6A707D"/>
                </a:solidFill>
                <a:latin typeface="Fira Code"/>
              </a:rPr>
              <a:t>docker-compose.yml</a:t>
            </a:r>
          </a:p>
        </p:txBody>
      </p:sp>
      <p:sp>
        <p:nvSpPr>
          <p:cNvPr id="26" name="CodeText"/>
          <p:cNvSpPr txBox="1"/>
          <p:nvPr/>
        </p:nvSpPr>
        <p:spPr>
          <a:xfrm>
            <a:off x="4631700" y="2448658"/>
            <a:ext cx="4000600" cy="209234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pt-BR" sz="800" b="0" i="0" dirty="0">
                <a:solidFill>
                  <a:srgbClr val="A6F750"/>
                </a:solidFill>
                <a:latin typeface="Fira Code"/>
              </a:rPr>
              <a:t>services:</a:t>
            </a:r>
          </a:p>
          <a:p>
            <a:pPr algn="l">
              <a:lnSpc>
                <a:spcPct val="112000"/>
              </a:lnSpc>
            </a:pPr>
            <a:r>
              <a:rPr lang="pt-BR" sz="800" b="0" i="0" dirty="0">
                <a:solidFill>
                  <a:srgbClr val="A6F750"/>
                </a:solidFill>
                <a:latin typeface="Fira Code"/>
              </a:rPr>
              <a:t>  meu-gateway:</a:t>
            </a:r>
          </a:p>
          <a:p>
            <a:pPr algn="l">
              <a:lnSpc>
                <a:spcPct val="112000"/>
              </a:lnSpc>
            </a:pPr>
            <a:r>
              <a:rPr lang="pt-BR" sz="800" b="0" i="0" dirty="0">
                <a:solidFill>
                  <a:srgbClr val="A6F750"/>
                </a:solidFill>
                <a:latin typeface="Fira Code"/>
              </a:rPr>
              <a:t>    ports: ["8080:80"]</a:t>
            </a:r>
          </a:p>
          <a:p>
            <a:pPr algn="l">
              <a:lnSpc>
                <a:spcPct val="112000"/>
              </a:lnSpc>
            </a:pPr>
            <a:r>
              <a:rPr lang="pt-BR" sz="800" b="0" i="0" dirty="0">
                <a:solidFill>
                  <a:srgbClr val="A6F750"/>
                </a:solidFill>
                <a:latin typeface="Fira Code"/>
              </a:rPr>
              <a:t>    networks: [rede-publica, rede-interna]</a:t>
            </a:r>
          </a:p>
          <a:p>
            <a:pPr algn="l">
              <a:lnSpc>
                <a:spcPct val="112000"/>
              </a:lnSpc>
            </a:pPr>
            <a:r>
              <a:rPr lang="pt-BR" sz="800" b="0" i="0" dirty="0">
                <a:solidFill>
                  <a:srgbClr val="A6F750"/>
                </a:solidFill>
                <a:latin typeface="Fira Code"/>
              </a:rPr>
              <a:t>    depends_on: [messages, payments]</a:t>
            </a:r>
          </a:p>
          <a:p>
            <a:pPr algn="l">
              <a:lnSpc>
                <a:spcPct val="112000"/>
              </a:lnSpc>
            </a:pPr>
            <a:r>
              <a:rPr lang="pt-BR" sz="800" b="0" i="0" dirty="0">
                <a:solidFill>
                  <a:srgbClr val="A6F750"/>
                </a:solidFill>
                <a:latin typeface="Fira Code"/>
              </a:rPr>
              <a:t>  messages:</a:t>
            </a:r>
          </a:p>
          <a:p>
            <a:pPr algn="l">
              <a:lnSpc>
                <a:spcPct val="112000"/>
              </a:lnSpc>
            </a:pPr>
            <a:r>
              <a:rPr lang="pt-BR" sz="800" b="0" i="0" dirty="0">
                <a:solidFill>
                  <a:srgbClr val="A6F750"/>
                </a:solidFill>
                <a:latin typeface="Fira Code"/>
              </a:rPr>
              <a:t>    build: ./messages</a:t>
            </a:r>
          </a:p>
          <a:p>
            <a:pPr>
              <a:lnSpc>
                <a:spcPct val="112000"/>
              </a:lnSpc>
            </a:pPr>
            <a:r>
              <a:rPr lang="pt-BR" sz="800" b="0" i="0" dirty="0">
                <a:solidFill>
                  <a:srgbClr val="A6F750"/>
                </a:solidFill>
                <a:latin typeface="Fira Code"/>
              </a:rPr>
              <a:t>    networks: [</a:t>
            </a:r>
            <a:r>
              <a:rPr lang="pt-BR" sz="800" dirty="0">
                <a:solidFill>
                  <a:srgbClr val="A6F750"/>
                </a:solidFill>
                <a:latin typeface="Fira Code"/>
              </a:rPr>
              <a:t>rede-</a:t>
            </a:r>
            <a:r>
              <a:rPr lang="pt-BR" sz="800" b="0" i="0" dirty="0">
                <a:solidFill>
                  <a:srgbClr val="A6F750"/>
                </a:solidFill>
                <a:latin typeface="Fira Code"/>
              </a:rPr>
              <a:t>interna]</a:t>
            </a:r>
          </a:p>
          <a:p>
            <a:pPr algn="l">
              <a:lnSpc>
                <a:spcPct val="112000"/>
              </a:lnSpc>
            </a:pPr>
            <a:r>
              <a:rPr lang="pt-BR" sz="800" b="0" i="0" dirty="0">
                <a:solidFill>
                  <a:srgbClr val="A6F750"/>
                </a:solidFill>
                <a:latin typeface="Fira Code"/>
              </a:rPr>
              <a:t>  payments:</a:t>
            </a:r>
          </a:p>
          <a:p>
            <a:pPr algn="l">
              <a:lnSpc>
                <a:spcPct val="112000"/>
              </a:lnSpc>
            </a:pPr>
            <a:r>
              <a:rPr lang="pt-BR" sz="800" b="0" i="0" dirty="0">
                <a:solidFill>
                  <a:srgbClr val="A6F750"/>
                </a:solidFill>
                <a:latin typeface="Fira Code"/>
              </a:rPr>
              <a:t>    build: ./payments</a:t>
            </a:r>
          </a:p>
          <a:p>
            <a:pPr>
              <a:lnSpc>
                <a:spcPct val="112000"/>
              </a:lnSpc>
            </a:pPr>
            <a:r>
              <a:rPr lang="pt-BR" sz="800" b="0" i="0" dirty="0">
                <a:solidFill>
                  <a:srgbClr val="A6F750"/>
                </a:solidFill>
                <a:latin typeface="Fira Code"/>
              </a:rPr>
              <a:t>    networks: [</a:t>
            </a:r>
            <a:r>
              <a:rPr lang="pt-BR" sz="800" dirty="0">
                <a:solidFill>
                  <a:srgbClr val="A6F750"/>
                </a:solidFill>
                <a:latin typeface="Fira Code"/>
              </a:rPr>
              <a:t>rede-</a:t>
            </a:r>
            <a:r>
              <a:rPr lang="pt-BR" sz="800" b="0" i="0" dirty="0">
                <a:solidFill>
                  <a:srgbClr val="A6F750"/>
                </a:solidFill>
                <a:latin typeface="Fira Code"/>
              </a:rPr>
              <a:t>interna]</a:t>
            </a:r>
          </a:p>
          <a:p>
            <a:pPr algn="l">
              <a:lnSpc>
                <a:spcPct val="112000"/>
              </a:lnSpc>
            </a:pPr>
            <a:r>
              <a:rPr lang="pt-BR" sz="800" b="0" i="0" dirty="0">
                <a:solidFill>
                  <a:srgbClr val="A6F750"/>
                </a:solidFill>
                <a:latin typeface="Fira Code"/>
              </a:rPr>
              <a:t>networks:</a:t>
            </a:r>
          </a:p>
          <a:p>
            <a:pPr>
              <a:lnSpc>
                <a:spcPct val="112000"/>
              </a:lnSpc>
            </a:pPr>
            <a:r>
              <a:rPr lang="pt-BR" sz="800" dirty="0">
                <a:solidFill>
                  <a:srgbClr val="A6F750"/>
                </a:solidFill>
                <a:latin typeface="Fira Code"/>
              </a:rPr>
              <a:t>  rede-publica:</a:t>
            </a:r>
            <a:endParaRPr lang="pt-BR" sz="800" b="0" i="0" dirty="0">
              <a:solidFill>
                <a:srgbClr val="A6F750"/>
              </a:solidFill>
              <a:latin typeface="Fira Code"/>
            </a:endParaRPr>
          </a:p>
          <a:p>
            <a:pPr>
              <a:lnSpc>
                <a:spcPct val="112000"/>
              </a:lnSpc>
            </a:pPr>
            <a:r>
              <a:rPr lang="pt-BR" sz="800" b="0" i="0" dirty="0">
                <a:solidFill>
                  <a:srgbClr val="A6F750"/>
                </a:solidFill>
                <a:latin typeface="Fira Code"/>
              </a:rPr>
              <a:t>  </a:t>
            </a:r>
            <a:r>
              <a:rPr lang="pt-BR" sz="800" dirty="0">
                <a:solidFill>
                  <a:srgbClr val="A6F750"/>
                </a:solidFill>
                <a:latin typeface="Fira Code"/>
              </a:rPr>
              <a:t>rede-</a:t>
            </a:r>
            <a:r>
              <a:rPr lang="pt-BR" sz="800" b="0" i="0" dirty="0">
                <a:solidFill>
                  <a:srgbClr val="A6F750"/>
                </a:solidFill>
                <a:latin typeface="Fira Code"/>
              </a:rPr>
              <a:t>interna:</a:t>
            </a:r>
          </a:p>
          <a:p>
            <a:pPr algn="l">
              <a:lnSpc>
                <a:spcPct val="112000"/>
              </a:lnSpc>
            </a:pPr>
            <a:r>
              <a:rPr lang="pt-BR" sz="800" b="0" i="0" dirty="0">
                <a:solidFill>
                  <a:srgbClr val="A6F750"/>
                </a:solidFill>
                <a:latin typeface="Fira Code"/>
              </a:rPr>
              <a:t>    internal: true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04 — Proxy Reverso e DNS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500" b="9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MÃO NA MASSA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 dirty="0">
                <a:solidFill>
                  <a:srgbClr val="181C23"/>
                </a:solidFill>
                <a:latin typeface="Ubuntu Medium"/>
              </a:rPr>
              <a:t>Proxy Reverso </a:t>
            </a:r>
            <a:r>
              <a:rPr lang="pt-PT" sz="2600" b="0" i="0" dirty="0">
                <a:solidFill>
                  <a:srgbClr val="181C23"/>
                </a:solidFill>
                <a:latin typeface="Ubuntu Medium"/>
              </a:rPr>
              <a:t>e </a:t>
            </a:r>
            <a:r>
              <a:rPr lang="pt-PT" sz="2600" b="0" i="0" dirty="0" err="1">
                <a:solidFill>
                  <a:srgbClr val="181C23"/>
                </a:solidFill>
                <a:latin typeface="Ubuntu Medium"/>
              </a:rPr>
              <a:t>APIs</a:t>
            </a:r>
            <a:endParaRPr sz="2600" b="0" i="0" dirty="0">
              <a:solidFill>
                <a:srgbClr val="181C23"/>
              </a:solidFill>
              <a:latin typeface="Ubuntu Medium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1700" y="1746148"/>
            <a:ext cx="8520600" cy="191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PT" sz="1300" b="0" i="0" dirty="0">
                <a:solidFill>
                  <a:srgbClr val="6A707D"/>
                </a:solidFill>
                <a:latin typeface="Ubuntu"/>
              </a:rPr>
              <a:t>Crie </a:t>
            </a:r>
            <a:r>
              <a:rPr sz="1300" b="0" i="0" dirty="0">
                <a:solidFill>
                  <a:srgbClr val="6A707D"/>
                </a:solidFill>
                <a:latin typeface="Ubuntu"/>
              </a:rPr>
              <a:t>um </a:t>
            </a:r>
            <a:r>
              <a:rPr lang="pt-PT" sz="1300" b="0" i="0" dirty="0">
                <a:solidFill>
                  <a:srgbClr val="6A707D"/>
                </a:solidFill>
                <a:latin typeface="Ubuntu"/>
              </a:rPr>
              <a:t>proxy reverso que recebe todas as requisições de duas </a:t>
            </a:r>
            <a:r>
              <a:rPr lang="pt-PT" sz="1300" b="0" i="0" dirty="0" err="1">
                <a:solidFill>
                  <a:srgbClr val="6A707D"/>
                </a:solidFill>
                <a:latin typeface="Ubuntu"/>
              </a:rPr>
              <a:t>APIs</a:t>
            </a:r>
            <a:r>
              <a:rPr lang="pt-PT" sz="1300" b="0" i="0" dirty="0">
                <a:solidFill>
                  <a:srgbClr val="6A707D"/>
                </a:solidFill>
                <a:latin typeface="Ubuntu"/>
              </a:rPr>
              <a:t>, </a:t>
            </a:r>
            <a:r>
              <a:rPr sz="1300" b="0" i="0" dirty="0" err="1">
                <a:solidFill>
                  <a:srgbClr val="6A707D"/>
                </a:solidFill>
                <a:latin typeface="Ubuntu"/>
              </a:rPr>
              <a:t>na</a:t>
            </a:r>
            <a:r>
              <a:rPr sz="1300" b="0" i="0" dirty="0">
                <a:solidFill>
                  <a:srgbClr val="6A707D"/>
                </a:solidFill>
                <a:latin typeface="Ubuntu"/>
              </a:rPr>
              <a:t> porta </a:t>
            </a:r>
            <a:r>
              <a:rPr lang="pt-PT" sz="1300" b="0" i="0" dirty="0">
                <a:solidFill>
                  <a:srgbClr val="6A707D"/>
                </a:solidFill>
                <a:latin typeface="Ubuntu"/>
              </a:rPr>
              <a:t>8080/</a:t>
            </a:r>
            <a:r>
              <a:rPr lang="pt-PT" sz="1300" b="0" i="0" dirty="0" err="1">
                <a:solidFill>
                  <a:srgbClr val="6A707D"/>
                </a:solidFill>
                <a:latin typeface="Ubuntu"/>
              </a:rPr>
              <a:t>api</a:t>
            </a:r>
            <a:r>
              <a:rPr sz="1300" b="0" i="0" dirty="0">
                <a:solidFill>
                  <a:srgbClr val="6A707D"/>
                </a:solidFill>
                <a:latin typeface="Ubuntu"/>
              </a:rPr>
              <a:t>: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311700" y="2126148"/>
            <a:ext cx="3900000" cy="25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lang="pt-BR" sz="1200" b="1" i="0" dirty="0">
                <a:solidFill>
                  <a:srgbClr val="2371FF"/>
                </a:solidFill>
                <a:latin typeface="Ubuntu Medium"/>
              </a:rPr>
              <a:t>APIs de origem</a:t>
            </a:r>
          </a:p>
          <a:p>
            <a:pPr algn="l">
              <a:lnSpc>
                <a:spcPct val="110000"/>
              </a:lnSpc>
            </a:pPr>
            <a:r>
              <a:rPr lang="pt-BR" sz="1200" b="0" i="0" dirty="0">
                <a:solidFill>
                  <a:srgbClr val="181C23"/>
                </a:solidFill>
                <a:latin typeface="Ubuntu"/>
              </a:rPr>
              <a:t>messages — endpoint day: retorna a mensagem diária.</a:t>
            </a:r>
          </a:p>
          <a:p>
            <a:pPr algn="l">
              <a:lnSpc>
                <a:spcPct val="110000"/>
              </a:lnSpc>
            </a:pPr>
            <a:r>
              <a:rPr lang="pt-BR" sz="1200" b="0" i="0" dirty="0">
                <a:solidFill>
                  <a:srgbClr val="181C23"/>
                </a:solidFill>
                <a:latin typeface="Ubuntu"/>
              </a:rPr>
              <a:t>payments — endpoints pix, creditcard e debit: recebem o valor a ser pago na própria URL.</a:t>
            </a:r>
          </a:p>
          <a:p>
            <a:pPr algn="l">
              <a:lnSpc>
                <a:spcPct val="110000"/>
              </a:lnSpc>
            </a:pPr>
            <a:r>
              <a:rPr lang="pt-BR" sz="1200" b="0" i="0" dirty="0">
                <a:solidFill>
                  <a:srgbClr val="181C23"/>
                </a:solidFill>
                <a:latin typeface="Ubuntu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lang="pt-BR" sz="1200" b="1" i="0" dirty="0">
                <a:solidFill>
                  <a:srgbClr val="2371FF"/>
                </a:solidFill>
                <a:latin typeface="Ubuntu Medium"/>
              </a:rPr>
              <a:t>Containers</a:t>
            </a:r>
          </a:p>
          <a:p>
            <a:pPr algn="l">
              <a:lnSpc>
                <a:spcPct val="110000"/>
              </a:lnSpc>
            </a:pPr>
            <a:r>
              <a:rPr lang="pt-BR" sz="1200" b="0" i="0" dirty="0">
                <a:solidFill>
                  <a:srgbClr val="181C23"/>
                </a:solidFill>
                <a:latin typeface="Ubuntu"/>
              </a:rPr>
              <a:t>meu-gateway  ·  messages  ·  payments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1700" y="2126148"/>
            <a:ext cx="4400600" cy="1900000"/>
          </a:xfrm>
          <a:prstGeom prst="roundRect">
            <a:avLst>
              <a:gd name="adj" fmla="val 3000"/>
            </a:avLst>
          </a:prstGeom>
          <a:solidFill>
            <a:srgbClr val="181C2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431700" y="2126148"/>
            <a:ext cx="4400600" cy="260000"/>
          </a:xfrm>
          <a:prstGeom prst="roundRect">
            <a:avLst>
              <a:gd name="adj" fmla="val 3000"/>
            </a:avLst>
          </a:prstGeom>
          <a:solidFill>
            <a:srgbClr val="2A2F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81700" y="2206148"/>
            <a:ext cx="100000" cy="100000"/>
          </a:xfrm>
          <a:prstGeom prst="ellipse">
            <a:avLst/>
          </a:prstGeom>
          <a:solidFill>
            <a:srgbClr val="FF234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781700" y="2206148"/>
            <a:ext cx="100000" cy="10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>
            <a:spLocks/>
          </p:cNvSpPr>
          <p:nvPr/>
        </p:nvSpPr>
        <p:spPr>
          <a:xfrm>
            <a:off x="4981700" y="2206148"/>
            <a:ext cx="100000" cy="100000"/>
          </a:xfrm>
          <a:prstGeom prst="ellipse">
            <a:avLst/>
          </a:prstGeom>
          <a:solidFill>
            <a:srgbClr val="2371FF"/>
          </a:solidFill>
          <a:ln>
            <a:noFill/>
          </a:ln>
        </p:spPr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" name="TextBox 12"/>
          <p:cNvSpPr txBox="1"/>
          <p:nvPr/>
        </p:nvSpPr>
        <p:spPr>
          <a:xfrm>
            <a:off x="4431700" y="2126148"/>
            <a:ext cx="4400600" cy="2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</a:pPr>
            <a:r>
              <a:rPr lang="pt-BR" sz="900" b="0" i="0">
                <a:solidFill>
                  <a:srgbClr val="6A707D"/>
                </a:solidFill>
                <a:latin typeface="Fira Code"/>
              </a:rPr>
              <a:t>requisições ao gateway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4561700" y="2556148"/>
            <a:ext cx="4200600" cy="1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lang="pt-BR" sz="850" b="0" i="0">
                <a:solidFill>
                  <a:srgbClr val="A6F750"/>
                </a:solidFill>
                <a:latin typeface="Fira Code"/>
              </a:rPr>
              <a:t>GET   http://localhost:8080/api/messages/day</a:t>
            </a:r>
          </a:p>
          <a:p>
            <a:pPr algn="l">
              <a:lnSpc>
                <a:spcPct val="110000"/>
              </a:lnSpc>
            </a:pPr>
            <a:r>
              <a:rPr lang="pt-BR" sz="850" b="0" i="0">
                <a:solidFill>
                  <a:srgbClr val="A6F750"/>
                </a:solidFill>
                <a:latin typeface="Fira Code"/>
              </a:rPr>
              <a:t>POST  http://localhost:8080/api/payments/pix/100.50</a:t>
            </a:r>
          </a:p>
          <a:p>
            <a:pPr algn="l">
              <a:lnSpc>
                <a:spcPct val="110000"/>
              </a:lnSpc>
            </a:pPr>
            <a:r>
              <a:rPr lang="pt-BR" sz="850" b="0" i="0">
                <a:solidFill>
                  <a:srgbClr val="A6F750"/>
                </a:solidFill>
                <a:latin typeface="Fira Code"/>
              </a:rPr>
              <a:t>POST  http://localhost:8080/api/payments/creditcard/250.75</a:t>
            </a:r>
          </a:p>
          <a:p>
            <a:pPr algn="l">
              <a:lnSpc>
                <a:spcPct val="110000"/>
              </a:lnSpc>
            </a:pPr>
            <a:r>
              <a:rPr lang="pt-BR" sz="850" b="0" i="0">
                <a:solidFill>
                  <a:srgbClr val="A6F750"/>
                </a:solidFill>
                <a:latin typeface="Fira Code"/>
              </a:rPr>
              <a:t>POST  http://localhost:8080/api/payments/debit/80.25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1700" y="4116148"/>
            <a:ext cx="440060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lang="pt-BR" sz="950" b="0" i="0">
                <a:solidFill>
                  <a:srgbClr val="6A707D"/>
                </a:solidFill>
                <a:latin typeface="Ubuntu"/>
              </a:rPr>
              <a:t>O gateway escuta em localhost:8080/api e encaminha para cada API.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04 — Proxy Reverso e DNS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500" b="9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LABORATÓRIO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40011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pt-BR" sz="2400" b="0" i="0">
                <a:solidFill>
                  <a:srgbClr val="181C23"/>
                </a:solidFill>
                <a:latin typeface="Ubuntu Medium"/>
              </a:rPr>
              <a:t>Comandos do laboratório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1700" y="1746148"/>
            <a:ext cx="8520600" cy="19127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pt-BR" sz="1300" b="0" i="0">
                <a:solidFill>
                  <a:srgbClr val="6A707D"/>
                </a:solidFill>
                <a:latin typeface="Ubuntu"/>
              </a:rPr>
              <a:t>Execute na ordem, a partir da pasta do projeto, no PowerShell.</a:t>
            </a:r>
          </a:p>
        </p:txBody>
      </p:sp>
      <p:sp>
        <p:nvSpPr>
          <p:cNvPr id="20" name="CodeCard"/>
          <p:cNvSpPr/>
          <p:nvPr/>
        </p:nvSpPr>
        <p:spPr>
          <a:xfrm>
            <a:off x="311700" y="2126148"/>
            <a:ext cx="8520600" cy="2757352"/>
          </a:xfrm>
          <a:prstGeom prst="roundRect">
            <a:avLst>
              <a:gd name="adj" fmla="val 3000"/>
            </a:avLst>
          </a:prstGeom>
          <a:solidFill>
            <a:srgbClr val="181C2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odeBar"/>
          <p:cNvSpPr/>
          <p:nvPr/>
        </p:nvSpPr>
        <p:spPr>
          <a:xfrm>
            <a:off x="311700" y="2126148"/>
            <a:ext cx="8520600" cy="260000"/>
          </a:xfrm>
          <a:prstGeom prst="roundRect">
            <a:avLst>
              <a:gd name="adj" fmla="val 3000"/>
            </a:avLst>
          </a:prstGeom>
          <a:solidFill>
            <a:srgbClr val="1B3A6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2"/>
          <p:cNvSpPr/>
          <p:nvPr/>
        </p:nvSpPr>
        <p:spPr>
          <a:xfrm>
            <a:off x="461700" y="2206148"/>
            <a:ext cx="100000" cy="100000"/>
          </a:xfrm>
          <a:prstGeom prst="ellipse">
            <a:avLst/>
          </a:prstGeom>
          <a:solidFill>
            <a:srgbClr val="FF234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3"/>
          <p:cNvSpPr/>
          <p:nvPr/>
        </p:nvSpPr>
        <p:spPr>
          <a:xfrm>
            <a:off x="661700" y="2206148"/>
            <a:ext cx="100000" cy="10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4"/>
          <p:cNvSpPr/>
          <p:nvPr/>
        </p:nvSpPr>
        <p:spPr>
          <a:xfrm>
            <a:off x="861700" y="2206148"/>
            <a:ext cx="100000" cy="100000"/>
          </a:xfrm>
          <a:prstGeom prst="ellipse">
            <a:avLst/>
          </a:prstGeom>
          <a:solidFill>
            <a:srgbClr val="2371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CodeLabel"/>
          <p:cNvSpPr txBox="1"/>
          <p:nvPr/>
        </p:nvSpPr>
        <p:spPr>
          <a:xfrm>
            <a:off x="311700" y="2126148"/>
            <a:ext cx="8520600" cy="2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</a:pPr>
            <a:r>
              <a:rPr lang="pt-BR" sz="900" b="0" i="0">
                <a:solidFill>
                  <a:srgbClr val="6A707D"/>
                </a:solidFill>
                <a:latin typeface="Fira Code"/>
              </a:rPr>
              <a:t>Windows PowerShell</a:t>
            </a:r>
          </a:p>
        </p:txBody>
      </p:sp>
      <p:sp>
        <p:nvSpPr>
          <p:cNvPr id="26" name="CodeText"/>
          <p:cNvSpPr txBox="1"/>
          <p:nvPr/>
        </p:nvSpPr>
        <p:spPr>
          <a:xfrm>
            <a:off x="511700" y="2417662"/>
            <a:ext cx="8120600" cy="20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pt-BR" sz="700" b="0" i="0" dirty="0">
                <a:solidFill>
                  <a:srgbClr val="6A9955"/>
                </a:solidFill>
                <a:latin typeface="Fira Code"/>
              </a:rPr>
              <a:t># 1. Construir as imagens e iniciar os containers</a:t>
            </a:r>
          </a:p>
          <a:p>
            <a:pPr algn="l">
              <a:lnSpc>
                <a:spcPct val="112000"/>
              </a:lnSpc>
            </a:pPr>
            <a:r>
              <a:rPr lang="pt-BR" sz="700" b="0" i="0" dirty="0">
                <a:solidFill>
                  <a:srgbClr val="FFD700"/>
                </a:solidFill>
                <a:latin typeface="Fira Code"/>
              </a:rPr>
              <a:t>PS C:\projeto&gt; docker</a:t>
            </a:r>
            <a:r>
              <a:rPr lang="pt-BR" sz="700" b="0" i="0" dirty="0">
                <a:solidFill>
                  <a:srgbClr val="EAEAEA"/>
                </a:solidFill>
                <a:latin typeface="Fira Code"/>
              </a:rPr>
              <a:t> compose up </a:t>
            </a:r>
            <a:r>
              <a:rPr lang="pt-BR" sz="700" b="0" i="0" dirty="0">
                <a:solidFill>
                  <a:srgbClr val="C0C0C0"/>
                </a:solidFill>
                <a:latin typeface="Fira Code"/>
              </a:rPr>
              <a:t>--build -d</a:t>
            </a:r>
          </a:p>
          <a:p>
            <a:pPr algn="l"/>
            <a:r>
              <a:rPr lang="pt-BR" sz="700" dirty="0">
                <a:solidFill>
                  <a:srgbClr val="012456"/>
                </a:solidFill>
                <a:latin typeface="Fira Code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lang="pt-BR" sz="700" b="0" i="0" dirty="0">
                <a:solidFill>
                  <a:srgbClr val="6A9955"/>
                </a:solidFill>
                <a:latin typeface="Fira Code"/>
              </a:rPr>
              <a:t># 2. Conferir o estado dos containers</a:t>
            </a:r>
          </a:p>
          <a:p>
            <a:pPr algn="l">
              <a:lnSpc>
                <a:spcPct val="112000"/>
              </a:lnSpc>
            </a:pPr>
            <a:r>
              <a:rPr lang="pt-BR" sz="700" b="0" i="0" dirty="0">
                <a:solidFill>
                  <a:srgbClr val="FFD700"/>
                </a:solidFill>
                <a:latin typeface="Fira Code"/>
              </a:rPr>
              <a:t>PS C:\projeto&gt; docker</a:t>
            </a:r>
            <a:r>
              <a:rPr lang="pt-BR" sz="700" b="0" i="0" dirty="0">
                <a:solidFill>
                  <a:srgbClr val="EAEAEA"/>
                </a:solidFill>
                <a:latin typeface="Fira Code"/>
              </a:rPr>
              <a:t> compose ps</a:t>
            </a:r>
          </a:p>
          <a:p>
            <a:pPr algn="l"/>
            <a:r>
              <a:rPr lang="pt-BR" sz="700" dirty="0">
                <a:solidFill>
                  <a:srgbClr val="012456"/>
                </a:solidFill>
                <a:latin typeface="Fira Code"/>
              </a:rPr>
              <a:t> </a:t>
            </a:r>
          </a:p>
          <a:p>
            <a:pPr>
              <a:lnSpc>
                <a:spcPct val="112000"/>
              </a:lnSpc>
            </a:pPr>
            <a:r>
              <a:rPr lang="pt-BR" sz="700" dirty="0">
                <a:solidFill>
                  <a:srgbClr val="6A9955"/>
                </a:solidFill>
                <a:latin typeface="Fira Code"/>
              </a:rPr>
              <a:t># 3. Visualizar os logs, se necessário</a:t>
            </a:r>
          </a:p>
          <a:p>
            <a:pPr>
              <a:lnSpc>
                <a:spcPct val="112000"/>
              </a:lnSpc>
            </a:pPr>
            <a:r>
              <a:rPr lang="pt-BR" sz="700" dirty="0">
                <a:solidFill>
                  <a:srgbClr val="FFD700"/>
                </a:solidFill>
                <a:latin typeface="Fira Code"/>
              </a:rPr>
              <a:t>PS C:\projeto&gt; docker</a:t>
            </a:r>
            <a:r>
              <a:rPr lang="pt-BR" sz="700" dirty="0">
                <a:solidFill>
                  <a:srgbClr val="EAEAEA"/>
                </a:solidFill>
                <a:latin typeface="Fira Code"/>
              </a:rPr>
              <a:t> compose logs </a:t>
            </a:r>
            <a:r>
              <a:rPr lang="pt-BR" sz="700" dirty="0">
                <a:solidFill>
                  <a:srgbClr val="C0C0C0"/>
                </a:solidFill>
                <a:latin typeface="Fira Code"/>
              </a:rPr>
              <a:t>–follow meu-gateway messages payments</a:t>
            </a:r>
          </a:p>
          <a:p>
            <a:pPr algn="l"/>
            <a:endParaRPr lang="pt-BR" sz="700" dirty="0">
              <a:solidFill>
                <a:srgbClr val="012456"/>
              </a:solidFill>
              <a:latin typeface="Fira Code"/>
            </a:endParaRPr>
          </a:p>
          <a:p>
            <a:pPr algn="l">
              <a:lnSpc>
                <a:spcPct val="112000"/>
              </a:lnSpc>
            </a:pPr>
            <a:r>
              <a:rPr lang="pt-BR" sz="700" b="0" i="0" dirty="0">
                <a:solidFill>
                  <a:srgbClr val="6A9955"/>
                </a:solidFill>
                <a:latin typeface="Fira Code"/>
              </a:rPr>
              <a:t># 4. Testar a API messages</a:t>
            </a:r>
          </a:p>
          <a:p>
            <a:pPr algn="l">
              <a:lnSpc>
                <a:spcPct val="112000"/>
              </a:lnSpc>
            </a:pPr>
            <a:r>
              <a:rPr lang="pt-BR" sz="700" b="0" i="0" dirty="0">
                <a:solidFill>
                  <a:srgbClr val="FFD700"/>
                </a:solidFill>
                <a:latin typeface="Fira Code"/>
              </a:rPr>
              <a:t>PS C:\projeto&gt; Invoke-RestMethod</a:t>
            </a:r>
            <a:r>
              <a:rPr lang="pt-BR" sz="700" b="0" i="0" dirty="0">
                <a:solidFill>
                  <a:srgbClr val="EAEAEA"/>
                </a:solidFill>
                <a:latin typeface="Fira Code"/>
              </a:rPr>
              <a:t> </a:t>
            </a:r>
            <a:r>
              <a:rPr lang="pt-BR" sz="700" b="0" i="0" dirty="0">
                <a:solidFill>
                  <a:srgbClr val="4EC9B0"/>
                </a:solidFill>
                <a:latin typeface="Fira Code"/>
              </a:rPr>
              <a:t>http://localhost:8080/api/messages/day</a:t>
            </a:r>
          </a:p>
          <a:p>
            <a:pPr algn="l"/>
            <a:r>
              <a:rPr lang="pt-BR" sz="700" dirty="0">
                <a:solidFill>
                  <a:srgbClr val="012456"/>
                </a:solidFill>
                <a:latin typeface="Fira Code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lang="pt-BR" sz="700" b="0" i="0" dirty="0">
                <a:solidFill>
                  <a:srgbClr val="6A9955"/>
                </a:solidFill>
                <a:latin typeface="Fira Code"/>
              </a:rPr>
              <a:t># 5. Testar pagamento via PIX</a:t>
            </a:r>
          </a:p>
          <a:p>
            <a:pPr algn="l">
              <a:lnSpc>
                <a:spcPct val="112000"/>
              </a:lnSpc>
            </a:pPr>
            <a:r>
              <a:rPr lang="pt-BR" sz="700" b="0" i="0" dirty="0">
                <a:solidFill>
                  <a:srgbClr val="FFD700"/>
                </a:solidFill>
                <a:latin typeface="Fira Code"/>
              </a:rPr>
              <a:t>PS C:\projeto&gt; Invoke-RestMethod</a:t>
            </a:r>
            <a:r>
              <a:rPr lang="pt-BR" sz="700" b="0" i="0" dirty="0">
                <a:solidFill>
                  <a:srgbClr val="EAEAEA"/>
                </a:solidFill>
                <a:latin typeface="Fira Code"/>
              </a:rPr>
              <a:t> </a:t>
            </a:r>
            <a:r>
              <a:rPr lang="pt-BR" sz="700" b="0" i="0" dirty="0">
                <a:solidFill>
                  <a:srgbClr val="C0C0C0"/>
                </a:solidFill>
                <a:latin typeface="Fira Code"/>
              </a:rPr>
              <a:t>-Method</a:t>
            </a:r>
            <a:r>
              <a:rPr lang="pt-BR" sz="700" b="0" i="0" dirty="0">
                <a:solidFill>
                  <a:srgbClr val="EAEAEA"/>
                </a:solidFill>
                <a:latin typeface="Fira Code"/>
              </a:rPr>
              <a:t> Post </a:t>
            </a:r>
            <a:r>
              <a:rPr lang="pt-BR" sz="700" b="0" i="0" dirty="0">
                <a:solidFill>
                  <a:srgbClr val="4EC9B0"/>
                </a:solidFill>
                <a:latin typeface="Fira Code"/>
              </a:rPr>
              <a:t>http://localhost:8080/api/payments/pix/100.50</a:t>
            </a:r>
          </a:p>
          <a:p>
            <a:pPr algn="l"/>
            <a:r>
              <a:rPr lang="pt-BR" sz="700" dirty="0">
                <a:solidFill>
                  <a:srgbClr val="012456"/>
                </a:solidFill>
                <a:latin typeface="Fira Code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lang="pt-BR" sz="700" b="0" i="0" dirty="0">
                <a:solidFill>
                  <a:srgbClr val="6A9955"/>
                </a:solidFill>
                <a:latin typeface="Fira Code"/>
              </a:rPr>
              <a:t># 6. Testar pagamento com cartão de crédito</a:t>
            </a:r>
          </a:p>
          <a:p>
            <a:pPr algn="l">
              <a:lnSpc>
                <a:spcPct val="112000"/>
              </a:lnSpc>
            </a:pPr>
            <a:r>
              <a:rPr lang="pt-BR" sz="700" b="0" i="0" dirty="0">
                <a:solidFill>
                  <a:srgbClr val="FFD700"/>
                </a:solidFill>
                <a:latin typeface="Fira Code"/>
              </a:rPr>
              <a:t>PS C:\projeto&gt; Invoke-RestMethod</a:t>
            </a:r>
            <a:r>
              <a:rPr lang="pt-BR" sz="700" b="0" i="0" dirty="0">
                <a:solidFill>
                  <a:srgbClr val="EAEAEA"/>
                </a:solidFill>
                <a:latin typeface="Fira Code"/>
              </a:rPr>
              <a:t> </a:t>
            </a:r>
            <a:r>
              <a:rPr lang="pt-BR" sz="700" b="0" i="0" dirty="0">
                <a:solidFill>
                  <a:srgbClr val="C0C0C0"/>
                </a:solidFill>
                <a:latin typeface="Fira Code"/>
              </a:rPr>
              <a:t>-Method</a:t>
            </a:r>
            <a:r>
              <a:rPr lang="pt-BR" sz="700" b="0" i="0" dirty="0">
                <a:solidFill>
                  <a:srgbClr val="EAEAEA"/>
                </a:solidFill>
                <a:latin typeface="Fira Code"/>
              </a:rPr>
              <a:t> Post </a:t>
            </a:r>
            <a:r>
              <a:rPr lang="pt-BR" sz="700" b="0" i="0" dirty="0">
                <a:solidFill>
                  <a:srgbClr val="4EC9B0"/>
                </a:solidFill>
                <a:latin typeface="Fira Code"/>
              </a:rPr>
              <a:t>http://localhost:8080/api/payments/creditcard/250.75</a:t>
            </a:r>
          </a:p>
          <a:p>
            <a:pPr algn="l"/>
            <a:r>
              <a:rPr lang="pt-BR" sz="700" dirty="0">
                <a:solidFill>
                  <a:srgbClr val="012456"/>
                </a:solidFill>
                <a:latin typeface="Fira Code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lang="pt-BR" sz="700" b="0" i="0" dirty="0">
                <a:solidFill>
                  <a:srgbClr val="6A9955"/>
                </a:solidFill>
                <a:latin typeface="Fira Code"/>
              </a:rPr>
              <a:t># 7. Testar pagamento com débito</a:t>
            </a:r>
          </a:p>
          <a:p>
            <a:pPr algn="l">
              <a:lnSpc>
                <a:spcPct val="112000"/>
              </a:lnSpc>
            </a:pPr>
            <a:r>
              <a:rPr lang="pt-BR" sz="700" b="0" i="0" dirty="0">
                <a:solidFill>
                  <a:srgbClr val="FFD700"/>
                </a:solidFill>
                <a:latin typeface="Fira Code"/>
              </a:rPr>
              <a:t>PS C:\projeto&gt; Invoke-RestMethod</a:t>
            </a:r>
            <a:r>
              <a:rPr lang="pt-BR" sz="700" b="0" i="0" dirty="0">
                <a:solidFill>
                  <a:srgbClr val="EAEAEA"/>
                </a:solidFill>
                <a:latin typeface="Fira Code"/>
              </a:rPr>
              <a:t> </a:t>
            </a:r>
            <a:r>
              <a:rPr lang="pt-BR" sz="700" b="0" i="0" dirty="0">
                <a:solidFill>
                  <a:srgbClr val="C0C0C0"/>
                </a:solidFill>
                <a:latin typeface="Fira Code"/>
              </a:rPr>
              <a:t>-Method</a:t>
            </a:r>
            <a:r>
              <a:rPr lang="pt-BR" sz="700" b="0" i="0" dirty="0">
                <a:solidFill>
                  <a:srgbClr val="EAEAEA"/>
                </a:solidFill>
                <a:latin typeface="Fira Code"/>
              </a:rPr>
              <a:t> Post </a:t>
            </a:r>
            <a:r>
              <a:rPr lang="pt-BR" sz="700" b="0" i="0" dirty="0">
                <a:solidFill>
                  <a:srgbClr val="4EC9B0"/>
                </a:solidFill>
                <a:latin typeface="Fira Code"/>
              </a:rPr>
              <a:t>http://localhost:8080/api/payments/debit/80.25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00" b="0" i="0">
                <a:solidFill>
                  <a:srgbClr val="2371FF"/>
                </a:solidFill>
                <a:latin typeface="Ubuntu Medium"/>
              </a:rPr>
              <a:t>Aula 04 — Proxy Reverso e DNS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500" b="9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DNS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DNS — O Catálogo Telefônico da Internet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11700" y="1776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1700" y="1776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700" y="174614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Traduz: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www.google.com em um endereço IP</a:t>
            </a:r>
          </a:p>
        </p:txBody>
      </p:sp>
      <p:sp>
        <p:nvSpPr>
          <p:cNvPr id="9" name="Oval 8"/>
          <p:cNvSpPr/>
          <p:nvPr/>
        </p:nvSpPr>
        <p:spPr>
          <a:xfrm>
            <a:off x="311700" y="217361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1700" y="217361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700" y="214361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Sem DNS: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você teria que decorar o IP de cada site!</a:t>
            </a:r>
          </a:p>
        </p:txBody>
      </p:sp>
      <p:sp>
        <p:nvSpPr>
          <p:cNvPr id="12" name="Oval 11"/>
          <p:cNvSpPr/>
          <p:nvPr/>
        </p:nvSpPr>
        <p:spPr>
          <a:xfrm>
            <a:off x="311700" y="257108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1700" y="257108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700" y="254108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DNS Autoritativo: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tem a resposta final de um domínio</a:t>
            </a:r>
          </a:p>
        </p:txBody>
      </p:sp>
      <p:sp>
        <p:nvSpPr>
          <p:cNvPr id="15" name="Oval 14"/>
          <p:cNvSpPr/>
          <p:nvPr/>
        </p:nvSpPr>
        <p:spPr>
          <a:xfrm>
            <a:off x="311700" y="296855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1700" y="296855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700" y="293855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 dirty="0">
                <a:solidFill>
                  <a:srgbClr val="181C23"/>
                </a:solidFill>
                <a:latin typeface="Ubuntu Medium"/>
              </a:rPr>
              <a:t>DNS </a:t>
            </a:r>
            <a:r>
              <a:rPr sz="1400" b="0" i="0" dirty="0" err="1">
                <a:solidFill>
                  <a:srgbClr val="181C23"/>
                </a:solidFill>
                <a:latin typeface="Ubuntu Medium"/>
              </a:rPr>
              <a:t>Recursivo</a:t>
            </a:r>
            <a:r>
              <a:rPr sz="1400" b="0" i="0" dirty="0">
                <a:solidFill>
                  <a:srgbClr val="181C23"/>
                </a:solidFill>
                <a:latin typeface="Ubuntu Medium"/>
              </a:rPr>
              <a:t>: </a:t>
            </a:r>
            <a:r>
              <a:rPr sz="1400" b="0" i="0" dirty="0" err="1">
                <a:solidFill>
                  <a:srgbClr val="6A707D"/>
                </a:solidFill>
                <a:latin typeface="Ubuntu"/>
              </a:rPr>
              <a:t>busca</a:t>
            </a:r>
            <a:r>
              <a:rPr sz="1400" b="0" i="0" dirty="0">
                <a:solidFill>
                  <a:srgbClr val="6A707D"/>
                </a:solidFill>
                <a:latin typeface="Ubuntu"/>
              </a:rPr>
              <a:t> e </a:t>
            </a:r>
            <a:r>
              <a:rPr sz="1400" b="0" i="0" dirty="0" err="1">
                <a:solidFill>
                  <a:srgbClr val="6A707D"/>
                </a:solidFill>
                <a:latin typeface="Ubuntu"/>
              </a:rPr>
              <a:t>guarda</a:t>
            </a:r>
            <a:r>
              <a:rPr sz="1400" b="0" i="0" dirty="0">
                <a:solidFill>
                  <a:srgbClr val="6A707D"/>
                </a:solidFill>
                <a:latin typeface="Ubuntu"/>
              </a:rPr>
              <a:t> a </a:t>
            </a:r>
            <a:r>
              <a:rPr sz="1400" b="0" i="0" dirty="0" err="1">
                <a:solidFill>
                  <a:srgbClr val="6A707D"/>
                </a:solidFill>
                <a:latin typeface="Ubuntu"/>
              </a:rPr>
              <a:t>resposta</a:t>
            </a:r>
            <a:r>
              <a:rPr sz="1400" b="0" i="0" dirty="0">
                <a:solidFill>
                  <a:srgbClr val="6A707D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6A707D"/>
                </a:solidFill>
                <a:latin typeface="Ubuntu"/>
              </a:rPr>
              <a:t>em</a:t>
            </a:r>
            <a:r>
              <a:rPr sz="1400" b="0" i="0" dirty="0">
                <a:solidFill>
                  <a:srgbClr val="6A707D"/>
                </a:solidFill>
                <a:latin typeface="Ubuntu"/>
              </a:rPr>
              <a:t> cache</a:t>
            </a:r>
          </a:p>
        </p:txBody>
      </p:sp>
      <p:sp>
        <p:nvSpPr>
          <p:cNvPr id="18" name="Oval 17"/>
          <p:cNvSpPr/>
          <p:nvPr/>
        </p:nvSpPr>
        <p:spPr>
          <a:xfrm>
            <a:off x="311700" y="336602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11700" y="336602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700" y="333602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Na nuvem: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AWS usa Route 53; Azure usa Azure DNS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1700" y="3883500"/>
            <a:ext cx="8520600" cy="90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11700" y="3883500"/>
            <a:ext cx="70000" cy="90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1700" y="3973500"/>
            <a:ext cx="81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💡 ANALOGIA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700" y="4223500"/>
            <a:ext cx="8120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181C23"/>
                </a:solidFill>
                <a:latin typeface="Ubuntu"/>
              </a:rPr>
              <a:t>O DNS é a agenda de contatos do celular: você salva 'Pizzaria do João' em vez do número. Sem a agenda, teria que decorar todos os telefones — ou todos os IPs!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 dirty="0">
                <a:solidFill>
                  <a:srgbClr val="6A707D"/>
                </a:solidFill>
                <a:latin typeface="Ubuntu"/>
              </a:rPr>
              <a:t>Ada · AR-NA-002 · </a:t>
            </a:r>
            <a:r>
              <a:rPr sz="800" b="0" i="0" dirty="0" err="1">
                <a:solidFill>
                  <a:srgbClr val="6A707D"/>
                </a:solidFill>
                <a:latin typeface="Ubuntu"/>
              </a:rPr>
              <a:t>Arquitetura</a:t>
            </a:r>
            <a:r>
              <a:rPr sz="800" b="0" i="0" dirty="0">
                <a:solidFill>
                  <a:srgbClr val="6A707D"/>
                </a:solidFill>
                <a:latin typeface="Ubuntu"/>
              </a:rPr>
              <a:t> de Serviços e Dados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04 — Proxy Reverso e DNS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500" b="9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DNS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Zona de DNS e Registros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282660" y="1686148"/>
            <a:ext cx="4578680" cy="2627352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ns_zo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660" y="1746148"/>
            <a:ext cx="4458680" cy="25073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1700" y="4253500"/>
            <a:ext cx="85206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>
                <a:solidFill>
                  <a:srgbClr val="6A707D"/>
                </a:solidFill>
                <a:latin typeface="Ubuntu"/>
              </a:rPr>
              <a:t>Painel de configuração de registros DNS de um domínio.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1700" y="4683500"/>
            <a:ext cx="85206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1">
                <a:solidFill>
                  <a:srgbClr val="6A707D"/>
                </a:solidFill>
                <a:latin typeface="Ubuntu"/>
              </a:rPr>
              <a:t>Fonte: ayltoninacio.com.br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04 — Proxy Reverso e DNS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500" b="9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DNS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Tipos de Registros DNS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11700" y="1776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1700" y="1776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700" y="174614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Registro A: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aponta o domínio para um IPv4</a:t>
            </a:r>
          </a:p>
        </p:txBody>
      </p:sp>
      <p:sp>
        <p:nvSpPr>
          <p:cNvPr id="9" name="Oval 8"/>
          <p:cNvSpPr/>
          <p:nvPr/>
        </p:nvSpPr>
        <p:spPr>
          <a:xfrm>
            <a:off x="311700" y="217361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1700" y="217361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700" y="214361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Registro AAAA: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o mesmo, mas para IPv6</a:t>
            </a:r>
          </a:p>
        </p:txBody>
      </p:sp>
      <p:sp>
        <p:nvSpPr>
          <p:cNvPr id="12" name="Oval 11"/>
          <p:cNvSpPr/>
          <p:nvPr/>
        </p:nvSpPr>
        <p:spPr>
          <a:xfrm>
            <a:off x="311700" y="257108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1700" y="257108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700" y="254108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Registro MX: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direciona os e-mails do domínio</a:t>
            </a:r>
          </a:p>
        </p:txBody>
      </p:sp>
      <p:sp>
        <p:nvSpPr>
          <p:cNvPr id="15" name="Oval 14"/>
          <p:cNvSpPr/>
          <p:nvPr/>
        </p:nvSpPr>
        <p:spPr>
          <a:xfrm>
            <a:off x="311700" y="296855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1700" y="296855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700" y="293855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Registro CNAME: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apelido de um domínio para outro</a:t>
            </a:r>
          </a:p>
        </p:txBody>
      </p:sp>
      <p:sp>
        <p:nvSpPr>
          <p:cNvPr id="18" name="Oval 17"/>
          <p:cNvSpPr/>
          <p:nvPr/>
        </p:nvSpPr>
        <p:spPr>
          <a:xfrm>
            <a:off x="311700" y="336602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11700" y="336602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700" y="333602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Registro TXT: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verificação de propriedade e SPF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1700" y="3883500"/>
            <a:ext cx="8520600" cy="90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11700" y="3883500"/>
            <a:ext cx="70000" cy="90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1700" y="3973500"/>
            <a:ext cx="81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💡 ANALOGIA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700" y="4223500"/>
            <a:ext cx="8120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181C23"/>
                </a:solidFill>
                <a:latin typeface="Ubuntu"/>
              </a:rPr>
              <a:t>Se o DNS é a agenda, os registros são os tipos de contato: A = telefone fixo, AAAA = celular novo, MX = e-mail, CNAME = apelido. Um contato pode ter vários!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04 — Proxy Reverso e DNS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500" b="9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Recapitulando a Aula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11700" y="17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11700" y="17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91700" y="18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1700" y="18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700" y="17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Proxy reverso protege, distribui carga e faz cache — o cliente nunca acessa o servidor direto.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1700" y="24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11700" y="24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91700" y="25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1700" y="25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700" y="24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DNS converte nomes amigáveis em endereços IP.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1700" y="31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11700" y="31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91700" y="32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1700" y="32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700" y="31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Registros: A (IPv4), AAAA (IPv6), MX (e-mail), CNAME (apelido), TXT (verificação).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1700" y="38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11700" y="38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91700" y="39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1700" y="39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700" y="38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Nginx é o proxy reverso mais popular — simples e de alta performance.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04 — Proxy Reverso e DNS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181C23"/>
      </a:dk1>
      <a:lt1>
        <a:srgbClr val="FFFDF8"/>
      </a:lt1>
      <a:dk2>
        <a:srgbClr val="2371FF"/>
      </a:dk2>
      <a:lt2>
        <a:srgbClr val="50E550"/>
      </a:lt2>
      <a:accent1>
        <a:srgbClr val="DAF9DA"/>
      </a:accent1>
      <a:accent2>
        <a:srgbClr val="2371FF"/>
      </a:accent2>
      <a:accent3>
        <a:srgbClr val="DAF9DA"/>
      </a:accent3>
      <a:accent4>
        <a:srgbClr val="ECEDF3"/>
      </a:accent4>
      <a:accent5>
        <a:srgbClr val="C4D2F8"/>
      </a:accent5>
      <a:accent6>
        <a:srgbClr val="9DF09D"/>
      </a:accent6>
      <a:hlink>
        <a:srgbClr val="2371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1656</Words>
  <Application>Microsoft Office PowerPoint</Application>
  <PresentationFormat>On-screen Show (16:9)</PresentationFormat>
  <Paragraphs>272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Ubuntu Light</vt:lpstr>
      <vt:lpstr>Fira Code</vt:lpstr>
      <vt:lpstr>Ubuntu</vt:lpstr>
      <vt:lpstr>Arial</vt:lpstr>
      <vt:lpstr>Ubuntu Medium</vt:lpstr>
      <vt:lpstr>Wingdings</vt:lpstr>
      <vt:lpstr>Lato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Benedicto, Everton Jose (SI IT VC PES PLT)</cp:lastModifiedBy>
  <cp:revision>11</cp:revision>
  <dcterms:modified xsi:type="dcterms:W3CDTF">2026-08-17T18:06:56Z</dcterms:modified>
</cp:coreProperties>
</file>