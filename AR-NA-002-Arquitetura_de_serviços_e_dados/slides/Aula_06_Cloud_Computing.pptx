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17"/>
  </p:notesMasterIdLst>
  <p:sldIdLst>
    <p:sldId id="256" r:id="rId2"/>
    <p:sldId id="257" r:id="rId3"/>
    <p:sldId id="266" r:id="rId4"/>
    <p:sldId id="267" r:id="rId5"/>
    <p:sldId id="268" r:id="rId6"/>
    <p:sldId id="269" r:id="rId7"/>
    <p:sldId id="259" r:id="rId8"/>
    <p:sldId id="260" r:id="rId9"/>
    <p:sldId id="261" r:id="rId10"/>
    <p:sldId id="262" r:id="rId11"/>
    <p:sldId id="263" r:id="rId12"/>
    <p:sldId id="270" r:id="rId13"/>
    <p:sldId id="271" r:id="rId14"/>
    <p:sldId id="272" r:id="rId15"/>
    <p:sldId id="264" r:id="rId16"/>
  </p:sldIdLst>
  <p:sldSz cx="9144000" cy="5143500" type="screen16x9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Ubuntu" panose="020B0504030602030204" pitchFamily="34" charset="0"/>
      <p:regular r:id="rId22"/>
      <p:bold r:id="rId23"/>
      <p:italic r:id="rId24"/>
      <p:boldItalic r:id="rId25"/>
    </p:embeddedFont>
    <p:embeddedFont>
      <p:font typeface="Ubuntu Light" panose="020B0304030602030204" pitchFamily="34" charset="0"/>
      <p:regular r:id="rId26"/>
      <p:bold r:id="rId27"/>
      <p:italic r:id="rId28"/>
      <p:boldItalic r:id="rId29"/>
    </p:embeddedFont>
    <p:embeddedFont>
      <p:font typeface="Ubuntu Medium" panose="020B060403060203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 idx="2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sor">
  <p:cSld name="CUSTOM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2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Limpo">
  <p:cSld name="CUSTOM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fismo ADA">
  <p:cSld name="CUSTOM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erramento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BF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300" b="11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000" y="3344482"/>
            <a:ext cx="3400000" cy="22990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0000" y="900000"/>
            <a:ext cx="2400000" cy="142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/>
            <a:r>
              <a:rPr sz="13000" b="1" i="0">
                <a:solidFill>
                  <a:srgbClr val="A6F750"/>
                </a:solidFill>
                <a:latin typeface="Ubuntu Light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000" y="235000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371FF"/>
                </a:solidFill>
                <a:latin typeface="Ubuntu Medium"/>
              </a:rPr>
              <a:t>AULA 06  ·  Sexta, 21/08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" y="2620000"/>
            <a:ext cx="6600000" cy="1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181C23"/>
                </a:solidFill>
                <a:latin typeface="Ubuntu Medium"/>
              </a:rPr>
              <a:t>Cloud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" y="3720000"/>
            <a:ext cx="66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6A707D"/>
                </a:solidFill>
                <a:latin typeface="Ubuntu Light"/>
              </a:rPr>
              <a:t>IaaS, PaaS, SaaS e o poder da nuvem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000" y="4041644"/>
            <a:ext cx="1200000" cy="7418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4350000"/>
            <a:ext cx="4600000" cy="300000"/>
          </a:xfrm>
          <a:prstGeom prst="roundRect">
            <a:avLst>
              <a:gd name="adj" fmla="val 50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0000" y="4350000"/>
            <a:ext cx="46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A6F750"/>
                </a:solidFill>
                <a:latin typeface="Ubuntu"/>
              </a:rPr>
              <a:t>Módulo · Arquitetura de Serviços e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" y="4720000"/>
            <a:ext cx="4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300" b="11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66148"/>
            <a:ext cx="85206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1700" y="127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17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1700" y="1596148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00" y="1996148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Seg 10/08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Introdução ao Módulo e Docker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19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51900" y="1596148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1900" y="1996148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Qua 12/08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19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Arquitetura de Servidores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21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42100" y="1596148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2100" y="1996148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Sex 14/08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Apache e Nginx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17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00" y="2751932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Seg 17/08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Proxy Reverso e DNS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19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51900" y="2751932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19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Qua 19/08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19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CI/CD e Ciclo de Vida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21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092100" y="2621932"/>
            <a:ext cx="70000" cy="1005784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42100" y="2751932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A6F750"/>
                </a:solidFill>
                <a:latin typeface="Ubuntu Medium"/>
              </a:rPr>
              <a:t>Sex 21/08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21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DF8"/>
                </a:solidFill>
                <a:latin typeface="Ubuntu"/>
              </a:rPr>
              <a:t>Cloud Computing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17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1700" y="3907716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00" y="4307716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Seg 24/08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00" y="4537716"/>
            <a:ext cx="2610300" cy="16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 err="1">
                <a:solidFill>
                  <a:srgbClr val="181C23"/>
                </a:solidFill>
                <a:latin typeface="Ubuntu"/>
              </a:rPr>
              <a:t>Arquitetura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de Dados e Data Warehouse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19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51900" y="3907716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1900" y="4307716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Qua 26/08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1900" y="4537716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Data Lake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21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42100" y="3907716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2100" y="4307716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Sex 28/08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100" y="4537716"/>
            <a:ext cx="2590200" cy="16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 err="1">
                <a:solidFill>
                  <a:srgbClr val="181C23"/>
                </a:solidFill>
                <a:latin typeface="Ubuntu"/>
              </a:rPr>
              <a:t>Concluir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</a:t>
            </a:r>
            <a:r>
              <a:rPr sz="1100" b="0" i="0" dirty="0" err="1">
                <a:solidFill>
                  <a:srgbClr val="181C23"/>
                </a:solidFill>
                <a:latin typeface="Ubuntu"/>
              </a:rPr>
              <a:t>atividades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e </a:t>
            </a:r>
            <a:r>
              <a:rPr sz="1100" b="0" i="0" dirty="0" err="1">
                <a:solidFill>
                  <a:srgbClr val="181C23"/>
                </a:solidFill>
                <a:latin typeface="Ubuntu"/>
              </a:rPr>
              <a:t>preencher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</a:t>
            </a:r>
            <a:r>
              <a:rPr sz="1100" b="0" i="0" dirty="0" err="1">
                <a:solidFill>
                  <a:srgbClr val="181C23"/>
                </a:solidFill>
                <a:latin typeface="Ubuntu"/>
              </a:rPr>
              <a:t>rubricas</a:t>
            </a:r>
            <a:endParaRPr sz="1100" b="0" i="0" dirty="0">
              <a:solidFill>
                <a:srgbClr val="181C23"/>
              </a:solidFill>
              <a:latin typeface="Ubuntu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dirty="0">
                <a:solidFill>
                  <a:srgbClr val="2371FF"/>
                </a:solidFill>
                <a:latin typeface="Ubuntu Medium"/>
              </a:rPr>
              <a:t>Aula 06 — Cloud Computing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000" y="1016148"/>
            <a:ext cx="3000000" cy="20285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1700" y="76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6F750"/>
                </a:solidFill>
                <a:latin typeface="Ubuntu Medium"/>
              </a:rPr>
              <a:t>COMBINADO DA TURMA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700" y="1016148"/>
            <a:ext cx="85206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0" i="0">
                <a:solidFill>
                  <a:srgbClr val="181C23"/>
                </a:solidFill>
                <a:latin typeface="Ubuntu Medium"/>
              </a:rPr>
              <a:t>Por favor!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1700" y="1866148"/>
            <a:ext cx="3139028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866148"/>
            <a:ext cx="3139028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Bora participar!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1700" y="2246148"/>
            <a:ext cx="3139028" cy="2537352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pPr defTabSz="457200"/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700" y="3703500"/>
            <a:ext cx="2839028" cy="503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Câmera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ligada</a:t>
            </a:r>
            <a:r>
              <a:rPr lang="pt-PT"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+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mão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levantada</a:t>
            </a:r>
            <a:endParaRPr sz="1500" b="0" i="0" dirty="0">
              <a:solidFill>
                <a:schemeClr val="bg1"/>
              </a:solidFill>
              <a:latin typeface="Ubuntu Medium"/>
            </a:endParaRPr>
          </a:p>
          <a:p>
            <a:pPr algn="ctr">
              <a:lnSpc>
                <a:spcPct val="115000"/>
              </a:lnSpc>
            </a:pPr>
            <a:r>
              <a:rPr sz="1500" b="0" i="0" dirty="0">
                <a:solidFill>
                  <a:srgbClr val="A6F750"/>
                </a:solidFill>
                <a:latin typeface="Ubuntu Medium"/>
              </a:rPr>
              <a:t>= aula top!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00" y="4273500"/>
            <a:ext cx="2839028" cy="3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00" y="4361167"/>
            <a:ext cx="283902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dirty="0">
                <a:solidFill>
                  <a:srgbClr val="181C23"/>
                </a:solidFill>
                <a:latin typeface="Ubuntu Medium"/>
              </a:rPr>
              <a:t>INTERVALO · </a:t>
            </a:r>
            <a:r>
              <a:rPr lang="pt-PT" sz="1200" b="0" i="0" dirty="0">
                <a:solidFill>
                  <a:srgbClr val="181C23"/>
                </a:solidFill>
                <a:latin typeface="Ubuntu Medium"/>
              </a:rPr>
              <a:t>16:30 BRT</a:t>
            </a:r>
            <a:endParaRPr sz="1200" b="0" i="0" dirty="0">
              <a:solidFill>
                <a:srgbClr val="181C23"/>
              </a:solidFill>
              <a:latin typeface="Ubuntu Medium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10728" y="1866148"/>
            <a:ext cx="5121572" cy="300000"/>
          </a:xfrm>
          <a:prstGeom prst="roundRect">
            <a:avLst>
              <a:gd name="adj" fmla="val 10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10728" y="1866148"/>
            <a:ext cx="5121572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Combinados da nossa aula</a:t>
            </a:r>
          </a:p>
        </p:txBody>
      </p:sp>
      <p:sp>
        <p:nvSpPr>
          <p:cNvPr id="14" name="Oval 13"/>
          <p:cNvSpPr/>
          <p:nvPr/>
        </p:nvSpPr>
        <p:spPr>
          <a:xfrm>
            <a:off x="3710728" y="239788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10728" y="239788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0728" y="226614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Câmeras ligadas.</a:t>
            </a:r>
          </a:p>
        </p:txBody>
      </p:sp>
      <p:sp>
        <p:nvSpPr>
          <p:cNvPr id="17" name="Oval 16"/>
          <p:cNvSpPr/>
          <p:nvPr/>
        </p:nvSpPr>
        <p:spPr>
          <a:xfrm>
            <a:off x="3710728" y="290135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10728" y="290135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0728" y="276961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Entrem no horário: início e intervalo.</a:t>
            </a:r>
          </a:p>
        </p:txBody>
      </p:sp>
      <p:sp>
        <p:nvSpPr>
          <p:cNvPr id="20" name="Oval 19"/>
          <p:cNvSpPr/>
          <p:nvPr/>
        </p:nvSpPr>
        <p:spPr>
          <a:xfrm>
            <a:off x="3710728" y="340482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10728" y="340482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0728" y="327308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Participem da aula.</a:t>
            </a:r>
          </a:p>
        </p:txBody>
      </p:sp>
      <p:sp>
        <p:nvSpPr>
          <p:cNvPr id="23" name="Oval 22"/>
          <p:cNvSpPr/>
          <p:nvPr/>
        </p:nvSpPr>
        <p:spPr>
          <a:xfrm>
            <a:off x="3710728" y="390829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10728" y="390829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0728" y="377655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Tirem dúvidas.</a:t>
            </a:r>
          </a:p>
        </p:txBody>
      </p:sp>
      <p:sp>
        <p:nvSpPr>
          <p:cNvPr id="26" name="Oval 25"/>
          <p:cNvSpPr/>
          <p:nvPr/>
        </p:nvSpPr>
        <p:spPr>
          <a:xfrm>
            <a:off x="3710728" y="441176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10728" y="441176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0728" y="428002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Levantem a mão para tirar dúvidas.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2300" y="4931944"/>
            <a:ext cx="300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PT" sz="800" dirty="0">
                <a:solidFill>
                  <a:srgbClr val="2371FF"/>
                </a:solidFill>
                <a:latin typeface="Ubuntu Medium"/>
              </a:rPr>
              <a:t>Aula 06 — </a:t>
            </a:r>
            <a:r>
              <a:rPr lang="pt-PT" sz="800" dirty="0" err="1">
                <a:solidFill>
                  <a:srgbClr val="2371FF"/>
                </a:solidFill>
                <a:latin typeface="Ubuntu Medium"/>
              </a:rPr>
              <a:t>Cloud</a:t>
            </a:r>
            <a:r>
              <a:rPr lang="pt-PT" sz="800" dirty="0">
                <a:solidFill>
                  <a:srgbClr val="2371FF"/>
                </a:solidFill>
                <a:latin typeface="Ubuntu Medium"/>
              </a:rPr>
              <a:t> </a:t>
            </a:r>
            <a:r>
              <a:rPr lang="pt-PT" sz="800" dirty="0" err="1">
                <a:solidFill>
                  <a:srgbClr val="2371FF"/>
                </a:solidFill>
                <a:latin typeface="Ubuntu Medium"/>
              </a:rPr>
              <a:t>Computing</a:t>
            </a:r>
            <a:endParaRPr lang="pt-PT" sz="800" dirty="0">
              <a:solidFill>
                <a:srgbClr val="2371FF"/>
              </a:solidFill>
              <a:latin typeface="Ubuntu Medium"/>
            </a:endParaRPr>
          </a:p>
        </p:txBody>
      </p:sp>
      <p:pic>
        <p:nvPicPr>
          <p:cNvPr id="34" name="VideoConf">
            <a:extLst>
              <a:ext uri="{FF2B5EF4-FFF2-40B4-BE49-F238E27FC236}">
                <a16:creationId xmlns:a16="http://schemas.microsoft.com/office/drawing/2014/main" id="{9AA18BD3-746B-6E67-FBD7-72460F8DF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92" y="2480575"/>
            <a:ext cx="1150000" cy="1150000"/>
          </a:xfrm>
          <a:prstGeom prst="rect">
            <a:avLst/>
          </a:prstGeom>
        </p:spPr>
      </p:pic>
      <p:pic>
        <p:nvPicPr>
          <p:cNvPr id="36" name="RaiseHand">
            <a:extLst>
              <a:ext uri="{FF2B5EF4-FFF2-40B4-BE49-F238E27FC236}">
                <a16:creationId xmlns:a16="http://schemas.microsoft.com/office/drawing/2014/main" id="{A619174F-F337-F752-FD34-362E34583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4092" y="2480575"/>
            <a:ext cx="1150000" cy="115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REVIEW!</a:t>
            </a:r>
            <a:endParaRPr sz="1100" b="0" i="0" dirty="0">
              <a:solidFill>
                <a:srgbClr val="2371FF"/>
              </a:solidFill>
              <a:latin typeface="Ubuntu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 dirty="0" err="1">
                <a:solidFill>
                  <a:srgbClr val="181C23"/>
                </a:solidFill>
                <a:latin typeface="Ubuntu Medium"/>
              </a:rPr>
              <a:t>Recapitulando</a:t>
            </a:r>
            <a:r>
              <a:rPr sz="2600" b="0" i="0" dirty="0">
                <a:solidFill>
                  <a:srgbClr val="181C23"/>
                </a:solidFill>
                <a:latin typeface="Ubuntu Medium"/>
              </a:rPr>
              <a:t> a Aula</a:t>
            </a:r>
            <a:r>
              <a:rPr lang="pt-PT" sz="2600" b="0" i="0" dirty="0">
                <a:solidFill>
                  <a:srgbClr val="181C23"/>
                </a:solidFill>
                <a:latin typeface="Ubuntu Medium"/>
              </a:rPr>
              <a:t> 05</a:t>
            </a:r>
            <a:endParaRPr sz="2600" b="0" i="0" dirty="0">
              <a:solidFill>
                <a:srgbClr val="181C23"/>
              </a:solidFill>
              <a:latin typeface="Ubuntu Medium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CI = integrar e testar com frequência para achar problemas cedo.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CD = manter o código pronto para produção e automatizar o deploy.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Pipeline: commit → build → testes → staging → produção.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ALM cobre todo o ciclo, do requisito ao monitoramento em produção.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2300" y="4931944"/>
            <a:ext cx="300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PT" sz="800" dirty="0">
                <a:solidFill>
                  <a:srgbClr val="2371FF"/>
                </a:solidFill>
                <a:latin typeface="Ubuntu Medium"/>
              </a:rPr>
              <a:t>Aula 06 — </a:t>
            </a:r>
            <a:r>
              <a:rPr lang="pt-PT" sz="800" dirty="0" err="1">
                <a:solidFill>
                  <a:srgbClr val="2371FF"/>
                </a:solidFill>
                <a:latin typeface="Ubuntu Medium"/>
              </a:rPr>
              <a:t>Cloud</a:t>
            </a:r>
            <a:r>
              <a:rPr lang="pt-PT" sz="800" dirty="0">
                <a:solidFill>
                  <a:srgbClr val="2371FF"/>
                </a:solidFill>
                <a:latin typeface="Ubuntu Medium"/>
              </a:rPr>
              <a:t> </a:t>
            </a:r>
            <a:r>
              <a:rPr lang="pt-PT" sz="800" dirty="0" err="1">
                <a:solidFill>
                  <a:srgbClr val="2371FF"/>
                </a:solidFill>
                <a:latin typeface="Ubuntu Medium"/>
              </a:rPr>
              <a:t>Computing</a:t>
            </a:r>
            <a:endParaRPr lang="pt-PT" sz="800" dirty="0">
              <a:solidFill>
                <a:srgbClr val="2371FF"/>
              </a:solidFill>
              <a:latin typeface="Ubuntu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300" b="11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PROVEDORES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Principais Clouds do Mercado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Icon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740000"/>
            <a:ext cx="420000" cy="420000"/>
          </a:xfrm>
          <a:prstGeom prst="rect">
            <a:avLst/>
          </a:prstGeom>
        </p:spPr>
      </p:pic>
      <p:sp>
        <p:nvSpPr>
          <p:cNvPr id="80" name="Row 0 text"/>
          <p:cNvSpPr txBox="1"/>
          <p:nvPr/>
        </p:nvSpPr>
        <p:spPr>
          <a:xfrm>
            <a:off x="871700" y="1740000"/>
            <a:ext cx="79606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Amazon Web Services (AWS):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pioneira e líder de mercado, com o maior catálogo de serviços</a:t>
            </a:r>
          </a:p>
        </p:txBody>
      </p:sp>
      <p:pic>
        <p:nvPicPr>
          <p:cNvPr id="61" name="Ic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2270000"/>
            <a:ext cx="420000" cy="420000"/>
          </a:xfrm>
          <a:prstGeom prst="rect">
            <a:avLst/>
          </a:prstGeom>
        </p:spPr>
      </p:pic>
      <p:sp>
        <p:nvSpPr>
          <p:cNvPr id="81" name="Row 1 text"/>
          <p:cNvSpPr txBox="1"/>
          <p:nvPr/>
        </p:nvSpPr>
        <p:spPr>
          <a:xfrm>
            <a:off x="871700" y="2270000"/>
            <a:ext cx="79606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Microsoft Azure: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forte integração com o ecossistema Microsoft e ambientes híbridos</a:t>
            </a:r>
          </a:p>
        </p:txBody>
      </p:sp>
      <p:pic>
        <p:nvPicPr>
          <p:cNvPr id="62" name="Ico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00" y="2874954"/>
            <a:ext cx="420000" cy="270091"/>
          </a:xfrm>
          <a:prstGeom prst="rect">
            <a:avLst/>
          </a:prstGeom>
        </p:spPr>
      </p:pic>
      <p:sp>
        <p:nvSpPr>
          <p:cNvPr id="82" name="Row 2 text"/>
          <p:cNvSpPr txBox="1"/>
          <p:nvPr/>
        </p:nvSpPr>
        <p:spPr>
          <a:xfrm>
            <a:off x="871700" y="2800000"/>
            <a:ext cx="79606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Google Cloud (GCP):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destaque em dados, analytics, Kubernetes e inteligência artificial</a:t>
            </a:r>
          </a:p>
        </p:txBody>
      </p:sp>
      <p:pic>
        <p:nvPicPr>
          <p:cNvPr id="63" name="Icon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700" y="3394933"/>
            <a:ext cx="420000" cy="290134"/>
          </a:xfrm>
          <a:prstGeom prst="rect">
            <a:avLst/>
          </a:prstGeom>
        </p:spPr>
      </p:pic>
      <p:sp>
        <p:nvSpPr>
          <p:cNvPr id="83" name="Row 3 text"/>
          <p:cNvSpPr txBox="1"/>
          <p:nvPr/>
        </p:nvSpPr>
        <p:spPr>
          <a:xfrm>
            <a:off x="871700" y="3330000"/>
            <a:ext cx="79606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Oracle Cloud (OCI):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especializada em bancos de dados e sistemas corporativos Oracle</a:t>
            </a:r>
          </a:p>
        </p:txBody>
      </p:sp>
      <p:pic>
        <p:nvPicPr>
          <p:cNvPr id="64" name="Icon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700" y="3909441"/>
            <a:ext cx="420000" cy="321117"/>
          </a:xfrm>
          <a:prstGeom prst="rect">
            <a:avLst/>
          </a:prstGeom>
        </p:spPr>
      </p:pic>
      <p:sp>
        <p:nvSpPr>
          <p:cNvPr id="84" name="Row 4 text"/>
          <p:cNvSpPr txBox="1"/>
          <p:nvPr/>
        </p:nvSpPr>
        <p:spPr>
          <a:xfrm>
            <a:off x="871700" y="3860000"/>
            <a:ext cx="79606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Outras: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IBM Cloud, Alibaba Cloud, DigitalOcean e provedores nacionais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4400000"/>
            <a:ext cx="8520600" cy="4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11700" y="4400000"/>
            <a:ext cx="70000" cy="4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1700" y="44800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 dirty="0" err="1">
                <a:solidFill>
                  <a:srgbClr val="181C23"/>
                </a:solidFill>
                <a:latin typeface="Ubuntu"/>
              </a:rPr>
              <a:t>Todas</a:t>
            </a:r>
            <a:r>
              <a:rPr sz="115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150" b="0" i="1" dirty="0" err="1">
                <a:solidFill>
                  <a:srgbClr val="181C23"/>
                </a:solidFill>
                <a:latin typeface="Ubuntu"/>
              </a:rPr>
              <a:t>vendem</a:t>
            </a:r>
            <a:r>
              <a:rPr sz="1150" b="0" i="1" dirty="0">
                <a:solidFill>
                  <a:srgbClr val="181C23"/>
                </a:solidFill>
                <a:latin typeface="Ubuntu"/>
              </a:rPr>
              <a:t> o </a:t>
            </a:r>
            <a:r>
              <a:rPr sz="1150" b="0" i="1" dirty="0" err="1">
                <a:solidFill>
                  <a:srgbClr val="181C23"/>
                </a:solidFill>
                <a:latin typeface="Ubuntu"/>
              </a:rPr>
              <a:t>mesmo</a:t>
            </a:r>
            <a:r>
              <a:rPr sz="115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150" b="0" i="1" dirty="0" err="1">
                <a:solidFill>
                  <a:srgbClr val="181C23"/>
                </a:solidFill>
                <a:latin typeface="Ubuntu"/>
              </a:rPr>
              <a:t>tipo</a:t>
            </a:r>
            <a:r>
              <a:rPr sz="1150" b="0" i="1" dirty="0">
                <a:solidFill>
                  <a:srgbClr val="181C23"/>
                </a:solidFill>
                <a:latin typeface="Ubuntu"/>
              </a:rPr>
              <a:t> de </a:t>
            </a:r>
            <a:r>
              <a:rPr sz="1150" b="0" i="1" dirty="0" err="1">
                <a:solidFill>
                  <a:srgbClr val="181C23"/>
                </a:solidFill>
                <a:latin typeface="Ubuntu"/>
              </a:rPr>
              <a:t>serviço</a:t>
            </a:r>
            <a:r>
              <a:rPr sz="115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150" b="0" i="1" dirty="0" err="1">
                <a:solidFill>
                  <a:srgbClr val="181C23"/>
                </a:solidFill>
                <a:latin typeface="Ubuntu"/>
              </a:rPr>
              <a:t>em</a:t>
            </a:r>
            <a:r>
              <a:rPr sz="115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150" b="0" i="1" dirty="0" err="1">
                <a:solidFill>
                  <a:srgbClr val="181C23"/>
                </a:solidFill>
                <a:latin typeface="Ubuntu"/>
              </a:rPr>
              <a:t>nuvem</a:t>
            </a:r>
            <a:r>
              <a:rPr sz="1150" b="0" i="1" dirty="0">
                <a:solidFill>
                  <a:srgbClr val="181C23"/>
                </a:solidFill>
                <a:latin typeface="Ubuntu"/>
              </a:rPr>
              <a:t>; a </a:t>
            </a:r>
            <a:r>
              <a:rPr sz="1150" b="0" i="1" dirty="0" err="1">
                <a:solidFill>
                  <a:srgbClr val="181C23"/>
                </a:solidFill>
                <a:latin typeface="Ubuntu"/>
              </a:rPr>
              <a:t>escolha</a:t>
            </a:r>
            <a:r>
              <a:rPr sz="115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150" b="0" i="1" dirty="0" err="1">
                <a:solidFill>
                  <a:srgbClr val="181C23"/>
                </a:solidFill>
                <a:latin typeface="Ubuntu"/>
              </a:rPr>
              <a:t>depende</a:t>
            </a:r>
            <a:r>
              <a:rPr sz="1150" b="0" i="1" dirty="0">
                <a:solidFill>
                  <a:srgbClr val="181C23"/>
                </a:solidFill>
                <a:latin typeface="Ubuntu"/>
              </a:rPr>
              <a:t> de </a:t>
            </a:r>
            <a:r>
              <a:rPr sz="1150" b="0" i="1" dirty="0" err="1">
                <a:solidFill>
                  <a:srgbClr val="181C23"/>
                </a:solidFill>
                <a:latin typeface="Ubuntu"/>
              </a:rPr>
              <a:t>preço</a:t>
            </a:r>
            <a:r>
              <a:rPr sz="1150" b="0" i="1" dirty="0">
                <a:solidFill>
                  <a:srgbClr val="181C23"/>
                </a:solidFill>
                <a:latin typeface="Ubuntu"/>
              </a:rPr>
              <a:t>, </a:t>
            </a:r>
            <a:r>
              <a:rPr sz="1150" b="0" i="1" dirty="0" err="1">
                <a:solidFill>
                  <a:srgbClr val="181C23"/>
                </a:solidFill>
                <a:latin typeface="Ubuntu"/>
              </a:rPr>
              <a:t>serviços</a:t>
            </a:r>
            <a:r>
              <a:rPr sz="115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150" b="0" i="1" dirty="0" err="1">
                <a:solidFill>
                  <a:srgbClr val="181C23"/>
                </a:solidFill>
                <a:latin typeface="Ubuntu"/>
              </a:rPr>
              <a:t>disponíveis</a:t>
            </a:r>
            <a:r>
              <a:rPr sz="1150" b="0" i="1" dirty="0">
                <a:solidFill>
                  <a:srgbClr val="181C23"/>
                </a:solidFill>
                <a:latin typeface="Ubuntu"/>
              </a:rPr>
              <a:t> e do </a:t>
            </a:r>
            <a:r>
              <a:rPr sz="1150" b="0" i="1" dirty="0" err="1">
                <a:solidFill>
                  <a:srgbClr val="181C23"/>
                </a:solidFill>
                <a:latin typeface="Ubuntu"/>
              </a:rPr>
              <a:t>ecossistema</a:t>
            </a:r>
            <a:r>
              <a:rPr sz="115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150" b="0" i="1" dirty="0" err="1">
                <a:solidFill>
                  <a:srgbClr val="181C23"/>
                </a:solidFill>
                <a:latin typeface="Ubuntu"/>
              </a:rPr>
              <a:t>que</a:t>
            </a:r>
            <a:r>
              <a:rPr sz="1150" b="0" i="1" dirty="0">
                <a:solidFill>
                  <a:srgbClr val="181C23"/>
                </a:solidFill>
                <a:latin typeface="Ubuntu"/>
              </a:rPr>
              <a:t> a </a:t>
            </a:r>
            <a:r>
              <a:rPr sz="1150" b="0" i="1" dirty="0" err="1">
                <a:solidFill>
                  <a:srgbClr val="181C23"/>
                </a:solidFill>
                <a:latin typeface="Ubuntu"/>
              </a:rPr>
              <a:t>empresa</a:t>
            </a:r>
            <a:r>
              <a:rPr sz="115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150" b="0" i="1" dirty="0" err="1">
                <a:solidFill>
                  <a:srgbClr val="181C23"/>
                </a:solidFill>
                <a:latin typeface="Ubuntu"/>
              </a:rPr>
              <a:t>já</a:t>
            </a:r>
            <a:r>
              <a:rPr sz="115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150" b="0" i="1" dirty="0" err="1">
                <a:solidFill>
                  <a:srgbClr val="181C23"/>
                </a:solidFill>
                <a:latin typeface="Ubuntu"/>
              </a:rPr>
              <a:t>usa</a:t>
            </a:r>
            <a:r>
              <a:rPr sz="1150" b="0" i="1" dirty="0">
                <a:solidFill>
                  <a:srgbClr val="181C23"/>
                </a:solidFill>
                <a:latin typeface="Ubuntu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06 — Cloud Computing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300" b="11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EXERCÍCIO EM TURMA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Debate: On-Premises vs. Nuvem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3"/>
          <a:srcRect t="18985" b="18985"/>
          <a:stretch>
            <a:fillRect/>
          </a:stretch>
        </p:blipFill>
        <p:spPr>
          <a:xfrm>
            <a:off x="311700" y="1740000"/>
            <a:ext cx="4110300" cy="2150000"/>
          </a:xfrm>
          <a:prstGeom prst="rect">
            <a:avLst/>
          </a:prstGeom>
        </p:spPr>
      </p:pic>
      <p:sp>
        <p:nvSpPr>
          <p:cNvPr id="61" name="Label60"/>
          <p:cNvSpPr txBox="1"/>
          <p:nvPr/>
        </p:nvSpPr>
        <p:spPr>
          <a:xfrm>
            <a:off x="311700" y="3960000"/>
            <a:ext cx="41103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181C23"/>
                </a:solidFill>
                <a:latin typeface="Ubuntu Medium"/>
              </a:rPr>
              <a:t>On-Premises</a:t>
            </a:r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4"/>
          <a:srcRect t="18985" b="18985"/>
          <a:stretch>
            <a:fillRect/>
          </a:stretch>
        </p:blipFill>
        <p:spPr>
          <a:xfrm>
            <a:off x="4722000" y="1740000"/>
            <a:ext cx="4110300" cy="2150000"/>
          </a:xfrm>
          <a:prstGeom prst="rect">
            <a:avLst/>
          </a:prstGeom>
        </p:spPr>
      </p:pic>
      <p:sp>
        <p:nvSpPr>
          <p:cNvPr id="71" name="Label70"/>
          <p:cNvSpPr txBox="1"/>
          <p:nvPr/>
        </p:nvSpPr>
        <p:spPr>
          <a:xfrm>
            <a:off x="4722000" y="3960000"/>
            <a:ext cx="41103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181C23"/>
                </a:solidFill>
                <a:latin typeface="Ubuntu Medium"/>
              </a:rPr>
              <a:t>Nuvem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4400000"/>
            <a:ext cx="8520600" cy="4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11700" y="4400000"/>
            <a:ext cx="70000" cy="4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1700" y="4480000"/>
            <a:ext cx="8120600" cy="175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pt-PT" sz="1150" b="0" i="1">
                <a:solidFill>
                  <a:srgbClr val="181C23"/>
                </a:solidFill>
                <a:latin typeface="Ubuntu"/>
              </a:rPr>
              <a:t>Cada um de vocês me digam</a:t>
            </a:r>
            <a:r>
              <a:rPr sz="1150" b="0" i="1" dirty="0">
                <a:solidFill>
                  <a:srgbClr val="181C23"/>
                </a:solidFill>
                <a:latin typeface="Ubuntu"/>
              </a:rPr>
              <a:t>: </a:t>
            </a:r>
            <a:r>
              <a:rPr lang="pt-PT" sz="1150" b="0" i="1">
                <a:solidFill>
                  <a:srgbClr val="181C23"/>
                </a:solidFill>
                <a:latin typeface="Ubuntu"/>
              </a:rPr>
              <a:t>Três gastos</a:t>
            </a:r>
            <a:r>
              <a:rPr sz="1150" b="0" i="1" dirty="0">
                <a:solidFill>
                  <a:srgbClr val="181C23"/>
                </a:solidFill>
                <a:latin typeface="Ubuntu"/>
              </a:rPr>
              <a:t> e </a:t>
            </a:r>
            <a:r>
              <a:rPr lang="pt-PT" sz="1150" b="0" i="1">
                <a:solidFill>
                  <a:srgbClr val="181C23"/>
                </a:solidFill>
                <a:latin typeface="Ubuntu"/>
              </a:rPr>
              <a:t>três preocupações</a:t>
            </a:r>
            <a:r>
              <a:rPr sz="1150" b="0" i="1" dirty="0">
                <a:solidFill>
                  <a:srgbClr val="181C23"/>
                </a:solidFill>
                <a:latin typeface="Ubuntu"/>
              </a:rPr>
              <a:t> de </a:t>
            </a:r>
            <a:r>
              <a:rPr lang="pt-PT" sz="1150" b="0" i="1">
                <a:solidFill>
                  <a:srgbClr val="181C23"/>
                </a:solidFill>
                <a:latin typeface="Ubuntu"/>
              </a:rPr>
              <a:t>cada</a:t>
            </a:r>
            <a:r>
              <a:rPr sz="115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lang="pt-PT" sz="1150" b="0" i="1">
                <a:solidFill>
                  <a:srgbClr val="181C23"/>
                </a:solidFill>
                <a:latin typeface="Ubuntu"/>
              </a:rPr>
              <a:t>modelo</a:t>
            </a:r>
            <a:r>
              <a:rPr sz="1150" b="0" i="1" dirty="0">
                <a:solidFill>
                  <a:srgbClr val="181C23"/>
                </a:solidFill>
                <a:latin typeface="Ubuntu"/>
              </a:rPr>
              <a:t>. </a:t>
            </a:r>
            <a:r>
              <a:rPr lang="pt-PT" sz="1150" b="0" i="1">
                <a:solidFill>
                  <a:srgbClr val="181C23"/>
                </a:solidFill>
                <a:latin typeface="Ubuntu"/>
              </a:rPr>
              <a:t>Bora debater isso! :D</a:t>
            </a:r>
            <a:endParaRPr sz="1150" b="0" i="1" dirty="0">
              <a:solidFill>
                <a:srgbClr val="181C23"/>
              </a:solidFill>
              <a:latin typeface="Ubuntu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06 — Cloud Computing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300" b="11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On-Premises vs Cloud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4130300" cy="303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4130300" cy="320000"/>
          </a:xfrm>
          <a:prstGeom prst="roundRect">
            <a:avLst>
              <a:gd name="adj" fmla="val 4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00" y="1746148"/>
            <a:ext cx="38303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Ubuntu Medium"/>
              </a:rPr>
              <a:t>On-Premises</a:t>
            </a:r>
          </a:p>
        </p:txBody>
      </p:sp>
      <p:sp>
        <p:nvSpPr>
          <p:cNvPr id="9" name="Oval 8"/>
          <p:cNvSpPr/>
          <p:nvPr/>
        </p:nvSpPr>
        <p:spPr>
          <a:xfrm>
            <a:off x="461700" y="2445817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700" y="2206148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Servidores físicos na empresa</a:t>
            </a:r>
          </a:p>
        </p:txBody>
      </p:sp>
      <p:sp>
        <p:nvSpPr>
          <p:cNvPr id="11" name="Oval 10"/>
          <p:cNvSpPr/>
          <p:nvPr/>
        </p:nvSpPr>
        <p:spPr>
          <a:xfrm>
            <a:off x="461700" y="3065155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700" y="2825486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Alto investimento inicial</a:t>
            </a:r>
          </a:p>
        </p:txBody>
      </p:sp>
      <p:sp>
        <p:nvSpPr>
          <p:cNvPr id="13" name="Oval 12"/>
          <p:cNvSpPr/>
          <p:nvPr/>
        </p:nvSpPr>
        <p:spPr>
          <a:xfrm>
            <a:off x="461700" y="3684493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700" y="3444824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Você cuida de tudo: energia, manutenção</a:t>
            </a:r>
          </a:p>
        </p:txBody>
      </p:sp>
      <p:sp>
        <p:nvSpPr>
          <p:cNvPr id="15" name="Oval 14"/>
          <p:cNvSpPr/>
          <p:nvPr/>
        </p:nvSpPr>
        <p:spPr>
          <a:xfrm>
            <a:off x="461700" y="4303831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700" y="4064162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Capacidade fixa, difícil de escalar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2000" y="1746148"/>
            <a:ext cx="4130300" cy="303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02000" y="1746148"/>
            <a:ext cx="4130300" cy="320000"/>
          </a:xfrm>
          <a:prstGeom prst="roundRect">
            <a:avLst>
              <a:gd name="adj" fmla="val 4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52000" y="1746148"/>
            <a:ext cx="38303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81C23"/>
                </a:solidFill>
                <a:latin typeface="Ubuntu Medium"/>
              </a:rPr>
              <a:t>Cloud Computing</a:t>
            </a:r>
          </a:p>
        </p:txBody>
      </p:sp>
      <p:sp>
        <p:nvSpPr>
          <p:cNvPr id="20" name="Oval 19"/>
          <p:cNvSpPr/>
          <p:nvPr/>
        </p:nvSpPr>
        <p:spPr>
          <a:xfrm>
            <a:off x="4852000" y="2445817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2000" y="2206148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Servidores na internet</a:t>
            </a:r>
          </a:p>
        </p:txBody>
      </p:sp>
      <p:sp>
        <p:nvSpPr>
          <p:cNvPr id="22" name="Oval 21"/>
          <p:cNvSpPr/>
          <p:nvPr/>
        </p:nvSpPr>
        <p:spPr>
          <a:xfrm>
            <a:off x="4852000" y="3065155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22000" y="2825486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Pague apenas pelo que usar</a:t>
            </a:r>
          </a:p>
        </p:txBody>
      </p:sp>
      <p:sp>
        <p:nvSpPr>
          <p:cNvPr id="24" name="Oval 23"/>
          <p:cNvSpPr/>
          <p:nvPr/>
        </p:nvSpPr>
        <p:spPr>
          <a:xfrm>
            <a:off x="4852000" y="3684493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2000" y="3444824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O provedor cuida da infraestrutura</a:t>
            </a:r>
          </a:p>
        </p:txBody>
      </p:sp>
      <p:sp>
        <p:nvSpPr>
          <p:cNvPr id="26" name="Oval 25"/>
          <p:cNvSpPr/>
          <p:nvPr/>
        </p:nvSpPr>
        <p:spPr>
          <a:xfrm>
            <a:off x="4852000" y="4303831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2000" y="4064162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Escala em minutos conforme a demanda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06 — Cloud Computing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300" b="11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MODELOS DE SERVIÇO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IaaS, PaaS e SaaS — Responsabilidades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425684" y="1686148"/>
            <a:ext cx="4292631" cy="262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loud_mod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684" y="1746148"/>
            <a:ext cx="4172631" cy="25073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253500"/>
            <a:ext cx="85206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6A707D"/>
                </a:solidFill>
                <a:latin typeface="Ubuntu"/>
              </a:rPr>
              <a:t>Quanto mais alto o modelo, menos você gerencia.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700" y="4683500"/>
            <a:ext cx="85206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1">
                <a:solidFill>
                  <a:srgbClr val="6A707D"/>
                </a:solidFill>
                <a:latin typeface="Ubuntu"/>
              </a:rPr>
              <a:t>Fonte: learn.microsoft.com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06 — Cloud Computing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300" b="11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MODELOS DE SERVIÇO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Entendendo IaaS, PaaS e SaaS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IaaS: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aluga servidores, rede e storage (AWS EC2, Azure VM)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272986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272986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242986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PaaS: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você entrega o código; o resto é do provedor (Heroku)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769824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769824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739824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dirty="0">
                <a:solidFill>
                  <a:srgbClr val="181C23"/>
                </a:solidFill>
                <a:latin typeface="Ubuntu Medium"/>
              </a:rPr>
              <a:t>SaaS: 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software pronto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pelo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browser (Gmail, Office 365)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3266662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3266662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3382104"/>
            <a:ext cx="8020600" cy="2059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dirty="0">
                <a:solidFill>
                  <a:srgbClr val="181C23"/>
                </a:solidFill>
                <a:latin typeface="Ubuntu Medium"/>
              </a:rPr>
              <a:t>FaaS: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paga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só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quando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a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função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executa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(AWS Lambda</a:t>
            </a:r>
            <a:r>
              <a:rPr lang="pt-PT" sz="1400" b="0" i="0" dirty="0">
                <a:solidFill>
                  <a:srgbClr val="6A707D"/>
                </a:solidFill>
                <a:latin typeface="Ubuntu"/>
              </a:rPr>
              <a:t>, </a:t>
            </a:r>
            <a:r>
              <a:rPr lang="pt-PT" sz="1400" b="0" i="0" dirty="0" err="1">
                <a:solidFill>
                  <a:srgbClr val="6A707D"/>
                </a:solidFill>
                <a:latin typeface="Ubuntu"/>
              </a:rPr>
              <a:t>Azure</a:t>
            </a:r>
            <a:r>
              <a:rPr lang="pt-PT" sz="1400" b="0" i="0" dirty="0">
                <a:solidFill>
                  <a:srgbClr val="6A707D"/>
                </a:solidFill>
                <a:latin typeface="Ubuntu"/>
              </a:rPr>
              <a:t> </a:t>
            </a:r>
            <a:r>
              <a:rPr lang="pt-PT" sz="1400" b="0" i="0" dirty="0" err="1">
                <a:solidFill>
                  <a:srgbClr val="6A707D"/>
                </a:solidFill>
                <a:latin typeface="Ubuntu"/>
              </a:rPr>
              <a:t>Functions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ANALOGIA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Ubuntu"/>
              </a:rPr>
              <a:t>IaaS = comprar terreno e construir. PaaS = alugar apartamento mobiliado. SaaS = hotel: você só usa, sem preocupação. Mais conforto, menos flexibilidade!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06 — Cloud Computing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300" b="11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IMPLANTAÇÃO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Modelos de Implantação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Nuvem Pública: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recursos compartilhados (AWS, Azure, GCP)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272986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272986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242986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Nuvem Privada: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uso exclusivo de uma organização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769824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769824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739824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Nuvem Híbrida: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combina pública e privada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3266662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3266662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3236662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Multi-cloud: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dois ou mais provedores ao mesmo tempo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ANALOGIA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Ubuntu"/>
              </a:rPr>
              <a:t>Nuvem pública é o transporte coletivo (barato e eficiente). Privada é o carro particular (controle total). Híbrida é ter carro, mas pegar o ônibus quando compensa.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06 — Cloud Computing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300" b="11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VANTAGENS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Benefícios da Cloud Computing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Agilidade: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provisione recursos em minutos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17361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17361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14361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Elasticidade: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escale para cima ou para baixo sob demanda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57108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57108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54108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Economia: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sem grande investimento inicial (pay-as-you-go)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296855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296855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293855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Alcance global: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implante em data centers pelo mundo</a:t>
            </a:r>
          </a:p>
        </p:txBody>
      </p:sp>
      <p:sp>
        <p:nvSpPr>
          <p:cNvPr id="18" name="Oval 17"/>
          <p:cNvSpPr/>
          <p:nvPr/>
        </p:nvSpPr>
        <p:spPr>
          <a:xfrm>
            <a:off x="311700" y="336602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1700" y="336602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00" y="333602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Segurança: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provedores investem bilhões em proteção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ANALOGIA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Ubuntu"/>
              </a:rPr>
              <a:t>É como ligar e desligar a luz: você paga só pelas lâmpadas acesas. A nuvem faz isso com computação — use quando precisar e pague o que consumir.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06 — Cloud Computing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300" b="11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DEMO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Azure SQL Server e Banco de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000" y="1677622"/>
            <a:ext cx="2600000" cy="2144403"/>
          </a:xfrm>
          <a:prstGeom prst="rect">
            <a:avLst/>
          </a:prstGeom>
        </p:spPr>
      </p:pic>
      <p:sp>
        <p:nvSpPr>
          <p:cNvPr id="100" name="Oval 100"/>
          <p:cNvSpPr/>
          <p:nvPr/>
        </p:nvSpPr>
        <p:spPr>
          <a:xfrm>
            <a:off x="311700" y="1760000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811700" y="1670000"/>
            <a:ext cx="490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81C23"/>
                </a:solidFill>
                <a:latin typeface="Ubuntu Medium"/>
              </a:rPr>
              <a:t>Criar o servidor: </a:t>
            </a:r>
            <a:r>
              <a:rPr sz="1250" b="0" i="0">
                <a:solidFill>
                  <a:srgbClr val="6A707D"/>
                </a:solidFill>
                <a:latin typeface="Ubuntu"/>
              </a:rPr>
              <a:t>no portal do Azure, crie um SQL Server lógico com usuário e senha admin</a:t>
            </a:r>
          </a:p>
        </p:txBody>
      </p:sp>
      <p:sp>
        <p:nvSpPr>
          <p:cNvPr id="101" name="Oval 101"/>
          <p:cNvSpPr/>
          <p:nvPr/>
        </p:nvSpPr>
        <p:spPr>
          <a:xfrm>
            <a:off x="311700" y="2315000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11700" y="2272030"/>
            <a:ext cx="4900000" cy="3859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 dirty="0" err="1">
                <a:solidFill>
                  <a:srgbClr val="181C23"/>
                </a:solidFill>
                <a:latin typeface="Ubuntu Medium"/>
              </a:rPr>
              <a:t>Criar</a:t>
            </a:r>
            <a:r>
              <a:rPr sz="1250" b="0" i="0" dirty="0">
                <a:solidFill>
                  <a:srgbClr val="181C23"/>
                </a:solidFill>
                <a:latin typeface="Ubuntu Medium"/>
              </a:rPr>
              <a:t> o banco: </a:t>
            </a:r>
            <a:r>
              <a:rPr sz="1250" b="0" i="0" dirty="0" err="1">
                <a:solidFill>
                  <a:srgbClr val="6A707D"/>
                </a:solidFill>
                <a:latin typeface="Ubuntu"/>
              </a:rPr>
              <a:t>adicione</a:t>
            </a:r>
            <a:r>
              <a:rPr sz="1250" b="0" i="0" dirty="0">
                <a:solidFill>
                  <a:srgbClr val="6A707D"/>
                </a:solidFill>
                <a:latin typeface="Ubuntu"/>
              </a:rPr>
              <a:t> um Azure SQL Database ao </a:t>
            </a:r>
            <a:r>
              <a:rPr sz="1250" b="0" i="0" dirty="0" err="1">
                <a:solidFill>
                  <a:srgbClr val="6A707D"/>
                </a:solidFill>
                <a:latin typeface="Ubuntu"/>
              </a:rPr>
              <a:t>servidor</a:t>
            </a:r>
            <a:r>
              <a:rPr sz="1250" b="0" i="0" dirty="0">
                <a:solidFill>
                  <a:srgbClr val="6A707D"/>
                </a:solidFill>
                <a:latin typeface="Ubuntu"/>
              </a:rPr>
              <a:t> e </a:t>
            </a:r>
            <a:r>
              <a:rPr sz="1250" b="0" i="0" dirty="0" err="1">
                <a:solidFill>
                  <a:srgbClr val="6A707D"/>
                </a:solidFill>
                <a:latin typeface="Ubuntu"/>
              </a:rPr>
              <a:t>escolha</a:t>
            </a:r>
            <a:r>
              <a:rPr sz="1250" b="0" i="0" dirty="0">
                <a:solidFill>
                  <a:srgbClr val="6A707D"/>
                </a:solidFill>
                <a:latin typeface="Ubuntu"/>
              </a:rPr>
              <a:t> o tier de </a:t>
            </a:r>
            <a:r>
              <a:rPr sz="1250" b="0" i="0" dirty="0" err="1">
                <a:solidFill>
                  <a:srgbClr val="6A707D"/>
                </a:solidFill>
                <a:latin typeface="Ubuntu"/>
              </a:rPr>
              <a:t>custo</a:t>
            </a:r>
            <a:r>
              <a:rPr lang="pt-PT" sz="1250" b="0" i="0" dirty="0">
                <a:solidFill>
                  <a:srgbClr val="6A707D"/>
                </a:solidFill>
                <a:latin typeface="Ubuntu"/>
              </a:rPr>
              <a:t> (Free)</a:t>
            </a:r>
            <a:endParaRPr sz="1250" b="0" i="0" dirty="0">
              <a:solidFill>
                <a:srgbClr val="6A707D"/>
              </a:solidFill>
              <a:latin typeface="Ubuntu"/>
            </a:endParaRPr>
          </a:p>
        </p:txBody>
      </p:sp>
      <p:sp>
        <p:nvSpPr>
          <p:cNvPr id="102" name="Oval 102"/>
          <p:cNvSpPr/>
          <p:nvPr/>
        </p:nvSpPr>
        <p:spPr>
          <a:xfrm>
            <a:off x="311700" y="2870000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811700" y="2780000"/>
            <a:ext cx="490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81C23"/>
                </a:solidFill>
                <a:latin typeface="Ubuntu Medium"/>
              </a:rPr>
              <a:t>Liberar acesso: </a:t>
            </a:r>
            <a:r>
              <a:rPr sz="1250" b="0" i="0">
                <a:solidFill>
                  <a:srgbClr val="6A707D"/>
                </a:solidFill>
                <a:latin typeface="Ubuntu"/>
              </a:rPr>
              <a:t>configure o firewall para permitir o seu IP e serviços do Azure</a:t>
            </a:r>
          </a:p>
        </p:txBody>
      </p:sp>
      <p:sp>
        <p:nvSpPr>
          <p:cNvPr id="103" name="Oval 103"/>
          <p:cNvSpPr/>
          <p:nvPr/>
        </p:nvSpPr>
        <p:spPr>
          <a:xfrm>
            <a:off x="311700" y="3425000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811700" y="3382030"/>
            <a:ext cx="4900000" cy="3859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 dirty="0" err="1">
                <a:solidFill>
                  <a:srgbClr val="181C23"/>
                </a:solidFill>
                <a:latin typeface="Ubuntu Medium"/>
              </a:rPr>
              <a:t>Criar</a:t>
            </a:r>
            <a:r>
              <a:rPr sz="1250" b="0" i="0" dirty="0">
                <a:solidFill>
                  <a:srgbClr val="181C23"/>
                </a:solidFill>
                <a:latin typeface="Ubuntu Medium"/>
              </a:rPr>
              <a:t> a </a:t>
            </a:r>
            <a:r>
              <a:rPr sz="1250" b="0" i="0" dirty="0" err="1">
                <a:solidFill>
                  <a:srgbClr val="181C23"/>
                </a:solidFill>
                <a:latin typeface="Ubuntu Medium"/>
              </a:rPr>
              <a:t>tabela</a:t>
            </a:r>
            <a:r>
              <a:rPr sz="1250" b="0" i="0" dirty="0">
                <a:solidFill>
                  <a:srgbClr val="181C23"/>
                </a:solidFill>
                <a:latin typeface="Ubuntu Medium"/>
              </a:rPr>
              <a:t>: </a:t>
            </a:r>
            <a:r>
              <a:rPr sz="1250" b="0" i="0" dirty="0">
                <a:solidFill>
                  <a:srgbClr val="6A707D"/>
                </a:solidFill>
                <a:latin typeface="Ubuntu"/>
              </a:rPr>
              <a:t>no Query Editor, rode o CREATE TABLE products (id, </a:t>
            </a:r>
            <a:r>
              <a:rPr lang="pt-PT" sz="1250" b="0" i="0" dirty="0" err="1">
                <a:solidFill>
                  <a:srgbClr val="6A707D"/>
                </a:solidFill>
                <a:latin typeface="Ubuntu"/>
              </a:rPr>
              <a:t>name</a:t>
            </a:r>
            <a:r>
              <a:rPr sz="1250" b="0" i="0" dirty="0">
                <a:solidFill>
                  <a:srgbClr val="6A707D"/>
                </a:solidFill>
                <a:latin typeface="Ubuntu"/>
              </a:rPr>
              <a:t>, </a:t>
            </a:r>
            <a:r>
              <a:rPr lang="pt-PT" sz="1250" b="0" i="0" dirty="0" err="1">
                <a:solidFill>
                  <a:srgbClr val="6A707D"/>
                </a:solidFill>
                <a:latin typeface="Ubuntu"/>
              </a:rPr>
              <a:t>price</a:t>
            </a:r>
            <a:r>
              <a:rPr sz="1250" b="0" i="0" dirty="0">
                <a:solidFill>
                  <a:srgbClr val="6A707D"/>
                </a:solidFill>
                <a:latin typeface="Ubuntu"/>
              </a:rPr>
              <a:t>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DICA DA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 dirty="0" err="1">
                <a:solidFill>
                  <a:srgbClr val="181C23"/>
                </a:solidFill>
                <a:latin typeface="Ubuntu"/>
              </a:rPr>
              <a:t>Mostre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o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custo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estimado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ao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escolher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o tier: é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aqui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que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o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modelo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pay-as-you-go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fica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visível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06 — Cloud Computing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300" b="11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DEMO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 dirty="0">
                <a:solidFill>
                  <a:srgbClr val="181C23"/>
                </a:solidFill>
                <a:latin typeface="Ubuntu Medium"/>
              </a:rPr>
              <a:t>Function App</a:t>
            </a:r>
            <a:r>
              <a:rPr lang="pt-PT" sz="2600" b="0" i="0" dirty="0">
                <a:solidFill>
                  <a:srgbClr val="181C23"/>
                </a:solidFill>
                <a:latin typeface="Ubuntu Medium"/>
              </a:rPr>
              <a:t> </a:t>
            </a:r>
            <a:r>
              <a:rPr sz="2600" b="0" i="0" dirty="0">
                <a:solidFill>
                  <a:srgbClr val="181C23"/>
                </a:solidFill>
                <a:latin typeface="Ubuntu Medium"/>
              </a:rPr>
              <a:t>.NET com CRUD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700" y="1643648"/>
            <a:ext cx="2600000" cy="2155198"/>
          </a:xfrm>
          <a:prstGeom prst="rect">
            <a:avLst/>
          </a:prstGeom>
        </p:spPr>
      </p:pic>
      <p:sp>
        <p:nvSpPr>
          <p:cNvPr id="100" name="Oval 100"/>
          <p:cNvSpPr/>
          <p:nvPr/>
        </p:nvSpPr>
        <p:spPr>
          <a:xfrm>
            <a:off x="311700" y="1760000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811700" y="1670000"/>
            <a:ext cx="490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81C23"/>
                </a:solidFill>
                <a:latin typeface="Ubuntu Medium"/>
              </a:rPr>
              <a:t>Criar a Function App: </a:t>
            </a:r>
            <a:r>
              <a:rPr sz="1250" b="0" i="0">
                <a:solidFill>
                  <a:srgbClr val="6A707D"/>
                </a:solidFill>
                <a:latin typeface="Ubuntu"/>
              </a:rPr>
              <a:t>runtime .NET, plano de consumo e região próxima do banco</a:t>
            </a:r>
          </a:p>
        </p:txBody>
      </p:sp>
      <p:sp>
        <p:nvSpPr>
          <p:cNvPr id="101" name="Oval 101"/>
          <p:cNvSpPr/>
          <p:nvPr/>
        </p:nvSpPr>
        <p:spPr>
          <a:xfrm>
            <a:off x="311700" y="2315000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11700" y="2225000"/>
            <a:ext cx="490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81C23"/>
                </a:solidFill>
                <a:latin typeface="Ubuntu Medium"/>
              </a:rPr>
              <a:t>Configurar a conexão: </a:t>
            </a:r>
            <a:r>
              <a:rPr sz="1250" b="0" i="0">
                <a:solidFill>
                  <a:srgbClr val="6A707D"/>
                </a:solidFill>
                <a:latin typeface="Ubuntu"/>
              </a:rPr>
              <a:t>guarde a connection string do SQL nas Application Settings</a:t>
            </a:r>
          </a:p>
        </p:txBody>
      </p:sp>
      <p:sp>
        <p:nvSpPr>
          <p:cNvPr id="102" name="Oval 102"/>
          <p:cNvSpPr/>
          <p:nvPr/>
        </p:nvSpPr>
        <p:spPr>
          <a:xfrm>
            <a:off x="311700" y="2870000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811700" y="2780000"/>
            <a:ext cx="490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81C23"/>
                </a:solidFill>
                <a:latin typeface="Ubuntu Medium"/>
              </a:rPr>
              <a:t>Codar a API: </a:t>
            </a:r>
            <a:r>
              <a:rPr sz="1250" b="0" i="0">
                <a:solidFill>
                  <a:srgbClr val="6A707D"/>
                </a:solidFill>
                <a:latin typeface="Ubuntu"/>
              </a:rPr>
              <a:t>functions HTTP trigger para GET, POST, PUT e DELETE em products</a:t>
            </a:r>
          </a:p>
        </p:txBody>
      </p:sp>
      <p:sp>
        <p:nvSpPr>
          <p:cNvPr id="103" name="Oval 103"/>
          <p:cNvSpPr/>
          <p:nvPr/>
        </p:nvSpPr>
        <p:spPr>
          <a:xfrm>
            <a:off x="311700" y="3425000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811700" y="3382030"/>
            <a:ext cx="4900000" cy="3859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 dirty="0">
                <a:solidFill>
                  <a:srgbClr val="181C23"/>
                </a:solidFill>
                <a:latin typeface="Ubuntu Medium"/>
              </a:rPr>
              <a:t>Fazer o deploy: </a:t>
            </a:r>
            <a:r>
              <a:rPr sz="1250" b="0" i="0" dirty="0">
                <a:solidFill>
                  <a:srgbClr val="6A707D"/>
                </a:solidFill>
                <a:latin typeface="Ubuntu"/>
              </a:rPr>
              <a:t>publique </a:t>
            </a:r>
            <a:r>
              <a:rPr sz="1250" b="0" i="0" dirty="0" err="1">
                <a:solidFill>
                  <a:srgbClr val="6A707D"/>
                </a:solidFill>
                <a:latin typeface="Ubuntu"/>
              </a:rPr>
              <a:t>pelo</a:t>
            </a:r>
            <a:r>
              <a:rPr sz="1250" b="0" i="0" dirty="0">
                <a:solidFill>
                  <a:srgbClr val="6A707D"/>
                </a:solidFill>
                <a:latin typeface="Ubuntu"/>
              </a:rPr>
              <a:t> VS Code</a:t>
            </a:r>
            <a:r>
              <a:rPr lang="pt-PT" sz="1250" b="0" i="0" dirty="0">
                <a:solidFill>
                  <a:srgbClr val="6A707D"/>
                </a:solidFill>
                <a:latin typeface="Ubuntu"/>
              </a:rPr>
              <a:t>, Visual </a:t>
            </a:r>
            <a:r>
              <a:rPr lang="pt-PT" sz="1250" b="0" i="0" dirty="0" err="1">
                <a:solidFill>
                  <a:srgbClr val="6A707D"/>
                </a:solidFill>
                <a:latin typeface="Ubuntu"/>
              </a:rPr>
              <a:t>Studio</a:t>
            </a:r>
            <a:r>
              <a:rPr sz="1250" b="0" i="0" dirty="0">
                <a:solidFill>
                  <a:srgbClr val="6A707D"/>
                </a:solidFill>
                <a:latin typeface="Ubuntu"/>
              </a:rPr>
              <a:t> </a:t>
            </a:r>
            <a:r>
              <a:rPr sz="1250" b="0" i="0" dirty="0" err="1">
                <a:solidFill>
                  <a:srgbClr val="6A707D"/>
                </a:solidFill>
                <a:latin typeface="Ubuntu"/>
              </a:rPr>
              <a:t>ou</a:t>
            </a:r>
            <a:r>
              <a:rPr sz="1250" b="0" i="0" dirty="0">
                <a:solidFill>
                  <a:srgbClr val="6A707D"/>
                </a:solidFill>
                <a:latin typeface="Ubuntu"/>
              </a:rPr>
              <a:t> Azure CLI e teste </a:t>
            </a:r>
            <a:r>
              <a:rPr sz="1250" b="0" i="0" dirty="0" err="1">
                <a:solidFill>
                  <a:srgbClr val="6A707D"/>
                </a:solidFill>
                <a:latin typeface="Ubuntu"/>
              </a:rPr>
              <a:t>os</a:t>
            </a:r>
            <a:r>
              <a:rPr sz="1250" b="0" i="0" dirty="0">
                <a:solidFill>
                  <a:srgbClr val="6A707D"/>
                </a:solidFill>
                <a:latin typeface="Ubuntu"/>
              </a:rPr>
              <a:t> endpoints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DICA DA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Ubuntu"/>
              </a:rPr>
              <a:t>Serverless na prática: você só entrega o código, o Azure cuida de servidor e escala.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06 — Cloud Computing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300" b="11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DEMO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Monitoramento com Application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000" y="1800000"/>
            <a:ext cx="2000000" cy="2000000"/>
          </a:xfrm>
          <a:prstGeom prst="rect">
            <a:avLst/>
          </a:prstGeom>
        </p:spPr>
      </p:pic>
      <p:sp>
        <p:nvSpPr>
          <p:cNvPr id="100" name="Oval 100"/>
          <p:cNvSpPr/>
          <p:nvPr/>
        </p:nvSpPr>
        <p:spPr>
          <a:xfrm>
            <a:off x="311700" y="1760000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811700" y="1670000"/>
            <a:ext cx="490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81C23"/>
                </a:solidFill>
                <a:latin typeface="Ubuntu Medium"/>
              </a:rPr>
              <a:t>Ativar o recurso: </a:t>
            </a:r>
            <a:r>
              <a:rPr sz="1250" b="0" i="0">
                <a:solidFill>
                  <a:srgbClr val="6A707D"/>
                </a:solidFill>
                <a:latin typeface="Ubuntu"/>
              </a:rPr>
              <a:t>vincule o Application Insights à Function App</a:t>
            </a:r>
          </a:p>
        </p:txBody>
      </p:sp>
      <p:sp>
        <p:nvSpPr>
          <p:cNvPr id="101" name="Oval 101"/>
          <p:cNvSpPr/>
          <p:nvPr/>
        </p:nvSpPr>
        <p:spPr>
          <a:xfrm>
            <a:off x="311700" y="2315000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11700" y="2225000"/>
            <a:ext cx="490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81C23"/>
                </a:solidFill>
                <a:latin typeface="Ubuntu Medium"/>
              </a:rPr>
              <a:t>Gerar tráfego: </a:t>
            </a:r>
            <a:r>
              <a:rPr sz="1250" b="0" i="0">
                <a:solidFill>
                  <a:srgbClr val="6A707D"/>
                </a:solidFill>
                <a:latin typeface="Ubuntu"/>
              </a:rPr>
              <a:t>execute algumas chamadas CRUD, incluindo uma que falhe de propósito</a:t>
            </a:r>
          </a:p>
        </p:txBody>
      </p:sp>
      <p:sp>
        <p:nvSpPr>
          <p:cNvPr id="102" name="Oval 102"/>
          <p:cNvSpPr/>
          <p:nvPr/>
        </p:nvSpPr>
        <p:spPr>
          <a:xfrm>
            <a:off x="311700" y="2870000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811700" y="2780000"/>
            <a:ext cx="490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81C23"/>
                </a:solidFill>
                <a:latin typeface="Ubuntu Medium"/>
              </a:rPr>
              <a:t>Ver o Live Metrics: </a:t>
            </a:r>
            <a:r>
              <a:rPr sz="1250" b="0" i="0">
                <a:solidFill>
                  <a:srgbClr val="6A707D"/>
                </a:solidFill>
                <a:latin typeface="Ubuntu"/>
              </a:rPr>
              <a:t>acompanhe requisições, falhas e tempo de resposta em tempo real</a:t>
            </a:r>
          </a:p>
        </p:txBody>
      </p:sp>
      <p:sp>
        <p:nvSpPr>
          <p:cNvPr id="103" name="Oval 103"/>
          <p:cNvSpPr/>
          <p:nvPr/>
        </p:nvSpPr>
        <p:spPr>
          <a:xfrm>
            <a:off x="311700" y="3425000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811700" y="3335000"/>
            <a:ext cx="490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81C23"/>
                </a:solidFill>
                <a:latin typeface="Ubuntu Medium"/>
              </a:rPr>
              <a:t>Consultar logs: </a:t>
            </a:r>
            <a:r>
              <a:rPr sz="1250" b="0" i="0">
                <a:solidFill>
                  <a:srgbClr val="6A707D"/>
                </a:solidFill>
                <a:latin typeface="Ubuntu"/>
              </a:rPr>
              <a:t>use o Logs (KQL) em requests e exceptions para investigar os erros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DICA DA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Ubuntu"/>
              </a:rPr>
              <a:t>Observabilidade é parte da arquitetura: sem logs, o problema em produção vira adivinhação.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06 — Cloud Computing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300" b="11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Recapitulando a Aula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On-Premises: controle total, custo alto. Cloud: flexível, paga pelo uso.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IaaS = infraestrutura, PaaS = plataforma, SaaS = software.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Implantação: pública (compartilhada), privada (dedicada) e híbrida.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Benefícios: agilidade, elasticidade, economia e alcance global.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06 — Cloud Computing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1310</Words>
  <Application>Microsoft Office PowerPoint</Application>
  <PresentationFormat>On-screen Show (16:9)</PresentationFormat>
  <Paragraphs>216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Lato</vt:lpstr>
      <vt:lpstr>Ubuntu Medium</vt:lpstr>
      <vt:lpstr>Arial</vt:lpstr>
      <vt:lpstr>Ubuntu Light</vt:lpstr>
      <vt:lpstr>Ubuntu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4</cp:revision>
  <dcterms:modified xsi:type="dcterms:W3CDTF">2026-08-21T21:09:10Z</dcterms:modified>
</cp:coreProperties>
</file>