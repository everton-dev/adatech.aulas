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22"/>
  </p:notesMasterIdLst>
  <p:sldIdLst>
    <p:sldId id="256" r:id="rId2"/>
    <p:sldId id="257" r:id="rId3"/>
    <p:sldId id="266" r:id="rId4"/>
    <p:sldId id="265" r:id="rId5"/>
    <p:sldId id="259" r:id="rId6"/>
    <p:sldId id="267" r:id="rId7"/>
    <p:sldId id="268" r:id="rId8"/>
    <p:sldId id="269" r:id="rId9"/>
    <p:sldId id="270" r:id="rId10"/>
    <p:sldId id="260" r:id="rId11"/>
    <p:sldId id="271" r:id="rId12"/>
    <p:sldId id="261" r:id="rId13"/>
    <p:sldId id="302" r:id="rId14"/>
    <p:sldId id="301" r:id="rId15"/>
    <p:sldId id="310" r:id="rId16"/>
    <p:sldId id="300" r:id="rId17"/>
    <p:sldId id="311" r:id="rId18"/>
    <p:sldId id="303" r:id="rId19"/>
    <p:sldId id="304" r:id="rId20"/>
    <p:sldId id="264" r:id="rId2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Fira Code" panose="020B0809050000020004" pitchFamily="49" charset="0"/>
      <p:regular r:id="rId27"/>
      <p:bold r:id="rId28"/>
    </p:embeddedFon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Ubuntu" panose="020B0504030602030204" pitchFamily="34" charset="0"/>
      <p:regular r:id="rId33"/>
      <p:bold r:id="rId34"/>
      <p:italic r:id="rId35"/>
      <p:boldItalic r:id="rId36"/>
    </p:embeddedFont>
    <p:embeddedFont>
      <p:font typeface="Ubuntu Light" panose="020B0304030602030204" pitchFamily="34" charset="0"/>
      <p:regular r:id="rId37"/>
      <p:bold r:id="rId38"/>
      <p:italic r:id="rId39"/>
      <p:boldItalic r:id="rId40"/>
    </p:embeddedFont>
    <p:embeddedFont>
      <p:font typeface="Ubuntu Medium" panose="020B060403060203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3344482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900000"/>
            <a:ext cx="24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A6F750"/>
                </a:solidFill>
                <a:latin typeface="Ubuntu Light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5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Ubuntu Medium"/>
              </a:rPr>
              <a:t>AULA 04  ·  Segunda, 17/08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20000"/>
            <a:ext cx="66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81C23"/>
                </a:solidFill>
                <a:latin typeface="Ubuntu Medium"/>
              </a:rPr>
              <a:t>Proxy Reverso e 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Ubuntu Light"/>
              </a:rPr>
              <a:t>Intermediários inteligentes e o catálogo da internet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Ubuntu"/>
              </a:rPr>
              <a:t>Módulo · Arquitetura de Serviços 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10/08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Introdução ao Módulo e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9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996148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371FF"/>
                </a:solidFill>
                <a:latin typeface="Ubuntu Medium"/>
              </a:rPr>
              <a:t>Qu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i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 1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3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Arquitetura de Servidores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21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14/08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Apache e Nginx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11700" y="2621932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A6F750"/>
                </a:solidFill>
                <a:latin typeface="Ubuntu Medium"/>
              </a:rPr>
              <a:t>Seg 17/08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DF8"/>
                </a:solidFill>
                <a:latin typeface="Ubuntu"/>
              </a:rPr>
              <a:t>Proxy Reverso e DNS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19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19/08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19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CI/CD e Ciclo de Vida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21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21/08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Cloud Computing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24/08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537716"/>
            <a:ext cx="25902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Arquitetura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de Dados e Data Warehouse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19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dirty="0">
                <a:solidFill>
                  <a:srgbClr val="2371FF"/>
                </a:solidFill>
                <a:latin typeface="Ubuntu Medium"/>
              </a:rPr>
              <a:t>Ter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 2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5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Data Lake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Qua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 2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6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537716"/>
            <a:ext cx="25902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Concluir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atividades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e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preencher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rubricas</a:t>
            </a:r>
            <a:endParaRPr sz="1100" b="0" i="0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dirty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Ubuntu Medium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Ubuntu Medium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pPr defTabSz="457200"/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00" y="3703500"/>
            <a:ext cx="2839028" cy="503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Câmera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ligada</a:t>
            </a:r>
            <a:r>
              <a:rPr lang="pt-PT"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+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mão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levantada</a:t>
            </a:r>
            <a:endParaRPr sz="1500" b="0" i="0" dirty="0">
              <a:solidFill>
                <a:schemeClr val="bg1"/>
              </a:solidFill>
              <a:latin typeface="Ubuntu Medium"/>
            </a:endParaRPr>
          </a:p>
          <a:p>
            <a:pPr algn="ctr">
              <a:lnSpc>
                <a:spcPct val="115000"/>
              </a:lnSpc>
            </a:pPr>
            <a:r>
              <a:rPr sz="1500" b="0" i="0" dirty="0">
                <a:solidFill>
                  <a:srgbClr val="A6F750"/>
                </a:solidFill>
                <a:latin typeface="Ubuntu Medium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00" y="4361167"/>
            <a:ext cx="283902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181C23"/>
                </a:solidFill>
                <a:latin typeface="Ubuntu Medium"/>
              </a:rPr>
              <a:t>INTERVALO · </a:t>
            </a:r>
            <a:r>
              <a:rPr lang="pt-PT" sz="1200" b="0" i="0" dirty="0">
                <a:solidFill>
                  <a:srgbClr val="181C23"/>
                </a:solidFill>
                <a:latin typeface="Ubuntu Medium"/>
              </a:rPr>
              <a:t>16:30 BRT</a:t>
            </a:r>
            <a:endParaRPr sz="12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  <p:pic>
        <p:nvPicPr>
          <p:cNvPr id="34" name="VideoConf">
            <a:extLst>
              <a:ext uri="{FF2B5EF4-FFF2-40B4-BE49-F238E27FC236}">
                <a16:creationId xmlns:a16="http://schemas.microsoft.com/office/drawing/2014/main" id="{9AA18BD3-746B-6E67-FBD7-72460F8DF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92" y="2480575"/>
            <a:ext cx="1150000" cy="1150000"/>
          </a:xfrm>
          <a:prstGeom prst="rect">
            <a:avLst/>
          </a:prstGeom>
        </p:spPr>
      </p:pic>
      <p:pic>
        <p:nvPicPr>
          <p:cNvPr id="36" name="RaiseHand">
            <a:extLst>
              <a:ext uri="{FF2B5EF4-FFF2-40B4-BE49-F238E27FC236}">
                <a16:creationId xmlns:a16="http://schemas.microsoft.com/office/drawing/2014/main" id="{A619174F-F337-F752-FD34-362E34583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092" y="2480575"/>
            <a:ext cx="115000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REVIEW!</a:t>
            </a:r>
            <a:endParaRPr sz="1100" b="0" i="0" dirty="0">
              <a:solidFill>
                <a:srgbClr val="2371FF"/>
              </a:solidFill>
              <a:latin typeface="Ubuntu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 err="1">
                <a:solidFill>
                  <a:srgbClr val="181C23"/>
                </a:solidFill>
                <a:latin typeface="Ubuntu Medium"/>
              </a:rPr>
              <a:t>Recapitulando</a:t>
            </a:r>
            <a:r>
              <a:rPr sz="2600" b="0" i="0" dirty="0">
                <a:solidFill>
                  <a:srgbClr val="181C23"/>
                </a:solidFill>
                <a:latin typeface="Ubuntu Medium"/>
              </a:rPr>
              <a:t> a Aula</a:t>
            </a:r>
            <a:r>
              <a:rPr lang="pt-PT" sz="2600" b="0" i="0" dirty="0">
                <a:solidFill>
                  <a:srgbClr val="181C23"/>
                </a:solidFill>
                <a:latin typeface="Ubuntu Medium"/>
              </a:rPr>
              <a:t> 3</a:t>
            </a:r>
            <a:endParaRPr sz="26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Apache: veterano e modular, uma thread/processo por requisição — ótimo para flexibilidade.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Nginx: assíncrono por eventos — ótimo para alta concorrência e proxy reverso.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Podem trabalhar juntos: Nginx na frente (proxy) + Apache/Tomcat atrás (app).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Docker facilita instalar e testar qualquer servidor web.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PROXY REVERSO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Proxy Reverso — O Segurança do Prédio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05957"/>
            <a:ext cx="4394712" cy="225773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oxy_reverso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065957"/>
            <a:ext cx="4274712" cy="21377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Ubuntu"/>
              </a:rPr>
              <a:t>Fonte: cloudflare.com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76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76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Fica na frente: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recebe as requisições dos clientes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0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0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Esconde o backend: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o cliente só fala com o proxy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04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04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Balanceia carga: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distribui o tráfego entre servidores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68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68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Protege e faz cache: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absorve ataques e acelera respostas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PROXY REVERSO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2400" b="0" i="0">
                <a:solidFill>
                  <a:srgbClr val="181C23"/>
                </a:solidFill>
                <a:latin typeface="Ubuntu Medium"/>
              </a:rPr>
              <a:t>Nginx como proxy reverso no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191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300" b="0" i="0">
                <a:solidFill>
                  <a:srgbClr val="6A707D"/>
                </a:solidFill>
                <a:latin typeface="Ubuntu"/>
              </a:rPr>
              <a:t>Um container Nginx na frente; as APIs ficam atrás, na rede interna.</a:t>
            </a:r>
          </a:p>
        </p:txBody>
      </p:sp>
      <p:sp>
        <p:nvSpPr>
          <p:cNvPr id="7" name="Steps"/>
          <p:cNvSpPr txBox="1"/>
          <p:nvPr/>
        </p:nvSpPr>
        <p:spPr>
          <a:xfrm>
            <a:off x="311700" y="2126148"/>
            <a:ext cx="3900000" cy="2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000" b="1" i="0">
                <a:solidFill>
                  <a:srgbClr val="2371FF"/>
                </a:solidFill>
                <a:latin typeface="Ubuntu Medium"/>
              </a:rPr>
              <a:t>Passo a passo</a:t>
            </a:r>
          </a:p>
          <a:p>
            <a:pPr algn="l">
              <a:lnSpc>
                <a:spcPct val="110000"/>
              </a:lnSpc>
            </a:pPr>
            <a:r>
              <a:rPr lang="pt-BR" sz="400" b="0" i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50" b="0" i="0">
                <a:solidFill>
                  <a:srgbClr val="181C23"/>
                </a:solidFill>
                <a:latin typeface="Ubuntu"/>
              </a:rPr>
              <a:t>1 · Escreva o nginx.conf com os upstreams e as rotas /api.</a:t>
            </a:r>
          </a:p>
          <a:p>
            <a:pPr algn="l">
              <a:lnSpc>
                <a:spcPct val="110000"/>
              </a:lnSpc>
            </a:pPr>
            <a:r>
              <a:rPr lang="pt-BR" sz="400" b="0" i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50" b="0" i="0">
                <a:solidFill>
                  <a:srgbClr val="181C23"/>
                </a:solidFill>
                <a:latin typeface="Ubuntu"/>
              </a:rPr>
              <a:t>2 · Crie a imagem do gateway a partir do nginx:alpine.</a:t>
            </a:r>
          </a:p>
          <a:p>
            <a:pPr algn="l">
              <a:lnSpc>
                <a:spcPct val="110000"/>
              </a:lnSpc>
            </a:pPr>
            <a:r>
              <a:rPr lang="pt-BR" sz="400" b="0" i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50" b="0" i="0">
                <a:solidFill>
                  <a:srgbClr val="181C23"/>
                </a:solidFill>
                <a:latin typeface="Ubuntu"/>
              </a:rPr>
              <a:t>3 · Publique apenas a porta 8080 do gateway.</a:t>
            </a:r>
          </a:p>
          <a:p>
            <a:pPr algn="l">
              <a:lnSpc>
                <a:spcPct val="110000"/>
              </a:lnSpc>
            </a:pPr>
            <a:r>
              <a:rPr lang="pt-BR" sz="400" b="0" i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50" b="0" i="0">
                <a:solidFill>
                  <a:srgbClr val="181C23"/>
                </a:solidFill>
                <a:latin typeface="Ubuntu"/>
              </a:rPr>
              <a:t>4 · Coloque todos os containers na mesma rede Docker.</a:t>
            </a:r>
          </a:p>
        </p:txBody>
      </p:sp>
      <p:sp>
        <p:nvSpPr>
          <p:cNvPr id="20" name="CodeCard"/>
          <p:cNvSpPr/>
          <p:nvPr/>
        </p:nvSpPr>
        <p:spPr>
          <a:xfrm>
            <a:off x="4431700" y="2126148"/>
            <a:ext cx="4400600" cy="2450000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deBar"/>
          <p:cNvSpPr/>
          <p:nvPr/>
        </p:nvSpPr>
        <p:spPr>
          <a:xfrm>
            <a:off x="4431700" y="2126148"/>
            <a:ext cx="440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2"/>
          <p:cNvSpPr/>
          <p:nvPr/>
        </p:nvSpPr>
        <p:spPr>
          <a:xfrm>
            <a:off x="458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3"/>
          <p:cNvSpPr/>
          <p:nvPr/>
        </p:nvSpPr>
        <p:spPr>
          <a:xfrm>
            <a:off x="478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4"/>
          <p:cNvSpPr/>
          <p:nvPr/>
        </p:nvSpPr>
        <p:spPr>
          <a:xfrm>
            <a:off x="498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deLabel"/>
          <p:cNvSpPr txBox="1"/>
          <p:nvPr/>
        </p:nvSpPr>
        <p:spPr>
          <a:xfrm>
            <a:off x="4431700" y="2126148"/>
            <a:ext cx="44006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lang="pt-BR" sz="900" b="0" i="0">
                <a:solidFill>
                  <a:srgbClr val="6A707D"/>
                </a:solidFill>
                <a:latin typeface="Fira Code"/>
              </a:rPr>
              <a:t>estrutura do projeto</a:t>
            </a:r>
          </a:p>
        </p:txBody>
      </p:sp>
      <p:sp>
        <p:nvSpPr>
          <p:cNvPr id="26" name="CodeText"/>
          <p:cNvSpPr txBox="1"/>
          <p:nvPr/>
        </p:nvSpPr>
        <p:spPr>
          <a:xfrm>
            <a:off x="4631700" y="2526148"/>
            <a:ext cx="4000600" cy="19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projeto/</a:t>
            </a:r>
          </a:p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├── docker-compose.yml</a:t>
            </a:r>
          </a:p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├── gateway/</a:t>
            </a:r>
          </a:p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│   ├── Dockerfile</a:t>
            </a:r>
          </a:p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│   └── nginx.conf</a:t>
            </a:r>
          </a:p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├── messages/</a:t>
            </a:r>
          </a:p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└── payments/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2400" b="0" i="0">
                <a:solidFill>
                  <a:srgbClr val="181C23"/>
                </a:solidFill>
                <a:latin typeface="Ubuntu Medium"/>
              </a:rPr>
              <a:t>O arquivo nginx.conf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191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300" b="0" i="0">
                <a:solidFill>
                  <a:srgbClr val="6A707D"/>
                </a:solidFill>
                <a:latin typeface="Ubuntu"/>
              </a:rPr>
              <a:t>Cada upstream aponta para o nome do container; o location repassa o caminho.</a:t>
            </a:r>
          </a:p>
        </p:txBody>
      </p:sp>
      <p:sp>
        <p:nvSpPr>
          <p:cNvPr id="20" name="CodeCard"/>
          <p:cNvSpPr/>
          <p:nvPr/>
        </p:nvSpPr>
        <p:spPr>
          <a:xfrm>
            <a:off x="311700" y="2126148"/>
            <a:ext cx="8520600" cy="2300000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deBar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2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3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4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deLabel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lang="pt-BR" sz="900" b="0" i="0">
                <a:solidFill>
                  <a:srgbClr val="6A707D"/>
                </a:solidFill>
                <a:latin typeface="Fira Code"/>
              </a:rPr>
              <a:t>gateway/nginx.conf</a:t>
            </a:r>
          </a:p>
        </p:txBody>
      </p:sp>
      <p:sp>
        <p:nvSpPr>
          <p:cNvPr id="26" name="CodeText"/>
          <p:cNvSpPr txBox="1"/>
          <p:nvPr/>
        </p:nvSpPr>
        <p:spPr>
          <a:xfrm>
            <a:off x="511700" y="2526148"/>
            <a:ext cx="8120600" cy="2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upstream messages { server messages:3000; }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upstream payments { server payments:4000; }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server {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listen 8080;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location /api/messages/ {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    proxy_pass http://messages/;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    proxy_set_header Host $host;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}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location /api/payments/ {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    proxy_pass http://payments/;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}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2400" b="0" i="0">
                <a:solidFill>
                  <a:srgbClr val="181C23"/>
                </a:solidFill>
                <a:latin typeface="Ubuntu Medium"/>
              </a:rPr>
              <a:t>Rede Docker: só o gateway é exposto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191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300" b="0" i="0">
                <a:solidFill>
                  <a:srgbClr val="6A707D"/>
                </a:solidFill>
                <a:latin typeface="Ubuntu"/>
              </a:rPr>
              <a:t>Sem portas publicadas, as APIs existem apenas dentro da rede interna.</a:t>
            </a:r>
          </a:p>
        </p:txBody>
      </p:sp>
      <p:sp>
        <p:nvSpPr>
          <p:cNvPr id="7" name="Net"/>
          <p:cNvSpPr txBox="1"/>
          <p:nvPr/>
        </p:nvSpPr>
        <p:spPr>
          <a:xfrm>
            <a:off x="311700" y="2126148"/>
            <a:ext cx="4100000" cy="2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000" b="1" i="0" dirty="0">
                <a:solidFill>
                  <a:srgbClr val="2371FF"/>
                </a:solidFill>
                <a:latin typeface="Ubuntu Medium"/>
              </a:rPr>
              <a:t>Isolando as APIs</a:t>
            </a:r>
          </a:p>
          <a:p>
            <a:pPr algn="l">
              <a:lnSpc>
                <a:spcPct val="110000"/>
              </a:lnSpc>
            </a:pPr>
            <a:r>
              <a:rPr lang="pt-BR" sz="400" b="0" i="0" dirty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Crie uma rede bridge própria: os containers se enxergam pelo nome do serviço.</a:t>
            </a:r>
          </a:p>
          <a:p>
            <a:pPr algn="l">
              <a:lnSpc>
                <a:spcPct val="110000"/>
              </a:lnSpc>
            </a:pPr>
            <a:r>
              <a:rPr lang="pt-BR" sz="400" b="0" i="0" dirty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Só o gateway publica portas (8080:80) para o host.</a:t>
            </a:r>
          </a:p>
          <a:p>
            <a:pPr algn="l">
              <a:lnSpc>
                <a:spcPct val="110000"/>
              </a:lnSpc>
            </a:pPr>
            <a:r>
              <a:rPr lang="pt-BR" sz="400" b="0" i="0" dirty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As APIs não publicam nada — usam expose e ficam invisíveis de fora.</a:t>
            </a:r>
          </a:p>
          <a:p>
            <a:pPr algn="l">
              <a:lnSpc>
                <a:spcPct val="110000"/>
              </a:lnSpc>
            </a:pPr>
            <a:r>
              <a:rPr lang="pt-BR" sz="400" b="0" i="0" dirty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Resultado: a única porta de entrada é o proxy reverso.</a:t>
            </a:r>
          </a:p>
        </p:txBody>
      </p:sp>
      <p:pic>
        <p:nvPicPr>
          <p:cNvPr id="60" name="Diagrama de rede" descr="Diagrama: gateway na frente e duas APIs dentro da rede inter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686" y="2160000"/>
            <a:ext cx="3906027" cy="2373797"/>
          </a:xfrm>
          <a:prstGeom prst="rect">
            <a:avLst/>
          </a:prstGeom>
        </p:spPr>
      </p:pic>
      <p:sp>
        <p:nvSpPr>
          <p:cNvPr id="61" name="Legenda"/>
          <p:cNvSpPr txBox="1"/>
          <p:nvPr/>
        </p:nvSpPr>
        <p:spPr>
          <a:xfrm>
            <a:off x="4731700" y="4570000"/>
            <a:ext cx="395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850" b="0" i="0">
                <a:solidFill>
                  <a:srgbClr val="6A707D"/>
                </a:solidFill>
                <a:latin typeface="Ubuntu"/>
              </a:rPr>
              <a:t>Cliente → gateway (8080) → APIs na rede interna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2400" b="0" i="0">
                <a:solidFill>
                  <a:srgbClr val="181C23"/>
                </a:solidFill>
                <a:latin typeface="Ubuntu Medium"/>
              </a:rPr>
              <a:t>Toda a topologia em um docker-compose.yml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191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300" b="0" i="0">
                <a:solidFill>
                  <a:srgbClr val="6A707D"/>
                </a:solidFill>
                <a:latin typeface="Ubuntu"/>
              </a:rPr>
              <a:t>Um arquivo descreve serviços, rede e dependências da aplicação.</a:t>
            </a:r>
          </a:p>
        </p:txBody>
      </p:sp>
      <p:sp>
        <p:nvSpPr>
          <p:cNvPr id="7" name="Why"/>
          <p:cNvSpPr txBox="1"/>
          <p:nvPr/>
        </p:nvSpPr>
        <p:spPr>
          <a:xfrm>
            <a:off x="311700" y="2126148"/>
            <a:ext cx="3900000" cy="2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000" b="1" i="0" dirty="0">
                <a:solidFill>
                  <a:srgbClr val="2371FF"/>
                </a:solidFill>
                <a:latin typeface="Ubuntu Medium"/>
              </a:rPr>
              <a:t>Por que usar Compose</a:t>
            </a:r>
          </a:p>
          <a:p>
            <a:pPr algn="l">
              <a:lnSpc>
                <a:spcPct val="110000"/>
              </a:lnSpc>
            </a:pPr>
            <a:r>
              <a:rPr lang="pt-BR" sz="400" b="0" i="0" dirty="0">
                <a:solidFill>
                  <a:srgbClr val="181C23"/>
                </a:solidFill>
                <a:latin typeface="Ubuntu"/>
              </a:rPr>
              <a:t> </a:t>
            </a:r>
          </a:p>
          <a:p>
            <a:pPr marL="171450" indent="-17145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pt-BR" sz="1100" b="1" i="0" dirty="0">
                <a:solidFill>
                  <a:srgbClr val="181C23"/>
                </a:solidFill>
                <a:latin typeface="Ubuntu"/>
              </a:rPr>
              <a:t>Reprodutível</a:t>
            </a: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: o ambiente inteiro sobe com um docker compose up.</a:t>
            </a:r>
            <a:endParaRPr lang="pt-BR" sz="400" b="0" i="0" dirty="0">
              <a:solidFill>
                <a:srgbClr val="181C23"/>
              </a:solidFill>
              <a:latin typeface="Ubuntu"/>
            </a:endParaRPr>
          </a:p>
          <a:p>
            <a:pPr marL="171450" indent="-17145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A </a:t>
            </a:r>
            <a:r>
              <a:rPr lang="pt-BR" sz="1100" b="1" i="0" dirty="0">
                <a:solidFill>
                  <a:srgbClr val="181C23"/>
                </a:solidFill>
                <a:latin typeface="Ubuntu"/>
              </a:rPr>
              <a:t>rede</a:t>
            </a: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 e o </a:t>
            </a:r>
            <a:r>
              <a:rPr lang="pt-BR" sz="1100" b="1" i="0" dirty="0">
                <a:solidFill>
                  <a:srgbClr val="181C23"/>
                </a:solidFill>
                <a:latin typeface="Ubuntu"/>
              </a:rPr>
              <a:t>DNS</a:t>
            </a: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 interno dos serviços são criados automaticamente.</a:t>
            </a:r>
            <a:endParaRPr lang="pt-BR" sz="400" b="0" i="0" dirty="0">
              <a:solidFill>
                <a:srgbClr val="181C23"/>
              </a:solidFill>
              <a:latin typeface="Ubuntu"/>
            </a:endParaRPr>
          </a:p>
          <a:p>
            <a:pPr marL="171450" indent="-17145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pt-BR" sz="1100" b="1" i="0" dirty="0">
                <a:solidFill>
                  <a:srgbClr val="181C23"/>
                </a:solidFill>
                <a:latin typeface="Ubuntu"/>
              </a:rPr>
              <a:t>depends_on</a:t>
            </a: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 organiza a ordem de subida dos containers.</a:t>
            </a:r>
            <a:endParaRPr lang="pt-BR" sz="400" b="0" i="0" dirty="0">
              <a:solidFill>
                <a:srgbClr val="181C23"/>
              </a:solidFill>
              <a:latin typeface="Ubuntu"/>
            </a:endParaRPr>
          </a:p>
          <a:p>
            <a:pPr marL="171450" indent="-17145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pt-BR" sz="1100" b="1" i="0" dirty="0">
                <a:solidFill>
                  <a:srgbClr val="181C23"/>
                </a:solidFill>
                <a:latin typeface="Ubuntu"/>
              </a:rPr>
              <a:t>Infra como código</a:t>
            </a: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: tudo versionado no Git junto do projeto.</a:t>
            </a:r>
          </a:p>
        </p:txBody>
      </p:sp>
      <p:sp>
        <p:nvSpPr>
          <p:cNvPr id="20" name="CodeCard"/>
          <p:cNvSpPr/>
          <p:nvPr/>
        </p:nvSpPr>
        <p:spPr>
          <a:xfrm>
            <a:off x="4431700" y="2126149"/>
            <a:ext cx="4400600" cy="2500000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deBar"/>
          <p:cNvSpPr/>
          <p:nvPr/>
        </p:nvSpPr>
        <p:spPr>
          <a:xfrm>
            <a:off x="4431700" y="2126148"/>
            <a:ext cx="440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2"/>
          <p:cNvSpPr/>
          <p:nvPr/>
        </p:nvSpPr>
        <p:spPr>
          <a:xfrm>
            <a:off x="458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3"/>
          <p:cNvSpPr/>
          <p:nvPr/>
        </p:nvSpPr>
        <p:spPr>
          <a:xfrm>
            <a:off x="478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4"/>
          <p:cNvSpPr/>
          <p:nvPr/>
        </p:nvSpPr>
        <p:spPr>
          <a:xfrm>
            <a:off x="498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deLabel"/>
          <p:cNvSpPr txBox="1"/>
          <p:nvPr/>
        </p:nvSpPr>
        <p:spPr>
          <a:xfrm>
            <a:off x="4431700" y="2126148"/>
            <a:ext cx="44006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lang="pt-BR" sz="900" b="0" i="0">
                <a:solidFill>
                  <a:srgbClr val="6A707D"/>
                </a:solidFill>
                <a:latin typeface="Fira Code"/>
              </a:rPr>
              <a:t>docker-compose.yml</a:t>
            </a:r>
          </a:p>
        </p:txBody>
      </p:sp>
      <p:sp>
        <p:nvSpPr>
          <p:cNvPr id="26" name="CodeText"/>
          <p:cNvSpPr txBox="1"/>
          <p:nvPr/>
        </p:nvSpPr>
        <p:spPr>
          <a:xfrm>
            <a:off x="4631700" y="2448658"/>
            <a:ext cx="4000600" cy="20923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services: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meu-gateway: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ports: ["8080:80"]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networks: [rede-publica, rede-interna]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depends_on: [messages, payments]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messages: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build: ./messages</a:t>
            </a:r>
          </a:p>
          <a:p>
            <a:pPr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networks: [</a:t>
            </a:r>
            <a:r>
              <a:rPr lang="pt-BR" sz="800" dirty="0">
                <a:solidFill>
                  <a:srgbClr val="A6F750"/>
                </a:solidFill>
                <a:latin typeface="Fira Code"/>
              </a:rPr>
              <a:t>rede-</a:t>
            </a: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interna]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payments: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build: ./payments</a:t>
            </a:r>
          </a:p>
          <a:p>
            <a:pPr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networks: [</a:t>
            </a:r>
            <a:r>
              <a:rPr lang="pt-BR" sz="800" dirty="0">
                <a:solidFill>
                  <a:srgbClr val="A6F750"/>
                </a:solidFill>
                <a:latin typeface="Fira Code"/>
              </a:rPr>
              <a:t>rede-</a:t>
            </a: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interna]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networks:</a:t>
            </a:r>
          </a:p>
          <a:p>
            <a:pPr>
              <a:lnSpc>
                <a:spcPct val="112000"/>
              </a:lnSpc>
            </a:pPr>
            <a:r>
              <a:rPr lang="pt-BR" sz="800" dirty="0">
                <a:solidFill>
                  <a:srgbClr val="A6F750"/>
                </a:solidFill>
                <a:latin typeface="Fira Code"/>
              </a:rPr>
              <a:t>  rede-publica:</a:t>
            </a:r>
            <a:endParaRPr lang="pt-BR" sz="800" b="0" i="0" dirty="0">
              <a:solidFill>
                <a:srgbClr val="A6F750"/>
              </a:solidFill>
              <a:latin typeface="Fira Code"/>
            </a:endParaRPr>
          </a:p>
          <a:p>
            <a:pPr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</a:t>
            </a:r>
            <a:r>
              <a:rPr lang="pt-BR" sz="800" dirty="0">
                <a:solidFill>
                  <a:srgbClr val="A6F750"/>
                </a:solidFill>
                <a:latin typeface="Fira Code"/>
              </a:rPr>
              <a:t>rede-</a:t>
            </a: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interna: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internal: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>
                <a:solidFill>
                  <a:srgbClr val="181C23"/>
                </a:solidFill>
                <a:latin typeface="Ubuntu Medium"/>
              </a:rPr>
              <a:t>Proxy Reverso </a:t>
            </a:r>
            <a:r>
              <a:rPr lang="pt-PT" sz="2600" b="0" i="0" dirty="0">
                <a:solidFill>
                  <a:srgbClr val="181C23"/>
                </a:solidFill>
                <a:latin typeface="Ubuntu Medium"/>
              </a:rPr>
              <a:t>e </a:t>
            </a:r>
            <a:r>
              <a:rPr lang="pt-PT" sz="2600" b="0" i="0" dirty="0" err="1">
                <a:solidFill>
                  <a:srgbClr val="181C23"/>
                </a:solidFill>
                <a:latin typeface="Ubuntu Medium"/>
              </a:rPr>
              <a:t>APIs</a:t>
            </a:r>
            <a:endParaRPr sz="26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191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PT" sz="1300" b="0" i="0" dirty="0">
                <a:solidFill>
                  <a:srgbClr val="6A707D"/>
                </a:solidFill>
                <a:latin typeface="Ubuntu"/>
              </a:rPr>
              <a:t>Crie </a:t>
            </a:r>
            <a:r>
              <a:rPr sz="1300" b="0" i="0" dirty="0">
                <a:solidFill>
                  <a:srgbClr val="6A707D"/>
                </a:solidFill>
                <a:latin typeface="Ubuntu"/>
              </a:rPr>
              <a:t>um </a:t>
            </a:r>
            <a:r>
              <a:rPr lang="pt-PT" sz="1300" b="0" i="0" dirty="0">
                <a:solidFill>
                  <a:srgbClr val="6A707D"/>
                </a:solidFill>
                <a:latin typeface="Ubuntu"/>
              </a:rPr>
              <a:t>proxy reverso que recebe todas as requisições de duas </a:t>
            </a:r>
            <a:r>
              <a:rPr lang="pt-PT" sz="1300" b="0" i="0" dirty="0" err="1">
                <a:solidFill>
                  <a:srgbClr val="6A707D"/>
                </a:solidFill>
                <a:latin typeface="Ubuntu"/>
              </a:rPr>
              <a:t>APIs</a:t>
            </a:r>
            <a:r>
              <a:rPr lang="pt-PT" sz="1300" b="0" i="0" dirty="0">
                <a:solidFill>
                  <a:srgbClr val="6A707D"/>
                </a:solidFill>
                <a:latin typeface="Ubuntu"/>
              </a:rPr>
              <a:t>, </a:t>
            </a:r>
            <a:r>
              <a:rPr sz="1300" b="0" i="0" dirty="0" err="1">
                <a:solidFill>
                  <a:srgbClr val="6A707D"/>
                </a:solidFill>
                <a:latin typeface="Ubuntu"/>
              </a:rPr>
              <a:t>na</a:t>
            </a:r>
            <a:r>
              <a:rPr sz="1300" b="0" i="0" dirty="0">
                <a:solidFill>
                  <a:srgbClr val="6A707D"/>
                </a:solidFill>
                <a:latin typeface="Ubuntu"/>
              </a:rPr>
              <a:t> porta </a:t>
            </a:r>
            <a:r>
              <a:rPr lang="pt-PT" sz="1300" b="0" i="0" dirty="0">
                <a:solidFill>
                  <a:srgbClr val="6A707D"/>
                </a:solidFill>
                <a:latin typeface="Ubuntu"/>
              </a:rPr>
              <a:t>8080/</a:t>
            </a:r>
            <a:r>
              <a:rPr lang="pt-PT" sz="1300" b="0" i="0" dirty="0" err="1">
                <a:solidFill>
                  <a:srgbClr val="6A707D"/>
                </a:solidFill>
                <a:latin typeface="Ubuntu"/>
              </a:rPr>
              <a:t>api</a:t>
            </a:r>
            <a:r>
              <a:rPr sz="1300" b="0" i="0" dirty="0">
                <a:solidFill>
                  <a:srgbClr val="6A707D"/>
                </a:solidFill>
                <a:latin typeface="Ubuntu"/>
              </a:rPr>
              <a:t>: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311700" y="2126148"/>
            <a:ext cx="3900000" cy="2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200" b="1" i="0" dirty="0">
                <a:solidFill>
                  <a:srgbClr val="2371FF"/>
                </a:solidFill>
                <a:latin typeface="Ubuntu Medium"/>
              </a:rPr>
              <a:t>APIs de origem</a:t>
            </a:r>
          </a:p>
          <a:p>
            <a:pPr algn="l">
              <a:lnSpc>
                <a:spcPct val="110000"/>
              </a:lnSpc>
            </a:pPr>
            <a:r>
              <a:rPr lang="pt-BR" sz="1200" b="0" i="0" dirty="0">
                <a:solidFill>
                  <a:srgbClr val="181C23"/>
                </a:solidFill>
                <a:latin typeface="Ubuntu"/>
              </a:rPr>
              <a:t>messages — endpoint day: retorna a mensagem diária.</a:t>
            </a:r>
          </a:p>
          <a:p>
            <a:pPr algn="l">
              <a:lnSpc>
                <a:spcPct val="110000"/>
              </a:lnSpc>
            </a:pPr>
            <a:r>
              <a:rPr lang="pt-BR" sz="1200" b="0" i="0" dirty="0">
                <a:solidFill>
                  <a:srgbClr val="181C23"/>
                </a:solidFill>
                <a:latin typeface="Ubuntu"/>
              </a:rPr>
              <a:t>payments — endpoints pix, creditcard e debit: recebem o valor a ser pago na própria URL.</a:t>
            </a:r>
          </a:p>
          <a:p>
            <a:pPr algn="l">
              <a:lnSpc>
                <a:spcPct val="110000"/>
              </a:lnSpc>
            </a:pPr>
            <a:r>
              <a:rPr lang="pt-BR" sz="1200" b="0" i="0" dirty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200" b="1" i="0" dirty="0">
                <a:solidFill>
                  <a:srgbClr val="2371FF"/>
                </a:solidFill>
                <a:latin typeface="Ubuntu Medium"/>
              </a:rPr>
              <a:t>Containers</a:t>
            </a:r>
          </a:p>
          <a:p>
            <a:pPr algn="l">
              <a:lnSpc>
                <a:spcPct val="110000"/>
              </a:lnSpc>
            </a:pPr>
            <a:r>
              <a:rPr lang="pt-BR" sz="1200" b="0" i="0" dirty="0">
                <a:solidFill>
                  <a:srgbClr val="181C23"/>
                </a:solidFill>
                <a:latin typeface="Ubuntu"/>
              </a:rPr>
              <a:t>meu-gateway  ·  messages  ·  payments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1700" y="2126148"/>
            <a:ext cx="4400600" cy="1900000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31700" y="2126148"/>
            <a:ext cx="440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8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>
            <a:spLocks/>
          </p:cNvSpPr>
          <p:nvPr/>
        </p:nvSpPr>
        <p:spPr>
          <a:xfrm>
            <a:off x="498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TextBox 12"/>
          <p:cNvSpPr txBox="1"/>
          <p:nvPr/>
        </p:nvSpPr>
        <p:spPr>
          <a:xfrm>
            <a:off x="4431700" y="2126148"/>
            <a:ext cx="44006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lang="pt-BR" sz="900" b="0" i="0">
                <a:solidFill>
                  <a:srgbClr val="6A707D"/>
                </a:solidFill>
                <a:latin typeface="Fira Code"/>
              </a:rPr>
              <a:t>requisições ao gateway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4561700" y="2556148"/>
            <a:ext cx="4200600" cy="1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850" b="0" i="0">
                <a:solidFill>
                  <a:srgbClr val="A6F750"/>
                </a:solidFill>
                <a:latin typeface="Fira Code"/>
              </a:rPr>
              <a:t>GET   http://localhost:8080/api/messages/day</a:t>
            </a:r>
          </a:p>
          <a:p>
            <a:pPr algn="l">
              <a:lnSpc>
                <a:spcPct val="110000"/>
              </a:lnSpc>
            </a:pPr>
            <a:r>
              <a:rPr lang="pt-BR" sz="850" b="0" i="0">
                <a:solidFill>
                  <a:srgbClr val="A6F750"/>
                </a:solidFill>
                <a:latin typeface="Fira Code"/>
              </a:rPr>
              <a:t>POST  http://localhost:8080/api/payments/pix/100.50</a:t>
            </a:r>
          </a:p>
          <a:p>
            <a:pPr algn="l">
              <a:lnSpc>
                <a:spcPct val="110000"/>
              </a:lnSpc>
            </a:pPr>
            <a:r>
              <a:rPr lang="pt-BR" sz="850" b="0" i="0">
                <a:solidFill>
                  <a:srgbClr val="A6F750"/>
                </a:solidFill>
                <a:latin typeface="Fira Code"/>
              </a:rPr>
              <a:t>POST  http://localhost:8080/api/payments/creditcard/250.75</a:t>
            </a:r>
          </a:p>
          <a:p>
            <a:pPr algn="l">
              <a:lnSpc>
                <a:spcPct val="110000"/>
              </a:lnSpc>
            </a:pPr>
            <a:r>
              <a:rPr lang="pt-BR" sz="850" b="0" i="0">
                <a:solidFill>
                  <a:srgbClr val="A6F750"/>
                </a:solidFill>
                <a:latin typeface="Fira Code"/>
              </a:rPr>
              <a:t>POST  http://localhost:8080/api/payments/debit/80.25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1700" y="4116148"/>
            <a:ext cx="44006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950" b="0" i="0">
                <a:solidFill>
                  <a:srgbClr val="6A707D"/>
                </a:solidFill>
                <a:latin typeface="Ubuntu"/>
              </a:rPr>
              <a:t>O gateway escuta em localhost:8080/api e encaminha para cada API.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LABORATÓRIO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2400" b="0" i="0">
                <a:solidFill>
                  <a:srgbClr val="181C23"/>
                </a:solidFill>
                <a:latin typeface="Ubuntu Medium"/>
              </a:rPr>
              <a:t>Comandos do laboratório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191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300" b="0" i="0">
                <a:solidFill>
                  <a:srgbClr val="6A707D"/>
                </a:solidFill>
                <a:latin typeface="Ubuntu"/>
              </a:rPr>
              <a:t>Execute na ordem, a partir da pasta do projeto, no PowerShell.</a:t>
            </a:r>
          </a:p>
        </p:txBody>
      </p:sp>
      <p:sp>
        <p:nvSpPr>
          <p:cNvPr id="20" name="CodeCard"/>
          <p:cNvSpPr/>
          <p:nvPr/>
        </p:nvSpPr>
        <p:spPr>
          <a:xfrm>
            <a:off x="311700" y="2126148"/>
            <a:ext cx="8520600" cy="27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deBar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1B3A6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2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3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4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deLabel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lang="pt-BR" sz="900" b="0" i="0">
                <a:solidFill>
                  <a:srgbClr val="6A707D"/>
                </a:solidFill>
                <a:latin typeface="Fira Code"/>
              </a:rPr>
              <a:t>Windows PowerShell</a:t>
            </a:r>
          </a:p>
        </p:txBody>
      </p:sp>
      <p:sp>
        <p:nvSpPr>
          <p:cNvPr id="26" name="CodeText"/>
          <p:cNvSpPr txBox="1"/>
          <p:nvPr/>
        </p:nvSpPr>
        <p:spPr>
          <a:xfrm>
            <a:off x="511700" y="2417662"/>
            <a:ext cx="8120600" cy="2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6A9955"/>
                </a:solidFill>
                <a:latin typeface="Fira Code"/>
              </a:rPr>
              <a:t># 1. Construir as imagens e iniciar os containers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FFD700"/>
                </a:solidFill>
                <a:latin typeface="Fira Code"/>
              </a:rPr>
              <a:t>PS C:\projeto&gt; docker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compose up </a:t>
            </a:r>
            <a:r>
              <a:rPr lang="pt-BR" sz="700" b="0" i="0" dirty="0">
                <a:solidFill>
                  <a:srgbClr val="C0C0C0"/>
                </a:solidFill>
                <a:latin typeface="Fira Code"/>
              </a:rPr>
              <a:t>--build -d</a:t>
            </a:r>
          </a:p>
          <a:p>
            <a:pPr algn="l"/>
            <a:r>
              <a:rPr lang="pt-BR" sz="700" dirty="0">
                <a:solidFill>
                  <a:srgbClr val="012456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6A9955"/>
                </a:solidFill>
                <a:latin typeface="Fira Code"/>
              </a:rPr>
              <a:t># 2. Conferir o estado dos containers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FFD700"/>
                </a:solidFill>
                <a:latin typeface="Fira Code"/>
              </a:rPr>
              <a:t>PS C:\projeto&gt; docker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compose ps</a:t>
            </a:r>
          </a:p>
          <a:p>
            <a:pPr algn="l"/>
            <a:r>
              <a:rPr lang="pt-BR" sz="700" dirty="0">
                <a:solidFill>
                  <a:srgbClr val="012456"/>
                </a:solidFill>
                <a:latin typeface="Fira Code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pt-BR" sz="700" dirty="0">
                <a:solidFill>
                  <a:srgbClr val="6A9955"/>
                </a:solidFill>
                <a:latin typeface="Fira Code"/>
              </a:rPr>
              <a:t># 3. Visualizar os logs, se necessário</a:t>
            </a:r>
          </a:p>
          <a:p>
            <a:pPr>
              <a:lnSpc>
                <a:spcPct val="112000"/>
              </a:lnSpc>
            </a:pPr>
            <a:r>
              <a:rPr lang="pt-BR" sz="700" dirty="0">
                <a:solidFill>
                  <a:srgbClr val="FFD700"/>
                </a:solidFill>
                <a:latin typeface="Fira Code"/>
              </a:rPr>
              <a:t>PS C:\projeto&gt; docker</a:t>
            </a:r>
            <a:r>
              <a:rPr lang="pt-BR" sz="700" dirty="0">
                <a:solidFill>
                  <a:srgbClr val="EAEAEA"/>
                </a:solidFill>
                <a:latin typeface="Fira Code"/>
              </a:rPr>
              <a:t> compose logs </a:t>
            </a:r>
            <a:r>
              <a:rPr lang="pt-BR" sz="700" dirty="0">
                <a:solidFill>
                  <a:srgbClr val="C0C0C0"/>
                </a:solidFill>
                <a:latin typeface="Fira Code"/>
              </a:rPr>
              <a:t>–follow meu-gateway messages payments</a:t>
            </a:r>
          </a:p>
          <a:p>
            <a:pPr algn="l"/>
            <a:endParaRPr lang="pt-BR" sz="700" dirty="0">
              <a:solidFill>
                <a:srgbClr val="012456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6A9955"/>
                </a:solidFill>
                <a:latin typeface="Fira Code"/>
              </a:rPr>
              <a:t># 4. Testar a API messages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FFD700"/>
                </a:solidFill>
                <a:latin typeface="Fira Code"/>
              </a:rPr>
              <a:t>PS C:\projeto&gt; Invoke-RestMethod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</a:t>
            </a:r>
            <a:r>
              <a:rPr lang="pt-BR" sz="700" b="0" i="0" dirty="0">
                <a:solidFill>
                  <a:srgbClr val="4EC9B0"/>
                </a:solidFill>
                <a:latin typeface="Fira Code"/>
              </a:rPr>
              <a:t>http://localhost:8080/api/messages/day</a:t>
            </a:r>
          </a:p>
          <a:p>
            <a:pPr algn="l"/>
            <a:r>
              <a:rPr lang="pt-BR" sz="700" dirty="0">
                <a:solidFill>
                  <a:srgbClr val="012456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6A9955"/>
                </a:solidFill>
                <a:latin typeface="Fira Code"/>
              </a:rPr>
              <a:t># 5. Testar pagamento via PIX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FFD700"/>
                </a:solidFill>
                <a:latin typeface="Fira Code"/>
              </a:rPr>
              <a:t>PS C:\projeto&gt; Invoke-RestMethod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</a:t>
            </a:r>
            <a:r>
              <a:rPr lang="pt-BR" sz="700" b="0" i="0" dirty="0">
                <a:solidFill>
                  <a:srgbClr val="C0C0C0"/>
                </a:solidFill>
                <a:latin typeface="Fira Code"/>
              </a:rPr>
              <a:t>-Method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Post </a:t>
            </a:r>
            <a:r>
              <a:rPr lang="pt-BR" sz="700" b="0" i="0" dirty="0">
                <a:solidFill>
                  <a:srgbClr val="4EC9B0"/>
                </a:solidFill>
                <a:latin typeface="Fira Code"/>
              </a:rPr>
              <a:t>http://localhost:8080/api/payments/pix/100.50</a:t>
            </a:r>
          </a:p>
          <a:p>
            <a:pPr algn="l"/>
            <a:r>
              <a:rPr lang="pt-BR" sz="700" dirty="0">
                <a:solidFill>
                  <a:srgbClr val="012456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6A9955"/>
                </a:solidFill>
                <a:latin typeface="Fira Code"/>
              </a:rPr>
              <a:t># 6. Testar pagamento com cartão de crédito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FFD700"/>
                </a:solidFill>
                <a:latin typeface="Fira Code"/>
              </a:rPr>
              <a:t>PS C:\projeto&gt; Invoke-RestMethod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</a:t>
            </a:r>
            <a:r>
              <a:rPr lang="pt-BR" sz="700" b="0" i="0" dirty="0">
                <a:solidFill>
                  <a:srgbClr val="C0C0C0"/>
                </a:solidFill>
                <a:latin typeface="Fira Code"/>
              </a:rPr>
              <a:t>-Method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Post </a:t>
            </a:r>
            <a:r>
              <a:rPr lang="pt-BR" sz="700" b="0" i="0" dirty="0">
                <a:solidFill>
                  <a:srgbClr val="4EC9B0"/>
                </a:solidFill>
                <a:latin typeface="Fira Code"/>
              </a:rPr>
              <a:t>http://localhost:8080/api/payments/creditcard/250.75</a:t>
            </a:r>
          </a:p>
          <a:p>
            <a:pPr algn="l"/>
            <a:r>
              <a:rPr lang="pt-BR" sz="700" dirty="0">
                <a:solidFill>
                  <a:srgbClr val="012456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6A9955"/>
                </a:solidFill>
                <a:latin typeface="Fira Code"/>
              </a:rPr>
              <a:t># 7. Testar pagamento com débito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FFD700"/>
                </a:solidFill>
                <a:latin typeface="Fira Code"/>
              </a:rPr>
              <a:t>PS C:\projeto&gt; Invoke-RestMethod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</a:t>
            </a:r>
            <a:r>
              <a:rPr lang="pt-BR" sz="700" b="0" i="0" dirty="0">
                <a:solidFill>
                  <a:srgbClr val="C0C0C0"/>
                </a:solidFill>
                <a:latin typeface="Fira Code"/>
              </a:rPr>
              <a:t>-Method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Post </a:t>
            </a:r>
            <a:r>
              <a:rPr lang="pt-BR" sz="700" b="0" i="0" dirty="0">
                <a:solidFill>
                  <a:srgbClr val="4EC9B0"/>
                </a:solidFill>
                <a:latin typeface="Fira Code"/>
              </a:rPr>
              <a:t>http://localhost:8080/api/payments/debit/80.25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DNS — O Catálogo Telefônico da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Traduz: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www.google.com em um endereço IP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Sem DNS: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você teria que decorar o IP de cada site!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DNS Autoritativo: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tem a resposta final de um domínio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>
                <a:solidFill>
                  <a:srgbClr val="181C23"/>
                </a:solidFill>
                <a:latin typeface="Ubuntu Medium"/>
              </a:rPr>
              <a:t>DNS </a:t>
            </a:r>
            <a:r>
              <a:rPr sz="1400" b="0" i="0" dirty="0" err="1">
                <a:solidFill>
                  <a:srgbClr val="181C23"/>
                </a:solidFill>
                <a:latin typeface="Ubuntu Medium"/>
              </a:rPr>
              <a:t>Recursivo</a:t>
            </a:r>
            <a:r>
              <a:rPr sz="1400" b="0" i="0" dirty="0">
                <a:solidFill>
                  <a:srgbClr val="181C23"/>
                </a:solidFill>
                <a:latin typeface="Ubuntu Medium"/>
              </a:rPr>
              <a:t>: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busca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e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guarda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a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resposta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em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cache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Na nuvem: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AWS usa Route 53; Azure usa Azure DNS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O DNS é a agenda de contatos do celular: você salva 'Pizzaria do João' em vez do número. Sem a agenda, teria que decorar todos os telefones — ou todos os IPs!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dirty="0">
                <a:solidFill>
                  <a:srgbClr val="6A707D"/>
                </a:solidFill>
                <a:latin typeface="Ubuntu"/>
              </a:rPr>
              <a:t>Ada · AR-NA-002 · </a:t>
            </a:r>
            <a:r>
              <a:rPr sz="800" b="0" i="0" dirty="0" err="1">
                <a:solidFill>
                  <a:srgbClr val="6A707D"/>
                </a:solidFill>
                <a:latin typeface="Ubuntu"/>
              </a:rPr>
              <a:t>Arquitetura</a:t>
            </a:r>
            <a:r>
              <a:rPr sz="800" b="0" i="0" dirty="0">
                <a:solidFill>
                  <a:srgbClr val="6A707D"/>
                </a:solidFill>
                <a:latin typeface="Ubuntu"/>
              </a:rPr>
              <a:t> de Serviços 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44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REGISTROS E CACHE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0" i="0">
                <a:solidFill>
                  <a:srgbClr val="181C23"/>
                </a:solidFill>
                <a:latin typeface="Ubuntu Medium"/>
              </a:rPr>
              <a:t>Tipos de registros DNS e gestão de cache (TTL)</a:t>
            </a:r>
          </a:p>
        </p:txBody>
      </p:sp>
      <p:sp>
        <p:nvSpPr>
          <p:cNvPr id="4" name="Shape 4"/>
          <p:cNvSpPr/>
          <p:nvPr/>
        </p:nvSpPr>
        <p:spPr>
          <a:xfrm>
            <a:off x="311700" y="1560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hape 5"/>
          <p:cNvSpPr/>
          <p:nvPr/>
        </p:nvSpPr>
        <p:spPr>
          <a:xfrm>
            <a:off x="311700" y="1750000"/>
            <a:ext cx="8520600" cy="330000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431700" y="1750000"/>
            <a:ext cx="8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Ubuntu Medium"/>
              </a:rPr>
              <a:t>Tipo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1700" y="1750000"/>
            <a:ext cx="13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Ubuntu Medium"/>
              </a:rPr>
              <a:t>Nome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31700" y="1750000"/>
            <a:ext cx="29006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Ubuntu Medium"/>
              </a:rPr>
              <a:t>Função principal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52300" y="1750000"/>
            <a:ext cx="28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Ubuntu Medium"/>
              </a:rPr>
              <a:t>Exemplo de aplicação</a:t>
            </a:r>
          </a:p>
        </p:txBody>
      </p:sp>
      <p:sp>
        <p:nvSpPr>
          <p:cNvPr id="10" name="Shape 10"/>
          <p:cNvSpPr/>
          <p:nvPr/>
        </p:nvSpPr>
        <p:spPr>
          <a:xfrm>
            <a:off x="311700" y="2080000"/>
            <a:ext cx="8520600" cy="330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431700" y="2080000"/>
            <a:ext cx="8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2371FF"/>
                </a:solidFill>
                <a:latin typeface="Ubuntu Medium"/>
              </a:rPr>
              <a:t>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1700" y="2080000"/>
            <a:ext cx="13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Address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31700" y="2080000"/>
            <a:ext cx="29006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Mapeia o nome para um IPv4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52300" y="2080000"/>
            <a:ext cx="28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app.com ➔ 192.0.2.1</a:t>
            </a:r>
          </a:p>
        </p:txBody>
      </p:sp>
      <p:sp>
        <p:nvSpPr>
          <p:cNvPr id="15" name="Shape 15"/>
          <p:cNvSpPr/>
          <p:nvPr/>
        </p:nvSpPr>
        <p:spPr>
          <a:xfrm>
            <a:off x="311700" y="2410000"/>
            <a:ext cx="8520600" cy="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431700" y="2410000"/>
            <a:ext cx="8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2371FF"/>
                </a:solidFill>
                <a:latin typeface="Ubuntu Medium"/>
              </a:rPr>
              <a:t>AAAA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1700" y="2410000"/>
            <a:ext cx="13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IPv6 Address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31700" y="2410000"/>
            <a:ext cx="29006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Mapeia o nome para um IPv6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52300" y="2410000"/>
            <a:ext cx="28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app.com ➔ 2001:db8::1</a:t>
            </a:r>
          </a:p>
        </p:txBody>
      </p:sp>
      <p:sp>
        <p:nvSpPr>
          <p:cNvPr id="20" name="Shape 20"/>
          <p:cNvSpPr/>
          <p:nvPr/>
        </p:nvSpPr>
        <p:spPr>
          <a:xfrm>
            <a:off x="311700" y="2740000"/>
            <a:ext cx="8520600" cy="330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31700" y="2740000"/>
            <a:ext cx="8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2371FF"/>
                </a:solidFill>
                <a:latin typeface="Ubuntu Medium"/>
              </a:rPr>
              <a:t>CNAME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31700" y="2740000"/>
            <a:ext cx="13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Canonical Name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31700" y="2740000"/>
            <a:ext cx="29006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Aponta um apelido para outro nome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52300" y="2740000"/>
            <a:ext cx="28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www.app.com ➔ app.com</a:t>
            </a:r>
          </a:p>
        </p:txBody>
      </p:sp>
      <p:sp>
        <p:nvSpPr>
          <p:cNvPr id="25" name="Shape 25"/>
          <p:cNvSpPr/>
          <p:nvPr/>
        </p:nvSpPr>
        <p:spPr>
          <a:xfrm>
            <a:off x="311700" y="3070000"/>
            <a:ext cx="8520600" cy="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431700" y="3070000"/>
            <a:ext cx="8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2371FF"/>
                </a:solidFill>
                <a:latin typeface="Ubuntu Medium"/>
              </a:rPr>
              <a:t>MX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31700" y="3070000"/>
            <a:ext cx="13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Mail Exchanger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31700" y="3070000"/>
            <a:ext cx="29006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Define os servidores de e-mail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52300" y="3070000"/>
            <a:ext cx="28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mail.app.com (priority 10)</a:t>
            </a:r>
          </a:p>
        </p:txBody>
      </p:sp>
      <p:sp>
        <p:nvSpPr>
          <p:cNvPr id="30" name="Shape 30"/>
          <p:cNvSpPr/>
          <p:nvPr/>
        </p:nvSpPr>
        <p:spPr>
          <a:xfrm>
            <a:off x="311700" y="3400000"/>
            <a:ext cx="8520600" cy="330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431700" y="3400000"/>
            <a:ext cx="8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2371FF"/>
                </a:solidFill>
                <a:latin typeface="Ubuntu Medium"/>
              </a:rPr>
              <a:t>TXT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31700" y="3400000"/>
            <a:ext cx="13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Text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31700" y="3400000"/>
            <a:ext cx="29006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Guarda metadados, SPF e validações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952300" y="3400000"/>
            <a:ext cx="288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81C23"/>
                </a:solidFill>
                <a:latin typeface="Ubuntu"/>
              </a:rPr>
              <a:t>Validação de SSL e DKIM</a:t>
            </a:r>
          </a:p>
        </p:txBody>
      </p:sp>
      <p:sp>
        <p:nvSpPr>
          <p:cNvPr id="35" name="Shape 35"/>
          <p:cNvSpPr/>
          <p:nvPr/>
        </p:nvSpPr>
        <p:spPr>
          <a:xfrm>
            <a:off x="311700" y="3910000"/>
            <a:ext cx="8520600" cy="820000"/>
          </a:xfrm>
          <a:prstGeom prst="roundRect">
            <a:avLst>
              <a:gd name="adj" fmla="val 8000"/>
            </a:avLst>
          </a:prstGeom>
          <a:solidFill>
            <a:srgbClr val="EDF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Shape 36"/>
          <p:cNvSpPr/>
          <p:nvPr/>
        </p:nvSpPr>
        <p:spPr>
          <a:xfrm>
            <a:off x="311700" y="3910000"/>
            <a:ext cx="70000" cy="8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511700" y="40000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2371FF"/>
                </a:solidFill>
                <a:latin typeface="Ubuntu Medium"/>
              </a:rPr>
              <a:t>⏱ TTL — TIME TO LIVE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1700" y="421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81C23"/>
                </a:solidFill>
                <a:latin typeface="Ubuntu Medium"/>
              </a:rPr>
              <a:t>O que é: </a:t>
            </a:r>
            <a:r>
              <a:rPr sz="1000" b="0" i="0">
                <a:solidFill>
                  <a:srgbClr val="181C23"/>
                </a:solidFill>
                <a:latin typeface="Ubuntu"/>
              </a:rPr>
              <a:t>tempo, em segundos, que os resolvers podem manter a resposta em cache antes de consultar de novo o autoritativo.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11700" y="445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81C23"/>
                </a:solidFill>
                <a:latin typeface="Ubuntu Medium"/>
              </a:rPr>
              <a:t>Em migrações: </a:t>
            </a:r>
            <a:r>
              <a:rPr sz="1000" b="0" i="0">
                <a:solidFill>
                  <a:srgbClr val="181C23"/>
                </a:solidFill>
                <a:latin typeface="Ubuntu"/>
              </a:rPr>
              <a:t>reduza o TTL (de 86400s para 300s) dias antes de trocar o servidor, para propagar rápido e evitar downtime.</a:t>
            </a:r>
          </a:p>
        </p:txBody>
      </p:sp>
      <p:sp>
        <p:nvSpPr>
          <p:cNvPr id="40" name="Shape 4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40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RESOLUÇÃO DNS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0" i="0">
                <a:solidFill>
                  <a:srgbClr val="181C23"/>
                </a:solidFill>
                <a:latin typeface="Ubuntu Medium"/>
              </a:rPr>
              <a:t>A hierarquia DNS e a jornada da consulta</a:t>
            </a:r>
          </a:p>
        </p:txBody>
      </p:sp>
      <p:sp>
        <p:nvSpPr>
          <p:cNvPr id="4" name="Shape 4"/>
          <p:cNvSpPr/>
          <p:nvPr/>
        </p:nvSpPr>
        <p:spPr>
          <a:xfrm>
            <a:off x="311700" y="1560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hape 5"/>
          <p:cNvSpPr/>
          <p:nvPr/>
        </p:nvSpPr>
        <p:spPr>
          <a:xfrm>
            <a:off x="311700" y="1800000"/>
            <a:ext cx="1995150" cy="190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311700" y="1800000"/>
            <a:ext cx="1995150" cy="60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491700" y="200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491700" y="200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Ubuntu Medium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1700" y="2400000"/>
            <a:ext cx="163515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81C23"/>
                </a:solidFill>
                <a:latin typeface="Ubuntu Medium"/>
              </a:rPr>
              <a:t>Cliente e Resolver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1700" y="2810000"/>
            <a:ext cx="163515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A707D"/>
                </a:solidFill>
                <a:latin typeface="Ubuntu"/>
              </a:rPr>
              <a:t>O navegador consulta o resolver do provedor ou da nuvem. Se estiver em cache, responde na hora.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06850" y="2620000"/>
            <a:ext cx="18000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 i="0">
                <a:solidFill>
                  <a:srgbClr val="2371FF"/>
                </a:solidFill>
                <a:latin typeface="Ubuntu Medium"/>
              </a:rPr>
              <a:t>➔</a:t>
            </a:r>
          </a:p>
        </p:txBody>
      </p:sp>
      <p:sp>
        <p:nvSpPr>
          <p:cNvPr id="12" name="Shape 12"/>
          <p:cNvSpPr/>
          <p:nvPr/>
        </p:nvSpPr>
        <p:spPr>
          <a:xfrm>
            <a:off x="2486850" y="1800000"/>
            <a:ext cx="1995150" cy="190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hape 13"/>
          <p:cNvSpPr/>
          <p:nvPr/>
        </p:nvSpPr>
        <p:spPr>
          <a:xfrm>
            <a:off x="2486850" y="1800000"/>
            <a:ext cx="1995150" cy="60000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hape 14"/>
          <p:cNvSpPr/>
          <p:nvPr/>
        </p:nvSpPr>
        <p:spPr>
          <a:xfrm>
            <a:off x="2666850" y="200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2666850" y="200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Ubuntu Medium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66850" y="2400000"/>
            <a:ext cx="163515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81C23"/>
                </a:solidFill>
                <a:latin typeface="Ubuntu Medium"/>
              </a:rPr>
              <a:t>Root Servers (.)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66850" y="2810000"/>
            <a:ext cx="163515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A707D"/>
                </a:solidFill>
                <a:latin typeface="Ubuntu"/>
              </a:rPr>
              <a:t>Sem cache, o resolver pergunta aos root servers, que indicam qual servidor de TLD procurar.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82000" y="2620000"/>
            <a:ext cx="18000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 i="0">
                <a:solidFill>
                  <a:srgbClr val="2371FF"/>
                </a:solidFill>
                <a:latin typeface="Ubuntu Medium"/>
              </a:rPr>
              <a:t>➔</a:t>
            </a:r>
          </a:p>
        </p:txBody>
      </p:sp>
      <p:sp>
        <p:nvSpPr>
          <p:cNvPr id="19" name="Shape 19"/>
          <p:cNvSpPr/>
          <p:nvPr/>
        </p:nvSpPr>
        <p:spPr>
          <a:xfrm>
            <a:off x="4662000" y="1800000"/>
            <a:ext cx="1995150" cy="190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4662000" y="1800000"/>
            <a:ext cx="1995150" cy="60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hape 21"/>
          <p:cNvSpPr/>
          <p:nvPr/>
        </p:nvSpPr>
        <p:spPr>
          <a:xfrm>
            <a:off x="4842000" y="200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4842000" y="200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Ubuntu Medium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42000" y="2400000"/>
            <a:ext cx="163515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81C23"/>
                </a:solidFill>
                <a:latin typeface="Ubuntu Medium"/>
              </a:rPr>
              <a:t>TLD (.com, .br)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42000" y="2810000"/>
            <a:ext cx="163515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A707D"/>
                </a:solidFill>
                <a:latin typeface="Ubuntu"/>
              </a:rPr>
              <a:t>O servidor de topo aponta o servidor autoritativo responsável pelo domínio consultado.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7150" y="2620000"/>
            <a:ext cx="18000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 i="0">
                <a:solidFill>
                  <a:srgbClr val="2371FF"/>
                </a:solidFill>
                <a:latin typeface="Ubuntu Medium"/>
              </a:rPr>
              <a:t>➔</a:t>
            </a:r>
          </a:p>
        </p:txBody>
      </p:sp>
      <p:sp>
        <p:nvSpPr>
          <p:cNvPr id="26" name="Shape 26"/>
          <p:cNvSpPr/>
          <p:nvPr/>
        </p:nvSpPr>
        <p:spPr>
          <a:xfrm>
            <a:off x="6837150" y="1800000"/>
            <a:ext cx="1995150" cy="190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Shape 27"/>
          <p:cNvSpPr/>
          <p:nvPr/>
        </p:nvSpPr>
        <p:spPr>
          <a:xfrm>
            <a:off x="6837150" y="1800000"/>
            <a:ext cx="1995150" cy="60000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7017150" y="200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7017150" y="200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Ubuntu Medium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17150" y="2400000"/>
            <a:ext cx="163515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81C23"/>
                </a:solidFill>
                <a:latin typeface="Ubuntu Medium"/>
              </a:rPr>
              <a:t>Autoritativo e resposta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17150" y="2810000"/>
            <a:ext cx="163515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A707D"/>
                </a:solidFill>
                <a:latin typeface="Ubuntu"/>
              </a:rPr>
              <a:t>O autoritativo devolve o IP final; o resolver guarda em cache pelo TTL e responde ao cliente.</a:t>
            </a:r>
          </a:p>
        </p:txBody>
      </p:sp>
      <p:sp>
        <p:nvSpPr>
          <p:cNvPr id="32" name="Shape 32"/>
          <p:cNvSpPr/>
          <p:nvPr/>
        </p:nvSpPr>
        <p:spPr>
          <a:xfrm>
            <a:off x="311700" y="3900000"/>
            <a:ext cx="8520600" cy="620000"/>
          </a:xfrm>
          <a:prstGeom prst="roundRect">
            <a:avLst>
              <a:gd name="adj" fmla="val 8000"/>
            </a:avLst>
          </a:prstGeom>
          <a:solidFill>
            <a:srgbClr val="EDF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Shape 33"/>
          <p:cNvSpPr/>
          <p:nvPr/>
        </p:nvSpPr>
        <p:spPr>
          <a:xfrm>
            <a:off x="311700" y="3900000"/>
            <a:ext cx="70000" cy="6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511700" y="39900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2371FF"/>
                </a:solidFill>
                <a:latin typeface="Ubuntu Medium"/>
              </a:rPr>
              <a:t>💡 EM RESUMO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11700" y="4200000"/>
            <a:ext cx="81206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181C23"/>
                </a:solidFill>
                <a:latin typeface="Ubuntu"/>
              </a:rPr>
              <a:t>O resolver faz o trabalho pesado: pergunta a três níveis de servidores e guarda o resultado em cache para as próximas consultas.</a:t>
            </a:r>
          </a:p>
        </p:txBody>
      </p:sp>
      <p:sp>
        <p:nvSpPr>
          <p:cNvPr id="36" name="Shape 36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54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HIERARQUIA DNS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0" i="0">
                <a:solidFill>
                  <a:srgbClr val="181C23"/>
                </a:solidFill>
                <a:latin typeface="Ubuntu Medium"/>
              </a:rPr>
              <a:t>A árvore do DNS: da raiz aos domínios de cada país</a:t>
            </a:r>
          </a:p>
        </p:txBody>
      </p:sp>
      <p:sp>
        <p:nvSpPr>
          <p:cNvPr id="4" name="Shape 4"/>
          <p:cNvSpPr/>
          <p:nvPr/>
        </p:nvSpPr>
        <p:spPr>
          <a:xfrm>
            <a:off x="311700" y="1560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hape 5"/>
          <p:cNvSpPr/>
          <p:nvPr/>
        </p:nvSpPr>
        <p:spPr>
          <a:xfrm>
            <a:off x="3522000" y="1720000"/>
            <a:ext cx="2100000" cy="340000"/>
          </a:xfrm>
          <a:prstGeom prst="roundRect">
            <a:avLst>
              <a:gd name="adj" fmla="val 18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3522000" y="1720000"/>
            <a:ext cx="2100000" cy="3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Ubuntu Medium"/>
              </a:rPr>
              <a:t>.  Root Servers (raiz)</a:t>
            </a:r>
          </a:p>
        </p:txBody>
      </p:sp>
      <p:sp>
        <p:nvSpPr>
          <p:cNvPr id="7" name="Shape 7"/>
          <p:cNvSpPr/>
          <p:nvPr/>
        </p:nvSpPr>
        <p:spPr>
          <a:xfrm>
            <a:off x="4566000" y="2060000"/>
            <a:ext cx="12000" cy="140000"/>
          </a:xfrm>
          <a:prstGeom prst="rect">
            <a:avLst/>
          </a:prstGeom>
          <a:solidFill>
            <a:srgbClr val="C8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1086000" y="2200000"/>
            <a:ext cx="6972000" cy="12000"/>
          </a:xfrm>
          <a:prstGeom prst="rect">
            <a:avLst/>
          </a:prstGeom>
          <a:solidFill>
            <a:srgbClr val="C8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hape 9"/>
          <p:cNvSpPr/>
          <p:nvPr/>
        </p:nvSpPr>
        <p:spPr>
          <a:xfrm>
            <a:off x="1086000" y="2200000"/>
            <a:ext cx="12000" cy="140000"/>
          </a:xfrm>
          <a:prstGeom prst="rect">
            <a:avLst/>
          </a:prstGeom>
          <a:solidFill>
            <a:srgbClr val="C8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hape 10"/>
          <p:cNvSpPr/>
          <p:nvPr/>
        </p:nvSpPr>
        <p:spPr>
          <a:xfrm>
            <a:off x="312000" y="2340000"/>
            <a:ext cx="1560000" cy="33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312000" y="2340000"/>
            <a:ext cx="1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2371FF"/>
                </a:solidFill>
                <a:latin typeface="Ubuntu Medium"/>
              </a:rPr>
              <a:t>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2000" y="2720000"/>
            <a:ext cx="156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6A707D"/>
                </a:solidFill>
                <a:latin typeface="Ubuntu"/>
              </a:rPr>
              <a:t>Comercial global</a:t>
            </a:r>
          </a:p>
        </p:txBody>
      </p:sp>
      <p:sp>
        <p:nvSpPr>
          <p:cNvPr id="13" name="Shape 13"/>
          <p:cNvSpPr/>
          <p:nvPr/>
        </p:nvSpPr>
        <p:spPr>
          <a:xfrm>
            <a:off x="1086000" y="2950000"/>
            <a:ext cx="12000" cy="100000"/>
          </a:xfrm>
          <a:prstGeom prst="rect">
            <a:avLst/>
          </a:prstGeom>
          <a:solidFill>
            <a:srgbClr val="D8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hape 14"/>
          <p:cNvSpPr/>
          <p:nvPr/>
        </p:nvSpPr>
        <p:spPr>
          <a:xfrm>
            <a:off x="392000" y="3050000"/>
            <a:ext cx="1400000" cy="300000"/>
          </a:xfrm>
          <a:prstGeom prst="roundRect">
            <a:avLst>
              <a:gd name="adj" fmla="val 18000"/>
            </a:avLst>
          </a:prstGeom>
          <a:solidFill>
            <a:srgbClr val="EDF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392000" y="3050000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0" i="0">
                <a:solidFill>
                  <a:srgbClr val="181C23"/>
                </a:solidFill>
                <a:latin typeface="Ubuntu Medium"/>
              </a:rPr>
              <a:t>google.com</a:t>
            </a:r>
          </a:p>
        </p:txBody>
      </p:sp>
      <p:sp>
        <p:nvSpPr>
          <p:cNvPr id="16" name="Shape 16"/>
          <p:cNvSpPr/>
          <p:nvPr/>
        </p:nvSpPr>
        <p:spPr>
          <a:xfrm>
            <a:off x="2826000" y="2200000"/>
            <a:ext cx="12000" cy="140000"/>
          </a:xfrm>
          <a:prstGeom prst="rect">
            <a:avLst/>
          </a:prstGeom>
          <a:solidFill>
            <a:srgbClr val="C8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hape 17"/>
          <p:cNvSpPr/>
          <p:nvPr/>
        </p:nvSpPr>
        <p:spPr>
          <a:xfrm>
            <a:off x="2052000" y="2340000"/>
            <a:ext cx="1560000" cy="33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2052000" y="2340000"/>
            <a:ext cx="1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2371FF"/>
                </a:solidFill>
                <a:latin typeface="Ubuntu Medium"/>
              </a:rPr>
              <a:t>.br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52000" y="2720000"/>
            <a:ext cx="156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6A707D"/>
                </a:solidFill>
                <a:latin typeface="Ubuntu"/>
              </a:rPr>
              <a:t>Brasil</a:t>
            </a:r>
          </a:p>
        </p:txBody>
      </p:sp>
      <p:sp>
        <p:nvSpPr>
          <p:cNvPr id="20" name="Shape 20"/>
          <p:cNvSpPr/>
          <p:nvPr/>
        </p:nvSpPr>
        <p:spPr>
          <a:xfrm>
            <a:off x="2826000" y="2950000"/>
            <a:ext cx="12000" cy="100000"/>
          </a:xfrm>
          <a:prstGeom prst="rect">
            <a:avLst/>
          </a:prstGeom>
          <a:solidFill>
            <a:srgbClr val="D8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hape 21"/>
          <p:cNvSpPr/>
          <p:nvPr/>
        </p:nvSpPr>
        <p:spPr>
          <a:xfrm>
            <a:off x="2132000" y="3050000"/>
            <a:ext cx="1400000" cy="300000"/>
          </a:xfrm>
          <a:prstGeom prst="roundRect">
            <a:avLst>
              <a:gd name="adj" fmla="val 18000"/>
            </a:avLst>
          </a:prstGeom>
          <a:solidFill>
            <a:srgbClr val="EDF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2132000" y="3050000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0" i="0">
                <a:solidFill>
                  <a:srgbClr val="181C23"/>
                </a:solidFill>
                <a:latin typeface="Ubuntu Medium"/>
              </a:rPr>
              <a:t>ada.com.br</a:t>
            </a:r>
          </a:p>
        </p:txBody>
      </p:sp>
      <p:sp>
        <p:nvSpPr>
          <p:cNvPr id="23" name="Shape 23"/>
          <p:cNvSpPr/>
          <p:nvPr/>
        </p:nvSpPr>
        <p:spPr>
          <a:xfrm>
            <a:off x="4566000" y="2200000"/>
            <a:ext cx="12000" cy="140000"/>
          </a:xfrm>
          <a:prstGeom prst="rect">
            <a:avLst/>
          </a:prstGeom>
          <a:solidFill>
            <a:srgbClr val="C8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3792000" y="2340000"/>
            <a:ext cx="1560000" cy="33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3792000" y="2340000"/>
            <a:ext cx="1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2371FF"/>
                </a:solidFill>
                <a:latin typeface="Ubuntu Medium"/>
              </a:rPr>
              <a:t>.pt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92000" y="2720000"/>
            <a:ext cx="156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6A707D"/>
                </a:solidFill>
                <a:latin typeface="Ubuntu"/>
              </a:rPr>
              <a:t>Portugal</a:t>
            </a:r>
          </a:p>
        </p:txBody>
      </p:sp>
      <p:sp>
        <p:nvSpPr>
          <p:cNvPr id="27" name="Shape 27"/>
          <p:cNvSpPr/>
          <p:nvPr/>
        </p:nvSpPr>
        <p:spPr>
          <a:xfrm>
            <a:off x="4566000" y="2950000"/>
            <a:ext cx="12000" cy="100000"/>
          </a:xfrm>
          <a:prstGeom prst="rect">
            <a:avLst/>
          </a:prstGeom>
          <a:solidFill>
            <a:srgbClr val="D8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3872000" y="3050000"/>
            <a:ext cx="1400000" cy="300000"/>
          </a:xfrm>
          <a:prstGeom prst="roundRect">
            <a:avLst>
              <a:gd name="adj" fmla="val 18000"/>
            </a:avLst>
          </a:prstGeom>
          <a:solidFill>
            <a:srgbClr val="EDF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3872000" y="3050000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0" i="0">
                <a:solidFill>
                  <a:srgbClr val="181C23"/>
                </a:solidFill>
                <a:latin typeface="Ubuntu Medium"/>
              </a:rPr>
              <a:t>gov.pt</a:t>
            </a:r>
          </a:p>
        </p:txBody>
      </p:sp>
      <p:sp>
        <p:nvSpPr>
          <p:cNvPr id="30" name="Shape 30"/>
          <p:cNvSpPr/>
          <p:nvPr/>
        </p:nvSpPr>
        <p:spPr>
          <a:xfrm>
            <a:off x="6306000" y="2200000"/>
            <a:ext cx="12000" cy="140000"/>
          </a:xfrm>
          <a:prstGeom prst="rect">
            <a:avLst/>
          </a:prstGeom>
          <a:solidFill>
            <a:srgbClr val="C8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hape 31"/>
          <p:cNvSpPr/>
          <p:nvPr/>
        </p:nvSpPr>
        <p:spPr>
          <a:xfrm>
            <a:off x="5532000" y="2340000"/>
            <a:ext cx="1560000" cy="33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5532000" y="2340000"/>
            <a:ext cx="1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2371FF"/>
                </a:solidFill>
                <a:latin typeface="Ubuntu Medium"/>
              </a:rPr>
              <a:t>.es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32000" y="2720000"/>
            <a:ext cx="156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6A707D"/>
                </a:solidFill>
                <a:latin typeface="Ubuntu"/>
              </a:rPr>
              <a:t>Espanha</a:t>
            </a:r>
          </a:p>
        </p:txBody>
      </p:sp>
      <p:sp>
        <p:nvSpPr>
          <p:cNvPr id="34" name="Shape 34"/>
          <p:cNvSpPr/>
          <p:nvPr/>
        </p:nvSpPr>
        <p:spPr>
          <a:xfrm>
            <a:off x="6306000" y="2950000"/>
            <a:ext cx="12000" cy="100000"/>
          </a:xfrm>
          <a:prstGeom prst="rect">
            <a:avLst/>
          </a:prstGeom>
          <a:solidFill>
            <a:srgbClr val="D8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Shape 35"/>
          <p:cNvSpPr/>
          <p:nvPr/>
        </p:nvSpPr>
        <p:spPr>
          <a:xfrm>
            <a:off x="5612000" y="3050000"/>
            <a:ext cx="1400000" cy="300000"/>
          </a:xfrm>
          <a:prstGeom prst="roundRect">
            <a:avLst>
              <a:gd name="adj" fmla="val 18000"/>
            </a:avLst>
          </a:prstGeom>
          <a:solidFill>
            <a:srgbClr val="EDF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5612000" y="3050000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0" i="0">
                <a:solidFill>
                  <a:srgbClr val="181C23"/>
                </a:solidFill>
                <a:latin typeface="Ubuntu Medium"/>
              </a:rPr>
              <a:t>renfe.es</a:t>
            </a:r>
          </a:p>
        </p:txBody>
      </p:sp>
      <p:sp>
        <p:nvSpPr>
          <p:cNvPr id="37" name="Shape 37"/>
          <p:cNvSpPr/>
          <p:nvPr/>
        </p:nvSpPr>
        <p:spPr>
          <a:xfrm>
            <a:off x="8046000" y="2200000"/>
            <a:ext cx="12000" cy="140000"/>
          </a:xfrm>
          <a:prstGeom prst="rect">
            <a:avLst/>
          </a:prstGeom>
          <a:solidFill>
            <a:srgbClr val="C8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Shape 38"/>
          <p:cNvSpPr/>
          <p:nvPr/>
        </p:nvSpPr>
        <p:spPr>
          <a:xfrm>
            <a:off x="7272000" y="2340000"/>
            <a:ext cx="1560000" cy="33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7272000" y="2340000"/>
            <a:ext cx="1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2371FF"/>
                </a:solidFill>
                <a:latin typeface="Ubuntu Medium"/>
              </a:rPr>
              <a:t>.org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272000" y="2720000"/>
            <a:ext cx="156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6A707D"/>
                </a:solidFill>
                <a:latin typeface="Ubuntu"/>
              </a:rPr>
              <a:t>Organizações</a:t>
            </a:r>
          </a:p>
        </p:txBody>
      </p:sp>
      <p:sp>
        <p:nvSpPr>
          <p:cNvPr id="41" name="Shape 41"/>
          <p:cNvSpPr/>
          <p:nvPr/>
        </p:nvSpPr>
        <p:spPr>
          <a:xfrm>
            <a:off x="8046000" y="2950000"/>
            <a:ext cx="12000" cy="100000"/>
          </a:xfrm>
          <a:prstGeom prst="rect">
            <a:avLst/>
          </a:prstGeom>
          <a:solidFill>
            <a:srgbClr val="D8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Shape 42"/>
          <p:cNvSpPr/>
          <p:nvPr/>
        </p:nvSpPr>
        <p:spPr>
          <a:xfrm>
            <a:off x="7352000" y="3050000"/>
            <a:ext cx="1400000" cy="300000"/>
          </a:xfrm>
          <a:prstGeom prst="roundRect">
            <a:avLst>
              <a:gd name="adj" fmla="val 18000"/>
            </a:avLst>
          </a:prstGeom>
          <a:solidFill>
            <a:srgbClr val="EDF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7352000" y="3050000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0" i="0">
                <a:solidFill>
                  <a:srgbClr val="181C23"/>
                </a:solidFill>
                <a:latin typeface="Ubuntu Medium"/>
              </a:rPr>
              <a:t>wikipedia.org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12000" y="3410000"/>
            <a:ext cx="852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6A707D"/>
                </a:solidFill>
                <a:latin typeface="Ubuntu"/>
              </a:rPr>
              <a:t>Servidores autoritativos de cada domínio</a:t>
            </a:r>
          </a:p>
        </p:txBody>
      </p:sp>
      <p:sp>
        <p:nvSpPr>
          <p:cNvPr id="45" name="Shape 45"/>
          <p:cNvSpPr/>
          <p:nvPr/>
        </p:nvSpPr>
        <p:spPr>
          <a:xfrm>
            <a:off x="311700" y="3820000"/>
            <a:ext cx="8520600" cy="880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Shape 46"/>
          <p:cNvSpPr/>
          <p:nvPr/>
        </p:nvSpPr>
        <p:spPr>
          <a:xfrm>
            <a:off x="311700" y="3820000"/>
            <a:ext cx="70000" cy="88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7"/>
          <p:cNvSpPr txBox="1"/>
          <p:nvPr/>
        </p:nvSpPr>
        <p:spPr>
          <a:xfrm>
            <a:off x="511700" y="39300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 i="0">
                <a:solidFill>
                  <a:srgbClr val="2371FF"/>
                </a:solidFill>
                <a:latin typeface="Ubuntu Medium"/>
              </a:rPr>
              <a:t>Como o resolver percorre a árvore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11700" y="419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81C23"/>
                </a:solidFill>
                <a:latin typeface="Ubuntu"/>
              </a:rPr>
              <a:t>A raiz não conhece o site: ela apenas indica quem cuida do .com, do .br, do .pt ou do .es.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11700" y="442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81C23"/>
                </a:solidFill>
                <a:latin typeface="Ubuntu"/>
              </a:rPr>
              <a:t>O servidor do TLD indica o autoritativo do domínio, que devolve o IP final — sempre da direita para a esquerda do nome.</a:t>
            </a:r>
          </a:p>
        </p:txBody>
      </p:sp>
      <p:sp>
        <p:nvSpPr>
          <p:cNvPr id="50" name="Shape 5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1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DNS PRIVADO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0" i="0" dirty="0">
                <a:solidFill>
                  <a:srgbClr val="181C23"/>
                </a:solidFill>
                <a:latin typeface="Ubuntu Medium"/>
              </a:rPr>
              <a:t>DNS Privado: </a:t>
            </a:r>
            <a:r>
              <a:rPr sz="2000" b="0" i="0" dirty="0" err="1">
                <a:solidFill>
                  <a:srgbClr val="181C23"/>
                </a:solidFill>
                <a:latin typeface="Ubuntu Medium"/>
              </a:rPr>
              <a:t>resolução</a:t>
            </a:r>
            <a:r>
              <a:rPr sz="2000" b="0" i="0" dirty="0">
                <a:solidFill>
                  <a:srgbClr val="181C23"/>
                </a:solidFill>
                <a:latin typeface="Ubuntu Medium"/>
              </a:rPr>
              <a:t> </a:t>
            </a:r>
            <a:r>
              <a:rPr sz="2000" b="0" i="0" dirty="0" err="1">
                <a:solidFill>
                  <a:srgbClr val="181C23"/>
                </a:solidFill>
                <a:latin typeface="Ubuntu Medium"/>
              </a:rPr>
              <a:t>em</a:t>
            </a:r>
            <a:r>
              <a:rPr sz="2000" b="0" i="0" dirty="0">
                <a:solidFill>
                  <a:srgbClr val="181C23"/>
                </a:solidFill>
                <a:latin typeface="Ubuntu Medium"/>
              </a:rPr>
              <a:t> redes </a:t>
            </a:r>
            <a:r>
              <a:rPr sz="2000" b="0" i="0" dirty="0" err="1">
                <a:solidFill>
                  <a:srgbClr val="181C23"/>
                </a:solidFill>
                <a:latin typeface="Ubuntu Medium"/>
              </a:rPr>
              <a:t>internas</a:t>
            </a:r>
            <a:r>
              <a:rPr sz="2000" b="0" i="0" dirty="0">
                <a:solidFill>
                  <a:srgbClr val="181C23"/>
                </a:solidFill>
                <a:latin typeface="Ubuntu Medium"/>
              </a:rPr>
              <a:t> (VPC</a:t>
            </a:r>
            <a:r>
              <a:rPr lang="pt-PT" sz="2000" b="0" i="0" dirty="0">
                <a:solidFill>
                  <a:srgbClr val="181C23"/>
                </a:solidFill>
                <a:latin typeface="Ubuntu Medium"/>
              </a:rPr>
              <a:t> – Virtual </a:t>
            </a:r>
            <a:r>
              <a:rPr lang="pt-PT" sz="2000" b="0" i="0" dirty="0" err="1">
                <a:solidFill>
                  <a:srgbClr val="181C23"/>
                </a:solidFill>
                <a:latin typeface="Ubuntu Medium"/>
              </a:rPr>
              <a:t>Private</a:t>
            </a:r>
            <a:r>
              <a:rPr lang="pt-PT" sz="2000" b="0" i="0" dirty="0">
                <a:solidFill>
                  <a:srgbClr val="181C23"/>
                </a:solidFill>
                <a:latin typeface="Ubuntu Medium"/>
              </a:rPr>
              <a:t> </a:t>
            </a:r>
            <a:r>
              <a:rPr lang="pt-PT" sz="2000" b="0" i="0" dirty="0" err="1">
                <a:solidFill>
                  <a:srgbClr val="181C23"/>
                </a:solidFill>
                <a:latin typeface="Ubuntu Medium"/>
              </a:rPr>
              <a:t>Cloud</a:t>
            </a:r>
            <a:r>
              <a:rPr sz="2000" b="0" i="0" dirty="0">
                <a:solidFill>
                  <a:srgbClr val="181C23"/>
                </a:solidFill>
                <a:latin typeface="Ubuntu Medium"/>
              </a:rPr>
              <a:t>)</a:t>
            </a:r>
          </a:p>
        </p:txBody>
      </p:sp>
      <p:sp>
        <p:nvSpPr>
          <p:cNvPr id="4" name="Shape 4"/>
          <p:cNvSpPr/>
          <p:nvPr/>
        </p:nvSpPr>
        <p:spPr>
          <a:xfrm>
            <a:off x="311700" y="1560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hape 5"/>
          <p:cNvSpPr/>
          <p:nvPr/>
        </p:nvSpPr>
        <p:spPr>
          <a:xfrm>
            <a:off x="311700" y="1776148"/>
            <a:ext cx="4110300" cy="118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311700" y="1776148"/>
            <a:ext cx="70000" cy="118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511700" y="1906148"/>
            <a:ext cx="37303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2371FF"/>
                </a:solidFill>
                <a:latin typeface="Ubuntu Medium"/>
              </a:rPr>
              <a:t>DNS Público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1700" y="2196148"/>
            <a:ext cx="37303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81C23"/>
                </a:solidFill>
                <a:latin typeface="Ubuntu"/>
              </a:rPr>
              <a:t>· Mapeia domínios acessíveis pela internet aberta.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1700" y="2446148"/>
            <a:ext cx="37303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81C23"/>
                </a:solidFill>
                <a:latin typeface="Ubuntu"/>
              </a:rPr>
              <a:t>· Acessível por qualquer pessoa no mundo.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1700" y="2696148"/>
            <a:ext cx="37303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81C23"/>
                </a:solidFill>
                <a:latin typeface="Ubuntu"/>
              </a:rPr>
              <a:t>· api.suaempresa.com ➔ IP público 200.150.10.5</a:t>
            </a:r>
          </a:p>
        </p:txBody>
      </p:sp>
      <p:sp>
        <p:nvSpPr>
          <p:cNvPr id="11" name="Shape 11"/>
          <p:cNvSpPr/>
          <p:nvPr/>
        </p:nvSpPr>
        <p:spPr>
          <a:xfrm>
            <a:off x="4722000" y="1776148"/>
            <a:ext cx="4110300" cy="118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722000" y="1776148"/>
            <a:ext cx="70000" cy="118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922000" y="1906148"/>
            <a:ext cx="37303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2371FF"/>
                </a:solidFill>
                <a:latin typeface="Ubuntu Medium"/>
              </a:rPr>
              <a:t>DNS Privado (Internal DNS)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22000" y="2196148"/>
            <a:ext cx="37303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81C23"/>
                </a:solidFill>
                <a:latin typeface="Ubuntu"/>
              </a:rPr>
              <a:t>· Mapeia nomes dentro de uma VPC isolada.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22000" y="2446148"/>
            <a:ext cx="37303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81C23"/>
                </a:solidFill>
                <a:latin typeface="Ubuntu"/>
              </a:rPr>
              <a:t>· Não é visível pela internet pública.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22000" y="2696148"/>
            <a:ext cx="37303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81C23"/>
                </a:solidFill>
                <a:latin typeface="Ubuntu"/>
              </a:rPr>
              <a:t>· db-primary.internal ➔ IP privado 10.0.1.50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1700" y="3120000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81C23"/>
                </a:solidFill>
                <a:latin typeface="Ubuntu Medium"/>
              </a:rPr>
              <a:t>Por que usamos DNS privado na arquitetura?</a:t>
            </a:r>
          </a:p>
        </p:txBody>
      </p:sp>
      <p:sp>
        <p:nvSpPr>
          <p:cNvPr id="18" name="Shape 18"/>
          <p:cNvSpPr/>
          <p:nvPr/>
        </p:nvSpPr>
        <p:spPr>
          <a:xfrm>
            <a:off x="311700" y="345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311700" y="345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Ubuntu Medium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1700" y="34900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371FF"/>
                </a:solidFill>
                <a:latin typeface="Ubuntu Medium"/>
              </a:rPr>
              <a:t>Segurança e ocultamento: </a:t>
            </a:r>
            <a:r>
              <a:rPr sz="1050" b="0" i="0">
                <a:solidFill>
                  <a:srgbClr val="181C23"/>
                </a:solidFill>
                <a:latin typeface="Ubuntu"/>
              </a:rPr>
              <a:t>Impede o vazamento da topologia da infraestrutura interna.</a:t>
            </a:r>
          </a:p>
        </p:txBody>
      </p:sp>
      <p:sp>
        <p:nvSpPr>
          <p:cNvPr id="21" name="Shape 21"/>
          <p:cNvSpPr/>
          <p:nvPr/>
        </p:nvSpPr>
        <p:spPr>
          <a:xfrm>
            <a:off x="311700" y="387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311700" y="387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Ubuntu Medium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1700" y="39100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371FF"/>
                </a:solidFill>
                <a:latin typeface="Ubuntu Medium"/>
              </a:rPr>
              <a:t>Desacoplamento de microserviços: </a:t>
            </a:r>
            <a:r>
              <a:rPr sz="1050" b="0" i="0">
                <a:solidFill>
                  <a:srgbClr val="181C23"/>
                </a:solidFill>
                <a:latin typeface="Ubuntu"/>
              </a:rPr>
              <a:t>Serviços se falam por nome (payment-service.local), sem depender de IPs.</a:t>
            </a:r>
          </a:p>
        </p:txBody>
      </p:sp>
      <p:sp>
        <p:nvSpPr>
          <p:cNvPr id="24" name="Shape 24"/>
          <p:cNvSpPr/>
          <p:nvPr/>
        </p:nvSpPr>
        <p:spPr>
          <a:xfrm>
            <a:off x="311700" y="429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311700" y="429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Ubuntu Medium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1700" y="43300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371FF"/>
                </a:solidFill>
                <a:latin typeface="Ubuntu Medium"/>
              </a:rPr>
              <a:t>Ambientes dinâmicos: </a:t>
            </a:r>
            <a:r>
              <a:rPr sz="1050" b="0" i="0">
                <a:solidFill>
                  <a:srgbClr val="181C23"/>
                </a:solidFill>
                <a:latin typeface="Ubuntu"/>
              </a:rPr>
              <a:t>Resolução automática para pods e instâncias efêmeras no Kubernetes/Cloud.</a:t>
            </a:r>
          </a:p>
        </p:txBody>
      </p:sp>
      <p:sp>
        <p:nvSpPr>
          <p:cNvPr id="27" name="Shap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4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DNS PRIVADO NA PRÁTICA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0" i="0">
                <a:solidFill>
                  <a:srgbClr val="181C23"/>
                </a:solidFill>
                <a:latin typeface="Ubuntu Medium"/>
              </a:rPr>
              <a:t>Como a resolução privada funciona dentro da VPC</a:t>
            </a:r>
          </a:p>
        </p:txBody>
      </p:sp>
      <p:sp>
        <p:nvSpPr>
          <p:cNvPr id="4" name="Shape 4"/>
          <p:cNvSpPr/>
          <p:nvPr/>
        </p:nvSpPr>
        <p:spPr>
          <a:xfrm>
            <a:off x="311700" y="1560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hape 5"/>
          <p:cNvSpPr/>
          <p:nvPr/>
        </p:nvSpPr>
        <p:spPr>
          <a:xfrm>
            <a:off x="311700" y="1720000"/>
            <a:ext cx="2450000" cy="20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311700" y="1830000"/>
            <a:ext cx="245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0" i="0">
                <a:solidFill>
                  <a:srgbClr val="6A707D"/>
                </a:solidFill>
                <a:latin typeface="Ubuntu Medium"/>
              </a:rPr>
              <a:t>INTERNET PÚBLICA</a:t>
            </a:r>
          </a:p>
        </p:txBody>
      </p:sp>
      <p:sp>
        <p:nvSpPr>
          <p:cNvPr id="7" name="Shape 7"/>
          <p:cNvSpPr/>
          <p:nvPr/>
        </p:nvSpPr>
        <p:spPr>
          <a:xfrm>
            <a:off x="461700" y="2140000"/>
            <a:ext cx="2150000" cy="30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461700" y="2140000"/>
            <a:ext cx="215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 i="0">
                <a:solidFill>
                  <a:srgbClr val="181C23"/>
                </a:solidFill>
                <a:latin typeface="Ubuntu Medium"/>
              </a:rPr>
              <a:t>Usuário / cliente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1700" y="2500000"/>
            <a:ext cx="215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6A707D"/>
                </a:solidFill>
                <a:latin typeface="Ubuntu"/>
              </a:rPr>
              <a:t>consulta api.suaempresa.com</a:t>
            </a:r>
          </a:p>
        </p:txBody>
      </p:sp>
      <p:sp>
        <p:nvSpPr>
          <p:cNvPr id="10" name="Shape 10"/>
          <p:cNvSpPr/>
          <p:nvPr/>
        </p:nvSpPr>
        <p:spPr>
          <a:xfrm>
            <a:off x="461700" y="2750000"/>
            <a:ext cx="2150000" cy="30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461700" y="2750000"/>
            <a:ext cx="215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 i="0">
                <a:solidFill>
                  <a:srgbClr val="2371FF"/>
                </a:solidFill>
                <a:latin typeface="Ubuntu Medium"/>
              </a:rPr>
              <a:t>DNS público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1700" y="3110000"/>
            <a:ext cx="21500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devolve o IP de borda 200.150.10.5 — nada além disso é exposto</a:t>
            </a:r>
          </a:p>
        </p:txBody>
      </p:sp>
      <p:sp>
        <p:nvSpPr>
          <p:cNvPr id="13" name="Shape 13"/>
          <p:cNvSpPr/>
          <p:nvPr/>
        </p:nvSpPr>
        <p:spPr>
          <a:xfrm>
            <a:off x="2801700" y="2620000"/>
            <a:ext cx="380000" cy="180000"/>
          </a:xfrm>
          <a:prstGeom prst="rightArrow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hape 14"/>
          <p:cNvSpPr/>
          <p:nvPr/>
        </p:nvSpPr>
        <p:spPr>
          <a:xfrm>
            <a:off x="3241700" y="1720000"/>
            <a:ext cx="5590600" cy="2050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3421700" y="1830000"/>
            <a:ext cx="52306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 i="0">
                <a:solidFill>
                  <a:srgbClr val="2371FF"/>
                </a:solidFill>
                <a:latin typeface="Ubuntu Medium"/>
              </a:rPr>
              <a:t>VPC PRIVADA · 10.0.0.0/16</a:t>
            </a:r>
          </a:p>
        </p:txBody>
      </p:sp>
      <p:sp>
        <p:nvSpPr>
          <p:cNvPr id="16" name="Shape 16"/>
          <p:cNvSpPr/>
          <p:nvPr/>
        </p:nvSpPr>
        <p:spPr>
          <a:xfrm>
            <a:off x="3421700" y="2140000"/>
            <a:ext cx="2525300" cy="30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3421700" y="2140000"/>
            <a:ext cx="25253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 i="0">
                <a:solidFill>
                  <a:srgbClr val="181C23"/>
                </a:solidFill>
                <a:latin typeface="Ubuntu Medium"/>
              </a:rPr>
              <a:t>Proxy reverso · 10.0.0.10</a:t>
            </a:r>
          </a:p>
        </p:txBody>
      </p:sp>
      <p:sp>
        <p:nvSpPr>
          <p:cNvPr id="18" name="Shape 18"/>
          <p:cNvSpPr/>
          <p:nvPr/>
        </p:nvSpPr>
        <p:spPr>
          <a:xfrm>
            <a:off x="6127000" y="2140000"/>
            <a:ext cx="2525300" cy="300000"/>
          </a:xfrm>
          <a:prstGeom prst="roundRect">
            <a:avLst>
              <a:gd name="adj" fmla="val 18000"/>
            </a:avLst>
          </a:prstGeom>
          <a:solidFill>
            <a:srgbClr val="EDF8DE"/>
          </a:solidFill>
          <a:ln w="12700">
            <a:solidFill>
              <a:srgbClr val="8FD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6127000" y="2140000"/>
            <a:ext cx="25253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 i="0">
                <a:solidFill>
                  <a:srgbClr val="181C23"/>
                </a:solidFill>
                <a:latin typeface="Ubuntu Medium"/>
              </a:rPr>
              <a:t>DNS privado · resolve *.internal</a:t>
            </a:r>
          </a:p>
        </p:txBody>
      </p:sp>
      <p:sp>
        <p:nvSpPr>
          <p:cNvPr id="20" name="Shape 20"/>
          <p:cNvSpPr/>
          <p:nvPr/>
        </p:nvSpPr>
        <p:spPr>
          <a:xfrm>
            <a:off x="5977000" y="2200000"/>
            <a:ext cx="120000" cy="180000"/>
          </a:xfrm>
          <a:prstGeom prst="rightArrow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hape 21"/>
          <p:cNvSpPr/>
          <p:nvPr/>
        </p:nvSpPr>
        <p:spPr>
          <a:xfrm>
            <a:off x="7383650" y="2440000"/>
            <a:ext cx="12000" cy="180000"/>
          </a:xfrm>
          <a:prstGeom prst="rect">
            <a:avLst/>
          </a:prstGeom>
          <a:solidFill>
            <a:srgbClr val="A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hape 22"/>
          <p:cNvSpPr/>
          <p:nvPr/>
        </p:nvSpPr>
        <p:spPr>
          <a:xfrm>
            <a:off x="4240800" y="2620000"/>
            <a:ext cx="3592400" cy="12000"/>
          </a:xfrm>
          <a:prstGeom prst="rect">
            <a:avLst/>
          </a:prstGeom>
          <a:solidFill>
            <a:srgbClr val="A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hape 23"/>
          <p:cNvSpPr/>
          <p:nvPr/>
        </p:nvSpPr>
        <p:spPr>
          <a:xfrm>
            <a:off x="4240800" y="2620000"/>
            <a:ext cx="12000" cy="160000"/>
          </a:xfrm>
          <a:prstGeom prst="rect">
            <a:avLst/>
          </a:prstGeom>
          <a:solidFill>
            <a:srgbClr val="A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3421700" y="2780000"/>
            <a:ext cx="1650200" cy="31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3421700" y="2820000"/>
            <a:ext cx="16502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app-service.internal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21700" y="2970000"/>
            <a:ext cx="16502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2371FF"/>
                </a:solidFill>
                <a:latin typeface="Ubuntu"/>
              </a:rPr>
              <a:t>10.0.1.20</a:t>
            </a:r>
          </a:p>
        </p:txBody>
      </p:sp>
      <p:sp>
        <p:nvSpPr>
          <p:cNvPr id="27" name="Shape 27"/>
          <p:cNvSpPr/>
          <p:nvPr/>
        </p:nvSpPr>
        <p:spPr>
          <a:xfrm>
            <a:off x="6031000" y="2620000"/>
            <a:ext cx="12000" cy="160000"/>
          </a:xfrm>
          <a:prstGeom prst="rect">
            <a:avLst/>
          </a:prstGeom>
          <a:solidFill>
            <a:srgbClr val="A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5211900" y="2780000"/>
            <a:ext cx="1650200" cy="31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5211900" y="2820000"/>
            <a:ext cx="16502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payment-service.internal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11900" y="2970000"/>
            <a:ext cx="16502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2371FF"/>
                </a:solidFill>
                <a:latin typeface="Ubuntu"/>
              </a:rPr>
              <a:t>10.0.1.30</a:t>
            </a:r>
          </a:p>
        </p:txBody>
      </p:sp>
      <p:sp>
        <p:nvSpPr>
          <p:cNvPr id="31" name="Shape 31"/>
          <p:cNvSpPr/>
          <p:nvPr/>
        </p:nvSpPr>
        <p:spPr>
          <a:xfrm>
            <a:off x="7821200" y="2620000"/>
            <a:ext cx="12000" cy="160000"/>
          </a:xfrm>
          <a:prstGeom prst="rect">
            <a:avLst/>
          </a:prstGeom>
          <a:solidFill>
            <a:srgbClr val="A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Shape 32"/>
          <p:cNvSpPr/>
          <p:nvPr/>
        </p:nvSpPr>
        <p:spPr>
          <a:xfrm>
            <a:off x="7002100" y="2780000"/>
            <a:ext cx="1650200" cy="31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7002100" y="2820000"/>
            <a:ext cx="16502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db-primary.internal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02100" y="2970000"/>
            <a:ext cx="16502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2371FF"/>
                </a:solidFill>
                <a:latin typeface="Ubuntu"/>
              </a:rPr>
              <a:t>10.0.1.50</a:t>
            </a:r>
          </a:p>
        </p:txBody>
      </p:sp>
      <p:sp>
        <p:nvSpPr>
          <p:cNvPr id="35" name="Shape 35"/>
          <p:cNvSpPr/>
          <p:nvPr/>
        </p:nvSpPr>
        <p:spPr>
          <a:xfrm>
            <a:off x="311700" y="3960000"/>
            <a:ext cx="8520600" cy="760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Shape 36"/>
          <p:cNvSpPr/>
          <p:nvPr/>
        </p:nvSpPr>
        <p:spPr>
          <a:xfrm>
            <a:off x="311700" y="3960000"/>
            <a:ext cx="70000" cy="7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511700" y="40600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 i="0">
                <a:solidFill>
                  <a:srgbClr val="2371FF"/>
                </a:solidFill>
                <a:latin typeface="Ubuntu Medium"/>
              </a:rPr>
              <a:t>O que a internet enxerga — e o que fica escondido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1700" y="430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81C23"/>
                </a:solidFill>
                <a:latin typeface="Ubuntu"/>
              </a:rPr>
              <a:t>De fora, só existe o IP de borda. Dentro da VPC, os serviços se encontram por nome, e o DNS privado devolve os IPs 10.x — que nunca saem da rede interna.</a:t>
            </a:r>
          </a:p>
        </p:txBody>
      </p:sp>
      <p:sp>
        <p:nvSpPr>
          <p:cNvPr id="39" name="Shape 3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24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DNS + PROXY REVERSO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0" i="0">
                <a:solidFill>
                  <a:srgbClr val="181C23"/>
                </a:solidFill>
                <a:latin typeface="Ubuntu Medium"/>
              </a:rPr>
              <a:t>DNS e proxy reverso: da borda até a aplicação</a:t>
            </a:r>
          </a:p>
        </p:txBody>
      </p:sp>
      <p:sp>
        <p:nvSpPr>
          <p:cNvPr id="4" name="Shape 4"/>
          <p:cNvSpPr/>
          <p:nvPr/>
        </p:nvSpPr>
        <p:spPr>
          <a:xfrm>
            <a:off x="311700" y="1560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hape 5"/>
          <p:cNvSpPr/>
          <p:nvPr/>
        </p:nvSpPr>
        <p:spPr>
          <a:xfrm>
            <a:off x="311700" y="1780000"/>
            <a:ext cx="8520600" cy="115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311700" y="1780000"/>
            <a:ext cx="70000" cy="1150000"/>
          </a:xfrm>
          <a:prstGeom prst="roundRect">
            <a:avLst>
              <a:gd name="adj" fmla="val 5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511700" y="191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2371FF"/>
                </a:solidFill>
                <a:latin typeface="Ubuntu Medium"/>
              </a:rPr>
              <a:t>Integração na borda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1700" y="2210000"/>
            <a:ext cx="81206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81C23"/>
                </a:solidFill>
                <a:latin typeface="Ubuntu"/>
              </a:rPr>
              <a:t>O DNS resolve api.empresa.com e entrega o IP de borda do proxy reverso (Nginx, Traefik, HAProxy).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1700" y="2520000"/>
            <a:ext cx="81206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81C23"/>
                </a:solidFill>
                <a:latin typeface="Ubuntu"/>
              </a:rPr>
              <a:t>O proxy recebe a requisição HTTP/HTTPS, encerra o TLS e balanceia para a rede privada dos microserviços.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700" y="3120000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81C23"/>
                </a:solidFill>
                <a:latin typeface="Ubuntu Medium"/>
              </a:rPr>
              <a:t>Roteamento avançado na nuvem (Route 53 / Cloudflare)</a:t>
            </a:r>
          </a:p>
        </p:txBody>
      </p:sp>
      <p:sp>
        <p:nvSpPr>
          <p:cNvPr id="11" name="Shape 11"/>
          <p:cNvSpPr/>
          <p:nvPr/>
        </p:nvSpPr>
        <p:spPr>
          <a:xfrm>
            <a:off x="311700" y="346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11700" y="34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Ubuntu Medium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1700" y="35000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371FF"/>
                </a:solidFill>
                <a:latin typeface="Ubuntu Medium"/>
              </a:rPr>
              <a:t>Weighted round-robin: </a:t>
            </a:r>
            <a:r>
              <a:rPr sz="1050" b="0" i="0">
                <a:solidFill>
                  <a:srgbClr val="181C23"/>
                </a:solidFill>
                <a:latin typeface="Ubuntu"/>
              </a:rPr>
              <a:t>Distribui o tráfego por porcentagem — ideal para testes canary e A/B.</a:t>
            </a:r>
          </a:p>
        </p:txBody>
      </p:sp>
      <p:sp>
        <p:nvSpPr>
          <p:cNvPr id="14" name="Shape 14"/>
          <p:cNvSpPr/>
          <p:nvPr/>
        </p:nvSpPr>
        <p:spPr>
          <a:xfrm>
            <a:off x="311700" y="390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311700" y="390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Ubuntu Medium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1700" y="39400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371FF"/>
                </a:solidFill>
                <a:latin typeface="Ubuntu Medium"/>
              </a:rPr>
              <a:t>Geoproximity / latency-based: </a:t>
            </a:r>
            <a:r>
              <a:rPr sz="1050" b="0" i="0">
                <a:solidFill>
                  <a:srgbClr val="181C23"/>
                </a:solidFill>
                <a:latin typeface="Ubuntu"/>
              </a:rPr>
              <a:t>Direciona o usuário para o data center mais próximo ou mais rápido.</a:t>
            </a:r>
          </a:p>
        </p:txBody>
      </p:sp>
      <p:sp>
        <p:nvSpPr>
          <p:cNvPr id="17" name="Shape 17"/>
          <p:cNvSpPr/>
          <p:nvPr/>
        </p:nvSpPr>
        <p:spPr>
          <a:xfrm>
            <a:off x="311700" y="434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311700" y="434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Ubuntu Medium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1700" y="43800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371FF"/>
                </a:solidFill>
                <a:latin typeface="Ubuntu Medium"/>
              </a:rPr>
              <a:t>Health checks e failover: </a:t>
            </a:r>
            <a:r>
              <a:rPr sz="1050" b="0" i="0">
                <a:solidFill>
                  <a:srgbClr val="181C23"/>
                </a:solidFill>
                <a:latin typeface="Ubuntu"/>
              </a:rPr>
              <a:t>Redireciona o tráfego automaticamente quando o servidor principal cai.</a:t>
            </a:r>
          </a:p>
        </p:txBody>
      </p:sp>
      <p:sp>
        <p:nvSpPr>
          <p:cNvPr id="20" name="Shap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68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LABORATÓRIO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pt-PT" sz="2400" b="0" i="0">
                <a:solidFill>
                  <a:srgbClr val="181C23"/>
                </a:solidFill>
                <a:latin typeface="Ubuntu Medium"/>
              </a:rPr>
              <a:t>Comandos </a:t>
            </a:r>
            <a:r>
              <a:rPr sz="2400" b="0" i="0">
                <a:solidFill>
                  <a:srgbClr val="181C23"/>
                </a:solidFill>
                <a:latin typeface="Ubuntu Medium"/>
              </a:rPr>
              <a:t>de inspeção DNS</a:t>
            </a:r>
            <a:r>
              <a:rPr lang="pt-PT" sz="2400" b="0" i="0">
                <a:solidFill>
                  <a:srgbClr val="181C23"/>
                </a:solidFill>
                <a:latin typeface="Ubuntu Medium"/>
              </a:rPr>
              <a:t>: Linux e Windows CMD</a:t>
            </a:r>
            <a:endParaRPr sz="2400" b="0" i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4" name="Shape 4"/>
          <p:cNvSpPr/>
          <p:nvPr/>
        </p:nvSpPr>
        <p:spPr>
          <a:xfrm>
            <a:off x="311700" y="1560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hape 5"/>
          <p:cNvSpPr/>
          <p:nvPr/>
        </p:nvSpPr>
        <p:spPr>
          <a:xfrm>
            <a:off x="311700" y="1700000"/>
            <a:ext cx="8520600" cy="300000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431700" y="1700000"/>
            <a:ext cx="193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950" b="0" i="0">
                <a:solidFill>
                  <a:srgbClr val="FFFFFF"/>
                </a:solidFill>
                <a:latin typeface="Ubuntu Medium"/>
              </a:rPr>
              <a:t>Objetivo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81700" y="1700000"/>
            <a:ext cx="308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950" b="0" i="0">
                <a:solidFill>
                  <a:srgbClr val="FFFFFF"/>
                </a:solidFill>
                <a:latin typeface="Ubuntu Medium"/>
              </a:rPr>
              <a:t>Comando original (Linux)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81700" y="1700000"/>
            <a:ext cx="31506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950" b="0" i="0">
                <a:solidFill>
                  <a:srgbClr val="FFFFFF"/>
                </a:solidFill>
                <a:latin typeface="Ubuntu Medium"/>
              </a:rPr>
              <a:t>Equivalente no Windows CMD</a:t>
            </a:r>
          </a:p>
        </p:txBody>
      </p:sp>
      <p:sp>
        <p:nvSpPr>
          <p:cNvPr id="9" name="Shape 9"/>
          <p:cNvSpPr/>
          <p:nvPr/>
        </p:nvSpPr>
        <p:spPr>
          <a:xfrm>
            <a:off x="311700" y="2000000"/>
            <a:ext cx="8520600" cy="26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431700" y="2000000"/>
            <a:ext cx="1870000" cy="2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900" b="0" i="0">
                <a:solidFill>
                  <a:srgbClr val="181C23"/>
                </a:solidFill>
                <a:latin typeface="Ubuntu Medium"/>
              </a:rPr>
              <a:t>Consulta simples</a:t>
            </a:r>
          </a:p>
        </p:txBody>
      </p:sp>
      <p:sp>
        <p:nvSpPr>
          <p:cNvPr id="11" name="Shape 11"/>
          <p:cNvSpPr/>
          <p:nvPr/>
        </p:nvSpPr>
        <p:spPr>
          <a:xfrm>
            <a:off x="2421700" y="2030000"/>
            <a:ext cx="3000000" cy="200000"/>
          </a:xfrm>
          <a:prstGeom prst="roundRect">
            <a:avLst>
              <a:gd name="adj" fmla="val 14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2511700" y="2030000"/>
            <a:ext cx="28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800" b="0" i="0">
                <a:solidFill>
                  <a:srgbClr val="A6F750"/>
                </a:solidFill>
                <a:latin typeface="Consolas"/>
              </a:rPr>
              <a:t>dig google.com</a:t>
            </a:r>
          </a:p>
        </p:txBody>
      </p:sp>
      <p:sp>
        <p:nvSpPr>
          <p:cNvPr id="13" name="Shape 13"/>
          <p:cNvSpPr>
            <a:spLocks/>
          </p:cNvSpPr>
          <p:nvPr/>
        </p:nvSpPr>
        <p:spPr>
          <a:xfrm>
            <a:off x="5621700" y="2030000"/>
            <a:ext cx="3070600" cy="200000"/>
          </a:xfrm>
          <a:prstGeom prst="roundRect">
            <a:avLst>
              <a:gd name="adj" fmla="val 14000"/>
            </a:avLst>
          </a:prstGeom>
          <a:solidFill>
            <a:srgbClr val="0B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TextBox 14"/>
          <p:cNvSpPr txBox="1">
            <a:spLocks/>
          </p:cNvSpPr>
          <p:nvPr/>
        </p:nvSpPr>
        <p:spPr>
          <a:xfrm>
            <a:off x="5711700" y="2030000"/>
            <a:ext cx="28906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800" b="0" i="0">
                <a:solidFill>
                  <a:srgbClr val="9EC5FF"/>
                </a:solidFill>
                <a:latin typeface="Consolas"/>
              </a:rPr>
              <a:t>nslookup google.com</a:t>
            </a:r>
          </a:p>
        </p:txBody>
      </p:sp>
      <p:sp>
        <p:nvSpPr>
          <p:cNvPr id="15" name="Shape 15"/>
          <p:cNvSpPr>
            <a:spLocks/>
          </p:cNvSpPr>
          <p:nvPr/>
        </p:nvSpPr>
        <p:spPr>
          <a:xfrm>
            <a:off x="311700" y="2262000"/>
            <a:ext cx="852060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TextBox 16"/>
          <p:cNvSpPr txBox="1">
            <a:spLocks/>
          </p:cNvSpPr>
          <p:nvPr/>
        </p:nvSpPr>
        <p:spPr>
          <a:xfrm>
            <a:off x="431700" y="2262000"/>
            <a:ext cx="1870000" cy="2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900" b="0" i="0">
                <a:solidFill>
                  <a:srgbClr val="181C23"/>
                </a:solidFill>
                <a:latin typeface="Ubuntu Medium"/>
              </a:rPr>
              <a:t>Registro específico</a:t>
            </a:r>
          </a:p>
        </p:txBody>
      </p:sp>
      <p:sp>
        <p:nvSpPr>
          <p:cNvPr id="17" name="Shape 17"/>
          <p:cNvSpPr>
            <a:spLocks/>
          </p:cNvSpPr>
          <p:nvPr/>
        </p:nvSpPr>
        <p:spPr>
          <a:xfrm>
            <a:off x="2421700" y="2292000"/>
            <a:ext cx="3000000" cy="200000"/>
          </a:xfrm>
          <a:prstGeom prst="roundRect">
            <a:avLst>
              <a:gd name="adj" fmla="val 14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TextBox 18"/>
          <p:cNvSpPr txBox="1"/>
          <p:nvPr/>
        </p:nvSpPr>
        <p:spPr>
          <a:xfrm>
            <a:off x="2511700" y="2292000"/>
            <a:ext cx="28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800" b="0" i="0">
                <a:solidFill>
                  <a:srgbClr val="A6F750"/>
                </a:solidFill>
                <a:latin typeface="Consolas"/>
              </a:rPr>
              <a:t>dig TXT google.com</a:t>
            </a:r>
          </a:p>
        </p:txBody>
      </p:sp>
      <p:sp>
        <p:nvSpPr>
          <p:cNvPr id="19" name="Shape 19"/>
          <p:cNvSpPr/>
          <p:nvPr/>
        </p:nvSpPr>
        <p:spPr>
          <a:xfrm>
            <a:off x="5621700" y="2292000"/>
            <a:ext cx="3070600" cy="200000"/>
          </a:xfrm>
          <a:prstGeom prst="roundRect">
            <a:avLst>
              <a:gd name="adj" fmla="val 14000"/>
            </a:avLst>
          </a:prstGeom>
          <a:solidFill>
            <a:srgbClr val="0B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5711700" y="2292000"/>
            <a:ext cx="28906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800" b="0" i="0">
                <a:solidFill>
                  <a:srgbClr val="9EC5FF"/>
                </a:solidFill>
                <a:latin typeface="Consolas"/>
              </a:rPr>
              <a:t>nslookup -type=TXT google.com</a:t>
            </a:r>
          </a:p>
        </p:txBody>
      </p:sp>
      <p:sp>
        <p:nvSpPr>
          <p:cNvPr id="21" name="Shape 21"/>
          <p:cNvSpPr/>
          <p:nvPr/>
        </p:nvSpPr>
        <p:spPr>
          <a:xfrm>
            <a:off x="311700" y="2524000"/>
            <a:ext cx="8520600" cy="26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431700" y="2524000"/>
            <a:ext cx="1870000" cy="2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900" b="0" i="0">
                <a:solidFill>
                  <a:srgbClr val="181C23"/>
                </a:solidFill>
                <a:latin typeface="Ubuntu Medium"/>
              </a:rPr>
              <a:t>Rastrear a hierarquia</a:t>
            </a:r>
          </a:p>
        </p:txBody>
      </p:sp>
      <p:sp>
        <p:nvSpPr>
          <p:cNvPr id="23" name="Shape 23"/>
          <p:cNvSpPr>
            <a:spLocks/>
          </p:cNvSpPr>
          <p:nvPr/>
        </p:nvSpPr>
        <p:spPr>
          <a:xfrm>
            <a:off x="2421700" y="2554000"/>
            <a:ext cx="3000000" cy="200000"/>
          </a:xfrm>
          <a:prstGeom prst="roundRect">
            <a:avLst>
              <a:gd name="adj" fmla="val 14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TextBox 24"/>
          <p:cNvSpPr txBox="1">
            <a:spLocks/>
          </p:cNvSpPr>
          <p:nvPr/>
        </p:nvSpPr>
        <p:spPr>
          <a:xfrm>
            <a:off x="2511700" y="2554000"/>
            <a:ext cx="28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800" b="0" i="0">
                <a:solidFill>
                  <a:srgbClr val="A6F750"/>
                </a:solidFill>
                <a:latin typeface="Consolas"/>
              </a:rPr>
              <a:t>dig +trace google.com</a:t>
            </a:r>
          </a:p>
        </p:txBody>
      </p:sp>
      <p:sp>
        <p:nvSpPr>
          <p:cNvPr id="25" name="Shape 25"/>
          <p:cNvSpPr>
            <a:spLocks/>
          </p:cNvSpPr>
          <p:nvPr/>
        </p:nvSpPr>
        <p:spPr>
          <a:xfrm>
            <a:off x="5621700" y="2554000"/>
            <a:ext cx="3070600" cy="200000"/>
          </a:xfrm>
          <a:prstGeom prst="roundRect">
            <a:avLst>
              <a:gd name="adj" fmla="val 14000"/>
            </a:avLst>
          </a:prstGeom>
          <a:solidFill>
            <a:srgbClr val="0B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TextBox 26"/>
          <p:cNvSpPr txBox="1">
            <a:spLocks/>
          </p:cNvSpPr>
          <p:nvPr/>
        </p:nvSpPr>
        <p:spPr>
          <a:xfrm>
            <a:off x="5711700" y="2554000"/>
            <a:ext cx="28906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800" b="0" i="0">
                <a:solidFill>
                  <a:srgbClr val="9EC5FF"/>
                </a:solidFill>
                <a:latin typeface="Consolas"/>
              </a:rPr>
              <a:t>nslookup -debug google.com</a:t>
            </a:r>
          </a:p>
        </p:txBody>
      </p:sp>
      <p:sp>
        <p:nvSpPr>
          <p:cNvPr id="27" name="Shape 27"/>
          <p:cNvSpPr>
            <a:spLocks/>
          </p:cNvSpPr>
          <p:nvPr/>
        </p:nvSpPr>
        <p:spPr>
          <a:xfrm>
            <a:off x="311700" y="2786000"/>
            <a:ext cx="852060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TextBox 28"/>
          <p:cNvSpPr txBox="1"/>
          <p:nvPr/>
        </p:nvSpPr>
        <p:spPr>
          <a:xfrm>
            <a:off x="431700" y="2786000"/>
            <a:ext cx="1870000" cy="2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900" b="0" i="0">
                <a:solidFill>
                  <a:srgbClr val="181C23"/>
                </a:solidFill>
                <a:latin typeface="Ubuntu Medium"/>
              </a:rPr>
              <a:t>Consultar DNS específico</a:t>
            </a:r>
          </a:p>
        </p:txBody>
      </p:sp>
      <p:sp>
        <p:nvSpPr>
          <p:cNvPr id="29" name="Shape 29"/>
          <p:cNvSpPr/>
          <p:nvPr/>
        </p:nvSpPr>
        <p:spPr>
          <a:xfrm>
            <a:off x="2421700" y="2816000"/>
            <a:ext cx="3000000" cy="200000"/>
          </a:xfrm>
          <a:prstGeom prst="roundRect">
            <a:avLst>
              <a:gd name="adj" fmla="val 14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2511700" y="2816000"/>
            <a:ext cx="28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800" b="0" i="0">
                <a:solidFill>
                  <a:srgbClr val="A6F750"/>
                </a:solidFill>
                <a:latin typeface="Consolas"/>
              </a:rPr>
              <a:t>dig @10.0.0.2 api.internal</a:t>
            </a:r>
          </a:p>
        </p:txBody>
      </p:sp>
      <p:sp>
        <p:nvSpPr>
          <p:cNvPr id="31" name="Shape 31"/>
          <p:cNvSpPr/>
          <p:nvPr/>
        </p:nvSpPr>
        <p:spPr>
          <a:xfrm>
            <a:off x="5621700" y="2816000"/>
            <a:ext cx="3070600" cy="200000"/>
          </a:xfrm>
          <a:prstGeom prst="roundRect">
            <a:avLst>
              <a:gd name="adj" fmla="val 14000"/>
            </a:avLst>
          </a:prstGeom>
          <a:solidFill>
            <a:srgbClr val="0B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5711700" y="2816000"/>
            <a:ext cx="28906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800" b="0" i="0">
                <a:solidFill>
                  <a:srgbClr val="9EC5FF"/>
                </a:solidFill>
                <a:latin typeface="Consolas"/>
              </a:rPr>
              <a:t>nslookup api.internal 10.0.0.2</a:t>
            </a:r>
          </a:p>
        </p:txBody>
      </p:sp>
      <p:sp>
        <p:nvSpPr>
          <p:cNvPr id="33" name="Shape 33"/>
          <p:cNvSpPr>
            <a:spLocks/>
          </p:cNvSpPr>
          <p:nvPr/>
        </p:nvSpPr>
        <p:spPr>
          <a:xfrm>
            <a:off x="311700" y="3048000"/>
            <a:ext cx="8520600" cy="26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4" name="TextBox 34"/>
          <p:cNvSpPr txBox="1"/>
          <p:nvPr/>
        </p:nvSpPr>
        <p:spPr>
          <a:xfrm>
            <a:off x="431700" y="3048000"/>
            <a:ext cx="1870000" cy="2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900" b="0" i="0">
                <a:solidFill>
                  <a:srgbClr val="181C23"/>
                </a:solidFill>
                <a:latin typeface="Ubuntu Medium"/>
              </a:rPr>
              <a:t>Limpar cache local</a:t>
            </a:r>
          </a:p>
        </p:txBody>
      </p:sp>
      <p:sp>
        <p:nvSpPr>
          <p:cNvPr id="35" name="Shape 35"/>
          <p:cNvSpPr/>
          <p:nvPr/>
        </p:nvSpPr>
        <p:spPr>
          <a:xfrm>
            <a:off x="2421700" y="3078000"/>
            <a:ext cx="3000000" cy="200000"/>
          </a:xfrm>
          <a:prstGeom prst="roundRect">
            <a:avLst>
              <a:gd name="adj" fmla="val 14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2511700" y="3078000"/>
            <a:ext cx="28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800" b="0" i="0">
                <a:solidFill>
                  <a:srgbClr val="A6F750"/>
                </a:solidFill>
                <a:latin typeface="Consolas"/>
              </a:rPr>
              <a:t>resolvectl flush-caches</a:t>
            </a:r>
          </a:p>
        </p:txBody>
      </p:sp>
      <p:sp>
        <p:nvSpPr>
          <p:cNvPr id="37" name="Shape 37"/>
          <p:cNvSpPr>
            <a:spLocks/>
          </p:cNvSpPr>
          <p:nvPr/>
        </p:nvSpPr>
        <p:spPr>
          <a:xfrm>
            <a:off x="5621700" y="3078000"/>
            <a:ext cx="3070600" cy="200000"/>
          </a:xfrm>
          <a:prstGeom prst="roundRect">
            <a:avLst>
              <a:gd name="adj" fmla="val 14000"/>
            </a:avLst>
          </a:prstGeom>
          <a:solidFill>
            <a:srgbClr val="0B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8" name="TextBox 38"/>
          <p:cNvSpPr txBox="1"/>
          <p:nvPr/>
        </p:nvSpPr>
        <p:spPr>
          <a:xfrm>
            <a:off x="5711700" y="3078000"/>
            <a:ext cx="28906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PT" sz="800" b="0" i="0">
                <a:solidFill>
                  <a:srgbClr val="9EC5FF"/>
                </a:solidFill>
                <a:latin typeface="Consolas"/>
              </a:rPr>
              <a:t>ipconfig /flushdns</a:t>
            </a:r>
          </a:p>
        </p:txBody>
      </p:sp>
      <p:sp>
        <p:nvSpPr>
          <p:cNvPr id="39" name="Shape 39"/>
          <p:cNvSpPr>
            <a:spLocks/>
          </p:cNvSpPr>
          <p:nvPr/>
        </p:nvSpPr>
        <p:spPr>
          <a:xfrm>
            <a:off x="311700" y="3310000"/>
            <a:ext cx="852060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" name="TextBox 40"/>
          <p:cNvSpPr txBox="1"/>
          <p:nvPr/>
        </p:nvSpPr>
        <p:spPr>
          <a:xfrm>
            <a:off x="431700" y="3310000"/>
            <a:ext cx="1870000" cy="2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181C23"/>
                </a:solidFill>
                <a:latin typeface="Ubuntu Medium"/>
              </a:rPr>
              <a:t>Filtrar a saída</a:t>
            </a:r>
          </a:p>
        </p:txBody>
      </p:sp>
      <p:sp>
        <p:nvSpPr>
          <p:cNvPr id="41" name="Shape 41"/>
          <p:cNvSpPr/>
          <p:nvPr/>
        </p:nvSpPr>
        <p:spPr>
          <a:xfrm>
            <a:off x="2421700" y="3340000"/>
            <a:ext cx="3000000" cy="200000"/>
          </a:xfrm>
          <a:prstGeom prst="roundRect">
            <a:avLst>
              <a:gd name="adj" fmla="val 14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2511700" y="3340000"/>
            <a:ext cx="28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A6F750"/>
                </a:solidFill>
                <a:latin typeface="Consolas"/>
              </a:rPr>
              <a:t>dig google.com | grep ANSWER</a:t>
            </a:r>
          </a:p>
        </p:txBody>
      </p:sp>
      <p:sp>
        <p:nvSpPr>
          <p:cNvPr id="43" name="Shape 43"/>
          <p:cNvSpPr/>
          <p:nvPr/>
        </p:nvSpPr>
        <p:spPr>
          <a:xfrm>
            <a:off x="5621700" y="3340000"/>
            <a:ext cx="3070600" cy="200000"/>
          </a:xfrm>
          <a:prstGeom prst="roundRect">
            <a:avLst>
              <a:gd name="adj" fmla="val 14000"/>
            </a:avLst>
          </a:prstGeom>
          <a:solidFill>
            <a:srgbClr val="0B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5711700" y="3340000"/>
            <a:ext cx="28906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 dirty="0" err="1">
                <a:solidFill>
                  <a:srgbClr val="9EC5FF"/>
                </a:solidFill>
                <a:latin typeface="Consolas"/>
              </a:rPr>
              <a:t>nslookup</a:t>
            </a:r>
            <a:r>
              <a:rPr sz="800" b="0" i="0" dirty="0">
                <a:solidFill>
                  <a:srgbClr val="9EC5FF"/>
                </a:solidFill>
                <a:latin typeface="Consolas"/>
              </a:rPr>
              <a:t> google.com | </a:t>
            </a:r>
            <a:r>
              <a:rPr sz="800" b="0" i="0" dirty="0" err="1">
                <a:solidFill>
                  <a:srgbClr val="9EC5FF"/>
                </a:solidFill>
                <a:latin typeface="Consolas"/>
              </a:rPr>
              <a:t>findstr</a:t>
            </a:r>
            <a:r>
              <a:rPr sz="800" b="0" i="0" dirty="0">
                <a:solidFill>
                  <a:srgbClr val="9EC5FF"/>
                </a:solidFill>
                <a:latin typeface="Consolas"/>
              </a:rPr>
              <a:t> Address</a:t>
            </a:r>
          </a:p>
        </p:txBody>
      </p:sp>
      <p:sp>
        <p:nvSpPr>
          <p:cNvPr id="45" name="Shape 45"/>
          <p:cNvSpPr/>
          <p:nvPr/>
        </p:nvSpPr>
        <p:spPr>
          <a:xfrm>
            <a:off x="311700" y="3572000"/>
            <a:ext cx="8520600" cy="26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6"/>
          <p:cNvSpPr txBox="1"/>
          <p:nvPr/>
        </p:nvSpPr>
        <p:spPr>
          <a:xfrm>
            <a:off x="431700" y="3572000"/>
            <a:ext cx="1870000" cy="2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181C23"/>
                </a:solidFill>
                <a:latin typeface="Ubuntu Medium"/>
              </a:rPr>
              <a:t>Testar o endpoint HTTP</a:t>
            </a:r>
          </a:p>
        </p:txBody>
      </p:sp>
      <p:sp>
        <p:nvSpPr>
          <p:cNvPr id="47" name="Shape 47"/>
          <p:cNvSpPr/>
          <p:nvPr/>
        </p:nvSpPr>
        <p:spPr>
          <a:xfrm>
            <a:off x="2421700" y="3602000"/>
            <a:ext cx="3000000" cy="200000"/>
          </a:xfrm>
          <a:prstGeom prst="roundRect">
            <a:avLst>
              <a:gd name="adj" fmla="val 14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2511700" y="3602000"/>
            <a:ext cx="28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A6F750"/>
                </a:solidFill>
                <a:latin typeface="Consolas"/>
              </a:rPr>
              <a:t>curl -I https://app.com</a:t>
            </a:r>
          </a:p>
        </p:txBody>
      </p:sp>
      <p:sp>
        <p:nvSpPr>
          <p:cNvPr id="49" name="Shape 49"/>
          <p:cNvSpPr/>
          <p:nvPr/>
        </p:nvSpPr>
        <p:spPr>
          <a:xfrm>
            <a:off x="5621700" y="3602000"/>
            <a:ext cx="3070600" cy="200000"/>
          </a:xfrm>
          <a:prstGeom prst="roundRect">
            <a:avLst>
              <a:gd name="adj" fmla="val 14000"/>
            </a:avLst>
          </a:prstGeom>
          <a:solidFill>
            <a:srgbClr val="0B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5711700" y="3602000"/>
            <a:ext cx="28906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9EC5FF"/>
                </a:solidFill>
                <a:latin typeface="Consolas"/>
              </a:rPr>
              <a:t>curl -I https://app.com</a:t>
            </a:r>
          </a:p>
        </p:txBody>
      </p:sp>
      <p:sp>
        <p:nvSpPr>
          <p:cNvPr id="51" name="Shape 51"/>
          <p:cNvSpPr/>
          <p:nvPr/>
        </p:nvSpPr>
        <p:spPr>
          <a:xfrm>
            <a:off x="311700" y="3834000"/>
            <a:ext cx="852060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2"/>
          <p:cNvSpPr txBox="1"/>
          <p:nvPr/>
        </p:nvSpPr>
        <p:spPr>
          <a:xfrm>
            <a:off x="431700" y="3834000"/>
            <a:ext cx="1870000" cy="2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181C23"/>
                </a:solidFill>
                <a:latin typeface="Ubuntu Medium"/>
              </a:rPr>
              <a:t>Rastrear a rota de rede</a:t>
            </a:r>
          </a:p>
        </p:txBody>
      </p:sp>
      <p:sp>
        <p:nvSpPr>
          <p:cNvPr id="53" name="Shape 53"/>
          <p:cNvSpPr/>
          <p:nvPr/>
        </p:nvSpPr>
        <p:spPr>
          <a:xfrm>
            <a:off x="2421700" y="3864000"/>
            <a:ext cx="3000000" cy="200000"/>
          </a:xfrm>
          <a:prstGeom prst="roundRect">
            <a:avLst>
              <a:gd name="adj" fmla="val 14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4"/>
          <p:cNvSpPr txBox="1"/>
          <p:nvPr/>
        </p:nvSpPr>
        <p:spPr>
          <a:xfrm>
            <a:off x="2511700" y="3864000"/>
            <a:ext cx="28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A6F750"/>
                </a:solidFill>
                <a:latin typeface="Consolas"/>
              </a:rPr>
              <a:t>traceroute google.com</a:t>
            </a:r>
          </a:p>
        </p:txBody>
      </p:sp>
      <p:sp>
        <p:nvSpPr>
          <p:cNvPr id="55" name="Shape 55"/>
          <p:cNvSpPr/>
          <p:nvPr/>
        </p:nvSpPr>
        <p:spPr>
          <a:xfrm>
            <a:off x="5621700" y="3864000"/>
            <a:ext cx="3070600" cy="200000"/>
          </a:xfrm>
          <a:prstGeom prst="roundRect">
            <a:avLst>
              <a:gd name="adj" fmla="val 14000"/>
            </a:avLst>
          </a:prstGeom>
          <a:solidFill>
            <a:srgbClr val="0B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6"/>
          <p:cNvSpPr txBox="1"/>
          <p:nvPr/>
        </p:nvSpPr>
        <p:spPr>
          <a:xfrm>
            <a:off x="5711700" y="3864000"/>
            <a:ext cx="28906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9EC5FF"/>
                </a:solidFill>
                <a:latin typeface="Consolas"/>
              </a:rPr>
              <a:t>tracert google.com</a:t>
            </a:r>
          </a:p>
        </p:txBody>
      </p:sp>
      <p:sp>
        <p:nvSpPr>
          <p:cNvPr id="57" name="Shape 57"/>
          <p:cNvSpPr/>
          <p:nvPr/>
        </p:nvSpPr>
        <p:spPr>
          <a:xfrm>
            <a:off x="311700" y="4096000"/>
            <a:ext cx="8520600" cy="26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8"/>
          <p:cNvSpPr txBox="1"/>
          <p:nvPr/>
        </p:nvSpPr>
        <p:spPr>
          <a:xfrm>
            <a:off x="431700" y="4096000"/>
            <a:ext cx="1870000" cy="2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181C23"/>
                </a:solidFill>
                <a:latin typeface="Ubuntu Medium"/>
              </a:rPr>
              <a:t>Listar arquivos do projeto</a:t>
            </a:r>
          </a:p>
        </p:txBody>
      </p:sp>
      <p:sp>
        <p:nvSpPr>
          <p:cNvPr id="59" name="Shape 59"/>
          <p:cNvSpPr/>
          <p:nvPr/>
        </p:nvSpPr>
        <p:spPr>
          <a:xfrm>
            <a:off x="2421700" y="4126000"/>
            <a:ext cx="3000000" cy="200000"/>
          </a:xfrm>
          <a:prstGeom prst="roundRect">
            <a:avLst>
              <a:gd name="adj" fmla="val 14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60"/>
          <p:cNvSpPr txBox="1"/>
          <p:nvPr/>
        </p:nvSpPr>
        <p:spPr>
          <a:xfrm>
            <a:off x="2511700" y="4126000"/>
            <a:ext cx="28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A6F750"/>
                </a:solidFill>
                <a:latin typeface="Consolas"/>
              </a:rPr>
              <a:t>ls -l</a:t>
            </a:r>
          </a:p>
        </p:txBody>
      </p:sp>
      <p:sp>
        <p:nvSpPr>
          <p:cNvPr id="61" name="Shape 61"/>
          <p:cNvSpPr/>
          <p:nvPr/>
        </p:nvSpPr>
        <p:spPr>
          <a:xfrm>
            <a:off x="5621700" y="4126000"/>
            <a:ext cx="3070600" cy="200000"/>
          </a:xfrm>
          <a:prstGeom prst="roundRect">
            <a:avLst>
              <a:gd name="adj" fmla="val 14000"/>
            </a:avLst>
          </a:prstGeom>
          <a:solidFill>
            <a:srgbClr val="0B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2"/>
          <p:cNvSpPr txBox="1"/>
          <p:nvPr/>
        </p:nvSpPr>
        <p:spPr>
          <a:xfrm>
            <a:off x="5711700" y="4126000"/>
            <a:ext cx="28906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9EC5FF"/>
                </a:solidFill>
                <a:latin typeface="Consolas"/>
              </a:rPr>
              <a:t>dir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11700" y="4400000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371FF"/>
                </a:solidFill>
                <a:latin typeface="Ubuntu Medium"/>
              </a:rPr>
              <a:t>Sem equivalente direto: </a:t>
            </a:r>
            <a:r>
              <a:rPr sz="850" b="0" i="0">
                <a:solidFill>
                  <a:srgbClr val="6A707D"/>
                </a:solidFill>
                <a:latin typeface="Ubuntu"/>
              </a:rPr>
              <a:t>o CMD não faz o +trace do dig — use nslookup -debug para ver a consulta passo a passo, ou instale o dig do BIND. O curl já é nativo no Windows 10 e 11.</a:t>
            </a:r>
          </a:p>
        </p:txBody>
      </p:sp>
      <p:sp>
        <p:nvSpPr>
          <p:cNvPr id="64" name="Shape 6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Proxy reverso protege, distribui carga e faz cache — o cliente nunca acessa o servidor direto.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DNS converte nomes amigáveis em endereços 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Registros: A (IPv4), AAAA (IPv6), MX (e-mail), CNAME (apelido), TXT (verificação).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Nginx é o proxy reverso mais popular — simples e de alta performance.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2605</Words>
  <Application>Microsoft Office PowerPoint</Application>
  <PresentationFormat>On-screen Show (16:9)</PresentationFormat>
  <Paragraphs>419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Lato</vt:lpstr>
      <vt:lpstr>Ubuntu Medium</vt:lpstr>
      <vt:lpstr>Arial</vt:lpstr>
      <vt:lpstr>Ubuntu Light</vt:lpstr>
      <vt:lpstr>Fira Code</vt:lpstr>
      <vt:lpstr>Ubuntu</vt:lpstr>
      <vt:lpstr>Wingdings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15</cp:revision>
  <dcterms:modified xsi:type="dcterms:W3CDTF">2026-08-17T21:07:27Z</dcterms:modified>
</cp:coreProperties>
</file>