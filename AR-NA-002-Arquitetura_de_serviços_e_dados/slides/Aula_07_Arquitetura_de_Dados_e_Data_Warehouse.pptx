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59" r:id="rId6"/>
    <p:sldId id="260" r:id="rId7"/>
    <p:sldId id="261" r:id="rId8"/>
    <p:sldId id="269" r:id="rId9"/>
    <p:sldId id="270" r:id="rId10"/>
    <p:sldId id="271" r:id="rId11"/>
    <p:sldId id="272" r:id="rId12"/>
    <p:sldId id="273" r:id="rId13"/>
    <p:sldId id="262" r:id="rId14"/>
    <p:sldId id="263" r:id="rId15"/>
    <p:sldId id="268" r:id="rId16"/>
    <p:sldId id="264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Ubuntu" panose="020B0504030602030204" pitchFamily="34" charset="0"/>
      <p:regular r:id="rId23"/>
      <p:bold r:id="rId24"/>
      <p:italic r:id="rId25"/>
      <p:boldItalic r:id="rId26"/>
    </p:embeddedFont>
    <p:embeddedFont>
      <p:font typeface="Ubuntu Light" panose="020B0304030602030204" pitchFamily="34" charset="0"/>
      <p:regular r:id="rId27"/>
      <p:bold r:id="rId28"/>
      <p:italic r:id="rId29"/>
      <p:boldItalic r:id="rId30"/>
    </p:embeddedFont>
    <p:embeddedFont>
      <p:font typeface="Ubuntu Medium" panose="020B060403060203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live_Humby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3344482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900000"/>
            <a:ext cx="2400000" cy="142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/>
            <a:r>
              <a:rPr sz="13000" b="1" i="0">
                <a:solidFill>
                  <a:srgbClr val="A6F750"/>
                </a:solidFill>
                <a:latin typeface="Ubuntu Light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5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Ubuntu Medium"/>
              </a:rPr>
              <a:t>AULA 07  ·  Segunda, 24/08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20000"/>
            <a:ext cx="66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81C23"/>
                </a:solidFill>
                <a:latin typeface="Ubuntu Medium"/>
              </a:rPr>
              <a:t>Arquitetura de Dados e Data Warehouse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Ubuntu Light"/>
              </a:rPr>
              <a:t>"Dados são o novo petróleo" — como organizá-los?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Ubuntu"/>
              </a:rPr>
              <a:t>Módulo · Arquitetura de Serviços e 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10/08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Introdução ao Módulo e Docker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19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12/08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Servidores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2100" y="1596148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14/08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Apache e Nginx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17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17/08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Proxy Reverso e DNS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519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19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19/08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CI/CD e Ciclo de Vida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42100" y="2751932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21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21/08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Cloud Computing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6F750"/>
                </a:solidFill>
                <a:latin typeface="Ubuntu Medium"/>
              </a:rPr>
              <a:t>Seg 24/08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FFFDF8"/>
                </a:solidFill>
                <a:latin typeface="Ubuntu"/>
              </a:rPr>
              <a:t>Arquitetura</a:t>
            </a:r>
            <a:r>
              <a:rPr sz="1100" b="0" i="0" dirty="0">
                <a:solidFill>
                  <a:srgbClr val="FFFDF8"/>
                </a:solidFill>
                <a:latin typeface="Ubuntu"/>
              </a:rPr>
              <a:t> de Dados e Data Warehouse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Ter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5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Data Lake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907716"/>
            <a:ext cx="2440200" cy="372568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92500" lnSpcReduction="20000"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307716"/>
            <a:ext cx="2440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Qua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 2</a:t>
            </a:r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6</a:t>
            </a:r>
            <a:r>
              <a:rPr sz="1100" b="0" i="0" dirty="0">
                <a:solidFill>
                  <a:srgbClr val="2371FF"/>
                </a:solidFill>
                <a:latin typeface="Ubuntu Medium"/>
              </a:rPr>
              <a:t>/08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537716"/>
            <a:ext cx="2590200" cy="16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 dirty="0" err="1">
                <a:solidFill>
                  <a:srgbClr val="181C23"/>
                </a:solidFill>
                <a:latin typeface="Ubuntu"/>
              </a:rPr>
              <a:t>Concluir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atividades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e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preencher</a:t>
            </a:r>
            <a:r>
              <a:rPr sz="1100" b="0" i="0" dirty="0">
                <a:solidFill>
                  <a:srgbClr val="181C23"/>
                </a:solidFill>
                <a:latin typeface="Ubuntu"/>
              </a:rPr>
              <a:t> </a:t>
            </a:r>
            <a:r>
              <a:rPr sz="1100" b="0" i="0" dirty="0" err="1">
                <a:solidFill>
                  <a:srgbClr val="181C23"/>
                </a:solidFill>
                <a:latin typeface="Ubuntu"/>
              </a:rPr>
              <a:t>rubricas</a:t>
            </a:r>
            <a:endParaRPr sz="1100" b="0" i="0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Ubuntu Medium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Ubuntu Medium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pPr defTabSz="457200"/>
            <a:endParaRPr sz="1800" kern="12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1700" y="3703500"/>
            <a:ext cx="2839028" cy="503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Câmera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ligada</a:t>
            </a:r>
            <a:r>
              <a:rPr lang="pt-PT"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+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mão</a:t>
            </a:r>
            <a:r>
              <a:rPr sz="1500" b="0" i="0" dirty="0">
                <a:solidFill>
                  <a:schemeClr val="bg1"/>
                </a:solidFill>
                <a:latin typeface="Ubuntu Medium"/>
              </a:rPr>
              <a:t> </a:t>
            </a:r>
            <a:r>
              <a:rPr sz="1500" b="0" i="0" dirty="0" err="1">
                <a:solidFill>
                  <a:schemeClr val="bg1"/>
                </a:solidFill>
                <a:latin typeface="Ubuntu Medium"/>
              </a:rPr>
              <a:t>levantada</a:t>
            </a:r>
            <a:endParaRPr sz="1500" b="0" i="0" dirty="0">
              <a:solidFill>
                <a:schemeClr val="bg1"/>
              </a:solidFill>
              <a:latin typeface="Ubuntu Medium"/>
            </a:endParaRPr>
          </a:p>
          <a:p>
            <a:pPr algn="ctr">
              <a:lnSpc>
                <a:spcPct val="115000"/>
              </a:lnSpc>
            </a:pPr>
            <a:r>
              <a:rPr sz="1500" b="0" i="0" dirty="0">
                <a:solidFill>
                  <a:srgbClr val="A6F750"/>
                </a:solidFill>
                <a:latin typeface="Ubuntu Medium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00" y="4361167"/>
            <a:ext cx="283902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0" i="0" dirty="0">
                <a:solidFill>
                  <a:srgbClr val="181C23"/>
                </a:solidFill>
                <a:latin typeface="Ubuntu Medium"/>
              </a:rPr>
              <a:t>INTERVALO · </a:t>
            </a:r>
            <a:r>
              <a:rPr lang="pt-PT" sz="1200" b="0" i="0" dirty="0">
                <a:solidFill>
                  <a:srgbClr val="181C23"/>
                </a:solidFill>
                <a:latin typeface="Ubuntu Medium"/>
              </a:rPr>
              <a:t>16:30 BRT</a:t>
            </a:r>
            <a:endParaRPr sz="12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Ubuntu Medium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Ubuntu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2300" y="4931944"/>
            <a:ext cx="3000000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lang="pt-PT" sz="800" dirty="0">
                <a:solidFill>
                  <a:srgbClr val="2371FF"/>
                </a:solidFill>
                <a:latin typeface="Ubuntu Medium"/>
              </a:rPr>
              <a:t>Aula 06 — </a:t>
            </a:r>
            <a:r>
              <a:rPr lang="pt-PT" sz="800" dirty="0" err="1">
                <a:solidFill>
                  <a:srgbClr val="2371FF"/>
                </a:solidFill>
                <a:latin typeface="Ubuntu Medium"/>
              </a:rPr>
              <a:t>Cloud</a:t>
            </a:r>
            <a:r>
              <a:rPr lang="pt-PT" sz="800" dirty="0">
                <a:solidFill>
                  <a:srgbClr val="2371FF"/>
                </a:solidFill>
                <a:latin typeface="Ubuntu Medium"/>
              </a:rPr>
              <a:t> </a:t>
            </a:r>
            <a:r>
              <a:rPr lang="pt-PT" sz="800" dirty="0" err="1">
                <a:solidFill>
                  <a:srgbClr val="2371FF"/>
                </a:solidFill>
                <a:latin typeface="Ubuntu Medium"/>
              </a:rPr>
              <a:t>Computing</a:t>
            </a:r>
            <a:endParaRPr lang="pt-PT" sz="800" dirty="0">
              <a:solidFill>
                <a:srgbClr val="2371FF"/>
              </a:solidFill>
              <a:latin typeface="Ubuntu Medium"/>
            </a:endParaRPr>
          </a:p>
        </p:txBody>
      </p:sp>
      <p:pic>
        <p:nvPicPr>
          <p:cNvPr id="34" name="VideoConf">
            <a:extLst>
              <a:ext uri="{FF2B5EF4-FFF2-40B4-BE49-F238E27FC236}">
                <a16:creationId xmlns:a16="http://schemas.microsoft.com/office/drawing/2014/main" id="{9AA18BD3-746B-6E67-FBD7-72460F8DF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92" y="2480575"/>
            <a:ext cx="1150000" cy="1150000"/>
          </a:xfrm>
          <a:prstGeom prst="rect">
            <a:avLst/>
          </a:prstGeom>
        </p:spPr>
      </p:pic>
      <p:pic>
        <p:nvPicPr>
          <p:cNvPr id="36" name="RaiseHand">
            <a:extLst>
              <a:ext uri="{FF2B5EF4-FFF2-40B4-BE49-F238E27FC236}">
                <a16:creationId xmlns:a16="http://schemas.microsoft.com/office/drawing/2014/main" id="{A619174F-F337-F752-FD34-362E34583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092" y="2480575"/>
            <a:ext cx="1150000" cy="115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300" b="11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pt-PT" sz="1100" b="0" i="0" dirty="0">
                <a:solidFill>
                  <a:srgbClr val="2371FF"/>
                </a:solidFill>
                <a:latin typeface="Ubuntu Medium"/>
              </a:rPr>
              <a:t>REVIEW</a:t>
            </a:r>
            <a:endParaRPr sz="1100" b="0" i="0" dirty="0">
              <a:solidFill>
                <a:srgbClr val="2371FF"/>
              </a:solidFill>
              <a:latin typeface="Ubuntu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 err="1">
                <a:solidFill>
                  <a:srgbClr val="181C23"/>
                </a:solidFill>
                <a:latin typeface="Ubuntu Medium"/>
              </a:rPr>
              <a:t>Recapitulando</a:t>
            </a:r>
            <a:r>
              <a:rPr sz="2600" b="0" i="0" dirty="0">
                <a:solidFill>
                  <a:srgbClr val="181C23"/>
                </a:solidFill>
                <a:latin typeface="Ubuntu Medium"/>
              </a:rPr>
              <a:t> a Aula</a:t>
            </a:r>
            <a:r>
              <a:rPr lang="pt-PT" sz="2600" b="0" i="0" dirty="0">
                <a:solidFill>
                  <a:srgbClr val="181C23"/>
                </a:solidFill>
                <a:latin typeface="Ubuntu Medium"/>
              </a:rPr>
              <a:t> 6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On-Premises: controle total, custo alto. Cloud: flexível, paga pelo uso.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IaaS = infraestrutura, PaaS = plataforma, SaaS = software.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Implantação: pública (compartilhada), privada (dedicada) e híbrida.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Benefícios: agilidade, elasticidade, economia e alcance global.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06 — Cloud Computing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FUNDAMENTOS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Arquitetura de Dados — Por que Importa?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841906"/>
            <a:ext cx="8020600" cy="2059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>
                <a:solidFill>
                  <a:srgbClr val="181C23"/>
                </a:solidFill>
                <a:latin typeface="Ubuntu Medium"/>
              </a:rPr>
              <a:t>"Data is the new oil": 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dados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valem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como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petróleo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(</a:t>
            </a:r>
            <a:r>
              <a:rPr sz="1400" b="0" i="0" dirty="0">
                <a:solidFill>
                  <a:srgbClr val="6A707D"/>
                </a:solidFill>
                <a:latin typeface="Ubuntu"/>
                <a:hlinkClick r:id="rId3"/>
              </a:rPr>
              <a:t>Clive Humby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)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Armazenamento: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tecnologias, políticas e retenção de dados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Processamento: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dimensionar pipelines e infraestrutura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Disponibilização: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levar o dado a quem precisa, quando precisa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Visualização: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padronizar ferramentas de BI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Dados sem arquitetura são uma biblioteca sem catalogação: milhares de livros, mas você nunca acha o que procura. A arquitetura é o sistema que dá valor ao acervo!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CICLO DE VIDA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Ciclo de Vida do Dado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913386"/>
            <a:ext cx="4394712" cy="1140994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luxo_cart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00" y="1973386"/>
            <a:ext cx="4274712" cy="10209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553500"/>
            <a:ext cx="4274712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0" i="1">
                <a:solidFill>
                  <a:srgbClr val="6A707D"/>
                </a:solidFill>
                <a:latin typeface="Ubuntu"/>
              </a:rPr>
              <a:t>Fonte: do autor</a:t>
            </a:r>
          </a:p>
        </p:txBody>
      </p:sp>
      <p:sp>
        <p:nvSpPr>
          <p:cNvPr id="9" name="Oval 8"/>
          <p:cNvSpPr/>
          <p:nvPr/>
        </p:nvSpPr>
        <p:spPr>
          <a:xfrm>
            <a:off x="4886412" y="1960112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86412" y="1960112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Produtores: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sistemas que geram os dados</a:t>
            </a:r>
          </a:p>
        </p:txBody>
      </p:sp>
      <p:sp>
        <p:nvSpPr>
          <p:cNvPr id="12" name="Oval 11"/>
          <p:cNvSpPr/>
          <p:nvPr/>
        </p:nvSpPr>
        <p:spPr>
          <a:xfrm>
            <a:off x="4886412" y="2482351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86412" y="2482351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Ingestão: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coleta e entrada no ambiente analítico</a:t>
            </a:r>
          </a:p>
        </p:txBody>
      </p:sp>
      <p:sp>
        <p:nvSpPr>
          <p:cNvPr id="15" name="Oval 14"/>
          <p:cNvSpPr/>
          <p:nvPr/>
        </p:nvSpPr>
        <p:spPr>
          <a:xfrm>
            <a:off x="4886412" y="3226262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86412" y="3226262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Processamento: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limpar, enriquecer e modelar</a:t>
            </a:r>
          </a:p>
        </p:txBody>
      </p:sp>
      <p:sp>
        <p:nvSpPr>
          <p:cNvPr id="18" name="Oval 17"/>
          <p:cNvSpPr/>
          <p:nvPr/>
        </p:nvSpPr>
        <p:spPr>
          <a:xfrm>
            <a:off x="4886412" y="376927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86412" y="3769278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Consumidores: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dashboards, ML, relatórios e APIs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C11FF3C7-FBB3-BD83-FAC3-467A5E5CE31B}"/>
              </a:ext>
            </a:extLst>
          </p:cNvPr>
          <p:cNvSpPr/>
          <p:nvPr/>
        </p:nvSpPr>
        <p:spPr>
          <a:xfrm>
            <a:off x="311700" y="3113830"/>
            <a:ext cx="4394712" cy="1140994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30" descr="Fluxo de dados com Web Scrap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00" y="3207307"/>
            <a:ext cx="4274711" cy="9767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DATA WAREHOUSE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que é um Data Warehouse?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Repositório central: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dados estruturados, históricos e integrados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Analítico (OLAP):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otimizado para consultas e relatórios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Diferente do OLTP: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aqui o foco é análise, não transação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Fonte única: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múltiplas origens unificadas de forma confiável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O banco transacional é o caixa do supermercado (registra cada venda). O Data Warehouse é o escritório que consolida todas as vendas de todas as lojas para o diretor decidir!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101" name="TextBox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MODELAGEM DIMENSIONAL</a:t>
            </a:r>
          </a:p>
        </p:txBody>
      </p:sp>
      <p:sp>
        <p:nvSpPr>
          <p:cNvPr id="102" name="TextBox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Kimball: Fatos e Dimensões</a:t>
            </a:r>
          </a:p>
        </p:txBody>
      </p:sp>
      <p:sp>
        <p:nvSpPr>
          <p:cNvPr id="103" name="Shape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Shape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Tabela Fato: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os eventos do negócio e suas métricas (valor da venda, qtd. de itens)</a:t>
            </a:r>
          </a:p>
        </p:txBody>
      </p:sp>
      <p:sp>
        <p:nvSpPr>
          <p:cNvPr id="107" name="Shape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Tabelas Dimensão: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o contexto do evento (quem comprou, quando, onde, qual produto)</a:t>
            </a:r>
          </a:p>
        </p:txBody>
      </p:sp>
      <p:sp>
        <p:nvSpPr>
          <p:cNvPr id="110" name="Shape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12" name="TextBox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Consultas simples: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SQL curto e alta performance em Power BI e Tableau</a:t>
            </a:r>
          </a:p>
        </p:txBody>
      </p:sp>
      <p:sp>
        <p:nvSpPr>
          <p:cNvPr id="113" name="Shape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15" name="TextBox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Melhor para: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BI, dashboards e acesso direto pelo analista de negócio</a:t>
            </a:r>
          </a:p>
        </p:txBody>
      </p:sp>
      <p:sp>
        <p:nvSpPr>
          <p:cNvPr id="116" name="Shape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Shape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119" name="TextBox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Pense numa nota fiscal: a FATO é o valor que você gastou; as DIMENSÕES são as etiquetas em volta — quem vendeu, em que loja, em que dia. A fato responde “quanto”, a dimensão responde “quem, onde e quando”.</a:t>
            </a:r>
          </a:p>
        </p:txBody>
      </p:sp>
      <p:sp>
        <p:nvSpPr>
          <p:cNvPr id="120" name="Shape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22" name="TextBox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23" name="TextBox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124" name="TextBox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ESQUEMAS</a:t>
            </a:r>
          </a:p>
        </p:txBody>
      </p:sp>
      <p:sp>
        <p:nvSpPr>
          <p:cNvPr id="125" name="TextBox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Star Schema vs. Snowflake Schema</a:t>
            </a:r>
          </a:p>
        </p:txBody>
      </p:sp>
      <p:sp>
        <p:nvSpPr>
          <p:cNvPr id="126" name="Shape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"/>
          <p:cNvSpPr txBox="1"/>
          <p:nvPr/>
        </p:nvSpPr>
        <p:spPr>
          <a:xfrm>
            <a:off x="311700" y="1780000"/>
            <a:ext cx="390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81C23"/>
                </a:solidFill>
                <a:latin typeface="Ubuntu Medium"/>
              </a:rPr>
              <a:t>STAR · dimensões ligadas direto à fato</a:t>
            </a:r>
          </a:p>
        </p:txBody>
      </p:sp>
      <p:sp>
        <p:nvSpPr>
          <p:cNvPr id="128" name="Shape"/>
          <p:cNvSpPr/>
          <p:nvPr/>
        </p:nvSpPr>
        <p:spPr>
          <a:xfrm>
            <a:off x="2261000" y="2380000"/>
            <a:ext cx="18000" cy="440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Shape"/>
          <p:cNvSpPr/>
          <p:nvPr/>
        </p:nvSpPr>
        <p:spPr>
          <a:xfrm>
            <a:off x="2261000" y="3280000"/>
            <a:ext cx="18000" cy="440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Shape"/>
          <p:cNvSpPr/>
          <p:nvPr/>
        </p:nvSpPr>
        <p:spPr>
          <a:xfrm>
            <a:off x="1570000" y="3041000"/>
            <a:ext cx="125000" cy="18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Shape"/>
          <p:cNvSpPr/>
          <p:nvPr/>
        </p:nvSpPr>
        <p:spPr>
          <a:xfrm>
            <a:off x="2845000" y="3041000"/>
            <a:ext cx="125000" cy="18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Shape"/>
          <p:cNvSpPr/>
          <p:nvPr/>
        </p:nvSpPr>
        <p:spPr>
          <a:xfrm>
            <a:off x="1795000" y="2050000"/>
            <a:ext cx="950000" cy="3300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12700">
            <a:solidFill>
              <a:srgbClr val="C9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"/>
          <p:cNvSpPr txBox="1"/>
          <p:nvPr/>
        </p:nvSpPr>
        <p:spPr>
          <a:xfrm>
            <a:off x="1795000" y="2050000"/>
            <a:ext cx="95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81C23"/>
                </a:solidFill>
                <a:latin typeface="Ubuntu Medium"/>
              </a:rPr>
              <a:t>DIM Produto</a:t>
            </a:r>
          </a:p>
        </p:txBody>
      </p:sp>
      <p:sp>
        <p:nvSpPr>
          <p:cNvPr id="134" name="Shape"/>
          <p:cNvSpPr/>
          <p:nvPr/>
        </p:nvSpPr>
        <p:spPr>
          <a:xfrm>
            <a:off x="1795000" y="3720000"/>
            <a:ext cx="950000" cy="3300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12700">
            <a:solidFill>
              <a:srgbClr val="C9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"/>
          <p:cNvSpPr txBox="1"/>
          <p:nvPr/>
        </p:nvSpPr>
        <p:spPr>
          <a:xfrm>
            <a:off x="1795000" y="3720000"/>
            <a:ext cx="95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81C23"/>
                </a:solidFill>
                <a:latin typeface="Ubuntu Medium"/>
              </a:rPr>
              <a:t>DIM Loja</a:t>
            </a:r>
          </a:p>
        </p:txBody>
      </p:sp>
      <p:sp>
        <p:nvSpPr>
          <p:cNvPr id="136" name="Shape"/>
          <p:cNvSpPr/>
          <p:nvPr/>
        </p:nvSpPr>
        <p:spPr>
          <a:xfrm>
            <a:off x="620000" y="2885000"/>
            <a:ext cx="950000" cy="3300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12700">
            <a:solidFill>
              <a:srgbClr val="C9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"/>
          <p:cNvSpPr txBox="1"/>
          <p:nvPr/>
        </p:nvSpPr>
        <p:spPr>
          <a:xfrm>
            <a:off x="620000" y="2885000"/>
            <a:ext cx="95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81C23"/>
                </a:solidFill>
                <a:latin typeface="Ubuntu Medium"/>
              </a:rPr>
              <a:t>DIM Cliente</a:t>
            </a:r>
          </a:p>
        </p:txBody>
      </p:sp>
      <p:sp>
        <p:nvSpPr>
          <p:cNvPr id="138" name="Shape"/>
          <p:cNvSpPr/>
          <p:nvPr/>
        </p:nvSpPr>
        <p:spPr>
          <a:xfrm>
            <a:off x="2970000" y="2885000"/>
            <a:ext cx="950000" cy="3300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12700">
            <a:solidFill>
              <a:srgbClr val="C9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"/>
          <p:cNvSpPr txBox="1"/>
          <p:nvPr/>
        </p:nvSpPr>
        <p:spPr>
          <a:xfrm>
            <a:off x="2970000" y="2885000"/>
            <a:ext cx="95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81C23"/>
                </a:solidFill>
                <a:latin typeface="Ubuntu Medium"/>
              </a:rPr>
              <a:t>DIM Tempo</a:t>
            </a:r>
          </a:p>
        </p:txBody>
      </p:sp>
      <p:sp>
        <p:nvSpPr>
          <p:cNvPr id="140" name="Shape"/>
          <p:cNvSpPr/>
          <p:nvPr/>
        </p:nvSpPr>
        <p:spPr>
          <a:xfrm>
            <a:off x="1695000" y="2820000"/>
            <a:ext cx="1150000" cy="4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"/>
          <p:cNvSpPr txBox="1"/>
          <p:nvPr/>
        </p:nvSpPr>
        <p:spPr>
          <a:xfrm>
            <a:off x="1695000" y="2820000"/>
            <a:ext cx="115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DF8"/>
                </a:solidFill>
                <a:latin typeface="Ubuntu Medium"/>
              </a:rPr>
              <a:t>FATO Vendas</a:t>
            </a:r>
          </a:p>
        </p:txBody>
      </p:sp>
      <p:sp>
        <p:nvSpPr>
          <p:cNvPr id="142" name="Shape"/>
          <p:cNvSpPr/>
          <p:nvPr/>
        </p:nvSpPr>
        <p:spPr>
          <a:xfrm>
            <a:off x="4572000" y="1760000"/>
            <a:ext cx="12000" cy="2500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"/>
          <p:cNvSpPr txBox="1"/>
          <p:nvPr/>
        </p:nvSpPr>
        <p:spPr>
          <a:xfrm>
            <a:off x="4750000" y="1780000"/>
            <a:ext cx="408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81C23"/>
                </a:solidFill>
                <a:latin typeface="Ubuntu Medium"/>
              </a:rPr>
              <a:t>SNOWFLAKE · dimensões normalizadas</a:t>
            </a:r>
          </a:p>
        </p:txBody>
      </p:sp>
      <p:sp>
        <p:nvSpPr>
          <p:cNvPr id="144" name="Shape"/>
          <p:cNvSpPr/>
          <p:nvPr/>
        </p:nvSpPr>
        <p:spPr>
          <a:xfrm>
            <a:off x="7241000" y="2380000"/>
            <a:ext cx="18000" cy="440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Shape"/>
          <p:cNvSpPr/>
          <p:nvPr/>
        </p:nvSpPr>
        <p:spPr>
          <a:xfrm>
            <a:off x="7241000" y="3280000"/>
            <a:ext cx="18000" cy="440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Shape"/>
          <p:cNvSpPr/>
          <p:nvPr/>
        </p:nvSpPr>
        <p:spPr>
          <a:xfrm>
            <a:off x="6550000" y="3041000"/>
            <a:ext cx="125000" cy="18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Shape"/>
          <p:cNvSpPr/>
          <p:nvPr/>
        </p:nvSpPr>
        <p:spPr>
          <a:xfrm>
            <a:off x="7825000" y="3041000"/>
            <a:ext cx="125000" cy="18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Shape"/>
          <p:cNvSpPr/>
          <p:nvPr/>
        </p:nvSpPr>
        <p:spPr>
          <a:xfrm>
            <a:off x="6775000" y="2050000"/>
            <a:ext cx="950000" cy="3300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12700">
            <a:solidFill>
              <a:srgbClr val="C9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"/>
          <p:cNvSpPr txBox="1"/>
          <p:nvPr/>
        </p:nvSpPr>
        <p:spPr>
          <a:xfrm>
            <a:off x="6775000" y="2050000"/>
            <a:ext cx="95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81C23"/>
                </a:solidFill>
                <a:latin typeface="Ubuntu Medium"/>
              </a:rPr>
              <a:t>DIM Produto</a:t>
            </a:r>
          </a:p>
        </p:txBody>
      </p:sp>
      <p:sp>
        <p:nvSpPr>
          <p:cNvPr id="150" name="Shape"/>
          <p:cNvSpPr/>
          <p:nvPr/>
        </p:nvSpPr>
        <p:spPr>
          <a:xfrm>
            <a:off x="6775000" y="3720000"/>
            <a:ext cx="950000" cy="3300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12700">
            <a:solidFill>
              <a:srgbClr val="C9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"/>
          <p:cNvSpPr txBox="1"/>
          <p:nvPr/>
        </p:nvSpPr>
        <p:spPr>
          <a:xfrm>
            <a:off x="6775000" y="3720000"/>
            <a:ext cx="95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81C23"/>
                </a:solidFill>
                <a:latin typeface="Ubuntu Medium"/>
              </a:rPr>
              <a:t>DIM Loja</a:t>
            </a:r>
          </a:p>
        </p:txBody>
      </p:sp>
      <p:sp>
        <p:nvSpPr>
          <p:cNvPr id="152" name="Shape"/>
          <p:cNvSpPr/>
          <p:nvPr/>
        </p:nvSpPr>
        <p:spPr>
          <a:xfrm>
            <a:off x="5600000" y="2885000"/>
            <a:ext cx="950000" cy="3300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12700">
            <a:solidFill>
              <a:srgbClr val="C9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"/>
          <p:cNvSpPr txBox="1"/>
          <p:nvPr/>
        </p:nvSpPr>
        <p:spPr>
          <a:xfrm>
            <a:off x="5600000" y="2885000"/>
            <a:ext cx="95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81C23"/>
                </a:solidFill>
                <a:latin typeface="Ubuntu Medium"/>
              </a:rPr>
              <a:t>DIM Cliente</a:t>
            </a:r>
          </a:p>
        </p:txBody>
      </p:sp>
      <p:sp>
        <p:nvSpPr>
          <p:cNvPr id="154" name="Shape"/>
          <p:cNvSpPr/>
          <p:nvPr/>
        </p:nvSpPr>
        <p:spPr>
          <a:xfrm>
            <a:off x="7950000" y="2885000"/>
            <a:ext cx="950000" cy="330000"/>
          </a:xfrm>
          <a:prstGeom prst="roundRect">
            <a:avLst>
              <a:gd name="adj" fmla="val 14000"/>
            </a:avLst>
          </a:prstGeom>
          <a:solidFill>
            <a:srgbClr val="F4F6FB"/>
          </a:solidFill>
          <a:ln w="12700">
            <a:solidFill>
              <a:srgbClr val="C9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"/>
          <p:cNvSpPr txBox="1"/>
          <p:nvPr/>
        </p:nvSpPr>
        <p:spPr>
          <a:xfrm>
            <a:off x="7950000" y="2885000"/>
            <a:ext cx="95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181C23"/>
                </a:solidFill>
                <a:latin typeface="Ubuntu Medium"/>
              </a:rPr>
              <a:t>DIM Tempo</a:t>
            </a:r>
          </a:p>
        </p:txBody>
      </p:sp>
      <p:sp>
        <p:nvSpPr>
          <p:cNvPr id="156" name="Shape"/>
          <p:cNvSpPr/>
          <p:nvPr/>
        </p:nvSpPr>
        <p:spPr>
          <a:xfrm>
            <a:off x="5480000" y="2586000"/>
            <a:ext cx="100000" cy="18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Shape"/>
          <p:cNvSpPr/>
          <p:nvPr/>
        </p:nvSpPr>
        <p:spPr>
          <a:xfrm>
            <a:off x="4630000" y="2430000"/>
            <a:ext cx="850000" cy="33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"/>
          <p:cNvSpPr txBox="1"/>
          <p:nvPr/>
        </p:nvSpPr>
        <p:spPr>
          <a:xfrm>
            <a:off x="4630000" y="2430000"/>
            <a:ext cx="85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SUB Categoria</a:t>
            </a:r>
          </a:p>
        </p:txBody>
      </p:sp>
      <p:sp>
        <p:nvSpPr>
          <p:cNvPr id="159" name="Shape"/>
          <p:cNvSpPr/>
          <p:nvPr/>
        </p:nvSpPr>
        <p:spPr>
          <a:xfrm>
            <a:off x="5480000" y="3506000"/>
            <a:ext cx="100000" cy="18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Shape"/>
          <p:cNvSpPr/>
          <p:nvPr/>
        </p:nvSpPr>
        <p:spPr>
          <a:xfrm>
            <a:off x="4630000" y="3350000"/>
            <a:ext cx="850000" cy="3300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C9D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"/>
          <p:cNvSpPr txBox="1"/>
          <p:nvPr/>
        </p:nvSpPr>
        <p:spPr>
          <a:xfrm>
            <a:off x="4630000" y="3350000"/>
            <a:ext cx="850000" cy="3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SUB Região</a:t>
            </a:r>
          </a:p>
        </p:txBody>
      </p:sp>
      <p:sp>
        <p:nvSpPr>
          <p:cNvPr id="162" name="Shape"/>
          <p:cNvSpPr/>
          <p:nvPr/>
        </p:nvSpPr>
        <p:spPr>
          <a:xfrm>
            <a:off x="6675000" y="2820000"/>
            <a:ext cx="1150000" cy="460000"/>
          </a:xfrm>
          <a:prstGeom prst="roundRect">
            <a:avLst>
              <a:gd name="adj" fmla="val 12000"/>
            </a:avLst>
          </a:prstGeom>
          <a:solidFill>
            <a:srgbClr val="5B3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"/>
          <p:cNvSpPr txBox="1"/>
          <p:nvPr/>
        </p:nvSpPr>
        <p:spPr>
          <a:xfrm>
            <a:off x="6675000" y="2820000"/>
            <a:ext cx="1150000" cy="4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DF8"/>
                </a:solidFill>
                <a:latin typeface="Ubuntu Medium"/>
              </a:rPr>
              <a:t>FATO Vendas</a:t>
            </a:r>
          </a:p>
        </p:txBody>
      </p:sp>
      <p:sp>
        <p:nvSpPr>
          <p:cNvPr id="164" name="TextBox"/>
          <p:cNvSpPr txBox="1"/>
          <p:nvPr/>
        </p:nvSpPr>
        <p:spPr>
          <a:xfrm>
            <a:off x="311700" y="4480000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81C23"/>
                </a:solidFill>
                <a:latin typeface="Ubuntu Medium"/>
              </a:rPr>
              <a:t>Estrela: 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menos joins, leitura mais rápida  ·  </a:t>
            </a:r>
            <a:r>
              <a:rPr sz="1100" b="0" i="0">
                <a:solidFill>
                  <a:srgbClr val="181C23"/>
                </a:solidFill>
                <a:latin typeface="Ubuntu Medium"/>
              </a:rPr>
              <a:t>Floco de neve: 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menos duplicidade, mais joins</a:t>
            </a:r>
          </a:p>
        </p:txBody>
      </p:sp>
      <p:sp>
        <p:nvSpPr>
          <p:cNvPr id="165" name="Shape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7" name="TextBox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68" name="TextBox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169" name="TextBox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MODELAGEM NORMALIZADA</a:t>
            </a:r>
          </a:p>
        </p:txBody>
      </p:sp>
      <p:sp>
        <p:nvSpPr>
          <p:cNvPr id="170" name="TextBox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Inmon: a única fonte da verdade</a:t>
            </a:r>
          </a:p>
        </p:txBody>
      </p:sp>
      <p:sp>
        <p:nvSpPr>
          <p:cNvPr id="171" name="Shape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Shape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174" name="TextBox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3ª Forma Normal (3NF):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dados divididos em muitas tabelas para evitar redundância</a:t>
            </a:r>
          </a:p>
        </p:txBody>
      </p:sp>
      <p:sp>
        <p:nvSpPr>
          <p:cNvPr id="175" name="Shape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77" name="TextBox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Single Source of Truth: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um DW corporativo, independente de quem vai consumir</a:t>
            </a:r>
          </a:p>
        </p:txBody>
      </p:sp>
      <p:sp>
        <p:nvSpPr>
          <p:cNvPr id="178" name="Shape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80" name="TextBox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Prós e contras: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integridade excelente, mas consultas lentas por causa dos joins</a:t>
            </a:r>
          </a:p>
        </p:txBody>
      </p:sp>
      <p:sp>
        <p:nvSpPr>
          <p:cNvPr id="181" name="Shape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83" name="TextBox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Melhor para: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DW central que alimenta Data Marts dimensionais por área</a:t>
            </a:r>
          </a:p>
        </p:txBody>
      </p:sp>
      <p:sp>
        <p:nvSpPr>
          <p:cNvPr id="184" name="Shape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Shape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187" name="TextBox"/>
          <p:cNvSpPr txBox="1"/>
          <p:nvPr/>
        </p:nvSpPr>
        <p:spPr>
          <a:xfrm>
            <a:off x="511700" y="4223500"/>
            <a:ext cx="8120600" cy="4188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 dirty="0">
                <a:solidFill>
                  <a:srgbClr val="181C23"/>
                </a:solidFill>
                <a:latin typeface="Ubuntu"/>
              </a:rPr>
              <a:t>É 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almoxarifado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da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empresa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: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cada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peça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no </a:t>
            </a:r>
            <a:r>
              <a:rPr lang="pt-PT" sz="1300" b="0" i="1" dirty="0">
                <a:solidFill>
                  <a:srgbClr val="181C23"/>
                </a:solidFill>
                <a:latin typeface="Ubuntu"/>
              </a:rPr>
              <a:t>sua gaveta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,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sem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repetição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e com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controle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perfeito</a:t>
            </a:r>
            <a:br>
              <a:rPr lang="pt-PT" sz="1300" b="0" i="1" dirty="0">
                <a:solidFill>
                  <a:srgbClr val="181C23"/>
                </a:solidFill>
                <a:latin typeface="Ubuntu"/>
              </a:rPr>
            </a:br>
            <a:r>
              <a:rPr sz="1300" b="0" i="1" dirty="0" err="1">
                <a:solidFill>
                  <a:srgbClr val="181C23"/>
                </a:solidFill>
                <a:latin typeface="Ubuntu"/>
              </a:rPr>
              <a:t>Muito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organizado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— mas para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montar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um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pedido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você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precisa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abrir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muitas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gavetas</a:t>
            </a:r>
            <a:endParaRPr sz="1300" b="0" i="1" dirty="0">
              <a:solidFill>
                <a:srgbClr val="181C23"/>
              </a:solidFill>
              <a:latin typeface="Ubuntu"/>
            </a:endParaRPr>
          </a:p>
        </p:txBody>
      </p:sp>
      <p:sp>
        <p:nvSpPr>
          <p:cNvPr id="188" name="Shape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90" name="TextBox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91" name="TextBox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192" name="TextBox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DATA VAULT</a:t>
            </a:r>
          </a:p>
        </p:txBody>
      </p:sp>
      <p:sp>
        <p:nvSpPr>
          <p:cNvPr id="193" name="TextBox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Hubs, Links e Satellites</a:t>
            </a:r>
          </a:p>
        </p:txBody>
      </p:sp>
      <p:sp>
        <p:nvSpPr>
          <p:cNvPr id="194" name="Shape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Shape"/>
          <p:cNvSpPr/>
          <p:nvPr/>
        </p:nvSpPr>
        <p:spPr>
          <a:xfrm>
            <a:off x="311700" y="1800000"/>
            <a:ext cx="2680000" cy="1560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Shape"/>
          <p:cNvSpPr/>
          <p:nvPr/>
        </p:nvSpPr>
        <p:spPr>
          <a:xfrm>
            <a:off x="311700" y="1800000"/>
            <a:ext cx="2680000" cy="90000"/>
          </a:xfrm>
          <a:prstGeom prst="roundRect">
            <a:avLst>
              <a:gd name="adj" fmla="val 45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Shape"/>
          <p:cNvSpPr/>
          <p:nvPr/>
        </p:nvSpPr>
        <p:spPr>
          <a:xfrm>
            <a:off x="471700" y="1990000"/>
            <a:ext cx="620000" cy="300000"/>
          </a:xfrm>
          <a:prstGeom prst="roundRect">
            <a:avLst>
              <a:gd name="adj" fmla="val 25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"/>
          <p:cNvSpPr txBox="1"/>
          <p:nvPr/>
        </p:nvSpPr>
        <p:spPr>
          <a:xfrm>
            <a:off x="471700" y="1990000"/>
            <a:ext cx="62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DF8"/>
                </a:solidFill>
                <a:latin typeface="Ubuntu Medium"/>
              </a:rPr>
              <a:t>HUB</a:t>
            </a:r>
          </a:p>
        </p:txBody>
      </p:sp>
      <p:sp>
        <p:nvSpPr>
          <p:cNvPr id="199" name="TextBox"/>
          <p:cNvSpPr txBox="1"/>
          <p:nvPr/>
        </p:nvSpPr>
        <p:spPr>
          <a:xfrm>
            <a:off x="471700" y="2400000"/>
            <a:ext cx="2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81C23"/>
                </a:solidFill>
                <a:latin typeface="Ubuntu Medium"/>
              </a:rPr>
              <a:t>Chaves de negócio</a:t>
            </a:r>
          </a:p>
        </p:txBody>
      </p:sp>
      <p:sp>
        <p:nvSpPr>
          <p:cNvPr id="200" name="TextBox"/>
          <p:cNvSpPr txBox="1"/>
          <p:nvPr/>
        </p:nvSpPr>
        <p:spPr>
          <a:xfrm>
            <a:off x="471700" y="2720000"/>
            <a:ext cx="236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707D"/>
                </a:solidFill>
                <a:latin typeface="Ubuntu"/>
              </a:rPr>
              <a:t>Só os identificadores únicos: ID do cliente, ID do produto.</a:t>
            </a:r>
          </a:p>
        </p:txBody>
      </p:sp>
      <p:sp>
        <p:nvSpPr>
          <p:cNvPr id="201" name="Shape"/>
          <p:cNvSpPr/>
          <p:nvPr/>
        </p:nvSpPr>
        <p:spPr>
          <a:xfrm>
            <a:off x="3031700" y="2560000"/>
            <a:ext cx="160000" cy="40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Shape"/>
          <p:cNvSpPr/>
          <p:nvPr/>
        </p:nvSpPr>
        <p:spPr>
          <a:xfrm>
            <a:off x="3231700" y="1800000"/>
            <a:ext cx="2680000" cy="1560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Shape"/>
          <p:cNvSpPr/>
          <p:nvPr/>
        </p:nvSpPr>
        <p:spPr>
          <a:xfrm>
            <a:off x="3231700" y="1800000"/>
            <a:ext cx="2680000" cy="90000"/>
          </a:xfrm>
          <a:prstGeom prst="roundRect">
            <a:avLst>
              <a:gd name="adj" fmla="val 45000"/>
            </a:avLst>
          </a:prstGeom>
          <a:solidFill>
            <a:srgbClr val="5B3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Shape"/>
          <p:cNvSpPr/>
          <p:nvPr/>
        </p:nvSpPr>
        <p:spPr>
          <a:xfrm>
            <a:off x="3391700" y="1990000"/>
            <a:ext cx="620000" cy="300000"/>
          </a:xfrm>
          <a:prstGeom prst="roundRect">
            <a:avLst>
              <a:gd name="adj" fmla="val 25000"/>
            </a:avLst>
          </a:prstGeom>
          <a:solidFill>
            <a:srgbClr val="5B3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"/>
          <p:cNvSpPr txBox="1"/>
          <p:nvPr/>
        </p:nvSpPr>
        <p:spPr>
          <a:xfrm>
            <a:off x="3391700" y="1990000"/>
            <a:ext cx="62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DF8"/>
                </a:solidFill>
                <a:latin typeface="Ubuntu Medium"/>
              </a:rPr>
              <a:t>LINK</a:t>
            </a:r>
          </a:p>
        </p:txBody>
      </p:sp>
      <p:sp>
        <p:nvSpPr>
          <p:cNvPr id="206" name="TextBox"/>
          <p:cNvSpPr txBox="1"/>
          <p:nvPr/>
        </p:nvSpPr>
        <p:spPr>
          <a:xfrm>
            <a:off x="3391700" y="2400000"/>
            <a:ext cx="2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81C23"/>
                </a:solidFill>
                <a:latin typeface="Ubuntu Medium"/>
              </a:rPr>
              <a:t>Relacionamentos</a:t>
            </a:r>
          </a:p>
        </p:txBody>
      </p:sp>
      <p:sp>
        <p:nvSpPr>
          <p:cNvPr id="207" name="TextBox"/>
          <p:cNvSpPr txBox="1"/>
          <p:nvPr/>
        </p:nvSpPr>
        <p:spPr>
          <a:xfrm>
            <a:off x="3391700" y="2720000"/>
            <a:ext cx="236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707D"/>
                </a:solidFill>
                <a:latin typeface="Ubuntu"/>
              </a:rPr>
              <a:t>Liga os Hubs: o cliente X comprou o produto Y.</a:t>
            </a:r>
          </a:p>
        </p:txBody>
      </p:sp>
      <p:sp>
        <p:nvSpPr>
          <p:cNvPr id="208" name="Shape"/>
          <p:cNvSpPr/>
          <p:nvPr/>
        </p:nvSpPr>
        <p:spPr>
          <a:xfrm>
            <a:off x="5951700" y="2560000"/>
            <a:ext cx="160000" cy="40000"/>
          </a:xfrm>
          <a:prstGeom prst="rect">
            <a:avLst/>
          </a:prstGeom>
          <a:solidFill>
            <a:srgbClr val="C9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Shape"/>
          <p:cNvSpPr/>
          <p:nvPr/>
        </p:nvSpPr>
        <p:spPr>
          <a:xfrm>
            <a:off x="6151700" y="1800000"/>
            <a:ext cx="2680000" cy="1560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Shape"/>
          <p:cNvSpPr/>
          <p:nvPr/>
        </p:nvSpPr>
        <p:spPr>
          <a:xfrm>
            <a:off x="6151700" y="1800000"/>
            <a:ext cx="2680000" cy="90000"/>
          </a:xfrm>
          <a:prstGeom prst="roundRect">
            <a:avLst>
              <a:gd name="adj" fmla="val 45000"/>
            </a:avLst>
          </a:prstGeom>
          <a:solidFill>
            <a:srgbClr val="0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Shape"/>
          <p:cNvSpPr/>
          <p:nvPr/>
        </p:nvSpPr>
        <p:spPr>
          <a:xfrm>
            <a:off x="6311700" y="1990000"/>
            <a:ext cx="620000" cy="300000"/>
          </a:xfrm>
          <a:prstGeom prst="roundRect">
            <a:avLst>
              <a:gd name="adj" fmla="val 25000"/>
            </a:avLst>
          </a:prstGeom>
          <a:solidFill>
            <a:srgbClr val="0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"/>
          <p:cNvSpPr txBox="1"/>
          <p:nvPr/>
        </p:nvSpPr>
        <p:spPr>
          <a:xfrm>
            <a:off x="6311700" y="1990000"/>
            <a:ext cx="62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DF8"/>
                </a:solidFill>
                <a:latin typeface="Ubuntu Medium"/>
              </a:rPr>
              <a:t>SAT</a:t>
            </a:r>
          </a:p>
        </p:txBody>
      </p:sp>
      <p:sp>
        <p:nvSpPr>
          <p:cNvPr id="213" name="TextBox"/>
          <p:cNvSpPr txBox="1"/>
          <p:nvPr/>
        </p:nvSpPr>
        <p:spPr>
          <a:xfrm>
            <a:off x="6311700" y="2400000"/>
            <a:ext cx="236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81C23"/>
                </a:solidFill>
                <a:latin typeface="Ubuntu Medium"/>
              </a:rPr>
              <a:t>Contexto e histórico</a:t>
            </a:r>
          </a:p>
        </p:txBody>
      </p:sp>
      <p:sp>
        <p:nvSpPr>
          <p:cNvPr id="214" name="TextBox"/>
          <p:cNvSpPr txBox="1"/>
          <p:nvPr/>
        </p:nvSpPr>
        <p:spPr>
          <a:xfrm>
            <a:off x="6311700" y="2720000"/>
            <a:ext cx="23600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A707D"/>
                </a:solidFill>
                <a:latin typeface="Ubuntu"/>
              </a:rPr>
              <a:t>Atributos descritivos e como eles mudaram ao longo do tempo.</a:t>
            </a:r>
          </a:p>
        </p:txBody>
      </p:sp>
      <p:sp>
        <p:nvSpPr>
          <p:cNvPr id="215" name="Shape"/>
          <p:cNvSpPr/>
          <p:nvPr/>
        </p:nvSpPr>
        <p:spPr>
          <a:xfrm>
            <a:off x="311700" y="352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TextBox"/>
          <p:cNvSpPr txBox="1"/>
          <p:nvPr/>
        </p:nvSpPr>
        <p:spPr>
          <a:xfrm>
            <a:off x="311700" y="352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217" name="TextBox"/>
          <p:cNvSpPr txBox="1"/>
          <p:nvPr/>
        </p:nvSpPr>
        <p:spPr>
          <a:xfrm>
            <a:off x="811700" y="3490000"/>
            <a:ext cx="8020600" cy="4125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Flexibilidade: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novas fontes entram sem quebrar o modelo existente</a:t>
            </a:r>
          </a:p>
        </p:txBody>
      </p:sp>
      <p:sp>
        <p:nvSpPr>
          <p:cNvPr id="218" name="Shape"/>
          <p:cNvSpPr/>
          <p:nvPr/>
        </p:nvSpPr>
        <p:spPr>
          <a:xfrm>
            <a:off x="311700" y="3960000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"/>
          <p:cNvSpPr txBox="1"/>
          <p:nvPr/>
        </p:nvSpPr>
        <p:spPr>
          <a:xfrm>
            <a:off x="311700" y="39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220" name="TextBox"/>
          <p:cNvSpPr txBox="1"/>
          <p:nvPr/>
        </p:nvSpPr>
        <p:spPr>
          <a:xfrm>
            <a:off x="811700" y="3930000"/>
            <a:ext cx="8020600" cy="4968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Auditoria total: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histórico e rastreabilidade de todas as alterações</a:t>
            </a:r>
          </a:p>
        </p:txBody>
      </p:sp>
      <p:sp>
        <p:nvSpPr>
          <p:cNvPr id="221" name="TextBox"/>
          <p:cNvSpPr txBox="1"/>
          <p:nvPr/>
        </p:nvSpPr>
        <p:spPr>
          <a:xfrm>
            <a:off x="311700" y="4460000"/>
            <a:ext cx="85206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Ubuntu Medium"/>
              </a:rPr>
              <a:t>Analogia: </a:t>
            </a:r>
            <a:r>
              <a:rPr sz="1100" b="0" i="1">
                <a:solidFill>
                  <a:srgbClr val="6A707D"/>
                </a:solidFill>
                <a:latin typeface="Ubuntu"/>
              </a:rPr>
              <a:t>o Hub é o CPF, o Link é o contrato assinado e o Satellite é o histórico de endereços e telefones.</a:t>
            </a:r>
          </a:p>
        </p:txBody>
      </p:sp>
      <p:sp>
        <p:nvSpPr>
          <p:cNvPr id="222" name="Shape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4" name="TextBox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25" name="TextBox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226" name="TextBox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 COMPARATIVO</a:t>
            </a:r>
          </a:p>
        </p:txBody>
      </p:sp>
      <p:sp>
        <p:nvSpPr>
          <p:cNvPr id="227" name="TextBox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Qual abordagem usar?</a:t>
            </a:r>
          </a:p>
        </p:txBody>
      </p:sp>
      <p:sp>
        <p:nvSpPr>
          <p:cNvPr id="228" name="Shape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Shape"/>
          <p:cNvSpPr/>
          <p:nvPr/>
        </p:nvSpPr>
        <p:spPr>
          <a:xfrm>
            <a:off x="311700" y="1800000"/>
            <a:ext cx="2680000" cy="2320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Shape"/>
          <p:cNvSpPr/>
          <p:nvPr/>
        </p:nvSpPr>
        <p:spPr>
          <a:xfrm>
            <a:off x="311700" y="1800000"/>
            <a:ext cx="2680000" cy="380000"/>
          </a:xfrm>
          <a:prstGeom prst="roundRect">
            <a:avLst>
              <a:gd name="adj" fmla="val 3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Shape"/>
          <p:cNvSpPr/>
          <p:nvPr/>
        </p:nvSpPr>
        <p:spPr>
          <a:xfrm>
            <a:off x="311700" y="2050000"/>
            <a:ext cx="2680000" cy="130000"/>
          </a:xfrm>
          <a:prstGeom prst="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TextBox"/>
          <p:cNvSpPr txBox="1"/>
          <p:nvPr/>
        </p:nvSpPr>
        <p:spPr>
          <a:xfrm>
            <a:off x="311700" y="1889972"/>
            <a:ext cx="2680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dirty="0">
                <a:solidFill>
                  <a:srgbClr val="FFFDF8"/>
                </a:solidFill>
                <a:latin typeface="Ubuntu Medium"/>
              </a:rPr>
              <a:t>Kimball</a:t>
            </a:r>
            <a:r>
              <a:rPr lang="pt-PT" sz="1300" b="0" i="0" dirty="0">
                <a:solidFill>
                  <a:srgbClr val="FFFDF8"/>
                </a:solidFill>
                <a:latin typeface="Ubuntu Medium"/>
              </a:rPr>
              <a:t> (Star </a:t>
            </a:r>
            <a:r>
              <a:rPr lang="pt-PT" sz="1300" b="0" i="0" dirty="0" err="1">
                <a:solidFill>
                  <a:srgbClr val="FFFDF8"/>
                </a:solidFill>
                <a:latin typeface="Ubuntu Medium"/>
              </a:rPr>
              <a:t>Schema</a:t>
            </a:r>
            <a:r>
              <a:rPr lang="pt-PT" sz="1300" b="0" i="0" dirty="0">
                <a:solidFill>
                  <a:srgbClr val="FFFDF8"/>
                </a:solidFill>
                <a:latin typeface="Ubuntu Medium"/>
              </a:rPr>
              <a:t>)</a:t>
            </a:r>
            <a:endParaRPr sz="1300" b="0" i="0" dirty="0">
              <a:solidFill>
                <a:srgbClr val="FFFDF8"/>
              </a:solidFill>
              <a:latin typeface="Ubuntu Medium"/>
            </a:endParaRPr>
          </a:p>
        </p:txBody>
      </p:sp>
      <p:sp>
        <p:nvSpPr>
          <p:cNvPr id="233" name="TextBox"/>
          <p:cNvSpPr txBox="1"/>
          <p:nvPr/>
        </p:nvSpPr>
        <p:spPr>
          <a:xfrm>
            <a:off x="471700" y="2300000"/>
            <a:ext cx="2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Ubuntu Medium"/>
              </a:rPr>
              <a:t>Dimensional</a:t>
            </a:r>
          </a:p>
        </p:txBody>
      </p:sp>
      <p:sp>
        <p:nvSpPr>
          <p:cNvPr id="234" name="TextBox"/>
          <p:cNvSpPr txBox="1"/>
          <p:nvPr/>
        </p:nvSpPr>
        <p:spPr>
          <a:xfrm>
            <a:off x="471700" y="264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A707D"/>
                </a:solidFill>
                <a:latin typeface="Ubuntu"/>
              </a:rPr>
              <a:t>Foco</a:t>
            </a:r>
          </a:p>
        </p:txBody>
      </p:sp>
      <p:sp>
        <p:nvSpPr>
          <p:cNvPr id="235" name="TextBox"/>
          <p:cNvSpPr txBox="1"/>
          <p:nvPr/>
        </p:nvSpPr>
        <p:spPr>
          <a:xfrm>
            <a:off x="471700" y="285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Facilidade de uso e leitura rápida</a:t>
            </a:r>
          </a:p>
        </p:txBody>
      </p:sp>
      <p:sp>
        <p:nvSpPr>
          <p:cNvPr id="236" name="TextBox"/>
          <p:cNvSpPr txBox="1"/>
          <p:nvPr/>
        </p:nvSpPr>
        <p:spPr>
          <a:xfrm>
            <a:off x="471700" y="312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A707D"/>
                </a:solidFill>
                <a:latin typeface="Ubuntu"/>
              </a:rPr>
              <a:t>Complexidade</a:t>
            </a:r>
          </a:p>
        </p:txBody>
      </p:sp>
      <p:sp>
        <p:nvSpPr>
          <p:cNvPr id="237" name="TextBox"/>
          <p:cNvSpPr txBox="1"/>
          <p:nvPr/>
        </p:nvSpPr>
        <p:spPr>
          <a:xfrm>
            <a:off x="471700" y="333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Baixa</a:t>
            </a:r>
          </a:p>
        </p:txBody>
      </p:sp>
      <p:sp>
        <p:nvSpPr>
          <p:cNvPr id="238" name="TextBox"/>
          <p:cNvSpPr txBox="1"/>
          <p:nvPr/>
        </p:nvSpPr>
        <p:spPr>
          <a:xfrm>
            <a:off x="471700" y="360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A707D"/>
                </a:solidFill>
                <a:latin typeface="Ubuntu"/>
              </a:rPr>
              <a:t>Leitura (BI)</a:t>
            </a:r>
          </a:p>
        </p:txBody>
      </p:sp>
      <p:sp>
        <p:nvSpPr>
          <p:cNvPr id="239" name="TextBox"/>
          <p:cNvSpPr txBox="1"/>
          <p:nvPr/>
        </p:nvSpPr>
        <p:spPr>
          <a:xfrm>
            <a:off x="471700" y="381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Altíssima</a:t>
            </a:r>
          </a:p>
        </p:txBody>
      </p:sp>
      <p:sp>
        <p:nvSpPr>
          <p:cNvPr id="240" name="Shape"/>
          <p:cNvSpPr/>
          <p:nvPr/>
        </p:nvSpPr>
        <p:spPr>
          <a:xfrm>
            <a:off x="3231700" y="1800000"/>
            <a:ext cx="2680000" cy="2320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Shape"/>
          <p:cNvSpPr/>
          <p:nvPr/>
        </p:nvSpPr>
        <p:spPr>
          <a:xfrm>
            <a:off x="3231700" y="1800000"/>
            <a:ext cx="2680000" cy="380000"/>
          </a:xfrm>
          <a:prstGeom prst="roundRect">
            <a:avLst>
              <a:gd name="adj" fmla="val 30000"/>
            </a:avLst>
          </a:prstGeom>
          <a:solidFill>
            <a:srgbClr val="5B3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Shape"/>
          <p:cNvSpPr/>
          <p:nvPr/>
        </p:nvSpPr>
        <p:spPr>
          <a:xfrm>
            <a:off x="3231700" y="2050000"/>
            <a:ext cx="2680000" cy="130000"/>
          </a:xfrm>
          <a:prstGeom prst="rect">
            <a:avLst/>
          </a:prstGeom>
          <a:solidFill>
            <a:srgbClr val="5B37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"/>
          <p:cNvSpPr txBox="1"/>
          <p:nvPr/>
        </p:nvSpPr>
        <p:spPr>
          <a:xfrm>
            <a:off x="3231700" y="1800000"/>
            <a:ext cx="26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 dirty="0">
                <a:solidFill>
                  <a:srgbClr val="FFFDF8"/>
                </a:solidFill>
                <a:latin typeface="Ubuntu Medium"/>
              </a:rPr>
              <a:t>Inmon</a:t>
            </a:r>
          </a:p>
        </p:txBody>
      </p:sp>
      <p:sp>
        <p:nvSpPr>
          <p:cNvPr id="244" name="TextBox"/>
          <p:cNvSpPr txBox="1"/>
          <p:nvPr/>
        </p:nvSpPr>
        <p:spPr>
          <a:xfrm>
            <a:off x="3391700" y="2300000"/>
            <a:ext cx="2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37D9"/>
                </a:solidFill>
                <a:latin typeface="Ubuntu Medium"/>
              </a:rPr>
              <a:t>Normalizado 3NF</a:t>
            </a:r>
          </a:p>
        </p:txBody>
      </p:sp>
      <p:sp>
        <p:nvSpPr>
          <p:cNvPr id="245" name="TextBox"/>
          <p:cNvSpPr txBox="1"/>
          <p:nvPr/>
        </p:nvSpPr>
        <p:spPr>
          <a:xfrm>
            <a:off x="3391700" y="264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A707D"/>
                </a:solidFill>
                <a:latin typeface="Ubuntu"/>
              </a:rPr>
              <a:t>Foco</a:t>
            </a:r>
          </a:p>
        </p:txBody>
      </p:sp>
      <p:sp>
        <p:nvSpPr>
          <p:cNvPr id="246" name="TextBox"/>
          <p:cNvSpPr txBox="1"/>
          <p:nvPr/>
        </p:nvSpPr>
        <p:spPr>
          <a:xfrm>
            <a:off x="3391700" y="285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Integridade e zero redundância</a:t>
            </a:r>
          </a:p>
        </p:txBody>
      </p:sp>
      <p:sp>
        <p:nvSpPr>
          <p:cNvPr id="247" name="TextBox"/>
          <p:cNvSpPr txBox="1"/>
          <p:nvPr/>
        </p:nvSpPr>
        <p:spPr>
          <a:xfrm>
            <a:off x="3391700" y="312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A707D"/>
                </a:solidFill>
                <a:latin typeface="Ubuntu"/>
              </a:rPr>
              <a:t>Complexidade</a:t>
            </a:r>
          </a:p>
        </p:txBody>
      </p:sp>
      <p:sp>
        <p:nvSpPr>
          <p:cNvPr id="248" name="TextBox"/>
          <p:cNvSpPr txBox="1"/>
          <p:nvPr/>
        </p:nvSpPr>
        <p:spPr>
          <a:xfrm>
            <a:off x="3391700" y="333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Média</a:t>
            </a:r>
          </a:p>
        </p:txBody>
      </p:sp>
      <p:sp>
        <p:nvSpPr>
          <p:cNvPr id="249" name="TextBox"/>
          <p:cNvSpPr txBox="1"/>
          <p:nvPr/>
        </p:nvSpPr>
        <p:spPr>
          <a:xfrm>
            <a:off x="3391700" y="360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A707D"/>
                </a:solidFill>
                <a:latin typeface="Ubuntu"/>
              </a:rPr>
              <a:t>Leitura (BI)</a:t>
            </a:r>
          </a:p>
        </p:txBody>
      </p:sp>
      <p:sp>
        <p:nvSpPr>
          <p:cNvPr id="250" name="TextBox"/>
          <p:cNvSpPr txBox="1"/>
          <p:nvPr/>
        </p:nvSpPr>
        <p:spPr>
          <a:xfrm>
            <a:off x="3391700" y="381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Baixa (joins complexos)</a:t>
            </a:r>
          </a:p>
        </p:txBody>
      </p:sp>
      <p:sp>
        <p:nvSpPr>
          <p:cNvPr id="251" name="Shape"/>
          <p:cNvSpPr/>
          <p:nvPr/>
        </p:nvSpPr>
        <p:spPr>
          <a:xfrm>
            <a:off x="6151700" y="1800000"/>
            <a:ext cx="2680000" cy="23200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Shape"/>
          <p:cNvSpPr/>
          <p:nvPr/>
        </p:nvSpPr>
        <p:spPr>
          <a:xfrm>
            <a:off x="6151700" y="1800000"/>
            <a:ext cx="2680000" cy="380000"/>
          </a:xfrm>
          <a:prstGeom prst="roundRect">
            <a:avLst>
              <a:gd name="adj" fmla="val 30000"/>
            </a:avLst>
          </a:prstGeom>
          <a:solidFill>
            <a:srgbClr val="0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Shape"/>
          <p:cNvSpPr/>
          <p:nvPr/>
        </p:nvSpPr>
        <p:spPr>
          <a:xfrm>
            <a:off x="6151700" y="2050000"/>
            <a:ext cx="2680000" cy="130000"/>
          </a:xfrm>
          <a:prstGeom prst="rect">
            <a:avLst/>
          </a:prstGeom>
          <a:solidFill>
            <a:srgbClr val="0FA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TextBox"/>
          <p:cNvSpPr txBox="1"/>
          <p:nvPr/>
        </p:nvSpPr>
        <p:spPr>
          <a:xfrm>
            <a:off x="6151700" y="1800000"/>
            <a:ext cx="2680000" cy="3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Ubuntu Medium"/>
              </a:rPr>
              <a:t>Data Vault</a:t>
            </a:r>
          </a:p>
        </p:txBody>
      </p:sp>
      <p:sp>
        <p:nvSpPr>
          <p:cNvPr id="255" name="TextBox"/>
          <p:cNvSpPr txBox="1"/>
          <p:nvPr/>
        </p:nvSpPr>
        <p:spPr>
          <a:xfrm>
            <a:off x="6311700" y="2300000"/>
            <a:ext cx="23600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0FA36B"/>
                </a:solidFill>
                <a:latin typeface="Ubuntu Medium"/>
              </a:rPr>
              <a:t>Hubs · Links · Satellites</a:t>
            </a:r>
          </a:p>
        </p:txBody>
      </p:sp>
      <p:sp>
        <p:nvSpPr>
          <p:cNvPr id="256" name="TextBox"/>
          <p:cNvSpPr txBox="1"/>
          <p:nvPr/>
        </p:nvSpPr>
        <p:spPr>
          <a:xfrm>
            <a:off x="6311700" y="264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A707D"/>
                </a:solidFill>
                <a:latin typeface="Ubuntu"/>
              </a:rPr>
              <a:t>Foco</a:t>
            </a:r>
          </a:p>
        </p:txBody>
      </p:sp>
      <p:sp>
        <p:nvSpPr>
          <p:cNvPr id="257" name="TextBox"/>
          <p:cNvSpPr txBox="1"/>
          <p:nvPr/>
        </p:nvSpPr>
        <p:spPr>
          <a:xfrm>
            <a:off x="6311700" y="285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Escalabilidade e auditoria</a:t>
            </a:r>
          </a:p>
        </p:txBody>
      </p:sp>
      <p:sp>
        <p:nvSpPr>
          <p:cNvPr id="258" name="TextBox"/>
          <p:cNvSpPr txBox="1"/>
          <p:nvPr/>
        </p:nvSpPr>
        <p:spPr>
          <a:xfrm>
            <a:off x="6311700" y="312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A707D"/>
                </a:solidFill>
                <a:latin typeface="Ubuntu"/>
              </a:rPr>
              <a:t>Complexidade</a:t>
            </a:r>
          </a:p>
        </p:txBody>
      </p:sp>
      <p:sp>
        <p:nvSpPr>
          <p:cNvPr id="259" name="TextBox"/>
          <p:cNvSpPr txBox="1"/>
          <p:nvPr/>
        </p:nvSpPr>
        <p:spPr>
          <a:xfrm>
            <a:off x="6311700" y="333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Alta</a:t>
            </a:r>
          </a:p>
        </p:txBody>
      </p:sp>
      <p:sp>
        <p:nvSpPr>
          <p:cNvPr id="260" name="TextBox"/>
          <p:cNvSpPr txBox="1"/>
          <p:nvPr/>
        </p:nvSpPr>
        <p:spPr>
          <a:xfrm>
            <a:off x="6311700" y="360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A707D"/>
                </a:solidFill>
                <a:latin typeface="Ubuntu"/>
              </a:rPr>
              <a:t>Leitura (BI)</a:t>
            </a:r>
          </a:p>
        </p:txBody>
      </p:sp>
      <p:sp>
        <p:nvSpPr>
          <p:cNvPr id="261" name="TextBox"/>
          <p:cNvSpPr txBox="1"/>
          <p:nvPr/>
        </p:nvSpPr>
        <p:spPr>
          <a:xfrm>
            <a:off x="6311700" y="381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181C23"/>
                </a:solidFill>
                <a:latin typeface="Ubuntu Medium"/>
              </a:rPr>
              <a:t>Média (via marts/vistas)</a:t>
            </a:r>
          </a:p>
        </p:txBody>
      </p:sp>
      <p:sp>
        <p:nvSpPr>
          <p:cNvPr id="262" name="TextBox"/>
          <p:cNvSpPr txBox="1"/>
          <p:nvPr/>
        </p:nvSpPr>
        <p:spPr>
          <a:xfrm>
            <a:off x="311700" y="4300000"/>
            <a:ext cx="85206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81C23"/>
                </a:solidFill>
                <a:latin typeface="Ubuntu Medium"/>
              </a:rPr>
              <a:t>Na prática: </a:t>
            </a:r>
            <a:r>
              <a:rPr sz="1100" b="0" i="0">
                <a:solidFill>
                  <a:srgbClr val="6A707D"/>
                </a:solidFill>
                <a:latin typeface="Ubuntu"/>
              </a:rPr>
              <a:t>comece pelo modelo dimensional para entregar valor rápido ao BI e evolua conforme o volume e a governança exigirem.</a:t>
            </a:r>
          </a:p>
        </p:txBody>
      </p:sp>
      <p:sp>
        <p:nvSpPr>
          <p:cNvPr id="263" name="Shape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TextBox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65" name="TextBox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66" name="TextBox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Componentes de um Data Warehouse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545057" y="1686148"/>
            <a:ext cx="6053885" cy="262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w_represent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057" y="1746148"/>
            <a:ext cx="5933885" cy="2507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308916"/>
            <a:ext cx="85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 dirty="0">
                <a:solidFill>
                  <a:srgbClr val="6A707D"/>
                </a:solidFill>
                <a:latin typeface="Ubuntu"/>
              </a:rPr>
              <a:t>Fontes → ETL → </a:t>
            </a:r>
            <a:r>
              <a:rPr sz="1200" b="0" i="1" dirty="0" err="1">
                <a:solidFill>
                  <a:srgbClr val="6A707D"/>
                </a:solidFill>
                <a:latin typeface="Ubuntu"/>
              </a:rPr>
              <a:t>camadas</a:t>
            </a:r>
            <a:r>
              <a:rPr sz="1200" b="0" i="1" dirty="0">
                <a:solidFill>
                  <a:srgbClr val="6A707D"/>
                </a:solidFill>
                <a:latin typeface="Ubuntu"/>
              </a:rPr>
              <a:t> Raw e Summary → Data Marts → </a:t>
            </a:r>
            <a:r>
              <a:rPr sz="1200" b="0" i="1" dirty="0" err="1">
                <a:solidFill>
                  <a:srgbClr val="6A707D"/>
                </a:solidFill>
                <a:latin typeface="Ubuntu"/>
              </a:rPr>
              <a:t>consumidores</a:t>
            </a:r>
            <a:r>
              <a:rPr sz="1200" b="0" i="1" dirty="0">
                <a:solidFill>
                  <a:srgbClr val="6A707D"/>
                </a:solidFill>
                <a:latin typeface="Ubuntu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00" y="4683500"/>
            <a:ext cx="85206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>
                <a:solidFill>
                  <a:srgbClr val="6A707D"/>
                </a:solidFill>
                <a:latin typeface="Ubuntu"/>
              </a:rPr>
              <a:t>Fonte: do autor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PROCESSOS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ETL e OLAP vs OLTP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Extract: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extrair os dados das fontes de origem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Transform: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limpar, padronizar e agregar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Load: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carregar e persistir no Data Warehouse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OLTP: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transações rápidas (o app do dia a dia)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OLAP: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consultas analíticas complexas (o DW)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ETL é fazer suco: Extrair = colher a laranja; Transformar = espremer e adoçar; Carregar = servir no copo. O resultado é muito mais útil que a laranja crua!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Do transacional ao analítico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Card 0"/>
          <p:cNvSpPr/>
          <p:nvPr/>
        </p:nvSpPr>
        <p:spPr>
          <a:xfrm>
            <a:off x="311700" y="2050000"/>
            <a:ext cx="2600000" cy="156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Icon 0"/>
          <p:cNvSpPr/>
          <p:nvPr/>
        </p:nvSpPr>
        <p:spPr>
          <a:xfrm>
            <a:off x="1231700" y="2200000"/>
            <a:ext cx="760000" cy="520000"/>
          </a:xfrm>
          <a:prstGeom prst="can">
            <a:avLst/>
          </a:prstGeom>
          <a:solidFill>
            <a:srgbClr val="237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Ubuntu Medium"/>
              </a:rPr>
              <a:t>SQL</a:t>
            </a:r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431700" y="283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1" i="0">
                <a:solidFill>
                  <a:srgbClr val="181C23"/>
                </a:solidFill>
                <a:latin typeface="Ubuntu Medium"/>
              </a:rPr>
              <a:t>geek-store-transaction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31700" y="311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0" i="0">
                <a:solidFill>
                  <a:srgbClr val="2371FF"/>
                </a:solidFill>
                <a:latin typeface="Ubuntu Medium"/>
              </a:rPr>
              <a:t>SQL Server · OLTP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31700" y="3320000"/>
            <a:ext cx="236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Pedidos, clientes e pagamentos da loja</a:t>
            </a:r>
          </a:p>
        </p:txBody>
      </p:sp>
      <p:sp>
        <p:nvSpPr>
          <p:cNvPr id="45" name="Card 1"/>
          <p:cNvSpPr/>
          <p:nvPr/>
        </p:nvSpPr>
        <p:spPr>
          <a:xfrm>
            <a:off x="3272000" y="2050000"/>
            <a:ext cx="2600000" cy="156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Icon 1"/>
          <p:cNvSpPr/>
          <p:nvPr/>
        </p:nvSpPr>
        <p:spPr>
          <a:xfrm>
            <a:off x="4192000" y="2200000"/>
            <a:ext cx="760000" cy="52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Ubuntu Medium"/>
              </a:rPr>
              <a:t>ETL</a:t>
            </a:r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3392000" y="283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1" i="0">
                <a:solidFill>
                  <a:srgbClr val="181C23"/>
                </a:solidFill>
                <a:latin typeface="Ubuntu Medium"/>
              </a:rPr>
              <a:t>Script de ETL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392000" y="311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0" i="0">
                <a:solidFill>
                  <a:srgbClr val="2371FF"/>
                </a:solidFill>
                <a:latin typeface="Ubuntu Medium"/>
              </a:rPr>
              <a:t>Extract · Transform · Load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392000" y="3320000"/>
            <a:ext cx="236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Ingestão e transformação dos dados</a:t>
            </a:r>
          </a:p>
        </p:txBody>
      </p:sp>
      <p:sp>
        <p:nvSpPr>
          <p:cNvPr id="50" name="Card 2"/>
          <p:cNvSpPr/>
          <p:nvPr/>
        </p:nvSpPr>
        <p:spPr>
          <a:xfrm>
            <a:off x="6232300" y="2050000"/>
            <a:ext cx="2600000" cy="1560000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Icon 2"/>
          <p:cNvSpPr/>
          <p:nvPr/>
        </p:nvSpPr>
        <p:spPr>
          <a:xfrm>
            <a:off x="7152300" y="2200000"/>
            <a:ext cx="760000" cy="520000"/>
          </a:xfrm>
          <a:prstGeom prst="can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r>
              <a:rPr sz="1100" b="1" i="0">
                <a:solidFill>
                  <a:srgbClr val="181C23"/>
                </a:solidFill>
                <a:latin typeface="Ubuntu Medium"/>
              </a:rPr>
              <a:t>DW</a:t>
            </a:r>
            <a:endParaRPr/>
          </a:p>
        </p:txBody>
      </p:sp>
      <p:sp>
        <p:nvSpPr>
          <p:cNvPr id="52" name="TextBox 52"/>
          <p:cNvSpPr txBox="1"/>
          <p:nvPr/>
        </p:nvSpPr>
        <p:spPr>
          <a:xfrm>
            <a:off x="6352300" y="2830000"/>
            <a:ext cx="23600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150" b="1" i="0">
                <a:solidFill>
                  <a:srgbClr val="181C23"/>
                </a:solidFill>
                <a:latin typeface="Ubuntu Medium"/>
              </a:rPr>
              <a:t>geek-store-analytics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52300" y="3110000"/>
            <a:ext cx="2360000" cy="2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0" i="0">
                <a:solidFill>
                  <a:srgbClr val="2371FF"/>
                </a:solidFill>
                <a:latin typeface="Ubuntu Medium"/>
              </a:rPr>
              <a:t>SQL Server · OLAP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52300" y="3320000"/>
            <a:ext cx="2360000" cy="2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0" i="0">
                <a:solidFill>
                  <a:srgbClr val="6A707D"/>
                </a:solidFill>
                <a:latin typeface="Ubuntu"/>
              </a:rPr>
              <a:t>Modelo dimensional para análises e BI</a:t>
            </a:r>
          </a:p>
        </p:txBody>
      </p:sp>
      <p:sp>
        <p:nvSpPr>
          <p:cNvPr id="55" name="Arrow"/>
          <p:cNvSpPr/>
          <p:nvPr/>
        </p:nvSpPr>
        <p:spPr>
          <a:xfrm>
            <a:off x="2951700" y="2730000"/>
            <a:ext cx="280000" cy="180000"/>
          </a:xfrm>
          <a:prstGeom prst="rightArrow">
            <a:avLst/>
          </a:prstGeom>
          <a:solidFill>
            <a:srgbClr val="237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Arrow"/>
          <p:cNvSpPr/>
          <p:nvPr/>
        </p:nvSpPr>
        <p:spPr>
          <a:xfrm>
            <a:off x="5912000" y="2730000"/>
            <a:ext cx="280000" cy="180000"/>
          </a:xfrm>
          <a:prstGeom prst="rightArrow">
            <a:avLst/>
          </a:prstGeom>
          <a:solidFill>
            <a:srgbClr val="2371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Note bar"/>
          <p:cNvSpPr/>
          <p:nvPr/>
        </p:nvSpPr>
        <p:spPr>
          <a:xfrm>
            <a:off x="311700" y="3850000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8"/>
          <p:cNvSpPr txBox="1"/>
          <p:nvPr/>
        </p:nvSpPr>
        <p:spPr>
          <a:xfrm>
            <a:off x="311700" y="3990000"/>
            <a:ext cx="8520600" cy="6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 i="0">
                <a:solidFill>
                  <a:srgbClr val="181C23"/>
                </a:solidFill>
                <a:latin typeface="Ubuntu Medium"/>
              </a:rPr>
              <a:t>O que vamos fazer: </a:t>
            </a:r>
            <a:r>
              <a:rPr sz="1000" b="0" i="0">
                <a:solidFill>
                  <a:srgbClr val="6A707D"/>
                </a:solidFill>
                <a:latin typeface="Ubuntu"/>
              </a:rPr>
              <a:t>criar o banco transacional, popular com dados da operação e executar o script de ETL que carrega o banco analítico, separando carga operacional de carga de análise.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400" b="10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Arquitetura de Dados organiza armazenamento, processamento, disponibilização e visualização.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Data Warehouse: repositório central OLAP para análises e decisões.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ETL: Extrair → Transformar → Carregar.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Data Marts são visões especializadas do DW para cada área de negócio.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07 — Arquitetura de Dados e Data Warehouse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833</TotalTime>
  <Words>1517</Words>
  <Application>Microsoft Office PowerPoint</Application>
  <PresentationFormat>On-screen Show (16:9)</PresentationFormat>
  <Paragraphs>270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Ubuntu</vt:lpstr>
      <vt:lpstr>Ubuntu Medium</vt:lpstr>
      <vt:lpstr>Lato</vt:lpstr>
      <vt:lpstr>Ubuntu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10</cp:revision>
  <dcterms:modified xsi:type="dcterms:W3CDTF">2026-08-24T21:04:34Z</dcterms:modified>
</cp:coreProperties>
</file>