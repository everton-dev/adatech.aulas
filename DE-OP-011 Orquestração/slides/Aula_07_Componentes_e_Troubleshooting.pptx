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80" r:id="rId3"/>
    <p:sldId id="288" r:id="rId4"/>
    <p:sldId id="257" r:id="rId5"/>
    <p:sldId id="258" r:id="rId6"/>
    <p:sldId id="281" r:id="rId7"/>
    <p:sldId id="259" r:id="rId8"/>
    <p:sldId id="260" r:id="rId9"/>
    <p:sldId id="283" r:id="rId10"/>
    <p:sldId id="266" r:id="rId11"/>
    <p:sldId id="261" r:id="rId12"/>
    <p:sldId id="262" r:id="rId13"/>
    <p:sldId id="263" r:id="rId14"/>
    <p:sldId id="284" r:id="rId15"/>
    <p:sldId id="285" r:id="rId16"/>
    <p:sldId id="286" r:id="rId17"/>
    <p:sldId id="264" r:id="rId18"/>
    <p:sldId id="265" r:id="rId19"/>
    <p:sldId id="282" r:id="rId20"/>
    <p:sldId id="267" r:id="rId21"/>
    <p:sldId id="287" r:id="rId22"/>
    <p:sldId id="268" r:id="rId23"/>
    <p:sldId id="269" r:id="rId24"/>
    <p:sldId id="270" r:id="rId25"/>
    <p:sldId id="271" r:id="rId26"/>
    <p:sldId id="272" r:id="rId27"/>
    <p:sldId id="273" r:id="rId2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3459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Aula que fecha os componentes essenciais e ensina a habilidade mais valorizada no dia a dia: diagnosticar problemas. Diga que 'todo mundo sabe criar; o profissional se destaca sabendo consertar'.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Dois blocos: componentes que faltavam (CronJob, Secret, RBAC) e a caixa de ferramentas de diagnóstico (describe, events, logs, exec). O segundo bloco é o coração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Últimos objetos essenciais do módulo.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CronJob = tarefas periódicas (backup, envio de e-mail, limpeza). Explique a sintaxe cron: 5 campos (minuto, hora, dia-do-mês, mês, dia-da-semana). Mostre o exemplo '0 0 13 * 5' = toda sexta à meia-noite E todo dia 13 à meia-noite. Cada execução cria um Job, que cria um Pod. Ótimo para rotinas automatizadas.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Secret é irmão do ConfigMap (aula 6), mas para dados confidenciais. Ponto de atenção HONESTO: o valor é codificado em base64, NÃO criptografado por padrão — base64 é reversível! Em produção, habilite encryption-at-rest no etcd e use RBAC para restringir quem lê secrets. Consome-se como env var ou volume, igual ao ConfigMap. Nunca commitar secret com valor real no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DD7C7-E91D-15FE-0019-58C705AFA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70BBFF-E7EB-F788-404E-993B2E1D16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03B2D-CCC5-8516-A927-88E759432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Secret é irmão do ConfigMap (aula 6), mas para dados confidenciais. Ponto de atenção HONESTO: o valor é codificado em base64, NÃO criptografado por padrão — base64 é reversível! Em produção, habilite encryption-at-rest no etcd e use RBAC para restringir quem lê secrets. Consome-se como env var ou volume, igual ao ConfigMap. Nunca commitar secret com valor real no Git.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254FB-0EC2-7DBB-C5EC-AF3048229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03424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Demonstre em um pod real. No 'describe', role até a seção Events — é onde o K8S conta o que houve (falha de imagem, falta de recurso, etc.). O '--previous' é essencial para pods em CrashLoopBackOff: mostra o log da tentativa que falhou antes do restart. Filtrar por type=Warning acelera muito o diagnóstico.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RBAC responde 'quem pode fazer o quê'. Role/ClusterRole DEFINEM permissões (nunca bloqueios — tudo é negado por padrão). RoleBinding/ClusterRoleBinding LIGAM essas permissões a usuários ou grupos. Princípio do menor privilégio: dê só o necessário. Exemplo: um dev que só pode ver pods no namespace do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Leia junto: a Role 'pod-reader' permite get/watch/list em pods. O RoleBinding 'read-pods' liga essa Role à usuária 'jane'. Resultado: jane só pode LISTAR pods no default, nada mais. Mostre o '---' separando dois manifestos no mesmo arquivo. Para ClusterRole, tira o namespace e vale no cluster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02414-2DE0-A532-0403-CF1CD2D84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E88B03-8B72-1F1A-6A58-8B60C494D1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50A3E0-E315-8652-8FA6-4F217FEDF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Leia junto: a Role 'pod-reader' permite get/watch/list em pods. O RoleBinding 'read-pods' liga essa Role à usuária 'jane'. Resultado: jane só pode LISTAR pods no default, nada mais. Mostre o '---' separando dois manifestos no mesmo arquivo. Para ClusterRole, tira o namespace e vale no cluster inteiro.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0D9C2-0138-8C54-D212-B64C8A7CE7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32674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CE1E1-9C0A-C0C7-7545-34A4882A2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3A7611-2F25-D946-A449-069DE52FEE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EE65A-A139-EE1F-1DBE-1BC4C478B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Leia junto: a Role 'pod-reader' permite get/watch/list em pods. O RoleBinding 'read-pods' liga essa Role à usuária 'jane'. Resultado: jane só pode LISTAR pods no default, nada mais. Mostre o '---' separando dois manifestos no mesmo arquivo. Para ClusterRole, tira o namespace e vale no cluster inteiro.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47E22-9393-6375-643F-E8A1473DA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997745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1A8AB-5F25-13FE-ED84-98C707956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109826-266F-3856-D45E-6D71E72475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D4F08-3741-029F-68F1-4F10949444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Leia junto: a Role 'pod-reader' permite get/watch/list em pods. O RoleBinding 'read-pods' liga essa Role à usuária 'jane'. Resultado: jane só pode LISTAR pods no default, nada mais. Mostre o '---' separando dois manifestos no mesmo arquivo. Para ClusterRole, tira o namespace e vale no cluster inteiro.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A87A-BFCA-143E-35D7-549B59948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88385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parte mais aplicada e valiosa da aula. Bastante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Apresente as 4 ferramentas centrais. A regra de ouro do diagnóstico: comece sempre pelo 'describe' (mostra eventos e o motivo), depois 'logs' (o que a app disse), e só então 'exec' (entrar e investigar). 'get events' dá a visão macro. Vamos usar todas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0F237-D740-278B-AC04-5645978F1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98A35-EEAF-1DAB-100B-CD75E8D535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5E6D30-A56B-6766-4378-91DDD99BE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Demonstre em um pod real. No 'describe', role até a seção Events — é onde o K8S conta o que houve (falha de imagem, falta de recurso, etc.). O '--previous' é essencial para pods em CrashLoopBackOff: mostra o log da tentativa que falhou antes do restart. Filtrar por type=Warning acelera muito o diagnóstico.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F78F2-6917-A470-0945-EEF440296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196810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exec é como 'entrar na máquina' para investigar. O -it dá terminal interativo. Use -c &lt;container&gt; quando o pod tem múltiplos containers. Cuidado: mudanças feitas via exec são efêmeras (somem no restart) — serve para diagnóstico, não para corrigir permanentemente (isso vai no manifesto/imagem).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é o slide de referência rápida (cole no caderno!). Ligue com o que já vimos: Pending (aula 5, taints/recursos), ImagePullBackOff (aula 4, o erro que provocamos!), CrashLoopBackOff (app com bug ou config errada — use --previous). Terminating preso: finalizer travado, force a deleção. Cada status pede uma investigação diferente, mas todos começam no describe.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Sobe o nível: quando o problema não é o pod, é a infraestrutura. Node NotReady = kubelet parou de reportar (rede, disco, memória). Mostre as Conditions no describe node (MemoryPressure, DiskPressure). Reforce a criticidade do etcd (aula 1): sem backup do etcd, um desastre é irreversível — gancho perfeito para a aula 8 (multi-master = alta disponibilidade do control plane).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Amarre: agora o aluno cria, protege, controla acesso E investiga problemas. Falta a última fronteira: sair do Minikube e montar um cluster produtivo real, com alta disponibilidade. Peça leitura do material 08 e avise dos pré-requisitos pesados (VirtualBox, Vagrant, 4GB RAM livres).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097280"/>
            <a:ext cx="3840480" cy="2596863"/>
          </a:xfrm>
          <a:prstGeom prst="rect">
            <a:avLst/>
          </a:prstGeom>
        </p:spPr>
      </p:pic>
      <p:pic>
        <p:nvPicPr>
          <p:cNvPr id="3" name="Picture 2" descr="ada_bar.png"/>
          <p:cNvPicPr>
            <a:picLocks noChangeAspect="1"/>
          </p:cNvPicPr>
          <p:nvPr/>
        </p:nvPicPr>
        <p:blipFill>
          <a:blip r:embed="rId4"/>
          <a:srcRect t="38297" b="38297"/>
          <a:stretch>
            <a:fillRect/>
          </a:stretch>
        </p:blipFill>
        <p:spPr>
          <a:xfrm>
            <a:off x="0" y="0"/>
            <a:ext cx="9144000" cy="146304"/>
          </a:xfrm>
          <a:prstGeom prst="rect">
            <a:avLst/>
          </a:prstGeom>
        </p:spPr>
      </p:pic>
      <p:pic>
        <p:nvPicPr>
          <p:cNvPr id="4" name="Picture 3" descr="ada_bar.png"/>
          <p:cNvPicPr>
            <a:picLocks noChangeAspect="1"/>
          </p:cNvPicPr>
          <p:nvPr/>
        </p:nvPicPr>
        <p:blipFill>
          <a:blip r:embed="rId4"/>
          <a:srcRect t="38297" b="38297"/>
          <a:stretch>
            <a:fillRect/>
          </a:stretch>
        </p:blipFill>
        <p:spPr>
          <a:xfrm>
            <a:off x="0" y="4997196"/>
            <a:ext cx="9144000" cy="1463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737360"/>
            <a:ext cx="146304" cy="146304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Ubuntu"/>
              </a:rPr>
              <a:t>Componentes e Troubleshooting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50E550"/>
                </a:solidFill>
                <a:latin typeface="Lato"/>
              </a:rPr>
              <a:t>CronJobs, Secrets, RBAC e investigação de problemas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4340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FFFDF8"/>
                </a:solidFill>
                <a:latin typeface="Lato"/>
              </a:rPr>
              <a:t>Ada · DE-OP-011 </a:t>
            </a:r>
            <a:r>
              <a:rPr sz="1100" dirty="0" err="1">
                <a:solidFill>
                  <a:srgbClr val="FFFDF8"/>
                </a:solidFill>
                <a:latin typeface="Lato"/>
              </a:rPr>
              <a:t>Orquestração</a:t>
            </a:r>
            <a:r>
              <a:rPr sz="1100" dirty="0">
                <a:solidFill>
                  <a:srgbClr val="FFFDF8"/>
                </a:solidFill>
                <a:latin typeface="Lato"/>
              </a:rPr>
              <a:t> · Kubernetes  |  Aula 07</a:t>
            </a:r>
            <a:r>
              <a:rPr lang="pt-PT" sz="1100" dirty="0">
                <a:solidFill>
                  <a:srgbClr val="FFFDF8"/>
                </a:solidFill>
                <a:latin typeface="Lato"/>
              </a:rPr>
              <a:t> | Everton J Benedicto</a:t>
            </a:r>
            <a:endParaRPr sz="1100" dirty="0">
              <a:solidFill>
                <a:srgbClr val="FFFDF8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Card 01"/>
          <p:cNvSpPr/>
          <p:nvPr/>
        </p:nvSpPr>
        <p:spPr>
          <a:xfrm>
            <a:off x="365760" y="1120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01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17/07 · Sexta</a:t>
            </a:r>
          </a:p>
          <a:p>
            <a:r>
              <a:rPr lang="pt-PT" sz="1100" b="1" dirty="0">
                <a:solidFill>
                  <a:srgbClr val="181C23"/>
                </a:solidFill>
                <a:latin typeface="Lato"/>
              </a:rPr>
              <a:t>Conhecendo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o Kubernetes</a:t>
            </a:r>
          </a:p>
        </p:txBody>
      </p:sp>
      <p:sp>
        <p:nvSpPr>
          <p:cNvPr id="101" name="Card 02"/>
          <p:cNvSpPr/>
          <p:nvPr/>
        </p:nvSpPr>
        <p:spPr>
          <a:xfrm>
            <a:off x="3236586" y="1120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02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20/07 · Segunda</a:t>
            </a:r>
          </a:p>
          <a:p>
            <a:r>
              <a:rPr sz="1100" b="1" dirty="0">
                <a:solidFill>
                  <a:srgbClr val="181C23"/>
                </a:solidFill>
                <a:latin typeface="Lato"/>
              </a:rPr>
              <a:t>Mão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na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Massa: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Minikube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e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kubectl</a:t>
            </a:r>
            <a:endParaRPr sz="1100" b="1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102" name="Card 03"/>
          <p:cNvSpPr/>
          <p:nvPr/>
        </p:nvSpPr>
        <p:spPr>
          <a:xfrm>
            <a:off x="6107412" y="1120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FFFFFF">
                  <a:shade val="30000"/>
                  <a:satMod val="115000"/>
                </a:srgbClr>
              </a:gs>
              <a:gs pos="50000">
                <a:srgbClr val="FFFFFF">
                  <a:shade val="67500"/>
                  <a:satMod val="115000"/>
                </a:srgbClr>
              </a:gs>
              <a:gs pos="100000">
                <a:srgbClr val="FFFFFF">
                  <a:shade val="100000"/>
                  <a:satMod val="115000"/>
                </a:srgb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03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22/07 · Quarta</a:t>
            </a:r>
          </a:p>
          <a:p>
            <a:r>
              <a:rPr sz="1100" b="1" dirty="0">
                <a:solidFill>
                  <a:srgbClr val="181C23"/>
                </a:solidFill>
                <a:latin typeface="Lato"/>
              </a:rPr>
              <a:t>Pods, Namespaces e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Controladores</a:t>
            </a:r>
            <a:endParaRPr sz="1100" b="1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103" name="Card 04"/>
          <p:cNvSpPr/>
          <p:nvPr/>
        </p:nvSpPr>
        <p:spPr>
          <a:xfrm>
            <a:off x="365760" y="2396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04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24/07 · Sexta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Primeira Aplicação no K8S</a:t>
            </a:r>
          </a:p>
        </p:txBody>
      </p:sp>
      <p:sp>
        <p:nvSpPr>
          <p:cNvPr id="104" name="Card 05"/>
          <p:cNvSpPr/>
          <p:nvPr/>
        </p:nvSpPr>
        <p:spPr>
          <a:xfrm>
            <a:off x="3236586" y="2396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05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27/07 · Segunda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Estratégias de Deploy e Limitação de Recursos</a:t>
            </a:r>
          </a:p>
        </p:txBody>
      </p:sp>
      <p:sp>
        <p:nvSpPr>
          <p:cNvPr id="105" name="Card 06"/>
          <p:cNvSpPr/>
          <p:nvPr/>
        </p:nvSpPr>
        <p:spPr>
          <a:xfrm>
            <a:off x="6107412" y="2396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06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29/07 · Quarta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Services, Ingress e Volumes</a:t>
            </a:r>
          </a:p>
        </p:txBody>
      </p:sp>
      <p:sp>
        <p:nvSpPr>
          <p:cNvPr id="106" name="Card 07"/>
          <p:cNvSpPr/>
          <p:nvPr/>
        </p:nvSpPr>
        <p:spPr>
          <a:xfrm>
            <a:off x="365760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07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31/07 · Sexta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Componentes e Troubleshooting</a:t>
            </a:r>
          </a:p>
        </p:txBody>
      </p:sp>
      <p:sp>
        <p:nvSpPr>
          <p:cNvPr id="107" name="Card 08"/>
          <p:cNvSpPr/>
          <p:nvPr/>
        </p:nvSpPr>
        <p:spPr>
          <a:xfrm>
            <a:off x="3236586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08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03/08 · Segunda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Cluster Multi-Master</a:t>
            </a:r>
          </a:p>
        </p:txBody>
      </p:sp>
      <p:sp>
        <p:nvSpPr>
          <p:cNvPr id="108" name="Card 09"/>
          <p:cNvSpPr/>
          <p:nvPr/>
        </p:nvSpPr>
        <p:spPr>
          <a:xfrm>
            <a:off x="6107412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09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05/08 · Quarta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Concluir atividades do módulo e preencher rubricas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3113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Cronograma</a:t>
            </a:r>
            <a:r>
              <a:rPr sz="750" dirty="0">
                <a:solidFill>
                  <a:srgbClr val="5A5E66"/>
                </a:solidFill>
                <a:latin typeface="Lato"/>
              </a:rPr>
              <a:t> do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módulo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Ice Breaker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8229600" cy="1600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pt-BR" sz="2800" b="1">
                <a:solidFill>
                  <a:srgbClr val="181C23"/>
                </a:solidFill>
                <a:latin typeface="Ubuntu"/>
              </a:rPr>
              <a:t>Como você faz para adquirir conhecimento?</a:t>
            </a:r>
          </a:p>
          <a:p>
            <a:pPr algn="ctr"/>
            <a:r>
              <a:rPr lang="pt-BR" sz="1600">
                <a:solidFill>
                  <a:srgbClr val="5A5E66"/>
                </a:solidFill>
                <a:latin typeface="Lato"/>
              </a:rPr>
              <a:t>(redes sociais, podcasts, etc...)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>
                <a:solidFill>
                  <a:srgbClr val="5A5E66"/>
                </a:solidFill>
                <a:latin typeface="Lato"/>
              </a:rPr>
              <a:t> · Kubernetes  |  Aula 07</a:t>
            </a:r>
            <a:r>
              <a:rPr lang="pt-PT" sz="750">
                <a:solidFill>
                  <a:srgbClr val="5A5E66"/>
                </a:solidFill>
                <a:latin typeface="Lato"/>
              </a:rPr>
              <a:t> | Everton J Benedicto</a:t>
            </a:r>
            <a:endParaRPr sz="75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Objetivos de hoje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Agendar tarefas com CronJobs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Proteger dados sensíveis com Secrets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Controlar acessos com RBAC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Dominar as ferramentas de troubleshooting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Investigar problemas de Pods, Services e do Cluster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07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709" y="2148840"/>
            <a:ext cx="802581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1. Componentes finais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CronJobs, Secrets e RBAC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CronJob: para que serve e como funciona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43000"/>
            <a:ext cx="82296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181C23"/>
                </a:solidFill>
                <a:latin typeface="Lato"/>
              </a:rPr>
              <a:t>Automatiza</a:t>
            </a:r>
            <a:r>
              <a:rPr sz="1400" dirty="0">
                <a:solidFill>
                  <a:srgbClr val="181C23"/>
                </a:solidFill>
                <a:latin typeface="Lato"/>
              </a:rPr>
              <a:t> </a:t>
            </a:r>
            <a:r>
              <a:rPr sz="1400" dirty="0" err="1">
                <a:solidFill>
                  <a:srgbClr val="181C23"/>
                </a:solidFill>
                <a:latin typeface="Lato"/>
              </a:rPr>
              <a:t>tarefas</a:t>
            </a:r>
            <a:r>
              <a:rPr sz="1400" dirty="0">
                <a:solidFill>
                  <a:srgbClr val="181C23"/>
                </a:solidFill>
                <a:latin typeface="Lato"/>
              </a:rPr>
              <a:t> </a:t>
            </a:r>
            <a:r>
              <a:rPr sz="1400" dirty="0" err="1">
                <a:solidFill>
                  <a:srgbClr val="181C23"/>
                </a:solidFill>
                <a:latin typeface="Lato"/>
              </a:rPr>
              <a:t>repetitivas</a:t>
            </a:r>
            <a:r>
              <a:rPr sz="1400" dirty="0">
                <a:solidFill>
                  <a:srgbClr val="181C23"/>
                </a:solidFill>
                <a:latin typeface="Lato"/>
              </a:rPr>
              <a:t> </a:t>
            </a:r>
            <a:r>
              <a:rPr sz="1400" dirty="0" err="1">
                <a:solidFill>
                  <a:srgbClr val="181C23"/>
                </a:solidFill>
                <a:latin typeface="Lato"/>
              </a:rPr>
              <a:t>que</a:t>
            </a:r>
            <a:r>
              <a:rPr sz="1400" dirty="0">
                <a:solidFill>
                  <a:srgbClr val="181C23"/>
                </a:solidFill>
                <a:latin typeface="Lato"/>
              </a:rPr>
              <a:t> </a:t>
            </a:r>
            <a:r>
              <a:rPr sz="1400" dirty="0" err="1">
                <a:solidFill>
                  <a:srgbClr val="181C23"/>
                </a:solidFill>
                <a:latin typeface="Lato"/>
              </a:rPr>
              <a:t>rodam</a:t>
            </a:r>
            <a:r>
              <a:rPr sz="1400" dirty="0">
                <a:solidFill>
                  <a:srgbClr val="181C23"/>
                </a:solidFill>
                <a:latin typeface="Lato"/>
              </a:rPr>
              <a:t> </a:t>
            </a:r>
            <a:r>
              <a:rPr sz="1400" dirty="0" err="1">
                <a:solidFill>
                  <a:srgbClr val="181C23"/>
                </a:solidFill>
                <a:latin typeface="Lato"/>
              </a:rPr>
              <a:t>em</a:t>
            </a:r>
            <a:r>
              <a:rPr sz="1400" dirty="0">
                <a:solidFill>
                  <a:srgbClr val="181C23"/>
                </a:solidFill>
                <a:latin typeface="Lato"/>
              </a:rPr>
              <a:t> </a:t>
            </a:r>
            <a:r>
              <a:rPr sz="1400" dirty="0" err="1">
                <a:solidFill>
                  <a:srgbClr val="181C23"/>
                </a:solidFill>
                <a:latin typeface="Lato"/>
              </a:rPr>
              <a:t>horários</a:t>
            </a:r>
            <a:r>
              <a:rPr sz="1400" dirty="0">
                <a:solidFill>
                  <a:srgbClr val="181C23"/>
                </a:solidFill>
                <a:latin typeface="Lato"/>
              </a:rPr>
              <a:t> </a:t>
            </a:r>
            <a:r>
              <a:rPr sz="1400" dirty="0" err="1">
                <a:solidFill>
                  <a:srgbClr val="181C23"/>
                </a:solidFill>
                <a:latin typeface="Lato"/>
              </a:rPr>
              <a:t>ou</a:t>
            </a:r>
            <a:r>
              <a:rPr sz="1400" dirty="0">
                <a:solidFill>
                  <a:srgbClr val="181C23"/>
                </a:solidFill>
                <a:latin typeface="Lato"/>
              </a:rPr>
              <a:t> </a:t>
            </a:r>
            <a:r>
              <a:rPr sz="1400" dirty="0" err="1">
                <a:solidFill>
                  <a:srgbClr val="181C23"/>
                </a:solidFill>
                <a:latin typeface="Lato"/>
              </a:rPr>
              <a:t>intervalos</a:t>
            </a:r>
            <a:r>
              <a:rPr sz="1400" dirty="0">
                <a:solidFill>
                  <a:srgbClr val="181C23"/>
                </a:solidFill>
                <a:latin typeface="Lato"/>
              </a:rPr>
              <a:t> </a:t>
            </a:r>
            <a:r>
              <a:rPr sz="1400" dirty="0" err="1">
                <a:solidFill>
                  <a:srgbClr val="181C23"/>
                </a:solidFill>
                <a:latin typeface="Lato"/>
              </a:rPr>
              <a:t>definidos</a:t>
            </a:r>
            <a:r>
              <a:rPr sz="1400" dirty="0">
                <a:solidFill>
                  <a:srgbClr val="181C23"/>
                </a:solidFill>
                <a:latin typeface="Lato"/>
              </a:rPr>
              <a:t> — backups, </a:t>
            </a:r>
            <a:r>
              <a:rPr sz="1400" dirty="0" err="1">
                <a:solidFill>
                  <a:srgbClr val="181C23"/>
                </a:solidFill>
                <a:latin typeface="Lato"/>
              </a:rPr>
              <a:t>envio</a:t>
            </a:r>
            <a:r>
              <a:rPr sz="1400" dirty="0">
                <a:solidFill>
                  <a:srgbClr val="181C23"/>
                </a:solidFill>
                <a:latin typeface="Lato"/>
              </a:rPr>
              <a:t> de e-mails, </a:t>
            </a:r>
            <a:r>
              <a:rPr sz="1400" dirty="0" err="1">
                <a:solidFill>
                  <a:srgbClr val="181C23"/>
                </a:solidFill>
                <a:latin typeface="Lato"/>
              </a:rPr>
              <a:t>limpeza</a:t>
            </a:r>
            <a:r>
              <a:rPr sz="1400" dirty="0">
                <a:solidFill>
                  <a:srgbClr val="181C23"/>
                </a:solidFill>
                <a:latin typeface="Lato"/>
              </a:rPr>
              <a:t> de dados, </a:t>
            </a:r>
            <a:r>
              <a:rPr sz="1400" dirty="0" err="1">
                <a:solidFill>
                  <a:srgbClr val="181C23"/>
                </a:solidFill>
                <a:latin typeface="Lato"/>
              </a:rPr>
              <a:t>funcionando</a:t>
            </a:r>
            <a:r>
              <a:rPr sz="1400" dirty="0">
                <a:solidFill>
                  <a:srgbClr val="181C23"/>
                </a:solidFill>
                <a:latin typeface="Lato"/>
              </a:rPr>
              <a:t> </a:t>
            </a:r>
            <a:r>
              <a:rPr sz="1400" dirty="0" err="1">
                <a:solidFill>
                  <a:srgbClr val="181C23"/>
                </a:solidFill>
                <a:latin typeface="Lato"/>
              </a:rPr>
              <a:t>como</a:t>
            </a:r>
            <a:r>
              <a:rPr sz="1400" dirty="0">
                <a:solidFill>
                  <a:srgbClr val="181C23"/>
                </a:solidFill>
                <a:latin typeface="Lato"/>
              </a:rPr>
              <a:t> o </a:t>
            </a:r>
            <a:r>
              <a:rPr sz="1400" dirty="0" err="1">
                <a:solidFill>
                  <a:srgbClr val="181C23"/>
                </a:solidFill>
                <a:latin typeface="Lato"/>
              </a:rPr>
              <a:t>cron</a:t>
            </a:r>
            <a:r>
              <a:rPr sz="1400" dirty="0">
                <a:solidFill>
                  <a:srgbClr val="181C23"/>
                </a:solidFill>
                <a:latin typeface="Lato"/>
              </a:rPr>
              <a:t> do Linux.</a:t>
            </a:r>
          </a:p>
        </p:txBody>
      </p:sp>
      <p:sp>
        <p:nvSpPr>
          <p:cNvPr id="8" name="TextBox Coluna Esquerda"/>
          <p:cNvSpPr txBox="1"/>
          <p:nvPr/>
        </p:nvSpPr>
        <p:spPr>
          <a:xfrm>
            <a:off x="457200" y="1660000"/>
            <a:ext cx="3960000" cy="31200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371FF"/>
                </a:solidFill>
                <a:latin typeface="Consolas"/>
              </a:rPr>
              <a:t>apiVersion: batch/v1 · kind: CronJob</a:t>
            </a:r>
            <a:r>
              <a:rPr sz="1200">
                <a:solidFill>
                  <a:srgbClr val="181C23"/>
                </a:solidFill>
                <a:latin typeface="Lato"/>
              </a:rPr>
              <a:t>  —  declara ao Kubernetes um recurso do tipo CronJob.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371FF"/>
                </a:solidFill>
                <a:latin typeface="Consolas"/>
              </a:rPr>
              <a:t>metadata.name: hello</a:t>
            </a:r>
            <a:r>
              <a:rPr sz="1200">
                <a:solidFill>
                  <a:srgbClr val="181C23"/>
                </a:solidFill>
                <a:latin typeface="Lato"/>
              </a:rPr>
              <a:t>  —  nome que identifica o CronJob dentro do cluster.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371FF"/>
                </a:solidFill>
                <a:latin typeface="Consolas"/>
              </a:rPr>
              <a:t>schedule: "* * * * *"</a:t>
            </a:r>
            <a:r>
              <a:rPr sz="1200">
                <a:solidFill>
                  <a:srgbClr val="181C23"/>
                </a:solidFill>
                <a:latin typeface="Lato"/>
              </a:rPr>
              <a:t>  —  periodicidade no padrão Cron (minuto, hora, dia do mês, mês, dia da semana); cinco asteriscos = executar a cada minuto.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371FF"/>
                </a:solidFill>
                <a:latin typeface="Consolas"/>
              </a:rPr>
              <a:t>jobTemplate</a:t>
            </a:r>
            <a:r>
              <a:rPr sz="1200">
                <a:solidFill>
                  <a:srgbClr val="181C23"/>
                </a:solidFill>
                <a:latin typeface="Lato"/>
              </a:rPr>
              <a:t>  —  modelo do Job disparado a cada horário agendado.</a:t>
            </a:r>
          </a:p>
        </p:txBody>
      </p:sp>
      <p:sp>
        <p:nvSpPr>
          <p:cNvPr id="9" name="TextBox Coluna Direita"/>
          <p:cNvSpPr txBox="1"/>
          <p:nvPr/>
        </p:nvSpPr>
        <p:spPr>
          <a:xfrm>
            <a:off x="4726800" y="1660000"/>
            <a:ext cx="3960000" cy="31200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371FF"/>
                </a:solidFill>
                <a:latin typeface="Consolas"/>
              </a:rPr>
              <a:t>containers</a:t>
            </a:r>
            <a:r>
              <a:rPr sz="1200">
                <a:solidFill>
                  <a:srgbClr val="181C23"/>
                </a:solidFill>
                <a:latin typeface="Lato"/>
              </a:rPr>
              <a:t>  —  o que roda dentro do container temporário.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371FF"/>
                </a:solidFill>
                <a:latin typeface="Consolas"/>
              </a:rPr>
              <a:t>image: busybox</a:t>
            </a:r>
            <a:r>
              <a:rPr sz="1200">
                <a:solidFill>
                  <a:srgbClr val="181C23"/>
                </a:solidFill>
                <a:latin typeface="Lato"/>
              </a:rPr>
              <a:t>  —  imagem Linux mínima e leve para executar a tarefa.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371FF"/>
                </a:solidFill>
                <a:latin typeface="Consolas"/>
              </a:rPr>
              <a:t>command</a:t>
            </a:r>
            <a:r>
              <a:rPr sz="1200">
                <a:solidFill>
                  <a:srgbClr val="181C23"/>
                </a:solidFill>
                <a:latin typeface="Lato"/>
              </a:rPr>
              <a:t>  —  exibe a data/hora atual (date) e imprime "Hello from the Kubernetes cluster".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371FF"/>
                </a:solidFill>
                <a:latin typeface="Consolas"/>
              </a:rPr>
              <a:t>restartPolicy: OnFailure</a:t>
            </a:r>
            <a:r>
              <a:rPr sz="1200">
                <a:solidFill>
                  <a:srgbClr val="181C23"/>
                </a:solidFill>
                <a:latin typeface="Lato"/>
              </a:rPr>
              <a:t>  —  se o container falhar, o Kubernetes o executa novamente até obter sucesso.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>
                <a:solidFill>
                  <a:srgbClr val="5A5E66"/>
                </a:solidFill>
                <a:latin typeface="Lato"/>
              </a:rPr>
              <a:t> · Kubernetes  |  Aula 07</a:t>
            </a:r>
            <a:r>
              <a:rPr lang="pt-PT" sz="750">
                <a:solidFill>
                  <a:srgbClr val="5A5E66"/>
                </a:solidFill>
                <a:latin typeface="Lato"/>
              </a:rPr>
              <a:t> | Everton J Benedicto</a:t>
            </a:r>
            <a:endParaRPr sz="75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CronJob: tarefas agendadas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100" i="1" dirty="0" err="1">
                <a:solidFill>
                  <a:srgbClr val="2371FF"/>
                </a:solidFill>
                <a:latin typeface="Lato"/>
              </a:rPr>
              <a:t>cronjob.yaml</a:t>
            </a:r>
            <a:r>
              <a:rPr lang="pt-PT" sz="1100" i="1" dirty="0">
                <a:solidFill>
                  <a:srgbClr val="2371FF"/>
                </a:solidFill>
                <a:latin typeface="Lato"/>
              </a:rPr>
              <a:t> – </a:t>
            </a:r>
            <a:r>
              <a:rPr sz="1100" i="1" dirty="0" err="1">
                <a:solidFill>
                  <a:srgbClr val="2371FF"/>
                </a:solidFill>
                <a:latin typeface="Lato"/>
              </a:rPr>
              <a:t>executa</a:t>
            </a:r>
            <a:r>
              <a:rPr lang="pt-PT" sz="1100" i="1" dirty="0">
                <a:solidFill>
                  <a:srgbClr val="2371FF"/>
                </a:solidFill>
                <a:latin typeface="Lato"/>
              </a:rPr>
              <a:t> p</a:t>
            </a:r>
            <a:r>
              <a:rPr sz="1100" i="1" dirty="0" err="1">
                <a:solidFill>
                  <a:srgbClr val="2371FF"/>
                </a:solidFill>
                <a:latin typeface="Lato"/>
              </a:rPr>
              <a:t>eriodicamente</a:t>
            </a:r>
            <a:r>
              <a:rPr sz="1100" i="1" dirty="0">
                <a:solidFill>
                  <a:srgbClr val="2371FF"/>
                </a:solidFill>
                <a:latin typeface="Lato"/>
              </a:rPr>
              <a:t>, </a:t>
            </a:r>
            <a:r>
              <a:rPr sz="1100" i="1" dirty="0" err="1">
                <a:solidFill>
                  <a:srgbClr val="2371FF"/>
                </a:solidFill>
                <a:latin typeface="Lato"/>
              </a:rPr>
              <a:t>como</a:t>
            </a:r>
            <a:r>
              <a:rPr sz="1100" i="1" dirty="0">
                <a:solidFill>
                  <a:srgbClr val="2371FF"/>
                </a:solidFill>
                <a:latin typeface="Lato"/>
              </a:rPr>
              <a:t> o </a:t>
            </a:r>
            <a:r>
              <a:rPr sz="1100" i="1" dirty="0" err="1">
                <a:solidFill>
                  <a:srgbClr val="2371FF"/>
                </a:solidFill>
                <a:latin typeface="Lato"/>
              </a:rPr>
              <a:t>cron</a:t>
            </a:r>
            <a:r>
              <a:rPr sz="1100" i="1" dirty="0">
                <a:solidFill>
                  <a:srgbClr val="2371FF"/>
                </a:solidFill>
                <a:latin typeface="Lato"/>
              </a:rPr>
              <a:t> do Linux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8229600" cy="3291840"/>
          </a:xfrm>
          <a:prstGeom prst="roundRect">
            <a:avLst/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r>
              <a:rPr sz="1100" dirty="0" err="1">
                <a:solidFill>
                  <a:srgbClr val="ECEDF3"/>
                </a:solidFill>
                <a:latin typeface="Consolas"/>
              </a:rPr>
              <a:t>apiVersion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batch/v1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kind: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CronJob</a:t>
            </a:r>
            <a:endParaRPr sz="1100" dirty="0">
              <a:solidFill>
                <a:srgbClr val="ECEDF3"/>
              </a:solidFill>
              <a:latin typeface="Consolas"/>
            </a:endParaRP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metadata: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name: hello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spec: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schedule: "* * * * *"   # a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cada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minuto</a:t>
            </a:r>
            <a:endParaRPr sz="1100" dirty="0">
              <a:solidFill>
                <a:srgbClr val="ECEDF3"/>
              </a:solidFill>
              <a:latin typeface="Consolas"/>
            </a:endParaRP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jobTemplate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spec: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  template: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    spec: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      containers: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      - name: hello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        image: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busybox</a:t>
            </a:r>
            <a:endParaRPr sz="1100" dirty="0">
              <a:solidFill>
                <a:srgbClr val="ECEDF3"/>
              </a:solidFill>
              <a:latin typeface="Consolas"/>
            </a:endParaRP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        command: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        - /bin/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sh</a:t>
            </a:r>
            <a:endParaRPr sz="1100" dirty="0">
              <a:solidFill>
                <a:srgbClr val="ECEDF3"/>
              </a:solidFill>
              <a:latin typeface="Consolas"/>
            </a:endParaRP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        - -c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        - date; echo Hello from the Kubernetes cluster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     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restartPolicy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OnFailure</a:t>
            </a:r>
            <a:endParaRPr sz="1100" dirty="0">
              <a:solidFill>
                <a:srgbClr val="ECEDF3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07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Secret: dados sensíveis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100" i="1" dirty="0" err="1">
                <a:solidFill>
                  <a:srgbClr val="2371FF"/>
                </a:solidFill>
                <a:latin typeface="Lato"/>
              </a:rPr>
              <a:t>secret.yaml</a:t>
            </a:r>
            <a:r>
              <a:rPr lang="pt-PT" sz="1100" i="1" dirty="0">
                <a:solidFill>
                  <a:srgbClr val="2371FF"/>
                </a:solidFill>
                <a:latin typeface="Lato"/>
              </a:rPr>
              <a:t> – </a:t>
            </a:r>
            <a:r>
              <a:rPr sz="1100" i="1" dirty="0" err="1">
                <a:solidFill>
                  <a:srgbClr val="2371FF"/>
                </a:solidFill>
                <a:latin typeface="Lato"/>
              </a:rPr>
              <a:t>como</a:t>
            </a:r>
            <a:r>
              <a:rPr lang="pt-PT" sz="1100" i="1" dirty="0">
                <a:solidFill>
                  <a:srgbClr val="2371FF"/>
                </a:solidFill>
                <a:latin typeface="Lato"/>
              </a:rPr>
              <a:t> </a:t>
            </a:r>
            <a:r>
              <a:rPr sz="1100" i="1" dirty="0">
                <a:solidFill>
                  <a:srgbClr val="2371FF"/>
                </a:solidFill>
                <a:latin typeface="Lato"/>
              </a:rPr>
              <a:t>o </a:t>
            </a:r>
            <a:r>
              <a:rPr sz="1100" i="1" dirty="0" err="1">
                <a:solidFill>
                  <a:srgbClr val="2371FF"/>
                </a:solidFill>
                <a:latin typeface="Lato"/>
              </a:rPr>
              <a:t>ConfigMap</a:t>
            </a:r>
            <a:r>
              <a:rPr sz="1100" i="1" dirty="0">
                <a:solidFill>
                  <a:srgbClr val="2371FF"/>
                </a:solidFill>
                <a:latin typeface="Lato"/>
              </a:rPr>
              <a:t>, mas para </a:t>
            </a:r>
            <a:r>
              <a:rPr sz="1100" i="1" dirty="0" err="1">
                <a:solidFill>
                  <a:srgbClr val="2371FF"/>
                </a:solidFill>
                <a:latin typeface="Lato"/>
              </a:rPr>
              <a:t>senhas</a:t>
            </a:r>
            <a:r>
              <a:rPr sz="1100" i="1" dirty="0">
                <a:solidFill>
                  <a:srgbClr val="2371FF"/>
                </a:solidFill>
                <a:latin typeface="Lato"/>
              </a:rPr>
              <a:t>, tokens e </a:t>
            </a:r>
            <a:r>
              <a:rPr sz="1100" i="1" dirty="0" err="1">
                <a:solidFill>
                  <a:srgbClr val="2371FF"/>
                </a:solidFill>
                <a:latin typeface="Lato"/>
              </a:rPr>
              <a:t>chaves</a:t>
            </a:r>
            <a:endParaRPr sz="1100" i="1" dirty="0">
              <a:solidFill>
                <a:srgbClr val="2371FF"/>
              </a:solidFill>
              <a:latin typeface="Lato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8229600" cy="3291840"/>
          </a:xfrm>
          <a:prstGeom prst="roundRect">
            <a:avLst/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r>
              <a:rPr sz="1100" dirty="0" err="1">
                <a:solidFill>
                  <a:srgbClr val="ECEDF3"/>
                </a:solidFill>
                <a:latin typeface="Consolas"/>
              </a:rPr>
              <a:t>apiVersion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v1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kind: Secret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metadata: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name: secret-basic-auth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type: kubernetes.io/basic-auth</a:t>
            </a:r>
          </a:p>
          <a:p>
            <a:r>
              <a:rPr sz="1100" dirty="0" err="1">
                <a:solidFill>
                  <a:srgbClr val="ECEDF3"/>
                </a:solidFill>
                <a:latin typeface="Consolas"/>
              </a:rPr>
              <a:t>stringData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username: admin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password: t0p-Secret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07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9232F-967C-1A7C-3F2F-BF3533100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>
            <a:extLst>
              <a:ext uri="{FF2B5EF4-FFF2-40B4-BE49-F238E27FC236}">
                <a16:creationId xmlns:a16="http://schemas.microsoft.com/office/drawing/2014/main" id="{848169A1-1E3C-337D-2305-CB9E431371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7E57E0-B71F-78A7-57B9-E1A1110E5AFC}"/>
              </a:ext>
            </a:extLst>
          </p:cNvPr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Secret: dados sensíveis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983866-FDEF-64CD-EC43-7D14AD29F8B6}"/>
              </a:ext>
            </a:extLst>
          </p:cNvPr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0144B-BEF2-11A7-52FF-4D96353A3087}"/>
              </a:ext>
            </a:extLst>
          </p:cNvPr>
          <p:cNvSpPr txBox="1"/>
          <p:nvPr/>
        </p:nvSpPr>
        <p:spPr>
          <a:xfrm>
            <a:off x="457200" y="1024128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100" i="1" dirty="0" err="1">
                <a:solidFill>
                  <a:srgbClr val="2371FF"/>
                </a:solidFill>
                <a:latin typeface="Lato"/>
              </a:rPr>
              <a:t>pod-secret.yaml</a:t>
            </a:r>
            <a:r>
              <a:rPr lang="pt-PT" sz="1100" i="1" dirty="0">
                <a:solidFill>
                  <a:srgbClr val="2371FF"/>
                </a:solidFill>
                <a:latin typeface="Lato"/>
              </a:rPr>
              <a:t> – adicionando as </a:t>
            </a:r>
            <a:r>
              <a:rPr lang="pt-PT" sz="1100" i="1" dirty="0" err="1">
                <a:solidFill>
                  <a:srgbClr val="2371FF"/>
                </a:solidFill>
                <a:latin typeface="Lato"/>
              </a:rPr>
              <a:t>secrets</a:t>
            </a:r>
            <a:r>
              <a:rPr lang="pt-PT" sz="1100" i="1" dirty="0">
                <a:solidFill>
                  <a:srgbClr val="2371FF"/>
                </a:solidFill>
                <a:latin typeface="Lato"/>
              </a:rPr>
              <a:t> ao </a:t>
            </a:r>
            <a:r>
              <a:rPr lang="pt-PT" sz="1100" i="1" dirty="0" err="1">
                <a:solidFill>
                  <a:srgbClr val="2371FF"/>
                </a:solidFill>
                <a:latin typeface="Lato"/>
              </a:rPr>
              <a:t>pod</a:t>
            </a:r>
            <a:endParaRPr sz="1100" i="1" dirty="0">
              <a:solidFill>
                <a:srgbClr val="2371FF"/>
              </a:solidFill>
              <a:latin typeface="Lato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E549C45-D588-90D9-0BDA-02A4B38FB970}"/>
              </a:ext>
            </a:extLst>
          </p:cNvPr>
          <p:cNvSpPr/>
          <p:nvPr/>
        </p:nvSpPr>
        <p:spPr>
          <a:xfrm>
            <a:off x="457200" y="1417320"/>
            <a:ext cx="8229600" cy="3291840"/>
          </a:xfrm>
          <a:prstGeom prst="roundRect">
            <a:avLst/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r>
              <a:rPr lang="pt-PT" sz="1100" dirty="0" err="1">
                <a:solidFill>
                  <a:srgbClr val="ECEDF3"/>
                </a:solidFill>
                <a:latin typeface="Consolas"/>
              </a:rPr>
              <a:t>apiVersion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v1</a:t>
            </a:r>
          </a:p>
          <a:p>
            <a:r>
              <a:rPr lang="pt-PT" sz="1100" dirty="0" err="1">
                <a:solidFill>
                  <a:srgbClr val="ECEDF3"/>
                </a:solidFill>
                <a:latin typeface="Consolas"/>
              </a:rPr>
              <a:t>kind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Pod</a:t>
            </a:r>
            <a:endParaRPr lang="pt-PT" sz="1100" dirty="0">
              <a:solidFill>
                <a:srgbClr val="ECEDF3"/>
              </a:solidFill>
              <a:latin typeface="Consolas"/>
            </a:endParaRPr>
          </a:p>
          <a:p>
            <a:r>
              <a:rPr lang="pt-PT" sz="1100" dirty="0" err="1">
                <a:solidFill>
                  <a:srgbClr val="ECEDF3"/>
                </a:solidFill>
                <a:latin typeface="Consolas"/>
              </a:rPr>
              <a:t>metadata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name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mypod</a:t>
            </a:r>
            <a:endParaRPr lang="pt-PT" sz="1100" dirty="0">
              <a:solidFill>
                <a:srgbClr val="ECEDF3"/>
              </a:solidFill>
              <a:latin typeface="Consolas"/>
            </a:endParaRPr>
          </a:p>
          <a:p>
            <a:r>
              <a:rPr lang="pt-PT" sz="1100" dirty="0" err="1">
                <a:solidFill>
                  <a:srgbClr val="ECEDF3"/>
                </a:solidFill>
                <a:latin typeface="Consolas"/>
              </a:rPr>
              <a:t>spec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containers: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-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name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mypod</a:t>
            </a:r>
            <a:endParaRPr lang="pt-PT" sz="1100" dirty="0">
              <a:solidFill>
                <a:srgbClr val="ECEDF3"/>
              </a:solidFill>
              <a:latin typeface="Consolas"/>
            </a:endParaRP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 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image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redis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 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volumeMounts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  -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name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foo</a:t>
            </a:r>
            <a:endParaRPr lang="pt-PT" sz="1100" dirty="0">
              <a:solidFill>
                <a:srgbClr val="ECEDF3"/>
              </a:solidFill>
              <a:latin typeface="Consolas"/>
            </a:endParaRP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   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mountPath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"/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etc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/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foo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"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   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readOnly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true</a:t>
            </a:r>
            <a:endParaRPr lang="pt-PT" sz="1100" dirty="0">
              <a:solidFill>
                <a:srgbClr val="ECEDF3"/>
              </a:solidFill>
              <a:latin typeface="Consolas"/>
            </a:endParaRP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volumes: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-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name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foo</a:t>
            </a:r>
            <a:endParaRPr lang="pt-PT" sz="1100" dirty="0">
              <a:solidFill>
                <a:srgbClr val="ECEDF3"/>
              </a:solidFill>
              <a:latin typeface="Consolas"/>
            </a:endParaRP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 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secret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lang="pt-PT" sz="1100" dirty="0">
                <a:solidFill>
                  <a:srgbClr val="ECEDF3"/>
                </a:solidFill>
                <a:latin typeface="Consolas"/>
              </a:rPr>
              <a:t>     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secretName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secret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-basic-</a:t>
            </a:r>
            <a:r>
              <a:rPr lang="pt-PT" sz="1100" dirty="0" err="1">
                <a:solidFill>
                  <a:srgbClr val="ECEDF3"/>
                </a:solidFill>
                <a:latin typeface="Consolas"/>
              </a:rPr>
              <a:t>auth</a:t>
            </a:r>
            <a:endParaRPr sz="1100" dirty="0">
              <a:solidFill>
                <a:srgbClr val="ECEDF3"/>
              </a:solidFill>
              <a:latin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54635A-C15D-9832-022D-5553843FE512}"/>
              </a:ext>
            </a:extLst>
          </p:cNvPr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07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037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300" b="1" dirty="0" err="1">
                <a:solidFill>
                  <a:srgbClr val="181C23"/>
                </a:solidFill>
                <a:latin typeface="Ubuntu"/>
              </a:rPr>
              <a:t>Secrets</a:t>
            </a:r>
            <a:endParaRPr sz="2300" b="1" dirty="0">
              <a:solidFill>
                <a:srgbClr val="181C23"/>
              </a:solidFill>
              <a:latin typeface="Ubuntu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Crie a 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Secret</a:t>
            </a:r>
            <a:r>
              <a:rPr sz="1300" dirty="0">
                <a:solidFill>
                  <a:srgbClr val="181C23"/>
                </a:solidFill>
                <a:latin typeface="Lato"/>
              </a:rPr>
              <a:t>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en-US"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lang="en-US" sz="1300" b="1" dirty="0">
                <a:solidFill>
                  <a:srgbClr val="181C23"/>
                </a:solidFill>
                <a:latin typeface="Consolas"/>
              </a:rPr>
              <a:t> create -f </a:t>
            </a:r>
            <a:r>
              <a:rPr lang="en-US" sz="1300" b="1" dirty="0" err="1">
                <a:solidFill>
                  <a:srgbClr val="181C23"/>
                </a:solidFill>
                <a:latin typeface="Consolas"/>
              </a:rPr>
              <a:t>secret.yaml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Vejo o 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yaml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 da 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secret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 criada: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en-US"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lang="en-US" sz="1300" b="1" dirty="0">
                <a:solidFill>
                  <a:srgbClr val="181C23"/>
                </a:solidFill>
                <a:latin typeface="Consolas"/>
              </a:rPr>
              <a:t> get secret -o </a:t>
            </a:r>
            <a:r>
              <a:rPr lang="en-US" sz="1300" b="1" dirty="0" err="1">
                <a:solidFill>
                  <a:srgbClr val="181C23"/>
                </a:solidFill>
                <a:latin typeface="Consolas"/>
              </a:rPr>
              <a:t>yaml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Criando um 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Pod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 e associando a 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secret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:</a:t>
            </a:r>
          </a:p>
          <a:p>
            <a:pPr>
              <a:spcAft>
                <a:spcPts val="600"/>
              </a:spcAft>
            </a:pPr>
            <a:r>
              <a:rPr lang="pt-PT"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apply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-f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pod-secret.yaml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07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Secret: dados sensíveis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5A5E66"/>
                </a:solidFill>
                <a:latin typeface="Lato"/>
              </a:rPr>
              <a:t>Fonte da imagem: Ada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07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CF820B-6927-E82E-F170-344E7E928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1007364"/>
            <a:ext cx="8210550" cy="36195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65F1CD9-18EF-2AEE-A2FA-229125AF0340}"/>
              </a:ext>
            </a:extLst>
          </p:cNvPr>
          <p:cNvSpPr/>
          <p:nvPr/>
        </p:nvSpPr>
        <p:spPr>
          <a:xfrm>
            <a:off x="1724722" y="1064384"/>
            <a:ext cx="594731" cy="11519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20CC61-86E3-2147-80EA-E9DDBBC42E42}"/>
              </a:ext>
            </a:extLst>
          </p:cNvPr>
          <p:cNvSpPr/>
          <p:nvPr/>
        </p:nvSpPr>
        <p:spPr>
          <a:xfrm>
            <a:off x="1724722" y="1380744"/>
            <a:ext cx="594731" cy="11519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DC98CE-D0E7-D429-8924-FFB917DE1420}"/>
              </a:ext>
            </a:extLst>
          </p:cNvPr>
          <p:cNvSpPr/>
          <p:nvPr/>
        </p:nvSpPr>
        <p:spPr>
          <a:xfrm>
            <a:off x="1724721" y="4316916"/>
            <a:ext cx="594731" cy="11519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RBAC: controle de acesso por função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RBAC = Role-Based Access Control (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controle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baseado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em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funções</a:t>
            </a:r>
            <a:r>
              <a:rPr sz="1500" dirty="0">
                <a:solidFill>
                  <a:srgbClr val="181C23"/>
                </a:solidFill>
                <a:latin typeface="Lato"/>
              </a:rPr>
              <a:t>)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Role —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permissões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dentro</a:t>
            </a:r>
            <a:r>
              <a:rPr sz="1500" dirty="0">
                <a:solidFill>
                  <a:srgbClr val="181C23"/>
                </a:solidFill>
                <a:latin typeface="Lato"/>
              </a:rPr>
              <a:t> de 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um</a:t>
            </a:r>
            <a:r>
              <a:rPr sz="1500" dirty="0">
                <a:solidFill>
                  <a:srgbClr val="181C23"/>
                </a:solidFill>
                <a:latin typeface="Lato"/>
              </a:rPr>
              <a:t> namespace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ClusterRole</a:t>
            </a:r>
            <a:r>
              <a:rPr sz="1500" dirty="0">
                <a:solidFill>
                  <a:srgbClr val="181C23"/>
                </a:solidFill>
                <a:latin typeface="Lato"/>
              </a:rPr>
              <a:t> —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permissões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válidas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em</a:t>
            </a:r>
            <a:r>
              <a:rPr sz="1500" dirty="0">
                <a:solidFill>
                  <a:srgbClr val="181C23"/>
                </a:solidFill>
                <a:latin typeface="Lato"/>
              </a:rPr>
              <a:t> TODO o cluster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Só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existem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regras</a:t>
            </a:r>
            <a:r>
              <a:rPr sz="1500" dirty="0">
                <a:solidFill>
                  <a:srgbClr val="181C23"/>
                </a:solidFill>
                <a:latin typeface="Lato"/>
              </a:rPr>
              <a:t> de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permissão</a:t>
            </a:r>
            <a:r>
              <a:rPr sz="1500" dirty="0">
                <a:solidFill>
                  <a:srgbClr val="181C23"/>
                </a:solidFill>
                <a:latin typeface="Lato"/>
              </a:rPr>
              <a:t> (verbs: get, list, create, delete...)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RoleBinding</a:t>
            </a:r>
            <a:r>
              <a:rPr sz="1500" dirty="0">
                <a:solidFill>
                  <a:srgbClr val="181C23"/>
                </a:solidFill>
                <a:latin typeface="Lato"/>
              </a:rPr>
              <a:t> /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ClusterRoleBinding</a:t>
            </a:r>
            <a:r>
              <a:rPr sz="1500" dirty="0">
                <a:solidFill>
                  <a:srgbClr val="181C23"/>
                </a:solidFill>
                <a:latin typeface="Lato"/>
              </a:rPr>
              <a:t> —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associam</a:t>
            </a:r>
            <a:r>
              <a:rPr sz="1500" dirty="0">
                <a:solidFill>
                  <a:srgbClr val="181C23"/>
                </a:solidFill>
                <a:latin typeface="Lato"/>
              </a:rPr>
              <a:t> a Role a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usuários</a:t>
            </a:r>
            <a:r>
              <a:rPr sz="1500" dirty="0">
                <a:solidFill>
                  <a:srgbClr val="181C23"/>
                </a:solidFill>
                <a:latin typeface="Lato"/>
              </a:rPr>
              <a:t>/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grupos</a:t>
            </a:r>
            <a:endParaRPr sz="1500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07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dirty="0">
                <a:solidFill>
                  <a:srgbClr val="181C23"/>
                </a:solidFill>
                <a:latin typeface="Ubuntu"/>
              </a:rPr>
              <a:t>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100" dirty="0">
                <a:latin typeface="Lato"/>
              </a:rPr>
              <a:t>Nessa role, está sendo permitido que os usuários possam visualizar as informações relacionadas ao recurso do tipo </a:t>
            </a:r>
            <a:r>
              <a:rPr lang="pt-PT" sz="1100" dirty="0" err="1">
                <a:latin typeface="Lato"/>
              </a:rPr>
              <a:t>Pods</a:t>
            </a:r>
            <a:r>
              <a:rPr lang="pt-PT" sz="1100" dirty="0">
                <a:solidFill>
                  <a:srgbClr val="2371FF"/>
                </a:solidFill>
                <a:latin typeface="Lato"/>
              </a:rPr>
              <a:t>.</a:t>
            </a:r>
            <a:endParaRPr sz="1100" dirty="0">
              <a:solidFill>
                <a:srgbClr val="2371FF"/>
              </a:solidFill>
              <a:latin typeface="Lato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8229599" cy="3291840"/>
          </a:xfrm>
          <a:prstGeom prst="roundRect">
            <a:avLst>
              <a:gd name="adj" fmla="val 11616"/>
            </a:avLst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r>
              <a:rPr lang="pt-PT" sz="950" dirty="0" err="1">
                <a:solidFill>
                  <a:srgbClr val="ECEDF3"/>
                </a:solidFill>
                <a:latin typeface="Consolas"/>
              </a:rPr>
              <a:t>apiVersion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rbac.authorization.k8s.io/v1</a:t>
            </a:r>
          </a:p>
          <a:p>
            <a:r>
              <a:rPr lang="pt-PT" sz="950" dirty="0" err="1">
                <a:solidFill>
                  <a:srgbClr val="ECEDF3"/>
                </a:solidFill>
                <a:latin typeface="Consolas"/>
              </a:rPr>
              <a:t>kind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Role</a:t>
            </a:r>
          </a:p>
          <a:p>
            <a:r>
              <a:rPr lang="pt-PT" sz="950" dirty="0" err="1">
                <a:solidFill>
                  <a:srgbClr val="ECEDF3"/>
                </a:solidFill>
                <a:latin typeface="Consolas"/>
              </a:rPr>
              <a:t>metadata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namespace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default</a:t>
            </a:r>
            <a:endParaRPr lang="pt-PT" sz="950" dirty="0">
              <a:solidFill>
                <a:srgbClr val="ECEDF3"/>
              </a:solidFill>
              <a:latin typeface="Consolas"/>
            </a:endParaRP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name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pod-reader</a:t>
            </a:r>
            <a:endParaRPr lang="pt-PT" sz="950" dirty="0">
              <a:solidFill>
                <a:srgbClr val="ECEDF3"/>
              </a:solidFill>
              <a:latin typeface="Consolas"/>
            </a:endParaRP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rules:</a:t>
            </a: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-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apiGroups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[""] </a:t>
            </a: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resources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["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pods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"]</a:t>
            </a: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verbs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["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get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", "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watch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", "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list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"]</a:t>
            </a:r>
            <a:endParaRPr sz="950" dirty="0">
              <a:solidFill>
                <a:srgbClr val="ECEDF3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07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680A59-FDFB-9A0A-351F-E93A4F136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>
            <a:extLst>
              <a:ext uri="{FF2B5EF4-FFF2-40B4-BE49-F238E27FC236}">
                <a16:creationId xmlns:a16="http://schemas.microsoft.com/office/drawing/2014/main" id="{0689D5AF-963A-914F-1978-5AD5012207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ED72B9-B049-737C-DBDB-FD638F6B66A9}"/>
              </a:ext>
            </a:extLst>
          </p:cNvPr>
          <p:cNvSpPr txBox="1"/>
          <p:nvPr/>
        </p:nvSpPr>
        <p:spPr>
          <a:xfrm>
            <a:off x="365760" y="256032"/>
            <a:ext cx="841248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300" b="1" dirty="0">
                <a:solidFill>
                  <a:srgbClr val="181C23"/>
                </a:solidFill>
                <a:latin typeface="Ubuntu"/>
              </a:rPr>
              <a:t>Cluster</a:t>
            </a:r>
            <a:r>
              <a:rPr sz="2300" b="1" dirty="0">
                <a:solidFill>
                  <a:srgbClr val="181C23"/>
                </a:solidFill>
                <a:latin typeface="Ubuntu"/>
              </a:rPr>
              <a:t>Rol</a:t>
            </a:r>
            <a:r>
              <a:rPr lang="pt-PT" sz="2300" b="1" dirty="0">
                <a:solidFill>
                  <a:srgbClr val="181C23"/>
                </a:solidFill>
                <a:latin typeface="Ubuntu"/>
              </a:rPr>
              <a:t>e</a:t>
            </a:r>
            <a:endParaRPr sz="2300" b="1" dirty="0">
              <a:solidFill>
                <a:srgbClr val="181C23"/>
              </a:solidFill>
              <a:latin typeface="Ubuntu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8A197F-064B-8A7F-80EE-6CAB0AD930A3}"/>
              </a:ext>
            </a:extLst>
          </p:cNvPr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E3042B-89DC-D972-AAEE-7BC65DB2A9EE}"/>
              </a:ext>
            </a:extLst>
          </p:cNvPr>
          <p:cNvSpPr txBox="1"/>
          <p:nvPr/>
        </p:nvSpPr>
        <p:spPr>
          <a:xfrm>
            <a:off x="457200" y="979524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100" dirty="0">
                <a:latin typeface="Lato"/>
              </a:rPr>
              <a:t>Perceba que a diferença entre elas é que o </a:t>
            </a:r>
            <a:r>
              <a:rPr lang="pt-PT" sz="1100" b="1" dirty="0" err="1">
                <a:latin typeface="Lato"/>
              </a:rPr>
              <a:t>Namespace</a:t>
            </a:r>
            <a:r>
              <a:rPr lang="pt-PT" sz="1100" dirty="0">
                <a:latin typeface="Lato"/>
              </a:rPr>
              <a:t> </a:t>
            </a:r>
            <a:r>
              <a:rPr lang="pt-PT" sz="1100" b="1" dirty="0">
                <a:latin typeface="Lato"/>
              </a:rPr>
              <a:t>deixa de existir na </a:t>
            </a:r>
            <a:r>
              <a:rPr lang="pt-PT" sz="1100" b="1" dirty="0" err="1">
                <a:latin typeface="Lato"/>
              </a:rPr>
              <a:t>ClusterRole</a:t>
            </a:r>
            <a:r>
              <a:rPr lang="pt-PT" sz="1100" dirty="0">
                <a:latin typeface="Lato"/>
              </a:rPr>
              <a:t> e que ambas não possuem usuários ou grupos informados. Esse papel, de definir para quem essas regras serão válidas, é do </a:t>
            </a:r>
            <a:r>
              <a:rPr lang="pt-PT" sz="1100" i="1" dirty="0" err="1">
                <a:latin typeface="Lato"/>
              </a:rPr>
              <a:t>RoleBinding</a:t>
            </a:r>
            <a:r>
              <a:rPr lang="pt-PT" sz="1100" dirty="0">
                <a:latin typeface="Lato"/>
              </a:rPr>
              <a:t> and </a:t>
            </a:r>
            <a:r>
              <a:rPr lang="pt-PT" sz="1100" i="1" dirty="0" err="1">
                <a:latin typeface="Lato"/>
              </a:rPr>
              <a:t>ClusterRoleBinding</a:t>
            </a:r>
            <a:endParaRPr sz="1100" i="1" dirty="0">
              <a:latin typeface="Lato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D9F3BD1-3A17-58D5-2CF9-DFC511380722}"/>
              </a:ext>
            </a:extLst>
          </p:cNvPr>
          <p:cNvSpPr/>
          <p:nvPr/>
        </p:nvSpPr>
        <p:spPr>
          <a:xfrm>
            <a:off x="457200" y="1417320"/>
            <a:ext cx="8229599" cy="3291840"/>
          </a:xfrm>
          <a:prstGeom prst="roundRect">
            <a:avLst>
              <a:gd name="adj" fmla="val 11616"/>
            </a:avLst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r>
              <a:rPr lang="pt-PT" sz="950" dirty="0" err="1">
                <a:solidFill>
                  <a:srgbClr val="ECEDF3"/>
                </a:solidFill>
                <a:latin typeface="Consolas"/>
              </a:rPr>
              <a:t>apiVersion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rbac.authorization.k8s.io/v1</a:t>
            </a:r>
          </a:p>
          <a:p>
            <a:r>
              <a:rPr lang="pt-PT" sz="950" dirty="0" err="1">
                <a:solidFill>
                  <a:srgbClr val="ECEDF3"/>
                </a:solidFill>
                <a:latin typeface="Consolas"/>
              </a:rPr>
              <a:t>kind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ClusterRole</a:t>
            </a:r>
            <a:endParaRPr lang="pt-PT" sz="950" dirty="0">
              <a:solidFill>
                <a:srgbClr val="ECEDF3"/>
              </a:solidFill>
              <a:latin typeface="Consolas"/>
            </a:endParaRPr>
          </a:p>
          <a:p>
            <a:r>
              <a:rPr lang="pt-PT" sz="950" dirty="0" err="1">
                <a:solidFill>
                  <a:srgbClr val="ECEDF3"/>
                </a:solidFill>
                <a:latin typeface="Consolas"/>
              </a:rPr>
              <a:t>metadata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# "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namespace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" foi removido, pois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clusterroles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 são válidas em todo o cluster</a:t>
            </a: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name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secret-reader</a:t>
            </a:r>
            <a:endParaRPr lang="pt-PT" sz="950" dirty="0">
              <a:solidFill>
                <a:srgbClr val="ECEDF3"/>
              </a:solidFill>
              <a:latin typeface="Consolas"/>
            </a:endParaRP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rules:</a:t>
            </a: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-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apiGroups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[""]</a:t>
            </a: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resources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["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secrets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"]</a:t>
            </a: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verbs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["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get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", "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watch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", "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list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"]</a:t>
            </a:r>
            <a:endParaRPr sz="950" dirty="0">
              <a:solidFill>
                <a:srgbClr val="ECEDF3"/>
              </a:solidFill>
              <a:latin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4FD33-273B-14C1-F845-A5B6210C8A33}"/>
              </a:ext>
            </a:extLst>
          </p:cNvPr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07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048864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26B2DC-7A2F-42AF-2D4E-0A5C8F33C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>
            <a:extLst>
              <a:ext uri="{FF2B5EF4-FFF2-40B4-BE49-F238E27FC236}">
                <a16:creationId xmlns:a16="http://schemas.microsoft.com/office/drawing/2014/main" id="{BCACE9CF-6C57-1C10-57B1-6A1DC29AAB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907017-06EC-10D5-BA4B-A08BB8AD4B6C}"/>
              </a:ext>
            </a:extLst>
          </p:cNvPr>
          <p:cNvSpPr txBox="1"/>
          <p:nvPr/>
        </p:nvSpPr>
        <p:spPr>
          <a:xfrm>
            <a:off x="365760" y="256032"/>
            <a:ext cx="841248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dirty="0" err="1">
                <a:solidFill>
                  <a:srgbClr val="181C23"/>
                </a:solidFill>
                <a:latin typeface="Ubuntu"/>
              </a:rPr>
              <a:t>RoleBinding</a:t>
            </a:r>
            <a:endParaRPr sz="2300" b="1" dirty="0">
              <a:solidFill>
                <a:srgbClr val="181C23"/>
              </a:solidFill>
              <a:latin typeface="Ubuntu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D60D10-CED9-1891-F9E2-8636E23CE976}"/>
              </a:ext>
            </a:extLst>
          </p:cNvPr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871C9C-B50B-A3A4-246C-742CAAA20F5B}"/>
              </a:ext>
            </a:extLst>
          </p:cNvPr>
          <p:cNvSpPr txBox="1"/>
          <p:nvPr/>
        </p:nvSpPr>
        <p:spPr>
          <a:xfrm>
            <a:off x="457200" y="1024128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100" dirty="0">
                <a:latin typeface="Lato"/>
              </a:rPr>
              <a:t>Associe a Role a um ou mais usuários ou grupos.</a:t>
            </a:r>
            <a:endParaRPr sz="1100" dirty="0">
              <a:latin typeface="Lato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AF4EFAA-593C-BEBD-C905-4CEF86E52F0E}"/>
              </a:ext>
            </a:extLst>
          </p:cNvPr>
          <p:cNvSpPr/>
          <p:nvPr/>
        </p:nvSpPr>
        <p:spPr>
          <a:xfrm>
            <a:off x="457200" y="1417320"/>
            <a:ext cx="8229599" cy="3291840"/>
          </a:xfrm>
          <a:prstGeom prst="roundRect">
            <a:avLst>
              <a:gd name="adj" fmla="val 11616"/>
            </a:avLst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r>
              <a:rPr lang="pt-PT" sz="950" dirty="0" err="1">
                <a:solidFill>
                  <a:srgbClr val="ECEDF3"/>
                </a:solidFill>
                <a:latin typeface="Consolas"/>
              </a:rPr>
              <a:t>apiVersion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rbac.authorization.k8s.io/v1</a:t>
            </a: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# Essa role permite a "jane" ler os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Pods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 no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Namespace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 "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default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"</a:t>
            </a:r>
          </a:p>
          <a:p>
            <a:r>
              <a:rPr lang="pt-PT" sz="950" dirty="0" err="1">
                <a:solidFill>
                  <a:srgbClr val="ECEDF3"/>
                </a:solidFill>
                <a:latin typeface="Consolas"/>
              </a:rPr>
              <a:t>kind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RoleBinding</a:t>
            </a:r>
            <a:endParaRPr lang="pt-PT" sz="950" dirty="0">
              <a:solidFill>
                <a:srgbClr val="ECEDF3"/>
              </a:solidFill>
              <a:latin typeface="Consolas"/>
            </a:endParaRPr>
          </a:p>
          <a:p>
            <a:r>
              <a:rPr lang="pt-PT" sz="950" dirty="0" err="1">
                <a:solidFill>
                  <a:srgbClr val="ECEDF3"/>
                </a:solidFill>
                <a:latin typeface="Consolas"/>
              </a:rPr>
              <a:t>metadata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name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read-pods</a:t>
            </a:r>
            <a:endParaRPr lang="pt-PT" sz="950" dirty="0">
              <a:solidFill>
                <a:srgbClr val="ECEDF3"/>
              </a:solidFill>
              <a:latin typeface="Consolas"/>
            </a:endParaRP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namespace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default</a:t>
            </a:r>
            <a:endParaRPr lang="pt-PT" sz="950" dirty="0">
              <a:solidFill>
                <a:srgbClr val="ECEDF3"/>
              </a:solidFill>
              <a:latin typeface="Consolas"/>
            </a:endParaRPr>
          </a:p>
          <a:p>
            <a:r>
              <a:rPr lang="pt-PT" sz="950" dirty="0" err="1">
                <a:solidFill>
                  <a:srgbClr val="ECEDF3"/>
                </a:solidFill>
                <a:latin typeface="Consolas"/>
              </a:rPr>
              <a:t>subjects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# podemos especificar mais de um usuário ou grupo</a:t>
            </a: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-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kind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User</a:t>
            </a:r>
            <a:endParaRPr lang="pt-PT" sz="950" dirty="0">
              <a:solidFill>
                <a:srgbClr val="ECEDF3"/>
              </a:solidFill>
              <a:latin typeface="Consolas"/>
            </a:endParaRP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name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jane # o campo "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name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" é case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sensitive</a:t>
            </a:r>
            <a:endParaRPr lang="pt-PT" sz="950" dirty="0">
              <a:solidFill>
                <a:srgbClr val="ECEDF3"/>
              </a:solidFill>
              <a:latin typeface="Consolas"/>
            </a:endParaRP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apiGroup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rbac.authorization.k8s.io</a:t>
            </a:r>
          </a:p>
          <a:p>
            <a:r>
              <a:rPr lang="pt-PT" sz="950" dirty="0" err="1">
                <a:solidFill>
                  <a:srgbClr val="ECEDF3"/>
                </a:solidFill>
                <a:latin typeface="Consolas"/>
              </a:rPr>
              <a:t>roleRef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# "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roleRef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" especifica a qual Role/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ClusterRole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 estamos associando essa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RoleBinding</a:t>
            </a:r>
            <a:endParaRPr lang="pt-PT" sz="950" dirty="0">
              <a:solidFill>
                <a:srgbClr val="ECEDF3"/>
              </a:solidFill>
              <a:latin typeface="Consolas"/>
            </a:endParaRP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kind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Role # os valores válidos nesse campo são Role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or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ClusterRole</a:t>
            </a:r>
            <a:endParaRPr lang="pt-PT" sz="950" dirty="0">
              <a:solidFill>
                <a:srgbClr val="ECEDF3"/>
              </a:solidFill>
              <a:latin typeface="Consolas"/>
            </a:endParaRP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name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pod-reader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 # o nome precisa ser igual ao da Role</a:t>
            </a: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apiGroup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rbac.authorization.k8s.io</a:t>
            </a:r>
            <a:endParaRPr sz="950" dirty="0">
              <a:solidFill>
                <a:srgbClr val="ECEDF3"/>
              </a:solidFill>
              <a:latin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BDC10A-0626-B417-C335-DA0185C84FB5}"/>
              </a:ext>
            </a:extLst>
          </p:cNvPr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07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93144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BCA10A-BBCD-B2FC-0133-E021FD4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>
            <a:extLst>
              <a:ext uri="{FF2B5EF4-FFF2-40B4-BE49-F238E27FC236}">
                <a16:creationId xmlns:a16="http://schemas.microsoft.com/office/drawing/2014/main" id="{C438FEF0-24C0-7CBE-8CB6-19F6DFEB2A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AAB128-07F2-110F-159E-FF15A99332B6}"/>
              </a:ext>
            </a:extLst>
          </p:cNvPr>
          <p:cNvSpPr txBox="1"/>
          <p:nvPr/>
        </p:nvSpPr>
        <p:spPr>
          <a:xfrm>
            <a:off x="365760" y="256032"/>
            <a:ext cx="841248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300" b="1" dirty="0" err="1">
                <a:solidFill>
                  <a:srgbClr val="181C23"/>
                </a:solidFill>
                <a:latin typeface="Ubuntu"/>
              </a:rPr>
              <a:t>ClusterRole</a:t>
            </a:r>
            <a:r>
              <a:rPr sz="2300" b="1" dirty="0">
                <a:solidFill>
                  <a:srgbClr val="181C23"/>
                </a:solidFill>
                <a:latin typeface="Ubuntu"/>
              </a:rPr>
              <a:t>Binding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486DF1-4579-77B4-577D-C55501277289}"/>
              </a:ext>
            </a:extLst>
          </p:cNvPr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951B9D-AC41-9B3F-F3D1-36F1FAEB5717}"/>
              </a:ext>
            </a:extLst>
          </p:cNvPr>
          <p:cNvSpPr txBox="1"/>
          <p:nvPr/>
        </p:nvSpPr>
        <p:spPr>
          <a:xfrm>
            <a:off x="457200" y="1024128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100" dirty="0">
                <a:latin typeface="Lato"/>
              </a:rPr>
              <a:t>Associe a </a:t>
            </a:r>
            <a:r>
              <a:rPr lang="pt-PT" sz="1100" dirty="0" err="1">
                <a:latin typeface="Lato"/>
              </a:rPr>
              <a:t>ClusterRole</a:t>
            </a:r>
            <a:r>
              <a:rPr lang="pt-PT" sz="1100" dirty="0">
                <a:latin typeface="Lato"/>
              </a:rPr>
              <a:t> a um ou mais usuários ou grupos.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E22CA63-557F-12C6-2789-44260F67CCDE}"/>
              </a:ext>
            </a:extLst>
          </p:cNvPr>
          <p:cNvSpPr/>
          <p:nvPr/>
        </p:nvSpPr>
        <p:spPr>
          <a:xfrm>
            <a:off x="457200" y="1417320"/>
            <a:ext cx="8229599" cy="3291840"/>
          </a:xfrm>
          <a:prstGeom prst="roundRect">
            <a:avLst>
              <a:gd name="adj" fmla="val 11616"/>
            </a:avLst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r>
              <a:rPr lang="pt-PT" sz="950" dirty="0" err="1">
                <a:solidFill>
                  <a:srgbClr val="ECEDF3"/>
                </a:solidFill>
                <a:latin typeface="Consolas"/>
              </a:rPr>
              <a:t>apiVersion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rbac.authorization.k8s.io/v1</a:t>
            </a: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# Essa role permite ao grupo "manager" ler "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secrets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" em qualquer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namespace</a:t>
            </a:r>
            <a:endParaRPr lang="pt-PT" sz="950" dirty="0">
              <a:solidFill>
                <a:srgbClr val="ECEDF3"/>
              </a:solidFill>
              <a:latin typeface="Consolas"/>
            </a:endParaRPr>
          </a:p>
          <a:p>
            <a:r>
              <a:rPr lang="pt-PT" sz="950" dirty="0" err="1">
                <a:solidFill>
                  <a:srgbClr val="ECEDF3"/>
                </a:solidFill>
                <a:latin typeface="Consolas"/>
              </a:rPr>
              <a:t>kind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ClusterRoleBinding</a:t>
            </a:r>
            <a:endParaRPr lang="pt-PT" sz="950" dirty="0">
              <a:solidFill>
                <a:srgbClr val="ECEDF3"/>
              </a:solidFill>
              <a:latin typeface="Consolas"/>
            </a:endParaRPr>
          </a:p>
          <a:p>
            <a:r>
              <a:rPr lang="pt-PT" sz="950" dirty="0" err="1">
                <a:solidFill>
                  <a:srgbClr val="ECEDF3"/>
                </a:solidFill>
                <a:latin typeface="Consolas"/>
              </a:rPr>
              <a:t>metadata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name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read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-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secrets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-global</a:t>
            </a:r>
          </a:p>
          <a:p>
            <a:r>
              <a:rPr lang="pt-PT" sz="950" dirty="0" err="1">
                <a:solidFill>
                  <a:srgbClr val="ECEDF3"/>
                </a:solidFill>
                <a:latin typeface="Consolas"/>
              </a:rPr>
              <a:t>subjects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# podemos especificar mais de um usuário ou grupo</a:t>
            </a: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-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kind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Group</a:t>
            </a:r>
            <a:endParaRPr lang="pt-PT" sz="950" dirty="0">
              <a:solidFill>
                <a:srgbClr val="ECEDF3"/>
              </a:solidFill>
              <a:latin typeface="Consolas"/>
            </a:endParaRP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name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manager # o campo "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name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" é case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sensitive</a:t>
            </a:r>
            <a:endParaRPr lang="pt-PT" sz="950" dirty="0">
              <a:solidFill>
                <a:srgbClr val="ECEDF3"/>
              </a:solidFill>
              <a:latin typeface="Consolas"/>
            </a:endParaRP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apiGroup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rbac.authorization.k8s.io</a:t>
            </a:r>
          </a:p>
          <a:p>
            <a:r>
              <a:rPr lang="pt-PT" sz="950" dirty="0" err="1">
                <a:solidFill>
                  <a:srgbClr val="ECEDF3"/>
                </a:solidFill>
                <a:latin typeface="Consolas"/>
              </a:rPr>
              <a:t>roleRef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# "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roleRef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" especifica a qual Role/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ClusterRole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 estamos associando essa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RoleBinding</a:t>
            </a:r>
            <a:endParaRPr lang="pt-PT" sz="950" dirty="0">
              <a:solidFill>
                <a:srgbClr val="ECEDF3"/>
              </a:solidFill>
              <a:latin typeface="Consolas"/>
            </a:endParaRP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kind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ClusterRole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 # os valores válidos nesse campo são Role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or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ClusterRole</a:t>
            </a:r>
            <a:endParaRPr lang="pt-PT" sz="950" dirty="0">
              <a:solidFill>
                <a:srgbClr val="ECEDF3"/>
              </a:solidFill>
              <a:latin typeface="Consolas"/>
            </a:endParaRP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name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secret-reader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 # o nome precisa ser igual ao da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ClusterRole</a:t>
            </a:r>
            <a:endParaRPr lang="pt-PT" sz="950" dirty="0">
              <a:solidFill>
                <a:srgbClr val="ECEDF3"/>
              </a:solidFill>
              <a:latin typeface="Consolas"/>
            </a:endParaRPr>
          </a:p>
          <a:p>
            <a:r>
              <a:rPr lang="pt-PT" sz="950" dirty="0">
                <a:solidFill>
                  <a:srgbClr val="ECEDF3"/>
                </a:solidFill>
                <a:latin typeface="Consolas"/>
              </a:rPr>
              <a:t>  </a:t>
            </a:r>
            <a:r>
              <a:rPr lang="pt-PT" sz="950" dirty="0" err="1">
                <a:solidFill>
                  <a:srgbClr val="ECEDF3"/>
                </a:solidFill>
                <a:latin typeface="Consolas"/>
              </a:rPr>
              <a:t>apiGroup</a:t>
            </a:r>
            <a:r>
              <a:rPr lang="pt-PT" sz="950" dirty="0">
                <a:solidFill>
                  <a:srgbClr val="ECEDF3"/>
                </a:solidFill>
                <a:latin typeface="Consolas"/>
              </a:rPr>
              <a:t>: rbac.authorization.k8s.io</a:t>
            </a:r>
            <a:endParaRPr sz="950" dirty="0">
              <a:solidFill>
                <a:srgbClr val="ECEDF3"/>
              </a:solidFill>
              <a:latin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A8A350-1ECA-9707-4F10-481A96499A6D}"/>
              </a:ext>
            </a:extLst>
          </p:cNvPr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07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58933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709" y="2148840"/>
            <a:ext cx="802581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2.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Investigando quando algo dá errado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A caixa de ferramentas do diagnóstico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describe — detalhes e eventos de um recurso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get events — linha do tempo de eventos do cluster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logs — saída da aplicação dentro do container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exec — entrar no container para investigar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Troubleshooting = achar a causa raiz e resolver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07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6B679-F59F-BB74-902D-BC287126D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>
            <a:extLst>
              <a:ext uri="{FF2B5EF4-FFF2-40B4-BE49-F238E27FC236}">
                <a16:creationId xmlns:a16="http://schemas.microsoft.com/office/drawing/2014/main" id="{397B23C1-50FF-E75F-1B34-C49DA270FD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F32B2D-7DF4-2924-0C5E-6DDC43720B3E}"/>
              </a:ext>
            </a:extLst>
          </p:cNvPr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describe, events e logs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9C1945-3E57-68CD-5E84-6BDADC27EC38}"/>
              </a:ext>
            </a:extLst>
          </p:cNvPr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4BDEB93-58D3-B3DE-F502-5A8B059B0B1B}"/>
              </a:ext>
            </a:extLst>
          </p:cNvPr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86EB15-0085-37C8-4B30-9E913B766D72}"/>
              </a:ext>
            </a:extLst>
          </p:cNvPr>
          <p:cNvSpPr txBox="1"/>
          <p:nvPr/>
        </p:nvSpPr>
        <p:spPr>
          <a:xfrm>
            <a:off x="457200" y="1143000"/>
            <a:ext cx="822960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PT" sz="1200" dirty="0">
                <a:solidFill>
                  <a:srgbClr val="181C23"/>
                </a:solidFill>
                <a:latin typeface="Lato"/>
              </a:rPr>
              <a:t>Crie o </a:t>
            </a:r>
            <a:r>
              <a:rPr lang="pt-PT" sz="1200" dirty="0" err="1">
                <a:solidFill>
                  <a:srgbClr val="181C23"/>
                </a:solidFill>
                <a:latin typeface="Lato"/>
              </a:rPr>
              <a:t>namespace</a:t>
            </a:r>
            <a:r>
              <a:rPr lang="pt-PT" sz="1200" dirty="0">
                <a:solidFill>
                  <a:srgbClr val="181C23"/>
                </a:solidFill>
                <a:latin typeface="Lato"/>
              </a:rPr>
              <a:t> caso não o tenha</a:t>
            </a:r>
          </a:p>
          <a:p>
            <a:pPr>
              <a:spcAft>
                <a:spcPts val="600"/>
              </a:spcAft>
            </a:pPr>
            <a:r>
              <a:rPr lang="pt-PT" sz="12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pt-PT" sz="12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lang="pt-PT" sz="12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200" b="1" dirty="0" err="1">
                <a:solidFill>
                  <a:srgbClr val="181C23"/>
                </a:solidFill>
                <a:latin typeface="Consolas"/>
              </a:rPr>
              <a:t>create</a:t>
            </a:r>
            <a:r>
              <a:rPr lang="pt-PT" sz="12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200" b="1" dirty="0" err="1">
                <a:solidFill>
                  <a:srgbClr val="181C23"/>
                </a:solidFill>
                <a:latin typeface="Consolas"/>
              </a:rPr>
              <a:t>ns</a:t>
            </a:r>
            <a:r>
              <a:rPr lang="pt-PT" sz="12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2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lang="pt-PT" sz="12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pt-PT" sz="1200" dirty="0">
                <a:solidFill>
                  <a:srgbClr val="181C23"/>
                </a:solidFill>
                <a:latin typeface="Lato"/>
              </a:rPr>
              <a:t>Crie um </a:t>
            </a:r>
            <a:r>
              <a:rPr lang="pt-PT" sz="1200" dirty="0" err="1">
                <a:solidFill>
                  <a:srgbClr val="181C23"/>
                </a:solidFill>
                <a:latin typeface="Lato"/>
              </a:rPr>
              <a:t>pod</a:t>
            </a:r>
            <a:r>
              <a:rPr lang="pt-PT" sz="1200" dirty="0">
                <a:solidFill>
                  <a:srgbClr val="181C23"/>
                </a:solidFill>
                <a:latin typeface="Lato"/>
              </a:rPr>
              <a:t> </a:t>
            </a:r>
          </a:p>
          <a:p>
            <a:pPr>
              <a:spcAft>
                <a:spcPts val="600"/>
              </a:spcAft>
            </a:pPr>
            <a:r>
              <a:rPr lang="pt-PT" sz="12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pt-PT" sz="12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lang="pt-PT" sz="12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200" b="1" dirty="0" err="1">
                <a:solidFill>
                  <a:srgbClr val="181C23"/>
                </a:solidFill>
                <a:latin typeface="Consolas"/>
              </a:rPr>
              <a:t>run</a:t>
            </a:r>
            <a:r>
              <a:rPr lang="pt-PT" sz="1200" b="1" dirty="0">
                <a:solidFill>
                  <a:srgbClr val="181C23"/>
                </a:solidFill>
                <a:latin typeface="Consolas"/>
              </a:rPr>
              <a:t> --</a:t>
            </a:r>
            <a:r>
              <a:rPr lang="pt-PT" sz="1200" b="1" dirty="0" err="1">
                <a:solidFill>
                  <a:srgbClr val="181C23"/>
                </a:solidFill>
                <a:latin typeface="Consolas"/>
              </a:rPr>
              <a:t>image</a:t>
            </a:r>
            <a:r>
              <a:rPr lang="pt-PT" sz="1200" b="1" dirty="0">
                <a:solidFill>
                  <a:srgbClr val="181C23"/>
                </a:solidFill>
                <a:latin typeface="Consolas"/>
              </a:rPr>
              <a:t>=</a:t>
            </a:r>
            <a:r>
              <a:rPr lang="pt-PT" sz="1200" b="1" dirty="0" err="1">
                <a:solidFill>
                  <a:srgbClr val="181C23"/>
                </a:solidFill>
                <a:latin typeface="Consolas"/>
              </a:rPr>
              <a:t>nginx</a:t>
            </a:r>
            <a:r>
              <a:rPr lang="pt-PT" sz="12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200" b="1" dirty="0" err="1">
                <a:solidFill>
                  <a:srgbClr val="181C23"/>
                </a:solidFill>
                <a:latin typeface="Consolas"/>
              </a:rPr>
              <a:t>nginx</a:t>
            </a:r>
            <a:r>
              <a:rPr lang="pt-PT" sz="1200" b="1" dirty="0">
                <a:solidFill>
                  <a:srgbClr val="181C23"/>
                </a:solidFill>
                <a:latin typeface="Consolas"/>
              </a:rPr>
              <a:t> -n </a:t>
            </a:r>
            <a:r>
              <a:rPr lang="pt-PT" sz="12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lang="pt-PT" sz="12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sz="1200" dirty="0" err="1">
                <a:solidFill>
                  <a:srgbClr val="181C23"/>
                </a:solidFill>
                <a:latin typeface="Lato"/>
              </a:rPr>
              <a:t>Detalhes</a:t>
            </a:r>
            <a:r>
              <a:rPr sz="1200" dirty="0">
                <a:solidFill>
                  <a:srgbClr val="181C23"/>
                </a:solidFill>
                <a:latin typeface="Lato"/>
              </a:rPr>
              <a:t> e </a:t>
            </a:r>
            <a:r>
              <a:rPr sz="1200" dirty="0" err="1">
                <a:solidFill>
                  <a:srgbClr val="181C23"/>
                </a:solidFill>
                <a:latin typeface="Lato"/>
              </a:rPr>
              <a:t>eventos</a:t>
            </a:r>
            <a:r>
              <a:rPr sz="1200" dirty="0">
                <a:solidFill>
                  <a:srgbClr val="181C23"/>
                </a:solidFill>
                <a:latin typeface="Lato"/>
              </a:rPr>
              <a:t> de um Pod (</a:t>
            </a:r>
            <a:r>
              <a:rPr sz="1200" dirty="0" err="1">
                <a:solidFill>
                  <a:srgbClr val="181C23"/>
                </a:solidFill>
                <a:latin typeface="Lato"/>
              </a:rPr>
              <a:t>primeiro</a:t>
            </a:r>
            <a:r>
              <a:rPr sz="1200" dirty="0">
                <a:solidFill>
                  <a:srgbClr val="181C23"/>
                </a:solidFill>
                <a:latin typeface="Lato"/>
              </a:rPr>
              <a:t> </a:t>
            </a:r>
            <a:r>
              <a:rPr sz="1200" dirty="0" err="1">
                <a:solidFill>
                  <a:srgbClr val="181C23"/>
                </a:solidFill>
                <a:latin typeface="Lato"/>
              </a:rPr>
              <a:t>passo</a:t>
            </a:r>
            <a:r>
              <a:rPr sz="1200" dirty="0">
                <a:solidFill>
                  <a:srgbClr val="181C23"/>
                </a:solidFill>
                <a:latin typeface="Lato"/>
              </a:rPr>
              <a:t> sempre):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2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200" b="1" dirty="0">
                <a:solidFill>
                  <a:srgbClr val="181C23"/>
                </a:solidFill>
                <a:latin typeface="Consolas"/>
              </a:rPr>
              <a:t> describe pods </a:t>
            </a:r>
            <a:r>
              <a:rPr lang="pt-PT" sz="1200" b="1" dirty="0" err="1">
                <a:solidFill>
                  <a:srgbClr val="181C23"/>
                </a:solidFill>
                <a:latin typeface="Consolas"/>
              </a:rPr>
              <a:t>nginx</a:t>
            </a:r>
            <a:r>
              <a:rPr lang="pt-PT" sz="12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sz="1200" b="1" dirty="0">
                <a:solidFill>
                  <a:srgbClr val="181C23"/>
                </a:solidFill>
                <a:latin typeface="Consolas"/>
              </a:rPr>
              <a:t>-n </a:t>
            </a:r>
            <a:r>
              <a:rPr sz="12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sz="12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sz="1200" dirty="0" err="1">
                <a:solidFill>
                  <a:srgbClr val="181C23"/>
                </a:solidFill>
                <a:latin typeface="Lato"/>
              </a:rPr>
              <a:t>Eventos</a:t>
            </a:r>
            <a:r>
              <a:rPr sz="1200" dirty="0">
                <a:solidFill>
                  <a:srgbClr val="181C23"/>
                </a:solidFill>
                <a:latin typeface="Lato"/>
              </a:rPr>
              <a:t> do </a:t>
            </a:r>
            <a:r>
              <a:rPr lang="pt-PT" sz="1200" dirty="0" err="1">
                <a:solidFill>
                  <a:srgbClr val="181C23"/>
                </a:solidFill>
                <a:latin typeface="Lato"/>
              </a:rPr>
              <a:t>namespace</a:t>
            </a:r>
            <a:r>
              <a:rPr sz="1200" dirty="0">
                <a:solidFill>
                  <a:srgbClr val="181C23"/>
                </a:solidFill>
                <a:latin typeface="Lato"/>
              </a:rPr>
              <a:t> </a:t>
            </a:r>
            <a:r>
              <a:rPr sz="1200" dirty="0" err="1">
                <a:solidFill>
                  <a:srgbClr val="181C23"/>
                </a:solidFill>
                <a:latin typeface="Lato"/>
              </a:rPr>
              <a:t>inteiro</a:t>
            </a:r>
            <a:r>
              <a:rPr sz="1200" dirty="0">
                <a:solidFill>
                  <a:srgbClr val="181C23"/>
                </a:solidFill>
                <a:latin typeface="Lato"/>
              </a:rPr>
              <a:t>: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2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200" b="1" dirty="0">
                <a:solidFill>
                  <a:srgbClr val="181C23"/>
                </a:solidFill>
                <a:latin typeface="Consolas"/>
              </a:rPr>
              <a:t> get events -n </a:t>
            </a:r>
            <a:r>
              <a:rPr sz="12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sz="12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sz="1200" dirty="0" err="1">
                <a:solidFill>
                  <a:srgbClr val="181C23"/>
                </a:solidFill>
                <a:latin typeface="Lato"/>
              </a:rPr>
              <a:t>Filtrar</a:t>
            </a:r>
            <a:r>
              <a:rPr sz="1200" dirty="0">
                <a:solidFill>
                  <a:srgbClr val="181C23"/>
                </a:solidFill>
                <a:latin typeface="Lato"/>
              </a:rPr>
              <a:t> </a:t>
            </a:r>
            <a:r>
              <a:rPr sz="1200" dirty="0" err="1">
                <a:solidFill>
                  <a:srgbClr val="181C23"/>
                </a:solidFill>
                <a:latin typeface="Lato"/>
              </a:rPr>
              <a:t>só</a:t>
            </a:r>
            <a:r>
              <a:rPr sz="1200" dirty="0">
                <a:solidFill>
                  <a:srgbClr val="181C23"/>
                </a:solidFill>
                <a:latin typeface="Lato"/>
              </a:rPr>
              <a:t> </a:t>
            </a:r>
            <a:r>
              <a:rPr sz="1200" dirty="0" err="1">
                <a:solidFill>
                  <a:srgbClr val="181C23"/>
                </a:solidFill>
                <a:latin typeface="Lato"/>
              </a:rPr>
              <a:t>avisos</a:t>
            </a:r>
            <a:r>
              <a:rPr sz="1200" dirty="0">
                <a:solidFill>
                  <a:srgbClr val="181C23"/>
                </a:solidFill>
                <a:latin typeface="Lato"/>
              </a:rPr>
              <a:t>/</a:t>
            </a:r>
            <a:r>
              <a:rPr sz="1200" dirty="0" err="1">
                <a:solidFill>
                  <a:srgbClr val="181C23"/>
                </a:solidFill>
                <a:latin typeface="Lato"/>
              </a:rPr>
              <a:t>erros</a:t>
            </a:r>
            <a:r>
              <a:rPr sz="1200" dirty="0">
                <a:solidFill>
                  <a:srgbClr val="181C23"/>
                </a:solidFill>
                <a:latin typeface="Lato"/>
              </a:rPr>
              <a:t>: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2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200" b="1" dirty="0">
                <a:solidFill>
                  <a:srgbClr val="181C23"/>
                </a:solidFill>
                <a:latin typeface="Consolas"/>
              </a:rPr>
              <a:t> get events --field-selector type=Warning</a:t>
            </a: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181C23"/>
                </a:solidFill>
                <a:latin typeface="Lato"/>
              </a:rPr>
              <a:t>Logs da </a:t>
            </a:r>
            <a:r>
              <a:rPr sz="1200" dirty="0" err="1">
                <a:solidFill>
                  <a:srgbClr val="181C23"/>
                </a:solidFill>
                <a:latin typeface="Lato"/>
              </a:rPr>
              <a:t>aplicação</a:t>
            </a:r>
            <a:r>
              <a:rPr sz="1200" dirty="0">
                <a:solidFill>
                  <a:srgbClr val="181C23"/>
                </a:solidFill>
                <a:latin typeface="Lato"/>
              </a:rPr>
              <a:t>: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2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200" b="1" dirty="0">
                <a:solidFill>
                  <a:srgbClr val="181C23"/>
                </a:solidFill>
                <a:latin typeface="Consolas"/>
              </a:rPr>
              <a:t> logs </a:t>
            </a:r>
            <a:r>
              <a:rPr lang="pt-PT" sz="1200" b="1" dirty="0" err="1">
                <a:solidFill>
                  <a:srgbClr val="181C23"/>
                </a:solidFill>
                <a:latin typeface="Consolas"/>
              </a:rPr>
              <a:t>nginx</a:t>
            </a:r>
            <a:r>
              <a:rPr lang="pt-PT" sz="12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sz="1200" b="1" dirty="0">
                <a:solidFill>
                  <a:srgbClr val="181C23"/>
                </a:solidFill>
                <a:latin typeface="Consolas"/>
              </a:rPr>
              <a:t>-n </a:t>
            </a:r>
            <a:r>
              <a:rPr sz="1200" b="1" dirty="0" err="1">
                <a:solidFill>
                  <a:srgbClr val="181C23"/>
                </a:solidFill>
                <a:latin typeface="Consolas"/>
              </a:rPr>
              <a:t>aplicacao</a:t>
            </a:r>
            <a:endParaRPr sz="12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181C23"/>
                </a:solidFill>
                <a:latin typeface="Lato"/>
              </a:rPr>
              <a:t>Logs </a:t>
            </a:r>
            <a:r>
              <a:rPr sz="1200" dirty="0" err="1">
                <a:solidFill>
                  <a:srgbClr val="181C23"/>
                </a:solidFill>
                <a:latin typeface="Lato"/>
              </a:rPr>
              <a:t>anteriores</a:t>
            </a:r>
            <a:r>
              <a:rPr sz="1200" dirty="0">
                <a:solidFill>
                  <a:srgbClr val="181C23"/>
                </a:solidFill>
                <a:latin typeface="Lato"/>
              </a:rPr>
              <a:t> a um restart: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2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200" b="1" dirty="0">
                <a:solidFill>
                  <a:srgbClr val="181C23"/>
                </a:solidFill>
                <a:latin typeface="Consolas"/>
              </a:rPr>
              <a:t> logs </a:t>
            </a:r>
            <a:r>
              <a:rPr lang="pt-PT" sz="1200" b="1" dirty="0" err="1">
                <a:solidFill>
                  <a:srgbClr val="181C23"/>
                </a:solidFill>
                <a:latin typeface="Consolas"/>
              </a:rPr>
              <a:t>nginx</a:t>
            </a:r>
            <a:r>
              <a:rPr lang="pt-PT" sz="12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sz="1200" b="1" dirty="0">
                <a:solidFill>
                  <a:srgbClr val="181C23"/>
                </a:solidFill>
                <a:latin typeface="Consolas"/>
              </a:rPr>
              <a:t>--previous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46F023-E683-077C-6585-7AFADDDA1CB6}"/>
              </a:ext>
            </a:extLst>
          </p:cNvPr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07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09826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describe, events e logs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4590288"/>
            <a:ext cx="84810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 dirty="0">
                <a:solidFill>
                  <a:srgbClr val="5A5E66"/>
                </a:solidFill>
                <a:latin typeface="Lato"/>
              </a:rPr>
              <a:t>Fonte da </a:t>
            </a:r>
            <a:r>
              <a:rPr sz="800" i="1" dirty="0" err="1">
                <a:solidFill>
                  <a:srgbClr val="5A5E66"/>
                </a:solidFill>
                <a:latin typeface="Lato"/>
              </a:rPr>
              <a:t>imagem</a:t>
            </a:r>
            <a:r>
              <a:rPr sz="800" i="1" dirty="0">
                <a:solidFill>
                  <a:srgbClr val="5A5E66"/>
                </a:solidFill>
                <a:latin typeface="Lato"/>
              </a:rPr>
              <a:t>: Ada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07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955B74-7E5C-0640-74A8-1BD8FBD5F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190" y="732496"/>
            <a:ext cx="4703619" cy="385779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9970E1C-B6D1-EDF6-7817-3CDC512574FC}"/>
              </a:ext>
            </a:extLst>
          </p:cNvPr>
          <p:cNvSpPr/>
          <p:nvPr/>
        </p:nvSpPr>
        <p:spPr>
          <a:xfrm>
            <a:off x="2763813" y="732496"/>
            <a:ext cx="594731" cy="11519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4C9914-F871-5325-DEB0-FAB8542133FD}"/>
              </a:ext>
            </a:extLst>
          </p:cNvPr>
          <p:cNvSpPr/>
          <p:nvPr/>
        </p:nvSpPr>
        <p:spPr>
          <a:xfrm>
            <a:off x="2916213" y="1076498"/>
            <a:ext cx="594731" cy="11519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B324B1-6F3F-5F7A-3F2A-21CFD3224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>
            <a:extLst>
              <a:ext uri="{FF2B5EF4-FFF2-40B4-BE49-F238E27FC236}">
                <a16:creationId xmlns:a16="http://schemas.microsoft.com/office/drawing/2014/main" id="{443C8487-BB38-CA45-FB18-D81B75D605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63C350-A93C-C924-0E11-1BE1CC2CE14D}"/>
              </a:ext>
            </a:extLst>
          </p:cNvPr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describe, events e logs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A7D55A-6BA0-7C2C-D648-80EAAAD1691F}"/>
              </a:ext>
            </a:extLst>
          </p:cNvPr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845E65-9D96-AEBB-0A49-4F6445DCCD5D}"/>
              </a:ext>
            </a:extLst>
          </p:cNvPr>
          <p:cNvSpPr txBox="1"/>
          <p:nvPr/>
        </p:nvSpPr>
        <p:spPr>
          <a:xfrm>
            <a:off x="320040" y="4590288"/>
            <a:ext cx="84810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 dirty="0">
                <a:solidFill>
                  <a:srgbClr val="5A5E66"/>
                </a:solidFill>
                <a:latin typeface="Lato"/>
              </a:rPr>
              <a:t>Fonte da </a:t>
            </a:r>
            <a:r>
              <a:rPr sz="800" i="1" dirty="0" err="1">
                <a:solidFill>
                  <a:srgbClr val="5A5E66"/>
                </a:solidFill>
                <a:latin typeface="Lato"/>
              </a:rPr>
              <a:t>imagem</a:t>
            </a:r>
            <a:r>
              <a:rPr sz="800" i="1" dirty="0">
                <a:solidFill>
                  <a:srgbClr val="5A5E66"/>
                </a:solidFill>
                <a:latin typeface="Lato"/>
              </a:rPr>
              <a:t>: Ada Tech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8327A2-1579-57E0-336D-A83B78575D33}"/>
              </a:ext>
            </a:extLst>
          </p:cNvPr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07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4485E3-C779-689D-0C2A-F1C33C731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331" y="729085"/>
            <a:ext cx="5547337" cy="385005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98AAEE1-EFF6-A1EB-3BBA-3B9F4606E3B8}"/>
              </a:ext>
            </a:extLst>
          </p:cNvPr>
          <p:cNvSpPr/>
          <p:nvPr/>
        </p:nvSpPr>
        <p:spPr>
          <a:xfrm>
            <a:off x="2403595" y="729085"/>
            <a:ext cx="594731" cy="9289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CB5C12-A7B8-D6A5-8F1A-770610141495}"/>
              </a:ext>
            </a:extLst>
          </p:cNvPr>
          <p:cNvSpPr/>
          <p:nvPr/>
        </p:nvSpPr>
        <p:spPr>
          <a:xfrm>
            <a:off x="2437048" y="1295030"/>
            <a:ext cx="594731" cy="9289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DEFE26-AE49-511A-2271-A3974AE3CFDD}"/>
              </a:ext>
            </a:extLst>
          </p:cNvPr>
          <p:cNvSpPr/>
          <p:nvPr/>
        </p:nvSpPr>
        <p:spPr>
          <a:xfrm>
            <a:off x="2437048" y="1470304"/>
            <a:ext cx="594731" cy="9289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4F4893-E275-56F2-6EF8-DE20CC1FD9D5}"/>
              </a:ext>
            </a:extLst>
          </p:cNvPr>
          <p:cNvSpPr/>
          <p:nvPr/>
        </p:nvSpPr>
        <p:spPr>
          <a:xfrm>
            <a:off x="2437048" y="1645578"/>
            <a:ext cx="594731" cy="9289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0C8B99-01B6-77F9-A1EF-BB168A21F7B3}"/>
              </a:ext>
            </a:extLst>
          </p:cNvPr>
          <p:cNvSpPr/>
          <p:nvPr/>
        </p:nvSpPr>
        <p:spPr>
          <a:xfrm>
            <a:off x="2437047" y="4255067"/>
            <a:ext cx="594731" cy="9289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8028B7-0C9C-356E-381F-75E19CFB0926}"/>
              </a:ext>
            </a:extLst>
          </p:cNvPr>
          <p:cNvSpPr/>
          <p:nvPr/>
        </p:nvSpPr>
        <p:spPr>
          <a:xfrm>
            <a:off x="2403594" y="4414415"/>
            <a:ext cx="594731" cy="9289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8620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exec: entrando no container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Abrir</a:t>
            </a:r>
            <a:r>
              <a:rPr sz="1300" dirty="0">
                <a:solidFill>
                  <a:srgbClr val="181C23"/>
                </a:solidFill>
                <a:latin typeface="Lato"/>
              </a:rPr>
              <a:t> um shell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interativo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dentro</a:t>
            </a:r>
            <a:r>
              <a:rPr sz="1300" dirty="0">
                <a:solidFill>
                  <a:srgbClr val="181C23"/>
                </a:solidFill>
                <a:latin typeface="Lato"/>
              </a:rPr>
              <a:t> do container: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exec -it </a:t>
            </a:r>
            <a:r>
              <a:rPr lang="pt-PT" sz="1400" b="1" dirty="0" err="1">
                <a:solidFill>
                  <a:srgbClr val="181C23"/>
                </a:solidFill>
                <a:latin typeface="Consolas"/>
              </a:rPr>
              <a:t>nginx</a:t>
            </a:r>
            <a:r>
              <a:rPr lang="pt-PT" sz="14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-n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-- /bin/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sh</a:t>
            </a:r>
            <a:endParaRPr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181C23"/>
                </a:solidFill>
                <a:latin typeface="Lato"/>
              </a:rPr>
              <a:t>Rodar um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comando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único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sem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abrir</a:t>
            </a:r>
            <a:r>
              <a:rPr sz="1300" dirty="0">
                <a:solidFill>
                  <a:srgbClr val="181C23"/>
                </a:solidFill>
                <a:latin typeface="Lato"/>
              </a:rPr>
              <a:t> shell: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exec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nginx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-n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--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ls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/app</a:t>
            </a:r>
          </a:p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Ler um arquivo de dentro do container: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exec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nginx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-n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aplicacao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-- 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cat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 /var/log/</a:t>
            </a:r>
            <a:r>
              <a:rPr lang="pt-PT" sz="1300" b="1" dirty="0" err="1">
                <a:solidFill>
                  <a:srgbClr val="181C23"/>
                </a:solidFill>
                <a:latin typeface="Consolas"/>
              </a:rPr>
              <a:t>nginx</a:t>
            </a:r>
            <a:r>
              <a:rPr lang="pt-PT" sz="1300" b="1" dirty="0">
                <a:solidFill>
                  <a:srgbClr val="181C23"/>
                </a:solidFill>
                <a:latin typeface="Consolas"/>
              </a:rPr>
              <a:t>/access.log</a:t>
            </a:r>
            <a:endParaRPr sz="1300" b="1" dirty="0">
              <a:solidFill>
                <a:srgbClr val="181C23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07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Status de erro mais comuns em Pods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Pending — não coube em nenhum node (falta recurso ou taint)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ImagePullBackOff — não conseguiu baixar a imagem (nome/tag errados)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CrashLoopBackOff — a app quebra ao subir, repetidamente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Terminating (preso) — deleção travada; force com --grace-period=0 --force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Sempre investigue com describe + logs antes de agir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07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Status de erro mais comuns em Pods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g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91104"/>
            <a:ext cx="7863839" cy="532791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5A5E66"/>
                </a:solidFill>
                <a:latin typeface="Lato"/>
              </a:rPr>
              <a:t>Fonte da imagem: Ada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07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Troubleshooting de Cluster e Nodes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kubectl get nodes — algum node NotReady?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kubectl describe node &lt;nome&gt; — condições e IP interno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Logs dos componentes no node: kube-apiserver, scheduler, kubelet...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ETCD: é o banco do cluster — falhas exigem backup e restore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kubectl cluster-info dump — despejo completo para análise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07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rcRect t="40491" b="4049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Troubleshooting de Cluster e Nodes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g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87287"/>
            <a:ext cx="7863840" cy="740426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5A5E66"/>
                </a:solidFill>
                <a:latin typeface="Lato"/>
              </a:rPr>
              <a:t>Fonte: Let's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Aula 07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|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rcRect t="38297" b="38297"/>
          <a:stretch>
            <a:fillRect/>
          </a:stretch>
        </p:blipFill>
        <p:spPr>
          <a:xfrm>
            <a:off x="0" y="0"/>
            <a:ext cx="9144000" cy="146304"/>
          </a:xfrm>
          <a:prstGeom prst="rect">
            <a:avLst/>
          </a:prstGeom>
        </p:spPr>
      </p:pic>
      <p:pic>
        <p:nvPicPr>
          <p:cNvPr id="3" name="Picture 2" descr="ada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77440"/>
            <a:ext cx="3291840" cy="22258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Ubuntu"/>
              </a:rPr>
              <a:t>Recapitulando a Aula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132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CronJob agenda tarefas; Secret protege dados sensíveis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RBAC controla quem pode o quê (Role + RoleBinding)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Diagnóstico: describe → logs → exec; get events para o macro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Conheça os status de erro e sua investigação específica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Próxima aula: cluster Multi-Master do zero!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2978</Words>
  <Application>Microsoft Office PowerPoint</Application>
  <PresentationFormat>On-screen Show (16:9)</PresentationFormat>
  <Paragraphs>273</Paragraphs>
  <Slides>27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Consolas</vt:lpstr>
      <vt:lpstr>Lato</vt:lpstr>
      <vt:lpstr>Ubuntu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Benedicto, Everton Jose (SI IT VC PES PLT)</cp:lastModifiedBy>
  <cp:revision>29</cp:revision>
  <dcterms:created xsi:type="dcterms:W3CDTF">2013-01-27T09:14:16Z</dcterms:created>
  <dcterms:modified xsi:type="dcterms:W3CDTF">2026-07-31T21:01:41Z</dcterms:modified>
  <cp:category/>
</cp:coreProperties>
</file>