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900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Aula prática. Ideal ter o ambiente já pronto para demonstrar ao vivo. Retome rapidamente a arquitetura da aula anterior antes de instalar.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Deixe</a:t>
            </a:r>
            <a:r>
              <a:rPr dirty="0"/>
              <a:t> claro </a:t>
            </a:r>
            <a:r>
              <a:rPr dirty="0" err="1"/>
              <a:t>que</a:t>
            </a:r>
            <a:r>
              <a:rPr dirty="0"/>
              <a:t> o Minikube é ferramenta de ESTUDO/</a:t>
            </a:r>
            <a:r>
              <a:rPr dirty="0" err="1"/>
              <a:t>desenvolvimento</a:t>
            </a:r>
            <a:r>
              <a:rPr dirty="0"/>
              <a:t>. Cluster de </a:t>
            </a:r>
            <a:r>
              <a:rPr dirty="0" err="1"/>
              <a:t>produção</a:t>
            </a:r>
            <a:r>
              <a:rPr dirty="0"/>
              <a:t> multi-master </a:t>
            </a:r>
            <a:r>
              <a:rPr dirty="0" err="1"/>
              <a:t>fica</a:t>
            </a:r>
            <a:r>
              <a:rPr dirty="0"/>
              <a:t> para a aula 8. </a:t>
            </a:r>
            <a:r>
              <a:rPr dirty="0" err="1"/>
              <a:t>Hoje</a:t>
            </a:r>
            <a:r>
              <a:rPr dirty="0"/>
              <a:t> o </a:t>
            </a:r>
            <a:r>
              <a:rPr dirty="0" err="1"/>
              <a:t>foco</a:t>
            </a:r>
            <a:r>
              <a:rPr dirty="0"/>
              <a:t> é </a:t>
            </a:r>
            <a:r>
              <a:rPr dirty="0" err="1"/>
              <a:t>ganhar</a:t>
            </a:r>
            <a:r>
              <a:rPr dirty="0"/>
              <a:t> </a:t>
            </a:r>
            <a:r>
              <a:rPr dirty="0" err="1"/>
              <a:t>fluência</a:t>
            </a:r>
            <a:r>
              <a:rPr dirty="0"/>
              <a:t> no </a:t>
            </a:r>
            <a:r>
              <a:rPr dirty="0" err="1"/>
              <a:t>kubectl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Introduza a ferramenta que usaremos até a aula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Minikube </a:t>
            </a:r>
            <a:r>
              <a:rPr dirty="0" err="1"/>
              <a:t>cria</a:t>
            </a:r>
            <a:r>
              <a:rPr dirty="0"/>
              <a:t> um cluster de um </a:t>
            </a:r>
            <a:r>
              <a:rPr dirty="0" err="1"/>
              <a:t>único</a:t>
            </a:r>
            <a:r>
              <a:rPr dirty="0"/>
              <a:t> node (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) </a:t>
            </a:r>
            <a:r>
              <a:rPr dirty="0" err="1"/>
              <a:t>dentro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VM </a:t>
            </a:r>
            <a:r>
              <a:rPr dirty="0" err="1"/>
              <a:t>ou</a:t>
            </a:r>
            <a:r>
              <a:rPr dirty="0"/>
              <a:t> container. </a:t>
            </a:r>
            <a:r>
              <a:rPr dirty="0" err="1"/>
              <a:t>Perfeito</a:t>
            </a:r>
            <a:r>
              <a:rPr dirty="0"/>
              <a:t> para </a:t>
            </a:r>
            <a:r>
              <a:rPr dirty="0" err="1"/>
              <a:t>exercitar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conceitos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de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Mostre</a:t>
            </a:r>
            <a:r>
              <a:rPr dirty="0"/>
              <a:t> a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minikube.sigs.k8s.io/docs/start. </a:t>
            </a:r>
            <a:r>
              <a:rPr dirty="0" err="1"/>
              <a:t>Reforce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driver Docker é o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comum</a:t>
            </a:r>
            <a:r>
              <a:rPr dirty="0"/>
              <a:t>. Se </a:t>
            </a:r>
            <a:r>
              <a:rPr dirty="0" err="1"/>
              <a:t>algum</a:t>
            </a:r>
            <a:r>
              <a:rPr dirty="0"/>
              <a:t> </a:t>
            </a:r>
            <a:r>
              <a:rPr dirty="0" err="1"/>
              <a:t>aluno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Docker, </a:t>
            </a:r>
            <a:r>
              <a:rPr dirty="0" err="1"/>
              <a:t>este</a:t>
            </a:r>
            <a:r>
              <a:rPr dirty="0"/>
              <a:t> é o </a:t>
            </a:r>
            <a:r>
              <a:rPr dirty="0" err="1"/>
              <a:t>momento</a:t>
            </a:r>
            <a:r>
              <a:rPr dirty="0"/>
              <a:t> de </a:t>
            </a:r>
            <a:r>
              <a:rPr dirty="0" err="1"/>
              <a:t>ajudar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Rode 'minikube start' ao vivo e narre a saída: download da imagem, criação do node, configuração do kubectl. Explique que 'pause' congela os processos do control plane para economizar CPU sem derrubar nada. 'delete --all' é o reset total — útil quando o ambiente de estudo 'entortar'.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Ferramenta mais importante do dia a dia de quem opera K8S.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Amarre com a aula 1: quando você roda kubectl, ele fala com o apiserver, que consulta o etcd e aciona os controladores. O kubectl é só um cliente HTTP sofisticado. Entender a sintaxe destrava TODOS os comandos do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Passe linha a linha. Destaque a diferença crucial: TYPE é case-insensitive e aceita abreviações (po, deploy, svc, ns), mas NAME é case-sensitive. Mostre que sem NAME ele lista tudo. Ensine já os apelidos (po, svc, deploy) porque economizam muita digitação e aparecem o tempo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Execute </a:t>
            </a:r>
            <a:r>
              <a:rPr dirty="0" err="1"/>
              <a:t>tudo</a:t>
            </a:r>
            <a:r>
              <a:rPr dirty="0"/>
              <a:t> ao vivo. Em 'get nodes' o </a:t>
            </a:r>
            <a:r>
              <a:rPr dirty="0" err="1"/>
              <a:t>aluno</a:t>
            </a:r>
            <a:r>
              <a:rPr dirty="0"/>
              <a:t> </a:t>
            </a:r>
            <a:r>
              <a:rPr dirty="0" err="1"/>
              <a:t>vê</a:t>
            </a:r>
            <a:r>
              <a:rPr dirty="0"/>
              <a:t> o </a:t>
            </a:r>
            <a:r>
              <a:rPr dirty="0" err="1"/>
              <a:t>único</a:t>
            </a:r>
            <a:r>
              <a:rPr dirty="0"/>
              <a:t> node do Minikube com status Ready — </a:t>
            </a:r>
            <a:r>
              <a:rPr dirty="0" err="1"/>
              <a:t>conecte</a:t>
            </a:r>
            <a:r>
              <a:rPr dirty="0"/>
              <a:t> com a aula 1 (</a:t>
            </a:r>
            <a:r>
              <a:rPr dirty="0" err="1"/>
              <a:t>este</a:t>
            </a:r>
            <a:r>
              <a:rPr dirty="0"/>
              <a:t> é </a:t>
            </a:r>
            <a:r>
              <a:rPr dirty="0" err="1"/>
              <a:t>nosso</a:t>
            </a:r>
            <a:r>
              <a:rPr dirty="0"/>
              <a:t> Worker + Control Plane </a:t>
            </a:r>
            <a:r>
              <a:rPr dirty="0" err="1"/>
              <a:t>juntos</a:t>
            </a:r>
            <a:r>
              <a:rPr dirty="0"/>
              <a:t>). Em 'cluster-info' </a:t>
            </a:r>
            <a:r>
              <a:rPr dirty="0" err="1"/>
              <a:t>aponte</a:t>
            </a:r>
            <a:r>
              <a:rPr dirty="0"/>
              <a:t> a URL do </a:t>
            </a:r>
            <a:r>
              <a:rPr dirty="0" err="1"/>
              <a:t>apiserver</a:t>
            </a:r>
            <a:r>
              <a:rPr dirty="0"/>
              <a:t>. Se 'version' </a:t>
            </a:r>
            <a:r>
              <a:rPr dirty="0" err="1"/>
              <a:t>mostrar</a:t>
            </a:r>
            <a:r>
              <a:rPr dirty="0"/>
              <a:t> client e server,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tudo</a:t>
            </a:r>
            <a:r>
              <a:rPr dirty="0"/>
              <a:t> </a:t>
            </a:r>
            <a:r>
              <a:rPr dirty="0" err="1"/>
              <a:t>conectado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Abra o dashboard ao vivo e passeie pela interface: namespaces, workloads, pods. Diga que é ótimo para visualizar, mas que o mercado opera 90% via kubectl — o dashboard é apoio, não substituto. Ao fechar o terminal (Ctrl+C), o dashboard cai.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Alinhado à metodologia da Ada (autonomia): incentive o aluno a recorrer à documentação sempre. Mostre a cheat sheet oficial e salve o link com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Garanta que TODOS terminaram a aula com o cluster rodando — é pré-requisito das próximas aulas. Peça a leitura do material 03 em casa. Abra para dúvidas de instalação (é onde iniciantes mais travam).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minikube.sigs.k8s.io/docs/start/?arch=%2Fwindows%2Fx86-64%2Fstable%2F.exe+downloa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kubernetes.io/pt-br/docs/reference/kubectl/cheatsheet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  <p:pic>
        <p:nvPicPr>
          <p:cNvPr id="3" name="Picture 2" descr="ada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ada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7196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737360"/>
            <a:ext cx="146304" cy="14630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FFFFFF"/>
                </a:solidFill>
                <a:latin typeface="Ubuntu"/>
              </a:rPr>
              <a:t>Mão </a:t>
            </a:r>
            <a:r>
              <a:rPr sz="3400" b="1" dirty="0" err="1">
                <a:solidFill>
                  <a:srgbClr val="FFFFFF"/>
                </a:solidFill>
                <a:latin typeface="Ubuntu"/>
              </a:rPr>
              <a:t>na</a:t>
            </a:r>
            <a:r>
              <a:rPr sz="3400" b="1" dirty="0">
                <a:solidFill>
                  <a:srgbClr val="FFFFFF"/>
                </a:solidFill>
                <a:latin typeface="Ubuntu"/>
              </a:rPr>
              <a:t> Massa: Minikube e </a:t>
            </a:r>
            <a:r>
              <a:rPr sz="3400" b="1" dirty="0" err="1">
                <a:solidFill>
                  <a:srgbClr val="FFFFFF"/>
                </a:solidFill>
                <a:latin typeface="Ubuntu"/>
              </a:rPr>
              <a:t>kubectl</a:t>
            </a:r>
            <a:endParaRPr sz="3400" b="1" dirty="0">
              <a:solidFill>
                <a:srgbClr val="FFFFFF"/>
              </a:solidFill>
              <a:latin typeface="Ubuntu"/>
            </a:endParaRPr>
          </a:p>
          <a:p>
            <a:pPr>
              <a:spcBef>
                <a:spcPts val="1000"/>
              </a:spcBef>
            </a:pPr>
            <a:r>
              <a:rPr sz="1600" dirty="0" err="1">
                <a:solidFill>
                  <a:srgbClr val="50E550"/>
                </a:solidFill>
                <a:latin typeface="Lato"/>
              </a:rPr>
              <a:t>Instalando</a:t>
            </a:r>
            <a:r>
              <a:rPr sz="1600" dirty="0">
                <a:solidFill>
                  <a:srgbClr val="50E550"/>
                </a:solidFill>
                <a:latin typeface="Lato"/>
              </a:rPr>
              <a:t> e operando </a:t>
            </a:r>
            <a:r>
              <a:rPr sz="1600" dirty="0" err="1">
                <a:solidFill>
                  <a:srgbClr val="50E550"/>
                </a:solidFill>
                <a:latin typeface="Lato"/>
              </a:rPr>
              <a:t>seu</a:t>
            </a:r>
            <a:r>
              <a:rPr sz="1600" dirty="0">
                <a:solidFill>
                  <a:srgbClr val="50E550"/>
                </a:solidFill>
                <a:latin typeface="Lato"/>
              </a:rPr>
              <a:t> </a:t>
            </a:r>
            <a:r>
              <a:rPr sz="1600" dirty="0" err="1">
                <a:solidFill>
                  <a:srgbClr val="50E550"/>
                </a:solidFill>
                <a:latin typeface="Lato"/>
              </a:rPr>
              <a:t>primeiro</a:t>
            </a:r>
            <a:r>
              <a:rPr sz="1600" dirty="0">
                <a:solidFill>
                  <a:srgbClr val="50E550"/>
                </a:solidFill>
                <a:latin typeface="Lato"/>
              </a:rPr>
              <a:t> cluster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DF8"/>
                </a:solidFill>
                <a:latin typeface="Lato"/>
              </a:rPr>
              <a:t>Ada · DE-OP-011 Orquestração · Kubernetes  |  Aula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ard 01"/>
          <p:cNvSpPr/>
          <p:nvPr/>
        </p:nvSpPr>
        <p:spPr>
          <a:xfrm>
            <a:off x="365760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17/07 · Sexta</a:t>
            </a:r>
          </a:p>
          <a:p>
            <a:r>
              <a:rPr lang="pt-PT" sz="1100" b="1" dirty="0">
                <a:solidFill>
                  <a:srgbClr val="181C23"/>
                </a:solidFill>
                <a:latin typeface="Lato"/>
              </a:rPr>
              <a:t>Conhecendo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o Kubernetes</a:t>
            </a:r>
          </a:p>
        </p:txBody>
      </p:sp>
      <p:sp>
        <p:nvSpPr>
          <p:cNvPr id="101" name="Card 02"/>
          <p:cNvSpPr/>
          <p:nvPr/>
        </p:nvSpPr>
        <p:spPr>
          <a:xfrm>
            <a:off x="3236586" y="1120000"/>
            <a:ext cx="2670826" cy="1106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20/07 · Segunda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Mão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na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Massa: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kubectl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2" name="Card 03"/>
          <p:cNvSpPr/>
          <p:nvPr/>
        </p:nvSpPr>
        <p:spPr>
          <a:xfrm>
            <a:off x="6107412" y="1120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22/07 · Quarta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Pods, Namespaces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Controladores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3" name="Card 04"/>
          <p:cNvSpPr/>
          <p:nvPr/>
        </p:nvSpPr>
        <p:spPr>
          <a:xfrm>
            <a:off x="365760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04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24/07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Primeira Aplicação no K8S</a:t>
            </a:r>
          </a:p>
        </p:txBody>
      </p:sp>
      <p:sp>
        <p:nvSpPr>
          <p:cNvPr id="104" name="Card 05"/>
          <p:cNvSpPr/>
          <p:nvPr/>
        </p:nvSpPr>
        <p:spPr>
          <a:xfrm>
            <a:off x="3236586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27/07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Estratégias de Deploy e Limitação de Recursos</a:t>
            </a:r>
          </a:p>
        </p:txBody>
      </p:sp>
      <p:sp>
        <p:nvSpPr>
          <p:cNvPr id="105" name="Card 06"/>
          <p:cNvSpPr/>
          <p:nvPr/>
        </p:nvSpPr>
        <p:spPr>
          <a:xfrm>
            <a:off x="6107412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06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29/07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Services, Ingress e Volumes</a:t>
            </a:r>
          </a:p>
        </p:txBody>
      </p:sp>
      <p:sp>
        <p:nvSpPr>
          <p:cNvPr id="106" name="Card 07"/>
          <p:cNvSpPr/>
          <p:nvPr/>
        </p:nvSpPr>
        <p:spPr>
          <a:xfrm>
            <a:off x="365760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31/07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Componentes e Troubleshooting</a:t>
            </a:r>
          </a:p>
        </p:txBody>
      </p:sp>
      <p:sp>
        <p:nvSpPr>
          <p:cNvPr id="107" name="Card 08"/>
          <p:cNvSpPr/>
          <p:nvPr/>
        </p:nvSpPr>
        <p:spPr>
          <a:xfrm>
            <a:off x="3236586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08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03/08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Cluster Multi-Master</a:t>
            </a:r>
          </a:p>
        </p:txBody>
      </p:sp>
      <p:sp>
        <p:nvSpPr>
          <p:cNvPr id="108" name="Card 09"/>
          <p:cNvSpPr/>
          <p:nvPr/>
        </p:nvSpPr>
        <p:spPr>
          <a:xfrm>
            <a:off x="6107412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09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05/08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Concluir atividades do módulo e preencher rubricas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Cronograma</a:t>
            </a:r>
            <a:r>
              <a:rPr sz="750" dirty="0">
                <a:solidFill>
                  <a:srgbClr val="5A5E66"/>
                </a:solidFill>
                <a:latin typeface="Lato"/>
              </a:rPr>
              <a:t> do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módulo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Objetivos de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Conhecer</a:t>
            </a:r>
            <a:r>
              <a:rPr sz="1500" dirty="0">
                <a:solidFill>
                  <a:srgbClr val="181C23"/>
                </a:solidFill>
                <a:latin typeface="Lato"/>
              </a:rPr>
              <a:t> o Minikube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quando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usá</a:t>
            </a:r>
            <a:r>
              <a:rPr sz="1500" dirty="0">
                <a:solidFill>
                  <a:srgbClr val="181C23"/>
                </a:solidFill>
                <a:latin typeface="Lato"/>
              </a:rPr>
              <a:t>-lo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Instalar</a:t>
            </a:r>
            <a:r>
              <a:rPr sz="1500" dirty="0">
                <a:solidFill>
                  <a:srgbClr val="181C23"/>
                </a:solidFill>
                <a:latin typeface="Lato"/>
              </a:rPr>
              <a:t>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iniciar</a:t>
            </a:r>
            <a:r>
              <a:rPr sz="1500" dirty="0">
                <a:solidFill>
                  <a:srgbClr val="181C23"/>
                </a:solidFill>
                <a:latin typeface="Lato"/>
              </a:rPr>
              <a:t> um cluster local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Entender</a:t>
            </a:r>
            <a:r>
              <a:rPr sz="1500" dirty="0">
                <a:solidFill>
                  <a:srgbClr val="181C23"/>
                </a:solidFill>
                <a:latin typeface="Lato"/>
              </a:rPr>
              <a:t> 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anatomia</a:t>
            </a:r>
            <a:r>
              <a:rPr sz="1500" dirty="0">
                <a:solidFill>
                  <a:srgbClr val="181C23"/>
                </a:solidFill>
                <a:latin typeface="Lato"/>
              </a:rPr>
              <a:t> dos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comandos</a:t>
            </a:r>
            <a:r>
              <a:rPr sz="1500" dirty="0">
                <a:solidFill>
                  <a:srgbClr val="181C23"/>
                </a:solidFill>
                <a:latin typeface="Lato"/>
              </a:rPr>
              <a:t> do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kubectl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Explorar</a:t>
            </a:r>
            <a:r>
              <a:rPr sz="1500" dirty="0">
                <a:solidFill>
                  <a:srgbClr val="181C23"/>
                </a:solidFill>
                <a:latin typeface="Lato"/>
              </a:rPr>
              <a:t> o cluster e o Dashboard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Ficar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confortável</a:t>
            </a:r>
            <a:r>
              <a:rPr sz="1500" dirty="0">
                <a:solidFill>
                  <a:srgbClr val="181C23"/>
                </a:solidFill>
                <a:latin typeface="Lato"/>
              </a:rPr>
              <a:t> no terminal do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Ubuntu"/>
              </a:rPr>
              <a:t>1. Minikube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Kubernetes na sua máquina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181C23"/>
                </a:solidFill>
                <a:latin typeface="Ubuntu"/>
              </a:rPr>
              <a:t>O </a:t>
            </a:r>
            <a:r>
              <a:rPr sz="2300" b="1" dirty="0" err="1">
                <a:solidFill>
                  <a:srgbClr val="181C23"/>
                </a:solidFill>
                <a:latin typeface="Ubuntu"/>
              </a:rPr>
              <a:t>que</a:t>
            </a:r>
            <a:r>
              <a:rPr sz="2300" b="1" dirty="0">
                <a:solidFill>
                  <a:srgbClr val="181C23"/>
                </a:solidFill>
                <a:latin typeface="Ubuntu"/>
              </a:rPr>
              <a:t> é o Minikube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Roda um cluster Kubernetes localmente, em uma única máquina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Sem necessidade de várias máquinas ou de uma cloud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Multiplataforma: Windows, Linux e macOS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Ideal para aprender, testar e desenvolver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Não substitui um cluster produtivo (que é multi-node)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Requisitos mínimos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2 CPUs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ou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mais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2 GB 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memória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disponível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20 GB 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espaço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em</a:t>
            </a:r>
            <a:r>
              <a:rPr sz="1500" dirty="0">
                <a:solidFill>
                  <a:srgbClr val="181C23"/>
                </a:solidFill>
                <a:latin typeface="Lato"/>
              </a:rPr>
              <a:t> disco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disponível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Um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gerenciador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container (Docker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ou</a:t>
            </a:r>
            <a:r>
              <a:rPr sz="1500" dirty="0">
                <a:solidFill>
                  <a:srgbClr val="181C23"/>
                </a:solidFill>
                <a:latin typeface="Lato"/>
              </a:rPr>
              <a:t> similar)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Instalação</a:t>
            </a:r>
            <a:r>
              <a:rPr sz="1500" dirty="0">
                <a:solidFill>
                  <a:srgbClr val="181C23"/>
                </a:solidFill>
                <a:latin typeface="Lato"/>
              </a:rPr>
              <a:t>: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documentação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oficial</a:t>
            </a:r>
            <a:r>
              <a:rPr sz="1500" dirty="0">
                <a:solidFill>
                  <a:srgbClr val="181C23"/>
                </a:solidFill>
                <a:latin typeface="Lato"/>
              </a:rPr>
              <a:t> do Minikube (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por</a:t>
            </a:r>
            <a:r>
              <a:rPr sz="1500" dirty="0">
                <a:solidFill>
                  <a:srgbClr val="181C23"/>
                </a:solidFill>
                <a:latin typeface="Lato"/>
              </a:rPr>
              <a:t> SO/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arquitetura</a:t>
            </a:r>
            <a:r>
              <a:rPr sz="1500" dirty="0">
                <a:solidFill>
                  <a:srgbClr val="181C23"/>
                </a:solidFill>
                <a:latin typeface="Lato"/>
              </a:rPr>
              <a:t>)</a:t>
            </a:r>
            <a:endParaRPr lang="pt-PT"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81C23"/>
                </a:solidFill>
                <a:latin typeface="Lato"/>
                <a:hlinkClick r:id="rId4"/>
              </a:rPr>
              <a:t>Minikube documentation</a:t>
            </a:r>
            <a:endParaRPr sz="15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181C23"/>
                </a:solidFill>
                <a:latin typeface="Ubuntu"/>
              </a:rPr>
              <a:t>Ciclo de </a:t>
            </a:r>
            <a:r>
              <a:rPr sz="2300" b="1" dirty="0" err="1">
                <a:solidFill>
                  <a:srgbClr val="181C23"/>
                </a:solidFill>
                <a:latin typeface="Ubuntu"/>
              </a:rPr>
              <a:t>vida</a:t>
            </a:r>
            <a:r>
              <a:rPr sz="2300" b="1" dirty="0">
                <a:solidFill>
                  <a:srgbClr val="181C23"/>
                </a:solidFill>
                <a:latin typeface="Ubuntu"/>
              </a:rPr>
              <a:t> do cluster Minikube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Iniciar</a:t>
            </a:r>
            <a:r>
              <a:rPr sz="1300" dirty="0">
                <a:solidFill>
                  <a:srgbClr val="181C23"/>
                </a:solidFill>
                <a:latin typeface="Lato"/>
              </a:rPr>
              <a:t> o cluster (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baixa</a:t>
            </a:r>
            <a:r>
              <a:rPr sz="1300" dirty="0">
                <a:solidFill>
                  <a:srgbClr val="181C23"/>
                </a:solidFill>
                <a:latin typeface="Lato"/>
              </a:rPr>
              <a:t> 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última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versão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estável</a:t>
            </a:r>
            <a:r>
              <a:rPr sz="1300" dirty="0">
                <a:solidFill>
                  <a:srgbClr val="181C23"/>
                </a:solidFill>
                <a:latin typeface="Lato"/>
              </a:rPr>
              <a:t>):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start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Instalar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versão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default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>
                <a:solidFill>
                  <a:srgbClr val="181C23"/>
                </a:solidFill>
                <a:latin typeface="Lato"/>
              </a:rPr>
              <a:t>do Kubernetes: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start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Pausar sem impactar as aplicações / retomar: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pause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unpause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Parar e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deletar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todos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300" dirty="0">
                <a:solidFill>
                  <a:srgbClr val="181C23"/>
                </a:solidFill>
                <a:latin typeface="Lato"/>
              </a:rPr>
              <a:t> clusters: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stop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delete --all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2371FF"/>
                </a:solidFill>
                <a:latin typeface="Ubuntu"/>
              </a:rPr>
              <a:t>Ciclo de </a:t>
            </a:r>
            <a:r>
              <a:rPr sz="2300" b="1" dirty="0" err="1">
                <a:solidFill>
                  <a:srgbClr val="2371FF"/>
                </a:solidFill>
                <a:latin typeface="Ubuntu"/>
              </a:rPr>
              <a:t>vida</a:t>
            </a:r>
            <a:r>
              <a:rPr sz="2300" b="1" dirty="0">
                <a:solidFill>
                  <a:srgbClr val="2371FF"/>
                </a:solidFill>
                <a:latin typeface="Ubuntu"/>
              </a:rPr>
              <a:t> do cluster Minikube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EF5E4F-A4B4-1AB2-F77A-0ED16613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73" y="721380"/>
            <a:ext cx="5545854" cy="38689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2. kubectl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A linha de comando do Kubernetes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kubectl: a CLI da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Ferramenta de linha de comando para administrar o cluster via 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Toda operação vira uma chamada ao kube-apiserver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Sintaxe: kubectl [command] [TYPE] [NAME] [flags]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Instalação pela documentação oficial (kubectl)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Anatomia do comando kubectl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371FF"/>
                </a:solidFill>
                <a:latin typeface="Lato"/>
              </a:rPr>
              <a:t>kubectl [command] [TYPE] [NAME] [flags]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/>
            <a:r>
              <a:rPr sz="1100" dirty="0">
                <a:solidFill>
                  <a:srgbClr val="50E550"/>
                </a:solidFill>
                <a:latin typeface="Consolas"/>
              </a:rPr>
              <a:t># command: a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ação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— get, create, describe, delete, apply...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TYPE: o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tipo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de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recurso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— pod/pods/po (plural, singular,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abreviação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)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      case-INSENSITIVE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NAME: o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nome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do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recurso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— case-SENSITIVE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flags: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opções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extras — ex.: --all-namespaces, -n &lt;ns&gt;, -o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yaml</a:t>
            </a:r>
            <a:endParaRPr sz="1100" dirty="0">
              <a:solidFill>
                <a:srgbClr val="50E550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Estas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três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linhas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são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equivalentes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: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get pod pod1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get pods pod1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get po pod1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Vários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recursos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de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uma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vez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: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get pod example-pod1 example-pod2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Sem NAME: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lista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todos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recursos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daquele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tipo</a:t>
            </a:r>
            <a:endParaRPr sz="1100" dirty="0">
              <a:solidFill>
                <a:srgbClr val="50E550"/>
              </a:solidFill>
              <a:latin typeface="Consolas"/>
            </a:endParaRP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get 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Primeira instalação e verificação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Suba o cluster: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start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Verifique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se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kubectl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responde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version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Veja as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informações</a:t>
            </a:r>
            <a:r>
              <a:rPr sz="1300" dirty="0">
                <a:solidFill>
                  <a:srgbClr val="181C23"/>
                </a:solidFill>
                <a:latin typeface="Lato"/>
              </a:rPr>
              <a:t> do cluster (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endereços</a:t>
            </a:r>
            <a:r>
              <a:rPr sz="1300" dirty="0">
                <a:solidFill>
                  <a:srgbClr val="181C23"/>
                </a:solidFill>
                <a:latin typeface="Lato"/>
              </a:rPr>
              <a:t> do control plane):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cluster-info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Liste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300" dirty="0">
                <a:solidFill>
                  <a:srgbClr val="181C23"/>
                </a:solidFill>
                <a:latin typeface="Lato"/>
              </a:rPr>
              <a:t> nodes do cluster: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get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Primeira instalação e verificação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91740" y="455371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FB8102-D7E4-1F18-DBB2-351174A96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489" y="775586"/>
            <a:ext cx="6183022" cy="37781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Kubernetes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Abra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painel</a:t>
            </a:r>
            <a:r>
              <a:rPr sz="1300" dirty="0">
                <a:solidFill>
                  <a:srgbClr val="181C23"/>
                </a:solidFill>
                <a:latin typeface="Lato"/>
              </a:rPr>
              <a:t> visual do cluster: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dashboard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comando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abre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uma</a:t>
            </a:r>
            <a:r>
              <a:rPr sz="1300" dirty="0">
                <a:solidFill>
                  <a:srgbClr val="181C23"/>
                </a:solidFill>
                <a:latin typeface="Lato"/>
              </a:rPr>
              <a:t> aba no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navegador</a:t>
            </a:r>
            <a:r>
              <a:rPr sz="1300" dirty="0">
                <a:solidFill>
                  <a:srgbClr val="181C23"/>
                </a:solidFill>
                <a:latin typeface="Lato"/>
              </a:rPr>
              <a:t> com a interface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gráfica</a:t>
            </a:r>
            <a:endParaRPr sz="13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Permite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ver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recursos</a:t>
            </a:r>
            <a:r>
              <a:rPr sz="1300" dirty="0">
                <a:solidFill>
                  <a:srgbClr val="181C23"/>
                </a:solidFill>
                <a:latin typeface="Lato"/>
              </a:rPr>
              <a:t>,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fazer</a:t>
            </a:r>
            <a:r>
              <a:rPr sz="1300" dirty="0">
                <a:solidFill>
                  <a:srgbClr val="181C23"/>
                </a:solidFill>
                <a:latin typeface="Lato"/>
              </a:rPr>
              <a:t> deploy e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ajudar</a:t>
            </a:r>
            <a:r>
              <a:rPr sz="1300" dirty="0">
                <a:solidFill>
                  <a:srgbClr val="181C23"/>
                </a:solidFill>
                <a:latin typeface="Lato"/>
              </a:rPr>
              <a:t> no troubleshooting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Importante</a:t>
            </a:r>
            <a:r>
              <a:rPr sz="1300" dirty="0">
                <a:solidFill>
                  <a:srgbClr val="181C23"/>
                </a:solidFill>
                <a:latin typeface="Lato"/>
              </a:rPr>
              <a:t>: o Dashboard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só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fica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disponível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enquanto</a:t>
            </a:r>
            <a:r>
              <a:rPr sz="1300" dirty="0">
                <a:solidFill>
                  <a:srgbClr val="181C23"/>
                </a:solidFill>
                <a:latin typeface="Lato"/>
              </a:rPr>
              <a:t>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comando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roda</a:t>
            </a:r>
            <a:endParaRPr sz="13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Kubernetes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91740" y="461758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2BAED7-F464-424D-C080-AF79C019E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066" y="722334"/>
            <a:ext cx="7570457" cy="40691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A8D435-E123-67E0-AC9B-5BA7BB5C0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65" y="3412519"/>
            <a:ext cx="5424223" cy="13789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Dica: explore a documentação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referência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oficial</a:t>
            </a:r>
            <a:r>
              <a:rPr sz="1500" dirty="0">
                <a:solidFill>
                  <a:srgbClr val="181C23"/>
                </a:solidFill>
                <a:latin typeface="Lato"/>
              </a:rPr>
              <a:t> do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kubectl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lista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todos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comandos</a:t>
            </a:r>
            <a:r>
              <a:rPr sz="1500" dirty="0">
                <a:solidFill>
                  <a:srgbClr val="181C23"/>
                </a:solidFill>
                <a:latin typeface="Lato"/>
              </a:rPr>
              <a:t>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exemplos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Saber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consultar</a:t>
            </a:r>
            <a:r>
              <a:rPr sz="1500" dirty="0">
                <a:solidFill>
                  <a:srgbClr val="181C23"/>
                </a:solidFill>
                <a:latin typeface="Lato"/>
              </a:rPr>
              <a:t> 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documentação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é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uma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habilidade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profissional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essencial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>
                <a:solidFill>
                  <a:srgbClr val="181C23"/>
                </a:solidFill>
                <a:latin typeface="Lato"/>
                <a:hlinkClick r:id="rId4"/>
              </a:rPr>
              <a:t>Cheat Sheet </a:t>
            </a:r>
            <a:r>
              <a:rPr sz="1500" dirty="0" err="1">
                <a:solidFill>
                  <a:srgbClr val="181C23"/>
                </a:solidFill>
                <a:latin typeface="Lato"/>
                <a:hlinkClick r:id="rId4"/>
              </a:rPr>
              <a:t>oficial</a:t>
            </a:r>
            <a:r>
              <a:rPr sz="1500" dirty="0">
                <a:solidFill>
                  <a:srgbClr val="181C23"/>
                </a:solidFill>
                <a:latin typeface="Lato"/>
              </a:rPr>
              <a:t>: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atalho</a:t>
            </a:r>
            <a:r>
              <a:rPr sz="1500" dirty="0">
                <a:solidFill>
                  <a:srgbClr val="181C23"/>
                </a:solidFill>
                <a:latin typeface="Lato"/>
              </a:rPr>
              <a:t> para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comandos</a:t>
            </a:r>
            <a:r>
              <a:rPr sz="1500" dirty="0">
                <a:solidFill>
                  <a:srgbClr val="181C23"/>
                </a:solidFill>
                <a:latin typeface="Lato"/>
              </a:rPr>
              <a:t> do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dia</a:t>
            </a:r>
            <a:r>
              <a:rPr sz="1500" dirty="0">
                <a:solidFill>
                  <a:srgbClr val="181C23"/>
                </a:solidFill>
                <a:latin typeface="Lato"/>
              </a:rPr>
              <a:t> 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dia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5A5E66"/>
                </a:solidFill>
                <a:latin typeface="Lato"/>
              </a:rPr>
              <a:t>– 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Voltaremos</a:t>
            </a:r>
            <a:r>
              <a:rPr sz="1400" dirty="0">
                <a:solidFill>
                  <a:srgbClr val="5A5E66"/>
                </a:solidFill>
                <a:latin typeface="Lato"/>
              </a:rPr>
              <a:t> a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usá</a:t>
            </a:r>
            <a:r>
              <a:rPr sz="1400" dirty="0">
                <a:solidFill>
                  <a:srgbClr val="5A5E66"/>
                </a:solidFill>
                <a:latin typeface="Lato"/>
              </a:rPr>
              <a:t>-la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em</a:t>
            </a:r>
            <a:r>
              <a:rPr sz="1400" dirty="0">
                <a:solidFill>
                  <a:srgbClr val="5A5E66"/>
                </a:solidFill>
                <a:latin typeface="Lato"/>
              </a:rPr>
              <a:t> rollout/rollback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na</a:t>
            </a:r>
            <a:r>
              <a:rPr sz="1400" dirty="0">
                <a:solidFill>
                  <a:srgbClr val="5A5E66"/>
                </a:solidFill>
                <a:latin typeface="Lato"/>
              </a:rPr>
              <a:t> Aula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02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3" name="Picture 2" descr="ada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3291840" cy="2225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Ubuntu"/>
              </a:rPr>
              <a:t>Recapitulando a Aula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dirty="0">
                <a:solidFill>
                  <a:srgbClr val="FFFDF8"/>
                </a:solidFill>
                <a:latin typeface="Lato"/>
              </a:rPr>
              <a:t>✓  Minikube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sobe</a:t>
            </a:r>
            <a:r>
              <a:rPr sz="1500" dirty="0">
                <a:solidFill>
                  <a:srgbClr val="FFFDF8"/>
                </a:solidFill>
                <a:latin typeface="Lato"/>
              </a:rPr>
              <a:t> um cluster K8S local para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estudo</a:t>
            </a:r>
            <a:r>
              <a:rPr sz="1500" dirty="0">
                <a:solidFill>
                  <a:srgbClr val="FFFDF8"/>
                </a:solidFill>
                <a:latin typeface="Lato"/>
              </a:rPr>
              <a:t> e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desenvolvimento</a:t>
            </a:r>
            <a:endParaRPr sz="1500" dirty="0">
              <a:solidFill>
                <a:srgbClr val="FFFDF8"/>
              </a:solidFill>
              <a:latin typeface="Lato"/>
            </a:endParaRP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FFFDF8"/>
                </a:solidFill>
                <a:latin typeface="Lato"/>
              </a:rPr>
              <a:t>✓  Ciclo: start, pause/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unpause</a:t>
            </a:r>
            <a:r>
              <a:rPr sz="1500" dirty="0">
                <a:solidFill>
                  <a:srgbClr val="FFFDF8"/>
                </a:solidFill>
                <a:latin typeface="Lato"/>
              </a:rPr>
              <a:t>, stop, delete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FFFDF8"/>
                </a:solidFill>
                <a:latin typeface="Lato"/>
              </a:rPr>
              <a:t>✓ 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kubectl</a:t>
            </a:r>
            <a:r>
              <a:rPr sz="1500" dirty="0">
                <a:solidFill>
                  <a:srgbClr val="FFFDF8"/>
                </a:solidFill>
                <a:latin typeface="Lato"/>
              </a:rPr>
              <a:t> [command] [TYPE] [NAME] [flags] é a base de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tudo</a:t>
            </a:r>
            <a:endParaRPr sz="1500" dirty="0">
              <a:solidFill>
                <a:srgbClr val="FFFDF8"/>
              </a:solidFill>
              <a:latin typeface="Lato"/>
            </a:endParaRP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FFFDF8"/>
                </a:solidFill>
                <a:latin typeface="Lato"/>
              </a:rPr>
              <a:t>✓  cluster-info, get nodes e version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confirmam</a:t>
            </a:r>
            <a:r>
              <a:rPr sz="1500" dirty="0">
                <a:solidFill>
                  <a:srgbClr val="FFFDF8"/>
                </a:solidFill>
                <a:latin typeface="Lato"/>
              </a:rPr>
              <a:t>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que</a:t>
            </a:r>
            <a:r>
              <a:rPr sz="1500" dirty="0">
                <a:solidFill>
                  <a:srgbClr val="FFFDF8"/>
                </a:solidFill>
                <a:latin typeface="Lato"/>
              </a:rPr>
              <a:t> o cluster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está</a:t>
            </a:r>
            <a:r>
              <a:rPr sz="1500" dirty="0">
                <a:solidFill>
                  <a:srgbClr val="FFFDF8"/>
                </a:solidFill>
                <a:latin typeface="Lato"/>
              </a:rPr>
              <a:t>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saudável</a:t>
            </a:r>
            <a:endParaRPr sz="1500" dirty="0">
              <a:solidFill>
                <a:srgbClr val="FFFDF8"/>
              </a:solidFill>
              <a:latin typeface="Lato"/>
            </a:endParaRP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FFFDF8"/>
                </a:solidFill>
                <a:latin typeface="Lato"/>
              </a:rPr>
              <a:t>✓ 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Próxima</a:t>
            </a:r>
            <a:r>
              <a:rPr sz="1500" dirty="0">
                <a:solidFill>
                  <a:srgbClr val="FFFDF8"/>
                </a:solidFill>
                <a:latin typeface="Lato"/>
              </a:rPr>
              <a:t> aula: Pods, Namespaces e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Controladores</a:t>
            </a:r>
            <a:endParaRPr sz="1500" dirty="0">
              <a:solidFill>
                <a:srgbClr val="FFFDF8"/>
              </a:solidFill>
              <a:latin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1404</Words>
  <Application>Microsoft Office PowerPoint</Application>
  <PresentationFormat>On-screen Show (16:9)</PresentationFormat>
  <Paragraphs>149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Consolas</vt:lpstr>
      <vt:lpstr>Lato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Benedicto, Everton Jose (SI IT VC PES PLT)</cp:lastModifiedBy>
  <cp:revision>6</cp:revision>
  <dcterms:created xsi:type="dcterms:W3CDTF">2013-01-27T09:14:16Z</dcterms:created>
  <dcterms:modified xsi:type="dcterms:W3CDTF">2026-07-21T17:39:28Z</dcterms:modified>
  <cp:category/>
</cp:coreProperties>
</file>