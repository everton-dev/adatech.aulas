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wirl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960120"/>
            <a:ext cx="3840480" cy="2377440"/>
          </a:xfrm>
          <a:prstGeom prst="rect">
            <a:avLst/>
          </a:prstGeom>
        </p:spPr>
      </p:pic>
      <p:pic>
        <p:nvPicPr>
          <p:cNvPr id="3" name="Picture 2" descr="_top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_top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92624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627632"/>
            <a:ext cx="146304" cy="16916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949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DF8"/>
                </a:solidFill>
                <a:latin typeface="Ubuntu"/>
              </a:rPr>
              <a:t>Helm e ArgoCD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50E550"/>
                </a:solidFill>
                <a:latin typeface="Lato"/>
              </a:rPr>
              <a:t>Guia simples e didático para iniciantes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2608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9CDD4"/>
                </a:solidFill>
                <a:latin typeface="Lato"/>
              </a:rPr>
              <a:t>Empacotando e implantando aplicações no Kubernetes com GitOps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DF8"/>
                </a:solidFill>
                <a:latin typeface="Lato"/>
              </a:rPr>
              <a:t>Ada • DE-OP-011 Orquestração • Kubernetes  |  Aula 09</a:t>
            </a:r>
          </a:p>
        </p:txBody>
      </p:sp>
      <p:pic>
        <p:nvPicPr>
          <p:cNvPr id="10" name="Picture 9" descr="_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4160520"/>
            <a:ext cx="868680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Objetivos de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188720"/>
            <a:ext cx="822960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50E550"/>
                </a:solidFill>
                <a:latin typeface="Lato"/>
              </a:rPr>
              <a:t>✓  </a:t>
            </a:r>
            <a:r>
              <a:rPr sz="1500" b="0">
                <a:solidFill>
                  <a:srgbClr val="181C23"/>
                </a:solidFill>
                <a:latin typeface="Lato"/>
              </a:rPr>
              <a:t>Entender por que gerenciar YAML “na mão” não escala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50E550"/>
                </a:solidFill>
                <a:latin typeface="Lato"/>
              </a:rPr>
              <a:t>✓  </a:t>
            </a:r>
            <a:r>
              <a:rPr sz="1500" b="0">
                <a:solidFill>
                  <a:srgbClr val="181C23"/>
                </a:solidFill>
                <a:latin typeface="Lato"/>
              </a:rPr>
              <a:t>Conhecer o Helm como gerenciador de pacotes do Kubernetes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50E550"/>
                </a:solidFill>
                <a:latin typeface="Lato"/>
              </a:rPr>
              <a:t>✓  </a:t>
            </a:r>
            <a:r>
              <a:rPr sz="1500" b="0">
                <a:solidFill>
                  <a:srgbClr val="181C23"/>
                </a:solidFill>
                <a:latin typeface="Lato"/>
              </a:rPr>
              <a:t>Dominar os conceitos de Chart, Templates/Values e Releases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50E550"/>
                </a:solidFill>
                <a:latin typeface="Lato"/>
              </a:rPr>
              <a:t>✓  </a:t>
            </a:r>
            <a:r>
              <a:rPr sz="1500" b="0">
                <a:solidFill>
                  <a:srgbClr val="181C23"/>
                </a:solidFill>
                <a:latin typeface="Lato"/>
              </a:rPr>
              <a:t>Compreender o que é GitOps e o papel do ArgoCD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50E550"/>
                </a:solidFill>
                <a:latin typeface="Lato"/>
              </a:rPr>
              <a:t>✓  </a:t>
            </a:r>
            <a:r>
              <a:rPr sz="1500" b="0">
                <a:solidFill>
                  <a:srgbClr val="181C23"/>
                </a:solidFill>
                <a:latin typeface="Lato"/>
              </a:rPr>
              <a:t>Ver como o ArgoCD sincroniza o cluster com o repositorio Git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50E550"/>
                </a:solidFill>
                <a:latin typeface="Lato"/>
              </a:rPr>
              <a:t>✓  </a:t>
            </a:r>
            <a:r>
              <a:rPr sz="1500" b="0">
                <a:solidFill>
                  <a:srgbClr val="181C23"/>
                </a:solidFill>
                <a:latin typeface="Lato"/>
              </a:rPr>
              <a:t>Entender como Helm e ArgoCD se complementam no fluxo de 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O problema: YAML “na mão” não escala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1430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81C23"/>
                </a:solidFill>
                <a:latin typeface="Lato"/>
              </a:rPr>
              <a:t>Uma aplicação no Kubernetes precisa de vários arquivos YAML (Deployment, Service, ConfigMap, Ingress...).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397763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112264"/>
            <a:ext cx="82296" cy="850392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112264"/>
            <a:ext cx="35661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23"/>
                </a:solidFill>
                <a:latin typeface="Ubuntu"/>
              </a:rPr>
              <a:t>Duplicidade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96312"/>
            <a:ext cx="35661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Os mesmos valores repetidos em dezenas de arquivos separados.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79" y="1965960"/>
            <a:ext cx="397763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79" y="2112264"/>
            <a:ext cx="82296" cy="850392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0912" y="2112264"/>
            <a:ext cx="35661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23"/>
                </a:solidFill>
                <a:latin typeface="Ubuntu"/>
              </a:rPr>
              <a:t>Erros manuais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496312"/>
            <a:ext cx="35661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Editar YAML à mão em cada ambiente é propenso a falhas.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10128"/>
            <a:ext cx="397763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456432"/>
            <a:ext cx="82296" cy="850392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456432"/>
            <a:ext cx="35661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23"/>
                </a:solidFill>
                <a:latin typeface="Ubuntu"/>
              </a:rPr>
              <a:t>Sem histórico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840480"/>
            <a:ext cx="35661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Difícil saber o que mudou e voltar atrás quando algo quebra.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79" y="3310128"/>
            <a:ext cx="397763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54879" y="3456432"/>
            <a:ext cx="82296" cy="850392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10912" y="3456432"/>
            <a:ext cx="35661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23"/>
                </a:solidFill>
                <a:latin typeface="Ubuntu"/>
              </a:rPr>
              <a:t>Configuration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3840480"/>
            <a:ext cx="35661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O cluster “ao vivo” fica diferente do que está versionado.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Fluxo de trabalho integrado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0972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404A"/>
                </a:solidFill>
                <a:latin typeface="Lato"/>
              </a:rPr>
              <a:t>Do empacotamento à aplicação rodando no cluster — em quatro etapas: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" y="2148840"/>
            <a:ext cx="178308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12163" y="1947672"/>
            <a:ext cx="402336" cy="402336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12163" y="1993392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DF8"/>
                </a:solidFill>
                <a:latin typeface="Ubuntu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245973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71FF"/>
                </a:solidFill>
                <a:latin typeface="Ubuntu"/>
              </a:rPr>
              <a:t>HELM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862072"/>
            <a:ext cx="15636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A404A"/>
                </a:solidFill>
                <a:latin typeface="Lato"/>
              </a:rPr>
              <a:t>Empacota os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A404A"/>
                </a:solidFill>
                <a:latin typeface="Lato"/>
              </a:rPr>
              <a:t>arquivos YAML</a:t>
            </a:r>
          </a:p>
        </p:txBody>
      </p:sp>
      <p:sp>
        <p:nvSpPr>
          <p:cNvPr id="13" name="Chevron 12"/>
          <p:cNvSpPr/>
          <p:nvPr/>
        </p:nvSpPr>
        <p:spPr>
          <a:xfrm>
            <a:off x="2414015" y="2729484"/>
            <a:ext cx="237744" cy="256032"/>
          </a:xfrm>
          <a:prstGeom prst="chevron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660903" y="2148840"/>
            <a:ext cx="178308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81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351275" y="1947672"/>
            <a:ext cx="402336" cy="402336"/>
          </a:xfrm>
          <a:prstGeom prst="ellipse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1275" y="1993392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DF8"/>
                </a:solidFill>
                <a:latin typeface="Ubuntu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2344" y="245973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C23"/>
                </a:solidFill>
                <a:latin typeface="Ubuntu"/>
              </a:rPr>
              <a:t>GIT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862072"/>
            <a:ext cx="15636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A404A"/>
                </a:solidFill>
                <a:latin typeface="Lato"/>
              </a:rPr>
              <a:t>Guarda o código 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A404A"/>
                </a:solidFill>
                <a:latin typeface="Lato"/>
              </a:rPr>
              <a:t>as configurações</a:t>
            </a:r>
          </a:p>
        </p:txBody>
      </p:sp>
      <p:sp>
        <p:nvSpPr>
          <p:cNvPr id="19" name="Chevron 18"/>
          <p:cNvSpPr/>
          <p:nvPr/>
        </p:nvSpPr>
        <p:spPr>
          <a:xfrm>
            <a:off x="4453127" y="2729484"/>
            <a:ext cx="237744" cy="256032"/>
          </a:xfrm>
          <a:prstGeom prst="chevron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00016" y="2148840"/>
            <a:ext cx="178308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50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90388" y="1947672"/>
            <a:ext cx="402336" cy="402336"/>
          </a:xfrm>
          <a:prstGeom prst="ellipse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90388" y="1993392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C23"/>
                </a:solidFill>
                <a:latin typeface="Ubuntu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5" y="245973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0E550"/>
                </a:solidFill>
                <a:latin typeface="Ubuntu"/>
              </a:rPr>
              <a:t>ARGOCD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9744" y="2862072"/>
            <a:ext cx="15636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A404A"/>
                </a:solidFill>
                <a:latin typeface="Lato"/>
              </a:rPr>
              <a:t>Detecta 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A404A"/>
                </a:solidFill>
                <a:latin typeface="Lato"/>
              </a:rPr>
              <a:t>sincroniza</a:t>
            </a:r>
          </a:p>
        </p:txBody>
      </p:sp>
      <p:sp>
        <p:nvSpPr>
          <p:cNvPr id="25" name="Chevron 24"/>
          <p:cNvSpPr/>
          <p:nvPr/>
        </p:nvSpPr>
        <p:spPr>
          <a:xfrm>
            <a:off x="6492240" y="2729484"/>
            <a:ext cx="237744" cy="256032"/>
          </a:xfrm>
          <a:prstGeom prst="chevron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739127" y="2148840"/>
            <a:ext cx="178308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29499" y="1947672"/>
            <a:ext cx="402336" cy="402336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29499" y="1993392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DF8"/>
                </a:solidFill>
                <a:latin typeface="Ubuntu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7" y="2459736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71FF"/>
                </a:solidFill>
                <a:latin typeface="Ubuntu"/>
              </a:rPr>
              <a:t>KUBERNETES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8855" y="2862072"/>
            <a:ext cx="156362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A404A"/>
                </a:solidFill>
                <a:latin typeface="Lato"/>
              </a:rPr>
              <a:t>Recebe a 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A404A"/>
                </a:solidFill>
                <a:latin typeface="Lato"/>
              </a:rPr>
              <a:t>atualizada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1. O que é o Helm?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0972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71FF"/>
                </a:solidFill>
                <a:latin typeface="Ubuntu"/>
              </a:rPr>
              <a:t>O gerenciador de pacotes do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48920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81C23"/>
                </a:solidFill>
                <a:latin typeface="Lato"/>
              </a:rPr>
              <a:t>Pense no Helm como uma </a:t>
            </a:r>
            <a:r>
              <a:rPr sz="1400" b="1">
                <a:solidFill>
                  <a:srgbClr val="181C23"/>
                </a:solidFill>
                <a:latin typeface="Lato"/>
              </a:rPr>
              <a:t>“App Store”</a:t>
            </a:r>
            <a:r>
              <a:rPr sz="1400" b="0">
                <a:solidFill>
                  <a:srgbClr val="181C23"/>
                </a:solidFill>
                <a:latin typeface="Lato"/>
              </a:rPr>
              <a:t> do Kubernetes.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81C23"/>
                </a:solidFill>
                <a:latin typeface="Lato"/>
              </a:rPr>
              <a:t>Ele funciona como o </a:t>
            </a:r>
            <a:r>
              <a:rPr sz="1400" b="1">
                <a:solidFill>
                  <a:srgbClr val="2371FF"/>
                </a:solidFill>
                <a:latin typeface="Lato"/>
              </a:rPr>
              <a:t>apt</a:t>
            </a:r>
            <a:r>
              <a:rPr sz="1400" b="0">
                <a:solidFill>
                  <a:srgbClr val="181C23"/>
                </a:solidFill>
                <a:latin typeface="Lato"/>
              </a:rPr>
              <a:t> no Linux, o </a:t>
            </a:r>
            <a:r>
              <a:rPr sz="1400" b="1">
                <a:solidFill>
                  <a:srgbClr val="2371FF"/>
                </a:solidFill>
                <a:latin typeface="Lato"/>
              </a:rPr>
              <a:t>pip</a:t>
            </a:r>
            <a:r>
              <a:rPr sz="1400" b="0">
                <a:solidFill>
                  <a:srgbClr val="181C23"/>
                </a:solidFill>
                <a:latin typeface="Lato"/>
              </a:rPr>
              <a:t> no Python ou o </a:t>
            </a:r>
            <a:r>
              <a:rPr sz="1400" b="1">
                <a:solidFill>
                  <a:srgbClr val="2371FF"/>
                </a:solidFill>
                <a:latin typeface="Lato"/>
              </a:rPr>
              <a:t>npm</a:t>
            </a:r>
            <a:r>
              <a:rPr sz="1400" b="0">
                <a:solidFill>
                  <a:srgbClr val="181C23"/>
                </a:solidFill>
                <a:latin typeface="Lato"/>
              </a:rPr>
              <a:t> no Node.js.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81C23"/>
                </a:solidFill>
                <a:latin typeface="Lato"/>
              </a:rPr>
              <a:t>Em vez de gerenciar dezenas de arquivos soltos, o Helm agrupa tudo em um único pacote: o </a:t>
            </a:r>
            <a:r>
              <a:rPr sz="1400" b="1">
                <a:solidFill>
                  <a:srgbClr val="50E550"/>
                </a:solidFill>
                <a:latin typeface="Lato"/>
              </a:rPr>
              <a:t>Helm Chart</a:t>
            </a:r>
            <a:r>
              <a:rPr sz="1400" b="0">
                <a:solidFill>
                  <a:srgbClr val="181C23"/>
                </a:solidFill>
                <a:latin typeface="Lato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572768"/>
            <a:ext cx="3063240" cy="2514600"/>
          </a:xfrm>
          <a:prstGeom prst="roundRect">
            <a:avLst>
              <a:gd name="adj" fmla="val 8000"/>
            </a:avLst>
          </a:prstGeom>
          <a:solidFill>
            <a:srgbClr val="EFFAEB"/>
          </a:solidFill>
          <a:ln w="15875">
            <a:solidFill>
              <a:srgbClr val="50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24728" y="1737360"/>
            <a:ext cx="2660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23"/>
                </a:solidFill>
                <a:latin typeface="Ubuntu"/>
              </a:rPr>
              <a:t>💡 Analogia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4728" y="2139696"/>
            <a:ext cx="2660904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O Helm é como uma </a:t>
            </a:r>
            <a:r>
              <a:rPr sz="1200" b="1">
                <a:solidFill>
                  <a:srgbClr val="181C23"/>
                </a:solidFill>
                <a:latin typeface="Lato"/>
              </a:rPr>
              <a:t>receita de bolo adaptável</a:t>
            </a:r>
            <a:r>
              <a:rPr sz="1200" b="0">
                <a:solidFill>
                  <a:srgbClr val="3A404A"/>
                </a:solidFill>
                <a:latin typeface="Lato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A estrutura já está pronta; você muda apenas a quantidade de açúcar ou o sabor do recheio no arquivo de valores — sem reescrever o modo de preparo.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Conceitos-chave do Helm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34440"/>
            <a:ext cx="813816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0584" cy="100584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481328"/>
            <a:ext cx="512064" cy="512064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17904"/>
            <a:ext cx="51206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DF8"/>
                </a:solidFill>
                <a:latin typeface="Ubuntu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380744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C23"/>
                </a:solidFill>
                <a:latin typeface="Ubuntu"/>
              </a:rPr>
              <a:t>Helm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746504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Uma coleção de arquivos de configuração pré-montados do Kubernetes. Use charts prontos da comunidade ou crie os seus.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04872"/>
            <a:ext cx="813816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404872"/>
            <a:ext cx="100584" cy="10058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2651759"/>
            <a:ext cx="512064" cy="512064"/>
          </a:xfrm>
          <a:prstGeom prst="ellipse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688335"/>
            <a:ext cx="51206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23"/>
                </a:solidFill>
                <a:latin typeface="Ubuntu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551176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C23"/>
                </a:solidFill>
                <a:latin typeface="Ubuntu"/>
              </a:rPr>
              <a:t>Templates &amp;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16936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Em vez de dados fixos, o Helm usa variáveis. Você ajusta senhas, portas ou memória no arquivo values.yaml sem mexer no código principal.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75304"/>
            <a:ext cx="813816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575304"/>
            <a:ext cx="100584" cy="100584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3822191"/>
            <a:ext cx="512064" cy="512064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858768"/>
            <a:ext cx="51206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DF8"/>
                </a:solidFill>
                <a:latin typeface="Ubuntu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721608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C23"/>
                </a:solidFill>
                <a:latin typeface="Ubuntu"/>
              </a:rPr>
              <a:t>Releases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087368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Cada instalação ou alteração gera um histórico de versões. Se algo der errado, um único comando faz o rollback para a versão anterior.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2. O que é o ArgoCD?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0972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71FF"/>
                </a:solidFill>
                <a:latin typeface="Ubuntu"/>
              </a:rPr>
              <a:t>A automação de implantação com GitOps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48920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81C23"/>
                </a:solidFill>
                <a:latin typeface="Lato"/>
              </a:rPr>
              <a:t>Enquanto o Helm </a:t>
            </a:r>
            <a:r>
              <a:rPr sz="1400" b="1">
                <a:solidFill>
                  <a:srgbClr val="181C23"/>
                </a:solidFill>
                <a:latin typeface="Lato"/>
              </a:rPr>
              <a:t>empacota</a:t>
            </a:r>
            <a:r>
              <a:rPr sz="1400" b="0">
                <a:solidFill>
                  <a:srgbClr val="181C23"/>
                </a:solidFill>
                <a:latin typeface="Lato"/>
              </a:rPr>
              <a:t> a aplicação, o ArgoCD </a:t>
            </a:r>
            <a:r>
              <a:rPr sz="1400" b="1">
                <a:solidFill>
                  <a:srgbClr val="181C23"/>
                </a:solidFill>
                <a:latin typeface="Lato"/>
              </a:rPr>
              <a:t>automatiza</a:t>
            </a:r>
            <a:r>
              <a:rPr sz="1400" b="0">
                <a:solidFill>
                  <a:srgbClr val="181C23"/>
                </a:solidFill>
                <a:latin typeface="Lato"/>
              </a:rPr>
              <a:t> a forma como ela é publicada no cluster.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50E550"/>
                </a:solidFill>
                <a:latin typeface="Lato"/>
              </a:rPr>
              <a:t>GitOps</a:t>
            </a:r>
            <a:r>
              <a:rPr sz="1400" b="0">
                <a:solidFill>
                  <a:srgbClr val="181C23"/>
                </a:solidFill>
                <a:latin typeface="Lato"/>
              </a:rPr>
              <a:t> é usar um repositório Git como a </a:t>
            </a:r>
            <a:r>
              <a:rPr sz="1400" b="1">
                <a:solidFill>
                  <a:srgbClr val="181C23"/>
                </a:solidFill>
                <a:latin typeface="Lato"/>
              </a:rPr>
              <a:t>única fonte da verdade</a:t>
            </a:r>
            <a:r>
              <a:rPr sz="1400" b="0">
                <a:solidFill>
                  <a:srgbClr val="181C23"/>
                </a:solidFill>
                <a:latin typeface="Lato"/>
              </a:rPr>
              <a:t>. Mudou o Git → o cluster é atualizado automaticamente.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181C23"/>
                </a:solidFill>
                <a:latin typeface="Lato"/>
              </a:rPr>
              <a:t>Isso elimina o </a:t>
            </a:r>
            <a:r>
              <a:rPr sz="1400" b="1">
                <a:solidFill>
                  <a:srgbClr val="2371FF"/>
                </a:solidFill>
                <a:latin typeface="Lato"/>
              </a:rPr>
              <a:t>Configuration Drift</a:t>
            </a:r>
            <a:r>
              <a:rPr sz="1400" b="0">
                <a:solidFill>
                  <a:srgbClr val="181C23"/>
                </a:solidFill>
                <a:latin typeface="Lato"/>
              </a:rPr>
              <a:t>: o cluster nunca fica diferente do que está versionado.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572768"/>
            <a:ext cx="3063240" cy="2514600"/>
          </a:xfrm>
          <a:prstGeom prst="roundRect">
            <a:avLst>
              <a:gd name="adj" fmla="val 8000"/>
            </a:avLst>
          </a:prstGeom>
          <a:solidFill>
            <a:srgbClr val="EFFAEB"/>
          </a:solidFill>
          <a:ln w="15875">
            <a:solidFill>
              <a:srgbClr val="50E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24728" y="1737360"/>
            <a:ext cx="2660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23"/>
                </a:solidFill>
                <a:latin typeface="Ubuntu"/>
              </a:rPr>
              <a:t>💡 Analogia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4728" y="2139696"/>
            <a:ext cx="2660904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O ArgoCD é como o </a:t>
            </a:r>
            <a:r>
              <a:rPr sz="1200" b="1">
                <a:solidFill>
                  <a:srgbClr val="181C23"/>
                </a:solidFill>
                <a:latin typeface="Lato"/>
              </a:rPr>
              <a:t>piloto automático</a:t>
            </a:r>
            <a:r>
              <a:rPr sz="1200" b="0">
                <a:solidFill>
                  <a:srgbClr val="3A404A"/>
                </a:solidFill>
                <a:latin typeface="Lato"/>
              </a:rPr>
              <a:t> de um avião.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Ele confere o mapa planejado (</a:t>
            </a:r>
            <a:r>
              <a:rPr sz="1200" b="1">
                <a:solidFill>
                  <a:srgbClr val="50E550"/>
                </a:solidFill>
                <a:latin typeface="Lato"/>
              </a:rPr>
              <a:t>Git</a:t>
            </a:r>
            <a:r>
              <a:rPr sz="1200" b="0">
                <a:solidFill>
                  <a:srgbClr val="3A404A"/>
                </a:solidFill>
                <a:latin typeface="Lato"/>
              </a:rPr>
              <a:t>) e ajusta o manche (</a:t>
            </a:r>
            <a:r>
              <a:rPr sz="1200" b="1">
                <a:solidFill>
                  <a:srgbClr val="2371FF"/>
                </a:solidFill>
                <a:latin typeface="Lato"/>
              </a:rPr>
              <a:t>Kubernetes</a:t>
            </a:r>
            <a:r>
              <a:rPr sz="1200" b="0">
                <a:solidFill>
                  <a:srgbClr val="3A404A"/>
                </a:solidFill>
                <a:latin typeface="Lato"/>
              </a:rPr>
              <a:t>) continuamente, garantindo que a rota real seja igual à planejada.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Como o ArgoCD funciona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417320"/>
            <a:ext cx="260604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606040" cy="128016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21892" y="1728216"/>
            <a:ext cx="768096" cy="768096"/>
          </a:xfrm>
          <a:prstGeom prst="ellipse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1892" y="1783080"/>
            <a:ext cx="76809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2371FF"/>
                </a:solidFill>
                <a:latin typeface="Segoe UI Emoji"/>
              </a:rPr>
              <a:t>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23"/>
                </a:solidFill>
                <a:latin typeface="Ubuntu"/>
              </a:rPr>
              <a:t>1. Monitora o 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081528"/>
            <a:ext cx="21671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04A"/>
                </a:solidFill>
                <a:latin typeface="Lato"/>
              </a:rPr>
              <a:t>Fica vigiando o repositório continuamente, observando o estado desejado da aplicação.</a:t>
            </a:r>
          </a:p>
        </p:txBody>
      </p:sp>
      <p:sp>
        <p:nvSpPr>
          <p:cNvPr id="13" name="Chevron 12"/>
          <p:cNvSpPr/>
          <p:nvPr/>
        </p:nvSpPr>
        <p:spPr>
          <a:xfrm>
            <a:off x="3127248" y="2464308"/>
            <a:ext cx="123443" cy="237744"/>
          </a:xfrm>
          <a:prstGeom prst="chevron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68980" y="1417320"/>
            <a:ext cx="260604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68980" y="1417320"/>
            <a:ext cx="2606040" cy="128016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87952" y="1728216"/>
            <a:ext cx="768096" cy="768096"/>
          </a:xfrm>
          <a:prstGeom prst="ellipse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87952" y="1783080"/>
            <a:ext cx="76809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2371FF"/>
                </a:solidFill>
                <a:latin typeface="Segoe UI Emoji"/>
              </a:rP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860" y="265176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23"/>
                </a:solidFill>
                <a:latin typeface="Ubuntu"/>
              </a:rPr>
              <a:t>2. Detecta diferenças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8436" y="3081528"/>
            <a:ext cx="21671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04A"/>
                </a:solidFill>
                <a:latin typeface="Lato"/>
              </a:rPr>
              <a:t>Ao mudar um arquivo no Git, percebe que o cluster está desatualizado (Out of Sync).</a:t>
            </a:r>
          </a:p>
        </p:txBody>
      </p:sp>
      <p:sp>
        <p:nvSpPr>
          <p:cNvPr id="20" name="Chevron 19"/>
          <p:cNvSpPr/>
          <p:nvPr/>
        </p:nvSpPr>
        <p:spPr>
          <a:xfrm>
            <a:off x="5893308" y="2464308"/>
            <a:ext cx="123443" cy="237744"/>
          </a:xfrm>
          <a:prstGeom prst="chevron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260604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1417320"/>
            <a:ext cx="2606040" cy="128016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954012" y="1728216"/>
            <a:ext cx="768096" cy="768096"/>
          </a:xfrm>
          <a:prstGeom prst="ellipse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54012" y="1783080"/>
            <a:ext cx="76809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2371FF"/>
                </a:solidFill>
                <a:latin typeface="Segoe UI Emoji"/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5176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23"/>
                </a:solidFill>
                <a:latin typeface="Ubuntu"/>
              </a:rPr>
              <a:t>3. Sincroniza sozinho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3081528"/>
            <a:ext cx="216712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04A"/>
                </a:solidFill>
                <a:latin typeface="Lato"/>
              </a:rPr>
              <a:t>Puxa a nova versão do Git e atualiza o Kubernetes sem intervenção manual.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3. Como Helm e ArgoCD trabalham juntos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078992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371FF"/>
                </a:solidFill>
                <a:latin typeface="Lato"/>
              </a:rPr>
              <a:t>O Helm </a:t>
            </a:r>
            <a:r>
              <a:rPr sz="1300" b="0">
                <a:solidFill>
                  <a:srgbClr val="181C23"/>
                </a:solidFill>
                <a:latin typeface="Lato"/>
              </a:rPr>
              <a:t>organiza e cria o pacote flexível; o </a:t>
            </a:r>
            <a:r>
              <a:rPr sz="1300" b="1">
                <a:solidFill>
                  <a:srgbClr val="50E550"/>
                </a:solidFill>
                <a:latin typeface="Lato"/>
              </a:rPr>
              <a:t>ArgoCD </a:t>
            </a:r>
            <a:r>
              <a:rPr sz="1300" b="0">
                <a:solidFill>
                  <a:srgbClr val="181C23"/>
                </a:solidFill>
                <a:latin typeface="Lato"/>
              </a:rPr>
              <a:t>lê esse pacote no Git e mantém o Kubernetes sempre atualizado.</a:t>
            </a:r>
          </a:p>
        </p:txBody>
      </p:sp>
      <p:pic>
        <p:nvPicPr>
          <p:cNvPr id="8" name="Picture 7" descr="helm_argo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460" y="1627632"/>
            <a:ext cx="6355080" cy="29319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60526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5E66"/>
                </a:solidFill>
                <a:latin typeface="Lato"/>
              </a:rPr>
              <a:t>Fonte da imagem: fluxo GitOps — Source Code → CI → Registry / Deployment Repo → ArgoCD → Kubernetes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Helm x ArgoCD: papéis que se completam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377439" y="1234440"/>
            <a:ext cx="3172968" cy="475488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39" y="1234440"/>
            <a:ext cx="31729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DF8"/>
                </a:solidFill>
                <a:latin typeface="Ubuntu"/>
              </a:rPr>
              <a:t>Helm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59" y="1234440"/>
            <a:ext cx="2944368" cy="475488"/>
          </a:xfrm>
          <a:prstGeom prst="roundRect">
            <a:avLst>
              <a:gd name="adj" fmla="val 10000"/>
            </a:avLst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23559" y="1234440"/>
            <a:ext cx="29443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C23"/>
                </a:solidFill>
                <a:latin typeface="Ubuntu"/>
              </a:rPr>
              <a:t>ArgoCD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19656"/>
            <a:ext cx="1801367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819656"/>
            <a:ext cx="82296" cy="841248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19656"/>
            <a:ext cx="1554479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81C23"/>
                </a:solidFill>
                <a:latin typeface="Ubuntu"/>
              </a:rPr>
              <a:t>Objetivo principal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39" y="1819656"/>
            <a:ext cx="317296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42032" y="1819656"/>
            <a:ext cx="29352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Gerenciar e parametrizar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pacotes da aplicação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59" y="1819656"/>
            <a:ext cx="294436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88151" y="1819656"/>
            <a:ext cx="27066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Implantação contínua 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sincronização GitOps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752344"/>
            <a:ext cx="1801367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2752344"/>
            <a:ext cx="82296" cy="841248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2752344"/>
            <a:ext cx="1554479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81C23"/>
                </a:solidFill>
                <a:latin typeface="Ubuntu"/>
              </a:rPr>
              <a:t>Analogia didática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39" y="2752344"/>
            <a:ext cx="317296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42032" y="2752344"/>
            <a:ext cx="29352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O livro de receitas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empacotado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59" y="2752344"/>
            <a:ext cx="294436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88151" y="2752344"/>
            <a:ext cx="27066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O robô cozinheiro que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segue a receita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685032"/>
            <a:ext cx="1801367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3685032"/>
            <a:ext cx="82296" cy="841248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3685032"/>
            <a:ext cx="1554479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81C23"/>
                </a:solidFill>
                <a:latin typeface="Ubuntu"/>
              </a:rPr>
              <a:t>Atua principalmente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39" y="3685032"/>
            <a:ext cx="317296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542032" y="3685032"/>
            <a:ext cx="29352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Antes do deploy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(empacotamento)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59" y="3685032"/>
            <a:ext cx="294436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88151" y="3685032"/>
            <a:ext cx="2706624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Durante e após o deploy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(sincronização contínua)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wirl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960120"/>
            <a:ext cx="3840480" cy="2377440"/>
          </a:xfrm>
          <a:prstGeom prst="rect">
            <a:avLst/>
          </a:prstGeom>
        </p:spPr>
      </p:pic>
      <p:pic>
        <p:nvPicPr>
          <p:cNvPr id="3" name="Picture 2" descr="_top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_top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92624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417320"/>
            <a:ext cx="146304" cy="2331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0E550"/>
                </a:solidFill>
                <a:latin typeface="Lato"/>
              </a:rPr>
              <a:t>MÃOS À OBRA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69494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FDF8"/>
                </a:solidFill>
                <a:latin typeface="Ubuntu"/>
              </a:rPr>
              <a:t>Exemplo prático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67665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9CDD4"/>
                </a:solidFill>
                <a:latin typeface="Lato"/>
              </a:rPr>
              <a:t>Vamos estruturar um repositório GitOps de verdade: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C9CDD4"/>
                </a:solidFill>
                <a:latin typeface="Lato"/>
              </a:rPr>
              <a:t>• o </a:t>
            </a:r>
            <a:r>
              <a:rPr sz="1350" b="1">
                <a:solidFill>
                  <a:srgbClr val="50E550"/>
                </a:solidFill>
                <a:latin typeface="Lato"/>
              </a:rPr>
              <a:t>Chart do Helm</a:t>
            </a:r>
            <a:r>
              <a:rPr sz="1350" b="0">
                <a:solidFill>
                  <a:srgbClr val="C9CDD4"/>
                </a:solidFill>
                <a:latin typeface="Lato"/>
              </a:rPr>
              <a:t>  (a receita da aplicação)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C9CDD4"/>
                </a:solidFill>
                <a:latin typeface="Lato"/>
              </a:rPr>
              <a:t>• o </a:t>
            </a:r>
            <a:r>
              <a:rPr sz="1350" b="1">
                <a:solidFill>
                  <a:srgbClr val="50E550"/>
                </a:solidFill>
                <a:latin typeface="Lato"/>
              </a:rPr>
              <a:t>Application do ArgoCD</a:t>
            </a:r>
            <a:r>
              <a:rPr sz="1350" b="0">
                <a:solidFill>
                  <a:srgbClr val="C9CDD4"/>
                </a:solidFill>
                <a:latin typeface="Lato"/>
              </a:rPr>
              <a:t>  (o piloto automático)</a:t>
            </a:r>
          </a:p>
        </p:txBody>
      </p:sp>
      <p:pic>
        <p:nvPicPr>
          <p:cNvPr id="9" name="Picture 8" descr="He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703320"/>
            <a:ext cx="713232" cy="713232"/>
          </a:xfrm>
          <a:prstGeom prst="rect">
            <a:avLst/>
          </a:prstGeom>
        </p:spPr>
      </p:pic>
      <p:pic>
        <p:nvPicPr>
          <p:cNvPr id="10" name="Picture 9" descr="ArgoC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3675887"/>
            <a:ext cx="749808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1. Organizando a estrutura no 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07899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81C23"/>
                </a:solidFill>
                <a:latin typeface="Lato"/>
              </a:rPr>
              <a:t>Boa prática GitOps: separe os </a:t>
            </a:r>
            <a:r>
              <a:rPr sz="1300" b="1">
                <a:solidFill>
                  <a:srgbClr val="2371FF"/>
                </a:solidFill>
                <a:latin typeface="Lato"/>
              </a:rPr>
              <a:t>Charts do Helm</a:t>
            </a:r>
            <a:r>
              <a:rPr sz="1300" b="0">
                <a:solidFill>
                  <a:srgbClr val="181C23"/>
                </a:solidFill>
                <a:latin typeface="Lato"/>
              </a:rPr>
              <a:t> das </a:t>
            </a:r>
            <a:r>
              <a:rPr sz="1300" b="1">
                <a:solidFill>
                  <a:srgbClr val="50E550"/>
                </a:solidFill>
                <a:latin typeface="Lato"/>
              </a:rPr>
              <a:t>configurações do ArgoCD</a:t>
            </a:r>
            <a:r>
              <a:rPr sz="1300" b="0">
                <a:solidFill>
                  <a:srgbClr val="181C23"/>
                </a:solidFill>
                <a:latin typeface="Lato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7589520" cy="2880360"/>
          </a:xfrm>
          <a:prstGeom prst="roundRect">
            <a:avLst>
              <a:gd name="adj" fmla="val 40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7589520" cy="256032"/>
          </a:xfrm>
          <a:prstGeom prst="roundRect">
            <a:avLst>
              <a:gd name="adj" fmla="val 4000"/>
            </a:avLst>
          </a:prstGeom>
          <a:solidFill>
            <a:srgbClr val="2A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05256" y="1741932"/>
            <a:ext cx="64008" cy="6400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1560" y="1741932"/>
            <a:ext cx="64008" cy="6400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97864" y="1741932"/>
            <a:ext cx="64008" cy="6400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44168" y="1645920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BEC7"/>
                </a:solidFill>
                <a:latin typeface="Consolas"/>
              </a:rPr>
              <a:t>estrutura do repositório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75104"/>
            <a:ext cx="7260336" cy="2496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8CC8FF"/>
                </a:solidFill>
                <a:latin typeface="Consolas"/>
              </a:rPr>
              <a:t>meu-projeto-gitops/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├── </a:t>
            </a:r>
            <a:r>
              <a:rPr sz="1050">
                <a:solidFill>
                  <a:srgbClr val="8CC8FF"/>
                </a:solidFill>
                <a:latin typeface="Consolas"/>
              </a:rPr>
              <a:t>helm/                       </a:t>
            </a:r>
            <a:r>
              <a:rPr sz="1050">
                <a:solidFill>
                  <a:srgbClr val="7CA86A"/>
                </a:solidFill>
                <a:latin typeface="Consolas"/>
              </a:rPr>
              <a:t># A "receita" da aplicação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│   └── </a:t>
            </a:r>
            <a:r>
              <a:rPr sz="1050">
                <a:solidFill>
                  <a:srgbClr val="8CC8FF"/>
                </a:solidFill>
                <a:latin typeface="Consolas"/>
              </a:rPr>
              <a:t>minha-app/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│       ├── </a:t>
            </a:r>
            <a:r>
              <a:rPr sz="1050">
                <a:solidFill>
                  <a:srgbClr val="D4D8E0"/>
                </a:solidFill>
                <a:latin typeface="Consolas"/>
              </a:rPr>
              <a:t>Chart.yaml          </a:t>
            </a:r>
            <a:r>
              <a:rPr sz="1050">
                <a:solidFill>
                  <a:srgbClr val="7CA86A"/>
                </a:solidFill>
                <a:latin typeface="Consolas"/>
              </a:rPr>
              <a:t># Metadados do Chart (nome, versão)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│       ├── </a:t>
            </a:r>
            <a:r>
              <a:rPr sz="1050">
                <a:solidFill>
                  <a:srgbClr val="D4D8E0"/>
                </a:solidFill>
                <a:latin typeface="Consolas"/>
              </a:rPr>
              <a:t>values.yaml         </a:t>
            </a:r>
            <a:r>
              <a:rPr sz="1050">
                <a:solidFill>
                  <a:srgbClr val="7CA86A"/>
                </a:solidFill>
                <a:latin typeface="Consolas"/>
              </a:rPr>
              <a:t># Valores padrão da aplicação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│       └── </a:t>
            </a:r>
            <a:r>
              <a:rPr sz="1050">
                <a:solidFill>
                  <a:srgbClr val="8CC8FF"/>
                </a:solidFill>
                <a:latin typeface="Consolas"/>
              </a:rPr>
              <a:t>templates/          </a:t>
            </a:r>
            <a:r>
              <a:rPr sz="1050">
                <a:solidFill>
                  <a:srgbClr val="7CA86A"/>
                </a:solidFill>
                <a:latin typeface="Consolas"/>
              </a:rPr>
              <a:t># Modelos de arquivos Kubernetes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│           ├── </a:t>
            </a:r>
            <a:r>
              <a:rPr sz="1050">
                <a:solidFill>
                  <a:srgbClr val="D4D8E0"/>
                </a:solidFill>
                <a:latin typeface="Consolas"/>
              </a:rPr>
              <a:t>deployment.yaml </a:t>
            </a:r>
            <a:r>
              <a:rPr sz="1050">
                <a:solidFill>
                  <a:srgbClr val="7CA86A"/>
                </a:solidFill>
                <a:latin typeface="Consolas"/>
              </a:rPr>
              <a:t># Como a aplicação vai rodar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│           └── </a:t>
            </a:r>
            <a:r>
              <a:rPr sz="1050">
                <a:solidFill>
                  <a:srgbClr val="D4D8E0"/>
                </a:solidFill>
                <a:latin typeface="Consolas"/>
              </a:rPr>
              <a:t>service.yaml    </a:t>
            </a:r>
            <a:r>
              <a:rPr sz="1050">
                <a:solidFill>
                  <a:srgbClr val="7CA86A"/>
                </a:solidFill>
                <a:latin typeface="Consolas"/>
              </a:rPr>
              <a:t># Como é exposta na rede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└── </a:t>
            </a:r>
            <a:r>
              <a:rPr sz="1050">
                <a:solidFill>
                  <a:srgbClr val="8CC8FF"/>
                </a:solidFill>
                <a:latin typeface="Consolas"/>
              </a:rPr>
              <a:t>argocd/                     </a:t>
            </a:r>
            <a:r>
              <a:rPr sz="1050">
                <a:solidFill>
                  <a:srgbClr val="7CA86A"/>
                </a:solidFill>
                <a:latin typeface="Consolas"/>
              </a:rPr>
              <a:t># O "piloto automático"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9AA0AA"/>
                </a:solidFill>
                <a:latin typeface="Consolas"/>
              </a:rPr>
              <a:t>    └── </a:t>
            </a:r>
            <a:r>
              <a:rPr sz="1050">
                <a:solidFill>
                  <a:srgbClr val="D4D8E0"/>
                </a:solidFill>
                <a:latin typeface="Consolas"/>
              </a:rPr>
              <a:t>application.yaml        </a:t>
            </a:r>
            <a:r>
              <a:rPr sz="1050">
                <a:solidFill>
                  <a:srgbClr val="7CA86A"/>
                </a:solidFill>
                <a:latin typeface="Consolas"/>
              </a:rPr>
              <a:t># O que o ArgoCD deve sincronizar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2. Arquivos do Helm — Chart &amp;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pic>
        <p:nvPicPr>
          <p:cNvPr id="7" name="Picture 6" descr="He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7432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06070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81C23"/>
                </a:solidFill>
                <a:latin typeface="Lato"/>
              </a:rPr>
              <a:t>O Helm junta os </a:t>
            </a:r>
            <a:r>
              <a:rPr sz="1250" b="1">
                <a:solidFill>
                  <a:srgbClr val="2371FF"/>
                </a:solidFill>
                <a:latin typeface="Lato"/>
              </a:rPr>
              <a:t>templates</a:t>
            </a:r>
            <a:r>
              <a:rPr sz="1250" b="0">
                <a:solidFill>
                  <a:srgbClr val="181C23"/>
                </a:solidFill>
                <a:latin typeface="Lato"/>
              </a:rPr>
              <a:t> com as variáveis do </a:t>
            </a:r>
            <a:r>
              <a:rPr sz="1250" b="1">
                <a:solidFill>
                  <a:srgbClr val="50E550"/>
                </a:solidFill>
                <a:latin typeface="Lato"/>
              </a:rPr>
              <a:t>values.yaml</a:t>
            </a:r>
            <a:r>
              <a:rPr sz="1250" b="0">
                <a:solidFill>
                  <a:srgbClr val="181C23"/>
                </a:solidFill>
                <a:latin typeface="Lato"/>
              </a:rPr>
              <a:t> para gerar o YAML final.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977639" cy="3063240"/>
          </a:xfrm>
          <a:prstGeom prst="roundRect">
            <a:avLst>
              <a:gd name="adj" fmla="val 45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3977639" cy="256032"/>
          </a:xfrm>
          <a:prstGeom prst="roundRect">
            <a:avLst>
              <a:gd name="adj" fmla="val 4500"/>
            </a:avLst>
          </a:prstGeom>
          <a:solidFill>
            <a:srgbClr val="2A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0936" y="1577340"/>
            <a:ext cx="64008" cy="6400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1577340"/>
            <a:ext cx="64008" cy="6400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3544" y="1577340"/>
            <a:ext cx="64008" cy="6400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1481328"/>
            <a:ext cx="306323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BEC7"/>
                </a:solidFill>
                <a:latin typeface="Consolas"/>
              </a:rPr>
              <a:t>Chart.yaml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792224"/>
            <a:ext cx="3666744" cy="2697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CC8FF"/>
                </a:solidFill>
                <a:latin typeface="Consolas"/>
              </a:rPr>
              <a:t>apiVersion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D4D8E0"/>
                </a:solidFill>
                <a:latin typeface="Consolas"/>
              </a:rPr>
              <a:t>v2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CC8FF"/>
                </a:solidFill>
                <a:latin typeface="Consolas"/>
              </a:rPr>
              <a:t>name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D4D8E0"/>
                </a:solidFill>
                <a:latin typeface="Consolas"/>
              </a:rPr>
              <a:t>minha-app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CC8FF"/>
                </a:solidFill>
                <a:latin typeface="Consolas"/>
              </a:rPr>
              <a:t>description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D4D8E0"/>
                </a:solidFill>
                <a:latin typeface="Consolas"/>
              </a:rPr>
              <a:t>Chart Helm de exemplo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CC8FF"/>
                </a:solidFill>
                <a:latin typeface="Consolas"/>
              </a:rPr>
              <a:t>type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D4D8E0"/>
                </a:solidFill>
                <a:latin typeface="Consolas"/>
              </a:rPr>
              <a:t>application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CC8FF"/>
                </a:solidFill>
                <a:latin typeface="Consolas"/>
              </a:rPr>
              <a:t>version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D4D8E0"/>
                </a:solidFill>
                <a:latin typeface="Consolas"/>
              </a:rPr>
              <a:t>1.0.0       </a:t>
            </a:r>
            <a:r>
              <a:rPr sz="1100" b="0">
                <a:solidFill>
                  <a:srgbClr val="7CA86A"/>
                </a:solidFill>
                <a:latin typeface="Consolas"/>
              </a:rPr>
              <a:t># Versão do pacote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CC8FF"/>
                </a:solidFill>
                <a:latin typeface="Consolas"/>
              </a:rPr>
              <a:t>appVersion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E0A17A"/>
                </a:solidFill>
                <a:latin typeface="Consolas"/>
              </a:rPr>
              <a:t>"2.0.0"  </a:t>
            </a:r>
            <a:r>
              <a:rPr sz="1100" b="0">
                <a:solidFill>
                  <a:srgbClr val="7CA86A"/>
                </a:solidFill>
                <a:latin typeface="Consolas"/>
              </a:rPr>
              <a:t># Versão da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481328"/>
            <a:ext cx="3977639" cy="3063240"/>
          </a:xfrm>
          <a:prstGeom prst="roundRect">
            <a:avLst>
              <a:gd name="adj" fmla="val 45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63440" y="1481328"/>
            <a:ext cx="3977639" cy="256032"/>
          </a:xfrm>
          <a:prstGeom prst="roundRect">
            <a:avLst>
              <a:gd name="adj" fmla="val 4500"/>
            </a:avLst>
          </a:prstGeom>
          <a:solidFill>
            <a:srgbClr val="2A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91455" y="1577340"/>
            <a:ext cx="64008" cy="6400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7759" y="1577340"/>
            <a:ext cx="64008" cy="6400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84064" y="1577340"/>
            <a:ext cx="64008" cy="6400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30368" y="1481328"/>
            <a:ext cx="306323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BEC7"/>
                </a:solidFill>
                <a:latin typeface="Consolas"/>
              </a:rPr>
              <a:t>values.yaml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1" y="1792224"/>
            <a:ext cx="3666744" cy="2697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CC8FF"/>
                </a:solidFill>
                <a:latin typeface="Consolas"/>
              </a:rPr>
              <a:t>replicaCount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B5CEA8"/>
                </a:solidFill>
                <a:latin typeface="Consolas"/>
              </a:rPr>
              <a:t>2      </a:t>
            </a:r>
            <a:r>
              <a:rPr sz="1100" b="0">
                <a:solidFill>
                  <a:srgbClr val="7CA86A"/>
                </a:solidFill>
                <a:latin typeface="Consolas"/>
              </a:rPr>
              <a:t># cópias (pods)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8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CC8FF"/>
                </a:solidFill>
                <a:latin typeface="Consolas"/>
              </a:rPr>
              <a:t>image</a:t>
            </a:r>
            <a:r>
              <a:rPr sz="110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8E0"/>
                </a:solidFill>
                <a:latin typeface="Consolas"/>
              </a:rPr>
              <a:t>  </a:t>
            </a:r>
            <a:r>
              <a:rPr sz="1100" b="0">
                <a:solidFill>
                  <a:srgbClr val="8CC8FF"/>
                </a:solidFill>
                <a:latin typeface="Consolas"/>
              </a:rPr>
              <a:t>repository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D4D8E0"/>
                </a:solidFill>
                <a:latin typeface="Consolas"/>
              </a:rPr>
              <a:t>nginx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8E0"/>
                </a:solidFill>
                <a:latin typeface="Consolas"/>
              </a:rPr>
              <a:t>  </a:t>
            </a:r>
            <a:r>
              <a:rPr sz="1100" b="0">
                <a:solidFill>
                  <a:srgbClr val="8CC8FF"/>
                </a:solidFill>
                <a:latin typeface="Consolas"/>
              </a:rPr>
              <a:t>tag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E0A17A"/>
                </a:solidFill>
                <a:latin typeface="Consolas"/>
              </a:rPr>
              <a:t>"1.25"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8E0"/>
                </a:solidFill>
                <a:latin typeface="Consolas"/>
              </a:rPr>
              <a:t>  </a:t>
            </a:r>
            <a:r>
              <a:rPr sz="1100" b="0">
                <a:solidFill>
                  <a:srgbClr val="8CC8FF"/>
                </a:solidFill>
                <a:latin typeface="Consolas"/>
              </a:rPr>
              <a:t>pullPolicy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D4D8E0"/>
                </a:solidFill>
                <a:latin typeface="Consolas"/>
              </a:rPr>
              <a:t>IfNotPresent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8E0"/>
                </a:solidFill>
                <a:latin typeface="Consolas"/>
              </a:rPr>
              <a:t>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CC8FF"/>
                </a:solidFill>
                <a:latin typeface="Consolas"/>
              </a:rPr>
              <a:t>service</a:t>
            </a:r>
            <a:r>
              <a:rPr sz="110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8E0"/>
                </a:solidFill>
                <a:latin typeface="Consolas"/>
              </a:rPr>
              <a:t>  </a:t>
            </a:r>
            <a:r>
              <a:rPr sz="1100" b="0">
                <a:solidFill>
                  <a:srgbClr val="8CC8FF"/>
                </a:solidFill>
                <a:latin typeface="Consolas"/>
              </a:rPr>
              <a:t>type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D4D8E0"/>
                </a:solidFill>
                <a:latin typeface="Consolas"/>
              </a:rPr>
              <a:t>ClusterIP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4D8E0"/>
                </a:solidFill>
                <a:latin typeface="Consolas"/>
              </a:rPr>
              <a:t>  </a:t>
            </a:r>
            <a:r>
              <a:rPr sz="1100" b="0">
                <a:solidFill>
                  <a:srgbClr val="8CC8FF"/>
                </a:solidFill>
                <a:latin typeface="Consolas"/>
              </a:rPr>
              <a:t>port</a:t>
            </a:r>
            <a:r>
              <a:rPr sz="1100" b="0">
                <a:solidFill>
                  <a:srgbClr val="9AA0AA"/>
                </a:solidFill>
                <a:latin typeface="Consolas"/>
              </a:rPr>
              <a:t>: </a:t>
            </a:r>
            <a:r>
              <a:rPr sz="1100" b="0">
                <a:solidFill>
                  <a:srgbClr val="B5CEA8"/>
                </a:solidFill>
                <a:latin typeface="Consolas"/>
              </a:rP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53712"/>
            <a:ext cx="39776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5E66"/>
                </a:solidFill>
                <a:latin typeface="Lato"/>
              </a:rPr>
              <a:t>A certidão de nascimento do pacote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53712"/>
            <a:ext cx="397763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5E66"/>
                </a:solidFill>
                <a:latin typeface="Lato"/>
              </a:rPr>
              <a:t>As variáveis que os alunos podem alterar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2. Arquivos do Helm — Templates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pic>
        <p:nvPicPr>
          <p:cNvPr id="7" name="Picture 6" descr="He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74320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06070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81C23"/>
                </a:solidFill>
                <a:latin typeface="Lato"/>
              </a:rPr>
              <a:t>Os templates usam as variáveis via </a:t>
            </a:r>
            <a:r>
              <a:rPr sz="1200" b="1">
                <a:solidFill>
                  <a:srgbClr val="B88A2E"/>
                </a:solidFill>
                <a:latin typeface="Consolas"/>
              </a:rPr>
              <a:t>{{ .Values ... }}</a:t>
            </a:r>
            <a:r>
              <a:rPr sz="1250" b="0">
                <a:solidFill>
                  <a:srgbClr val="181C23"/>
                </a:solidFill>
                <a:latin typeface="Lato"/>
              </a:rPr>
              <a:t> — nada é fixo no código.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4709160" cy="3127248"/>
          </a:xfrm>
          <a:prstGeom prst="roundRect">
            <a:avLst>
              <a:gd name="adj" fmla="val 45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4709160" cy="256032"/>
          </a:xfrm>
          <a:prstGeom prst="roundRect">
            <a:avLst>
              <a:gd name="adj" fmla="val 4500"/>
            </a:avLst>
          </a:prstGeom>
          <a:solidFill>
            <a:srgbClr val="2A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0936" y="1577340"/>
            <a:ext cx="64008" cy="6400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1577340"/>
            <a:ext cx="64008" cy="6400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3544" y="1577340"/>
            <a:ext cx="64008" cy="6400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148132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BEC7"/>
                </a:solidFill>
                <a:latin typeface="Consolas"/>
              </a:rPr>
              <a:t>templates/deployment.yaml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792224"/>
            <a:ext cx="4398264" cy="2761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8CC8FF"/>
                </a:solidFill>
                <a:latin typeface="Consolas"/>
              </a:rPr>
              <a:t>apiVersion</a:t>
            </a:r>
            <a:r>
              <a:rPr sz="840" b="0">
                <a:solidFill>
                  <a:srgbClr val="9AA0AA"/>
                </a:solidFill>
                <a:latin typeface="Consolas"/>
              </a:rPr>
              <a:t>: </a:t>
            </a:r>
            <a:r>
              <a:rPr sz="840" b="0">
                <a:solidFill>
                  <a:srgbClr val="D4D8E0"/>
                </a:solidFill>
                <a:latin typeface="Consolas"/>
              </a:rPr>
              <a:t>apps/v1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8CC8FF"/>
                </a:solidFill>
                <a:latin typeface="Consolas"/>
              </a:rPr>
              <a:t>kind</a:t>
            </a:r>
            <a:r>
              <a:rPr sz="840" b="0">
                <a:solidFill>
                  <a:srgbClr val="9AA0AA"/>
                </a:solidFill>
                <a:latin typeface="Consolas"/>
              </a:rPr>
              <a:t>: </a:t>
            </a:r>
            <a:r>
              <a:rPr sz="840" b="0">
                <a:solidFill>
                  <a:srgbClr val="D4D8E0"/>
                </a:solidFill>
                <a:latin typeface="Consolas"/>
              </a:rPr>
              <a:t>Deployment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8CC8FF"/>
                </a:solidFill>
                <a:latin typeface="Consolas"/>
              </a:rPr>
              <a:t>metadata</a:t>
            </a:r>
            <a:r>
              <a:rPr sz="84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</a:t>
            </a:r>
            <a:r>
              <a:rPr sz="840" b="0">
                <a:solidFill>
                  <a:srgbClr val="8CC8FF"/>
                </a:solidFill>
                <a:latin typeface="Consolas"/>
              </a:rPr>
              <a:t>name</a:t>
            </a:r>
            <a:r>
              <a:rPr sz="840" b="0">
                <a:solidFill>
                  <a:srgbClr val="9AA0AA"/>
                </a:solidFill>
                <a:latin typeface="Consolas"/>
              </a:rPr>
              <a:t>: </a:t>
            </a:r>
            <a:r>
              <a:rPr sz="840" b="0">
                <a:solidFill>
                  <a:srgbClr val="E5C07B"/>
                </a:solidFill>
                <a:latin typeface="Consolas"/>
              </a:rPr>
              <a:t>{{ .Release.Name }}</a:t>
            </a:r>
            <a:r>
              <a:rPr sz="840" b="0">
                <a:solidFill>
                  <a:srgbClr val="D4D8E0"/>
                </a:solidFill>
                <a:latin typeface="Consolas"/>
              </a:rPr>
              <a:t>-deployment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8CC8FF"/>
                </a:solidFill>
                <a:latin typeface="Consolas"/>
              </a:rPr>
              <a:t>spec</a:t>
            </a:r>
            <a:r>
              <a:rPr sz="84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</a:t>
            </a:r>
            <a:r>
              <a:rPr sz="840" b="0">
                <a:solidFill>
                  <a:srgbClr val="8CC8FF"/>
                </a:solidFill>
                <a:latin typeface="Consolas"/>
              </a:rPr>
              <a:t>replicas</a:t>
            </a:r>
            <a:r>
              <a:rPr sz="840" b="0">
                <a:solidFill>
                  <a:srgbClr val="9AA0AA"/>
                </a:solidFill>
                <a:latin typeface="Consolas"/>
              </a:rPr>
              <a:t>: </a:t>
            </a:r>
            <a:r>
              <a:rPr sz="840" b="0">
                <a:solidFill>
                  <a:srgbClr val="E5C07B"/>
                </a:solidFill>
                <a:latin typeface="Consolas"/>
              </a:rPr>
              <a:t>{{ .Values.replicaCount }}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</a:t>
            </a:r>
            <a:r>
              <a:rPr sz="840" b="0">
                <a:solidFill>
                  <a:srgbClr val="8CC8FF"/>
                </a:solidFill>
                <a:latin typeface="Consolas"/>
              </a:rPr>
              <a:t>selector</a:t>
            </a:r>
            <a:r>
              <a:rPr sz="84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</a:t>
            </a:r>
            <a:r>
              <a:rPr sz="840" b="0">
                <a:solidFill>
                  <a:srgbClr val="8CC8FF"/>
                </a:solidFill>
                <a:latin typeface="Consolas"/>
              </a:rPr>
              <a:t>matchLabels</a:t>
            </a:r>
            <a:r>
              <a:rPr sz="84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  </a:t>
            </a:r>
            <a:r>
              <a:rPr sz="840" b="0">
                <a:solidFill>
                  <a:srgbClr val="8CC8FF"/>
                </a:solidFill>
                <a:latin typeface="Consolas"/>
              </a:rPr>
              <a:t>app</a:t>
            </a:r>
            <a:r>
              <a:rPr sz="840" b="0">
                <a:solidFill>
                  <a:srgbClr val="9AA0AA"/>
                </a:solidFill>
                <a:latin typeface="Consolas"/>
              </a:rPr>
              <a:t>: </a:t>
            </a:r>
            <a:r>
              <a:rPr sz="840" b="0">
                <a:solidFill>
                  <a:srgbClr val="E5C07B"/>
                </a:solidFill>
                <a:latin typeface="Consolas"/>
              </a:rPr>
              <a:t>{{ .Release.Name }}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</a:t>
            </a:r>
            <a:r>
              <a:rPr sz="840" b="0">
                <a:solidFill>
                  <a:srgbClr val="8CC8FF"/>
                </a:solidFill>
                <a:latin typeface="Consolas"/>
              </a:rPr>
              <a:t>template</a:t>
            </a:r>
            <a:r>
              <a:rPr sz="84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</a:t>
            </a:r>
            <a:r>
              <a:rPr sz="840" b="0">
                <a:solidFill>
                  <a:srgbClr val="8CC8FF"/>
                </a:solidFill>
                <a:latin typeface="Consolas"/>
              </a:rPr>
              <a:t>metadata</a:t>
            </a:r>
            <a:r>
              <a:rPr sz="84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  </a:t>
            </a:r>
            <a:r>
              <a:rPr sz="840" b="0">
                <a:solidFill>
                  <a:srgbClr val="8CC8FF"/>
                </a:solidFill>
                <a:latin typeface="Consolas"/>
              </a:rPr>
              <a:t>labels</a:t>
            </a:r>
            <a:r>
              <a:rPr sz="84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    </a:t>
            </a:r>
            <a:r>
              <a:rPr sz="840" b="0">
                <a:solidFill>
                  <a:srgbClr val="8CC8FF"/>
                </a:solidFill>
                <a:latin typeface="Consolas"/>
              </a:rPr>
              <a:t>app</a:t>
            </a:r>
            <a:r>
              <a:rPr sz="840" b="0">
                <a:solidFill>
                  <a:srgbClr val="9AA0AA"/>
                </a:solidFill>
                <a:latin typeface="Consolas"/>
              </a:rPr>
              <a:t>: </a:t>
            </a:r>
            <a:r>
              <a:rPr sz="840" b="0">
                <a:solidFill>
                  <a:srgbClr val="E5C07B"/>
                </a:solidFill>
                <a:latin typeface="Consolas"/>
              </a:rPr>
              <a:t>{{ .Release.Name }}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</a:t>
            </a:r>
            <a:r>
              <a:rPr sz="840" b="0">
                <a:solidFill>
                  <a:srgbClr val="8CC8FF"/>
                </a:solidFill>
                <a:latin typeface="Consolas"/>
              </a:rPr>
              <a:t>spec</a:t>
            </a:r>
            <a:r>
              <a:rPr sz="84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  </a:t>
            </a:r>
            <a:r>
              <a:rPr sz="840" b="0">
                <a:solidFill>
                  <a:srgbClr val="8CC8FF"/>
                </a:solidFill>
                <a:latin typeface="Consolas"/>
              </a:rPr>
              <a:t>containers</a:t>
            </a:r>
            <a:r>
              <a:rPr sz="84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    </a:t>
            </a:r>
            <a:r>
              <a:rPr sz="840" b="0">
                <a:solidFill>
                  <a:srgbClr val="9AA0AA"/>
                </a:solidFill>
                <a:latin typeface="Consolas"/>
              </a:rPr>
              <a:t>- </a:t>
            </a:r>
            <a:r>
              <a:rPr sz="840" b="0">
                <a:solidFill>
                  <a:srgbClr val="8CC8FF"/>
                </a:solidFill>
                <a:latin typeface="Consolas"/>
              </a:rPr>
              <a:t>name</a:t>
            </a:r>
            <a:r>
              <a:rPr sz="840" b="0">
                <a:solidFill>
                  <a:srgbClr val="9AA0AA"/>
                </a:solidFill>
                <a:latin typeface="Consolas"/>
              </a:rPr>
              <a:t>: </a:t>
            </a:r>
            <a:r>
              <a:rPr sz="840" b="0">
                <a:solidFill>
                  <a:srgbClr val="E5C07B"/>
                </a:solidFill>
                <a:latin typeface="Consolas"/>
              </a:rPr>
              <a:t>{{ .Chart.Name }}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      </a:t>
            </a:r>
            <a:r>
              <a:rPr sz="840" b="0">
                <a:solidFill>
                  <a:srgbClr val="8CC8FF"/>
                </a:solidFill>
                <a:latin typeface="Consolas"/>
              </a:rPr>
              <a:t>image</a:t>
            </a:r>
            <a:r>
              <a:rPr sz="840" b="0">
                <a:solidFill>
                  <a:srgbClr val="9AA0AA"/>
                </a:solidFill>
                <a:latin typeface="Consolas"/>
              </a:rPr>
              <a:t>: </a:t>
            </a:r>
            <a:r>
              <a:rPr sz="840" b="0">
                <a:solidFill>
                  <a:srgbClr val="E0A17A"/>
                </a:solidFill>
                <a:latin typeface="Consolas"/>
              </a:rPr>
              <a:t>"</a:t>
            </a:r>
            <a:r>
              <a:rPr sz="840" b="0">
                <a:solidFill>
                  <a:srgbClr val="E5C07B"/>
                </a:solidFill>
                <a:latin typeface="Consolas"/>
              </a:rPr>
              <a:t>{{ .Values.image.repository }}</a:t>
            </a:r>
            <a:r>
              <a:rPr sz="840" b="0">
                <a:solidFill>
                  <a:srgbClr val="D4D8E0"/>
                </a:solidFill>
                <a:latin typeface="Consolas"/>
              </a:rPr>
              <a:t>:</a:t>
            </a:r>
            <a:r>
              <a:rPr sz="840" b="0">
                <a:solidFill>
                  <a:srgbClr val="E5C07B"/>
                </a:solidFill>
                <a:latin typeface="Consolas"/>
              </a:rPr>
              <a:t>{{ .Values.image.tag }}</a:t>
            </a:r>
            <a:r>
              <a:rPr sz="840" b="0">
                <a:solidFill>
                  <a:srgbClr val="E0A17A"/>
                </a:solidFill>
                <a:latin typeface="Consolas"/>
              </a:rPr>
              <a:t>"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      </a:t>
            </a:r>
            <a:r>
              <a:rPr sz="840" b="0">
                <a:solidFill>
                  <a:srgbClr val="8CC8FF"/>
                </a:solidFill>
                <a:latin typeface="Consolas"/>
              </a:rPr>
              <a:t>ports</a:t>
            </a:r>
            <a:r>
              <a:rPr sz="84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D4D8E0"/>
                </a:solidFill>
                <a:latin typeface="Consolas"/>
              </a:rPr>
              <a:t>            </a:t>
            </a:r>
            <a:r>
              <a:rPr sz="840" b="0">
                <a:solidFill>
                  <a:srgbClr val="9AA0AA"/>
                </a:solidFill>
                <a:latin typeface="Consolas"/>
              </a:rPr>
              <a:t>- </a:t>
            </a:r>
            <a:r>
              <a:rPr sz="840" b="0">
                <a:solidFill>
                  <a:srgbClr val="8CC8FF"/>
                </a:solidFill>
                <a:latin typeface="Consolas"/>
              </a:rPr>
              <a:t>containerPort</a:t>
            </a:r>
            <a:r>
              <a:rPr sz="840" b="0">
                <a:solidFill>
                  <a:srgbClr val="9AA0AA"/>
                </a:solidFill>
                <a:latin typeface="Consolas"/>
              </a:rPr>
              <a:t>: </a:t>
            </a:r>
            <a:r>
              <a:rPr sz="840" b="0">
                <a:solidFill>
                  <a:srgbClr val="E5C07B"/>
                </a:solidFill>
                <a:latin typeface="Consolas"/>
              </a:rPr>
              <a:t>{{ .Values.service.port 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1481328"/>
            <a:ext cx="3246120" cy="3127248"/>
          </a:xfrm>
          <a:prstGeom prst="roundRect">
            <a:avLst>
              <a:gd name="adj" fmla="val 45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94960" y="1481328"/>
            <a:ext cx="3246120" cy="256032"/>
          </a:xfrm>
          <a:prstGeom prst="roundRect">
            <a:avLst>
              <a:gd name="adj" fmla="val 4500"/>
            </a:avLst>
          </a:prstGeom>
          <a:solidFill>
            <a:srgbClr val="2A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22976" y="1577340"/>
            <a:ext cx="64008" cy="6400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669280" y="1577340"/>
            <a:ext cx="64008" cy="6400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15584" y="1577340"/>
            <a:ext cx="64008" cy="6400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61888" y="1481328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BEC7"/>
                </a:solidFill>
                <a:latin typeface="Consolas"/>
              </a:rPr>
              <a:t>templates/service.yaml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1792224"/>
            <a:ext cx="2935224" cy="2761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C8FF"/>
                </a:solidFill>
                <a:latin typeface="Consolas"/>
              </a:rPr>
              <a:t>apiVersion</a:t>
            </a:r>
            <a:r>
              <a:rPr sz="900" b="0">
                <a:solidFill>
                  <a:srgbClr val="9AA0AA"/>
                </a:solidFill>
                <a:latin typeface="Consolas"/>
              </a:rPr>
              <a:t>: </a:t>
            </a:r>
            <a:r>
              <a:rPr sz="900" b="0">
                <a:solidFill>
                  <a:srgbClr val="D4D8E0"/>
                </a:solidFill>
                <a:latin typeface="Consolas"/>
              </a:rPr>
              <a:t>v1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C8FF"/>
                </a:solidFill>
                <a:latin typeface="Consolas"/>
              </a:rPr>
              <a:t>kind</a:t>
            </a:r>
            <a:r>
              <a:rPr sz="900" b="0">
                <a:solidFill>
                  <a:srgbClr val="9AA0AA"/>
                </a:solidFill>
                <a:latin typeface="Consolas"/>
              </a:rPr>
              <a:t>: </a:t>
            </a:r>
            <a:r>
              <a:rPr sz="900" b="0">
                <a:solidFill>
                  <a:srgbClr val="D4D8E0"/>
                </a:solidFill>
                <a:latin typeface="Consolas"/>
              </a:rPr>
              <a:t>Service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C8FF"/>
                </a:solidFill>
                <a:latin typeface="Consolas"/>
              </a:rPr>
              <a:t>metadata</a:t>
            </a:r>
            <a:r>
              <a:rPr sz="90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8E0"/>
                </a:solidFill>
                <a:latin typeface="Consolas"/>
              </a:rPr>
              <a:t>  </a:t>
            </a:r>
            <a:r>
              <a:rPr sz="900" b="0">
                <a:solidFill>
                  <a:srgbClr val="8CC8FF"/>
                </a:solidFill>
                <a:latin typeface="Consolas"/>
              </a:rPr>
              <a:t>name</a:t>
            </a:r>
            <a:r>
              <a:rPr sz="900" b="0">
                <a:solidFill>
                  <a:srgbClr val="9AA0AA"/>
                </a:solidFill>
                <a:latin typeface="Consolas"/>
              </a:rPr>
              <a:t>: </a:t>
            </a:r>
            <a:r>
              <a:rPr sz="900" b="0">
                <a:solidFill>
                  <a:srgbClr val="E5C07B"/>
                </a:solidFill>
                <a:latin typeface="Consolas"/>
              </a:rPr>
              <a:t>{{ .Release.Name }}</a:t>
            </a:r>
            <a:r>
              <a:rPr sz="900" b="0">
                <a:solidFill>
                  <a:srgbClr val="D4D8E0"/>
                </a:solidFill>
                <a:latin typeface="Consolas"/>
              </a:rPr>
              <a:t>-service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C8FF"/>
                </a:solidFill>
                <a:latin typeface="Consolas"/>
              </a:rPr>
              <a:t>spec</a:t>
            </a:r>
            <a:r>
              <a:rPr sz="90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8E0"/>
                </a:solidFill>
                <a:latin typeface="Consolas"/>
              </a:rPr>
              <a:t>  </a:t>
            </a:r>
            <a:r>
              <a:rPr sz="900" b="0">
                <a:solidFill>
                  <a:srgbClr val="8CC8FF"/>
                </a:solidFill>
                <a:latin typeface="Consolas"/>
              </a:rPr>
              <a:t>type</a:t>
            </a:r>
            <a:r>
              <a:rPr sz="900" b="0">
                <a:solidFill>
                  <a:srgbClr val="9AA0AA"/>
                </a:solidFill>
                <a:latin typeface="Consolas"/>
              </a:rPr>
              <a:t>: </a:t>
            </a:r>
            <a:r>
              <a:rPr sz="900" b="0">
                <a:solidFill>
                  <a:srgbClr val="E5C07B"/>
                </a:solidFill>
                <a:latin typeface="Consolas"/>
              </a:rPr>
              <a:t>{{ .Values.service.type }}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8E0"/>
                </a:solidFill>
                <a:latin typeface="Consolas"/>
              </a:rPr>
              <a:t>  </a:t>
            </a:r>
            <a:r>
              <a:rPr sz="900" b="0">
                <a:solidFill>
                  <a:srgbClr val="8CC8FF"/>
                </a:solidFill>
                <a:latin typeface="Consolas"/>
              </a:rPr>
              <a:t>ports</a:t>
            </a:r>
            <a:r>
              <a:rPr sz="90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8E0"/>
                </a:solidFill>
                <a:latin typeface="Consolas"/>
              </a:rPr>
              <a:t>    </a:t>
            </a:r>
            <a:r>
              <a:rPr sz="900" b="0">
                <a:solidFill>
                  <a:srgbClr val="9AA0AA"/>
                </a:solidFill>
                <a:latin typeface="Consolas"/>
              </a:rPr>
              <a:t>- </a:t>
            </a:r>
            <a:r>
              <a:rPr sz="900" b="0">
                <a:solidFill>
                  <a:srgbClr val="8CC8FF"/>
                </a:solidFill>
                <a:latin typeface="Consolas"/>
              </a:rPr>
              <a:t>port</a:t>
            </a:r>
            <a:r>
              <a:rPr sz="900" b="0">
                <a:solidFill>
                  <a:srgbClr val="9AA0AA"/>
                </a:solidFill>
                <a:latin typeface="Consolas"/>
              </a:rPr>
              <a:t>: </a:t>
            </a:r>
            <a:r>
              <a:rPr sz="900" b="0">
                <a:solidFill>
                  <a:srgbClr val="E5C07B"/>
                </a:solidFill>
                <a:latin typeface="Consolas"/>
              </a:rPr>
              <a:t>{{ .Values.service.port }}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8E0"/>
                </a:solidFill>
                <a:latin typeface="Consolas"/>
              </a:rPr>
              <a:t>      </a:t>
            </a:r>
            <a:r>
              <a:rPr sz="900" b="0">
                <a:solidFill>
                  <a:srgbClr val="8CC8FF"/>
                </a:solidFill>
                <a:latin typeface="Consolas"/>
              </a:rPr>
              <a:t>targetPort</a:t>
            </a:r>
            <a:r>
              <a:rPr sz="900" b="0">
                <a:solidFill>
                  <a:srgbClr val="9AA0AA"/>
                </a:solidFill>
                <a:latin typeface="Consolas"/>
              </a:rPr>
              <a:t>: </a:t>
            </a:r>
            <a:r>
              <a:rPr sz="900" b="0">
                <a:solidFill>
                  <a:srgbClr val="E5C07B"/>
                </a:solidFill>
                <a:latin typeface="Consolas"/>
              </a:rPr>
              <a:t>{{ .Values.service.port }}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8E0"/>
                </a:solidFill>
                <a:latin typeface="Consolas"/>
              </a:rPr>
              <a:t>  </a:t>
            </a:r>
            <a:r>
              <a:rPr sz="900" b="0">
                <a:solidFill>
                  <a:srgbClr val="8CC8FF"/>
                </a:solidFill>
                <a:latin typeface="Consolas"/>
              </a:rPr>
              <a:t>selector</a:t>
            </a:r>
            <a:r>
              <a:rPr sz="90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4D8E0"/>
                </a:solidFill>
                <a:latin typeface="Consolas"/>
              </a:rPr>
              <a:t>    </a:t>
            </a:r>
            <a:r>
              <a:rPr sz="900" b="0">
                <a:solidFill>
                  <a:srgbClr val="8CC8FF"/>
                </a:solidFill>
                <a:latin typeface="Consolas"/>
              </a:rPr>
              <a:t>app</a:t>
            </a:r>
            <a:r>
              <a:rPr sz="900" b="0">
                <a:solidFill>
                  <a:srgbClr val="9AA0AA"/>
                </a:solidFill>
                <a:latin typeface="Consolas"/>
              </a:rPr>
              <a:t>: </a:t>
            </a:r>
            <a:r>
              <a:rPr sz="900" b="0">
                <a:solidFill>
                  <a:srgbClr val="E5C07B"/>
                </a:solidFill>
                <a:latin typeface="Consolas"/>
              </a:rPr>
              <a:t>{{ .Release.Name 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3. Arquivo do ArgoCD — a mágica do GitOps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pic>
        <p:nvPicPr>
          <p:cNvPr id="7" name="Picture 6" descr="Argo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56032"/>
            <a:ext cx="603504" cy="603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060704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81C23"/>
                </a:solidFill>
                <a:latin typeface="Lato"/>
              </a:rPr>
              <a:t>O </a:t>
            </a:r>
            <a:r>
              <a:rPr sz="1250" b="1">
                <a:solidFill>
                  <a:srgbClr val="50E550"/>
                </a:solidFill>
                <a:latin typeface="Lato"/>
              </a:rPr>
              <a:t>Application</a:t>
            </a:r>
            <a:r>
              <a:rPr sz="1250" b="0">
                <a:solidFill>
                  <a:srgbClr val="181C23"/>
                </a:solidFill>
                <a:latin typeface="Lato"/>
              </a:rPr>
              <a:t> diz ao ArgoCD qual repositório vigiar.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349240" cy="3127248"/>
          </a:xfrm>
          <a:prstGeom prst="roundRect">
            <a:avLst>
              <a:gd name="adj" fmla="val 4500"/>
            </a:avLst>
          </a:prstGeom>
          <a:solidFill>
            <a:srgbClr val="1E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5349240" cy="256032"/>
          </a:xfrm>
          <a:prstGeom prst="roundRect">
            <a:avLst>
              <a:gd name="adj" fmla="val 4500"/>
            </a:avLst>
          </a:prstGeom>
          <a:solidFill>
            <a:srgbClr val="2A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0936" y="1577340"/>
            <a:ext cx="64008" cy="6400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1577340"/>
            <a:ext cx="64008" cy="6400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3544" y="1577340"/>
            <a:ext cx="64008" cy="6400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148132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9BEC7"/>
                </a:solidFill>
                <a:latin typeface="Consolas"/>
              </a:rPr>
              <a:t>argocd/application.yaml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792224"/>
            <a:ext cx="5038344" cy="27614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CC8FF"/>
                </a:solidFill>
                <a:latin typeface="Consolas"/>
              </a:rPr>
              <a:t>apiVersion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D4D8E0"/>
                </a:solidFill>
                <a:latin typeface="Consolas"/>
              </a:rPr>
              <a:t>argoproj.io/v1alpha1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CC8FF"/>
                </a:solidFill>
                <a:latin typeface="Consolas"/>
              </a:rPr>
              <a:t>kind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D4D8E0"/>
                </a:solidFill>
                <a:latin typeface="Consolas"/>
              </a:rPr>
              <a:t>Application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CC8FF"/>
                </a:solidFill>
                <a:latin typeface="Consolas"/>
              </a:rPr>
              <a:t>metadata</a:t>
            </a:r>
            <a:r>
              <a:rPr sz="88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</a:t>
            </a:r>
            <a:r>
              <a:rPr sz="880" b="0">
                <a:solidFill>
                  <a:srgbClr val="8CC8FF"/>
                </a:solidFill>
                <a:latin typeface="Consolas"/>
              </a:rPr>
              <a:t>name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D4D8E0"/>
                </a:solidFill>
                <a:latin typeface="Consolas"/>
              </a:rPr>
              <a:t>minha-app-argocd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</a:t>
            </a:r>
            <a:r>
              <a:rPr sz="880" b="0">
                <a:solidFill>
                  <a:srgbClr val="8CC8FF"/>
                </a:solidFill>
                <a:latin typeface="Consolas"/>
              </a:rPr>
              <a:t>namespace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D4D8E0"/>
                </a:solidFill>
                <a:latin typeface="Consolas"/>
              </a:rPr>
              <a:t>argocd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8CC8FF"/>
                </a:solidFill>
                <a:latin typeface="Consolas"/>
              </a:rPr>
              <a:t>spec</a:t>
            </a:r>
            <a:r>
              <a:rPr sz="88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</a:t>
            </a:r>
            <a:r>
              <a:rPr sz="880" b="0">
                <a:solidFill>
                  <a:srgbClr val="8CC8FF"/>
                </a:solidFill>
                <a:latin typeface="Consolas"/>
              </a:rPr>
              <a:t>project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D4D8E0"/>
                </a:solidFill>
                <a:latin typeface="Consolas"/>
              </a:rPr>
              <a:t>default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</a:t>
            </a:r>
            <a:r>
              <a:rPr sz="880" b="0">
                <a:solidFill>
                  <a:srgbClr val="8CC8FF"/>
                </a:solidFill>
                <a:latin typeface="Consolas"/>
              </a:rPr>
              <a:t>source</a:t>
            </a:r>
            <a:r>
              <a:rPr sz="880" b="0">
                <a:solidFill>
                  <a:srgbClr val="9AA0AA"/>
                </a:solidFill>
                <a:latin typeface="Consolas"/>
              </a:rPr>
              <a:t>:                </a:t>
            </a:r>
            <a:r>
              <a:rPr sz="880" b="0">
                <a:solidFill>
                  <a:srgbClr val="7CA86A"/>
                </a:solidFill>
                <a:latin typeface="Consolas"/>
              </a:rPr>
              <a:t># 1. FONTE (Git)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  </a:t>
            </a:r>
            <a:r>
              <a:rPr sz="880" b="0">
                <a:solidFill>
                  <a:srgbClr val="8CC8FF"/>
                </a:solidFill>
                <a:latin typeface="Consolas"/>
              </a:rPr>
              <a:t>repoURL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E0A17A"/>
                </a:solidFill>
                <a:latin typeface="Consolas"/>
              </a:rPr>
              <a:t>'https://github.com/voce/gitops.git'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  </a:t>
            </a:r>
            <a:r>
              <a:rPr sz="880" b="0">
                <a:solidFill>
                  <a:srgbClr val="8CC8FF"/>
                </a:solidFill>
                <a:latin typeface="Consolas"/>
              </a:rPr>
              <a:t>targetRevision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D4D8E0"/>
                </a:solidFill>
                <a:latin typeface="Consolas"/>
              </a:rPr>
              <a:t>HEAD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  </a:t>
            </a:r>
            <a:r>
              <a:rPr sz="880" b="0">
                <a:solidFill>
                  <a:srgbClr val="8CC8FF"/>
                </a:solidFill>
                <a:latin typeface="Consolas"/>
              </a:rPr>
              <a:t>path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E0A17A"/>
                </a:solidFill>
                <a:latin typeface="Consolas"/>
              </a:rPr>
              <a:t>'helm/minha-app'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  </a:t>
            </a:r>
            <a:r>
              <a:rPr sz="880" b="0">
                <a:solidFill>
                  <a:srgbClr val="8CC8FF"/>
                </a:solidFill>
                <a:latin typeface="Consolas"/>
              </a:rPr>
              <a:t>helm</a:t>
            </a:r>
            <a:r>
              <a:rPr sz="88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    </a:t>
            </a:r>
            <a:r>
              <a:rPr sz="880" b="0">
                <a:solidFill>
                  <a:srgbClr val="8CC8FF"/>
                </a:solidFill>
                <a:latin typeface="Consolas"/>
              </a:rPr>
              <a:t>valueFiles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D4D8E0"/>
                </a:solidFill>
                <a:latin typeface="Consolas"/>
              </a:rPr>
              <a:t>[values.yaml]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</a:t>
            </a:r>
            <a:r>
              <a:rPr sz="880" b="0">
                <a:solidFill>
                  <a:srgbClr val="8CC8FF"/>
                </a:solidFill>
                <a:latin typeface="Consolas"/>
              </a:rPr>
              <a:t>destination</a:t>
            </a:r>
            <a:r>
              <a:rPr sz="880" b="0">
                <a:solidFill>
                  <a:srgbClr val="9AA0AA"/>
                </a:solidFill>
                <a:latin typeface="Consolas"/>
              </a:rPr>
              <a:t>:           </a:t>
            </a:r>
            <a:r>
              <a:rPr sz="880" b="0">
                <a:solidFill>
                  <a:srgbClr val="7CA86A"/>
                </a:solidFill>
                <a:latin typeface="Consolas"/>
              </a:rPr>
              <a:t># 2. DESTINO (K8s)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  </a:t>
            </a:r>
            <a:r>
              <a:rPr sz="880" b="0">
                <a:solidFill>
                  <a:srgbClr val="8CC8FF"/>
                </a:solidFill>
                <a:latin typeface="Consolas"/>
              </a:rPr>
              <a:t>server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E0A17A"/>
                </a:solidFill>
                <a:latin typeface="Consolas"/>
              </a:rPr>
              <a:t>'https://kubernetes.default.svc'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  </a:t>
            </a:r>
            <a:r>
              <a:rPr sz="880" b="0">
                <a:solidFill>
                  <a:srgbClr val="8CC8FF"/>
                </a:solidFill>
                <a:latin typeface="Consolas"/>
              </a:rPr>
              <a:t>namespace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D4D8E0"/>
                </a:solidFill>
                <a:latin typeface="Consolas"/>
              </a:rPr>
              <a:t>producao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</a:t>
            </a:r>
            <a:r>
              <a:rPr sz="880" b="0">
                <a:solidFill>
                  <a:srgbClr val="8CC8FF"/>
                </a:solidFill>
                <a:latin typeface="Consolas"/>
              </a:rPr>
              <a:t>syncPolicy</a:t>
            </a:r>
            <a:r>
              <a:rPr sz="880" b="0">
                <a:solidFill>
                  <a:srgbClr val="9AA0AA"/>
                </a:solidFill>
                <a:latin typeface="Consolas"/>
              </a:rPr>
              <a:t>:            </a:t>
            </a:r>
            <a:r>
              <a:rPr sz="880" b="0">
                <a:solidFill>
                  <a:srgbClr val="7CA86A"/>
                </a:solidFill>
                <a:latin typeface="Consolas"/>
              </a:rPr>
              <a:t># 3. AUTOMAÇÃO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  </a:t>
            </a:r>
            <a:r>
              <a:rPr sz="880" b="0">
                <a:solidFill>
                  <a:srgbClr val="8CC8FF"/>
                </a:solidFill>
                <a:latin typeface="Consolas"/>
              </a:rPr>
              <a:t>automated</a:t>
            </a:r>
            <a:r>
              <a:rPr sz="880" b="0">
                <a:solidFill>
                  <a:srgbClr val="9AA0AA"/>
                </a:solidFill>
                <a:latin typeface="Consolas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    </a:t>
            </a:r>
            <a:r>
              <a:rPr sz="880" b="0">
                <a:solidFill>
                  <a:srgbClr val="8CC8FF"/>
                </a:solidFill>
                <a:latin typeface="Consolas"/>
              </a:rPr>
              <a:t>prune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B5CEA8"/>
                </a:solidFill>
                <a:latin typeface="Consolas"/>
              </a:rPr>
              <a:t>true        </a:t>
            </a:r>
            <a:r>
              <a:rPr sz="880" b="0">
                <a:solidFill>
                  <a:srgbClr val="7CA86A"/>
                </a:solidFill>
                <a:latin typeface="Consolas"/>
              </a:rPr>
              <a:t># apaga o que sai do Git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D4D8E0"/>
                </a:solidFill>
                <a:latin typeface="Consolas"/>
              </a:rPr>
              <a:t>      </a:t>
            </a:r>
            <a:r>
              <a:rPr sz="880" b="0">
                <a:solidFill>
                  <a:srgbClr val="8CC8FF"/>
                </a:solidFill>
                <a:latin typeface="Consolas"/>
              </a:rPr>
              <a:t>selfHeal</a:t>
            </a:r>
            <a:r>
              <a:rPr sz="880" b="0">
                <a:solidFill>
                  <a:srgbClr val="9AA0AA"/>
                </a:solidFill>
                <a:latin typeface="Consolas"/>
              </a:rPr>
              <a:t>: </a:t>
            </a:r>
            <a:r>
              <a:rPr sz="880" b="0">
                <a:solidFill>
                  <a:srgbClr val="B5CEA8"/>
                </a:solidFill>
                <a:latin typeface="Consolas"/>
              </a:rPr>
              <a:t>true     </a:t>
            </a:r>
            <a:r>
              <a:rPr sz="880" b="0">
                <a:solidFill>
                  <a:srgbClr val="7CA86A"/>
                </a:solidFill>
                <a:latin typeface="Consolas"/>
              </a:rPr>
              <a:t># corrige alterações manuais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481328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81344" y="1627632"/>
            <a:ext cx="365760" cy="36576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1344" y="1655064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DF8"/>
                </a:solidFill>
                <a:latin typeface="Ubuntu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1609344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371FF"/>
                </a:solidFill>
                <a:latin typeface="Ubuntu"/>
              </a:rPr>
              <a:t>FONTE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56816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A404A"/>
                </a:solidFill>
                <a:latin typeface="Lato"/>
              </a:rPr>
              <a:t>Onde está o código no Git: URL, branch e o caminho do Chart.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560320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81344" y="2706624"/>
            <a:ext cx="365760" cy="365760"/>
          </a:xfrm>
          <a:prstGeom prst="ellipse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81344" y="273405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DF8"/>
                </a:solidFill>
                <a:latin typeface="Ubuntu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1" y="2688336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81C23"/>
                </a:solidFill>
                <a:latin typeface="Ubuntu"/>
              </a:rPr>
              <a:t>DESTINO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035808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A404A"/>
                </a:solidFill>
                <a:latin typeface="Lato"/>
              </a:rPr>
              <a:t>Em qual cluster e namespace instalar a aplicação.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639312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81344" y="3785616"/>
            <a:ext cx="365760" cy="365760"/>
          </a:xfrm>
          <a:prstGeom prst="ellipse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81344" y="3813048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23"/>
                </a:solidFill>
                <a:latin typeface="Ubuntu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1" y="3767328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0E550"/>
                </a:solidFill>
                <a:latin typeface="Ubuntu"/>
              </a:rPr>
              <a:t>AUTOMAÇÃO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11480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A404A"/>
                </a:solidFill>
                <a:latin typeface="Lato"/>
              </a:rPr>
              <a:t>prune + selfHeal = o cluster segue o Git, sempre.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Dica para a aula: veja o GitOps em 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07899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404A"/>
                </a:solidFill>
                <a:latin typeface="Lato"/>
              </a:rPr>
              <a:t>Uma demonstração de 30 segundos que fixa todo o conceito: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251460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514600" cy="128016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1965960"/>
            <a:ext cx="420624" cy="420624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93392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DF8"/>
                </a:solidFill>
                <a:latin typeface="Ubuntu"/>
              </a:rPr>
              <a:t>1</a:t>
            </a:r>
          </a:p>
        </p:txBody>
      </p:sp>
      <p:pic>
        <p:nvPicPr>
          <p:cNvPr id="12" name="Picture 11" descr="He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96596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2532888"/>
            <a:ext cx="2112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71FF"/>
                </a:solidFill>
                <a:latin typeface="Ubuntu"/>
              </a:rPr>
              <a:t>Helm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916936"/>
            <a:ext cx="207568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Altere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replicaCount: 2 → 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no values.yaml</a:t>
            </a:r>
          </a:p>
        </p:txBody>
      </p:sp>
      <p:sp>
        <p:nvSpPr>
          <p:cNvPr id="15" name="Chevron 14"/>
          <p:cNvSpPr/>
          <p:nvPr/>
        </p:nvSpPr>
        <p:spPr>
          <a:xfrm>
            <a:off x="3035808" y="2830068"/>
            <a:ext cx="260604" cy="237744"/>
          </a:xfrm>
          <a:prstGeom prst="chevron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14700" y="1691640"/>
            <a:ext cx="251460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14700" y="1691640"/>
            <a:ext cx="2514600" cy="128016"/>
          </a:xfrm>
          <a:prstGeom prst="rect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97580" y="1965960"/>
            <a:ext cx="420624" cy="420624"/>
          </a:xfrm>
          <a:prstGeom prst="ellipse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97580" y="1993392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DF8"/>
                </a:solidFill>
                <a:latin typeface="Ubuntu"/>
              </a:rPr>
              <a:t>2</a:t>
            </a:r>
          </a:p>
        </p:txBody>
      </p:sp>
      <p:pic>
        <p:nvPicPr>
          <p:cNvPr id="20" name="Picture 19" descr="G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1965960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15868" y="2532888"/>
            <a:ext cx="2112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C23"/>
                </a:solidFill>
                <a:latin typeface="Ubuntu"/>
              </a:rPr>
              <a:t>Git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4156" y="2916936"/>
            <a:ext cx="207568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git commit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+ git push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para o GitHub</a:t>
            </a:r>
          </a:p>
        </p:txBody>
      </p:sp>
      <p:sp>
        <p:nvSpPr>
          <p:cNvPr id="23" name="Chevron 22"/>
          <p:cNvSpPr/>
          <p:nvPr/>
        </p:nvSpPr>
        <p:spPr>
          <a:xfrm>
            <a:off x="5847588" y="2830068"/>
            <a:ext cx="260604" cy="237744"/>
          </a:xfrm>
          <a:prstGeom prst="chevron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26480" y="1691640"/>
            <a:ext cx="251460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1691640"/>
            <a:ext cx="2514600" cy="128016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60" y="1965960"/>
            <a:ext cx="420624" cy="420624"/>
          </a:xfrm>
          <a:prstGeom prst="ellipse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993392"/>
            <a:ext cx="4206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23"/>
                </a:solidFill>
                <a:latin typeface="Ubuntu"/>
              </a:rPr>
              <a:t>3</a:t>
            </a:r>
          </a:p>
        </p:txBody>
      </p:sp>
      <p:pic>
        <p:nvPicPr>
          <p:cNvPr id="28" name="Picture 27" descr="ArgoC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19" y="1965960"/>
            <a:ext cx="502920" cy="502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27648" y="2532888"/>
            <a:ext cx="2112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0E550"/>
                </a:solidFill>
                <a:latin typeface="Ubuntu"/>
              </a:rPr>
              <a:t>ArgoCD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2916936"/>
            <a:ext cx="207568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Detecta a mudança 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cria os novos pods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04A"/>
                </a:solidFill>
                <a:latin typeface="Lato"/>
              </a:rPr>
              <a:t>automaticamente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top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81C23"/>
                </a:solidFill>
                <a:latin typeface="Ubuntu"/>
              </a:rPr>
              <a:t>Resumo da aula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4828032"/>
            <a:ext cx="7498079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>
                <a:solidFill>
                  <a:srgbClr val="5A5E66"/>
                </a:solidFill>
                <a:latin typeface="Lato"/>
              </a:rPr>
              <a:t>Ada • DE-OP-011 Orquestração • Kubernetes  |  Aula 09  |  Everton J Benedicto</a:t>
            </a:r>
          </a:p>
        </p:txBody>
      </p:sp>
      <p:pic>
        <p:nvPicPr>
          <p:cNvPr id="6" name="Picture 5" descr="_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9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3444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977639" cy="118872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72184"/>
            <a:ext cx="35204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71FF"/>
                </a:solidFill>
                <a:latin typeface="Ubuntu"/>
              </a:rPr>
              <a:t>Helm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92808"/>
            <a:ext cx="35204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Empacota a aplicação em Charts reutilizáveis e parametrizáveis, com histórico de versões e rollback.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79" y="1234440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79" y="1234440"/>
            <a:ext cx="3977639" cy="118872"/>
          </a:xfrm>
          <a:prstGeom prst="rect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10912" y="1472184"/>
            <a:ext cx="35204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81C23"/>
                </a:solidFill>
                <a:latin typeface="Ubuntu"/>
              </a:rPr>
              <a:t>GitOps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1892808"/>
            <a:ext cx="35204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Usa o Git como única fonte da verdade — o estado desejado do cluster vive versionado no repositório.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52928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852928"/>
            <a:ext cx="3977639" cy="118872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3090672"/>
            <a:ext cx="35204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0E550"/>
                </a:solidFill>
                <a:latin typeface="Ubuntu"/>
              </a:rPr>
              <a:t>ArgoCD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511296"/>
            <a:ext cx="35204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Sincroniza o cluster com o Git de forma contínua e automática, eliminando o Configuration Drift.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79" y="2852928"/>
            <a:ext cx="39776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79" y="2852928"/>
            <a:ext cx="3977639" cy="118872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10912" y="3090672"/>
            <a:ext cx="35204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371FF"/>
                </a:solidFill>
                <a:latin typeface="Ubuntu"/>
              </a:rPr>
              <a:t>Juntos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3511296"/>
            <a:ext cx="35204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404A"/>
                </a:solidFill>
                <a:latin typeface="Lato"/>
              </a:rPr>
              <a:t>Helm cria o pacote flexível; ArgoCD garante que o Kubernetes reflita sempre o que está no Git.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wirl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960120"/>
            <a:ext cx="3840480" cy="2377440"/>
          </a:xfrm>
          <a:prstGeom prst="rect">
            <a:avLst/>
          </a:prstGeom>
        </p:spPr>
      </p:pic>
      <p:pic>
        <p:nvPicPr>
          <p:cNvPr id="3" name="Picture 2" descr="_top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_top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92624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783080"/>
            <a:ext cx="146304" cy="132588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6949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DF8"/>
                </a:solidFill>
                <a:latin typeface="Ubuntu"/>
              </a:rPr>
              <a:t>Perguntas?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06040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0E550"/>
                </a:solidFill>
                <a:latin typeface="Lato"/>
              </a:rPr>
              <a:t>Helm empacota • GitOps versiona • ArgoCD sincroniza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43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DF8"/>
                </a:solidFill>
                <a:latin typeface="Lato"/>
              </a:rPr>
              <a:t>Ada • DE-OP-011 Orquestração • Kubernetes  |  Aula 09  |  Obrigado!</a:t>
            </a:r>
          </a:p>
        </p:txBody>
      </p:sp>
      <p:pic>
        <p:nvPicPr>
          <p:cNvPr id="9" name="Picture 8" descr="_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4160520"/>
            <a:ext cx="868680" cy="539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1725</Words>
  <Application>Microsoft Office PowerPoint</Application>
  <PresentationFormat>On-screen Show (16:9)</PresentationFormat>
  <Paragraphs>248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Consolas</vt:lpstr>
      <vt:lpstr>Lato</vt:lpstr>
      <vt:lpstr>Segoe UI Emoji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Benedicto, Everton Jose (SI IT VC PES PLT)</cp:lastModifiedBy>
  <cp:revision>1</cp:revision>
  <dcterms:created xsi:type="dcterms:W3CDTF">2013-01-27T09:14:16Z</dcterms:created>
  <dcterms:modified xsi:type="dcterms:W3CDTF">2026-08-03T17:26:00Z</dcterms:modified>
  <cp:category/>
</cp:coreProperties>
</file>