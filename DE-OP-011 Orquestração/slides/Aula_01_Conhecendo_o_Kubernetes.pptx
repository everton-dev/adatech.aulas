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5" r:id="rId15"/>
    <p:sldId id="268" r:id="rId16"/>
    <p:sldId id="277" r:id="rId17"/>
    <p:sldId id="276" r:id="rId18"/>
    <p:sldId id="269" r:id="rId19"/>
    <p:sldId id="270" r:id="rId20"/>
    <p:sldId id="271" r:id="rId21"/>
    <p:sldId id="272" r:id="rId22"/>
    <p:sldId id="273" r:id="rId23"/>
    <p:sldId id="274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9" d="100"/>
          <a:sy n="129" d="100"/>
        </p:scale>
        <p:origin x="144" y="27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712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Boas-vindas ao módulo de Orquestração. Apresente-se e explique que ao longo de 8 encontros de 3h vamos sair do zero absoluto em containers até subir um cluster Kubernetes multi-master do zero. Hoje é a aula mais conceitual: precisamos de uma base sólida antes de colocar a mão na massa. Pergunte à turma quem já ouviu falar em Docker e em Kubernetes.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Apresente a agenda. Deixe claro o objetivo do dia: ao final, o aluno deve conseguir desenhar num papel a arquitetura de um cluster e explicar o papel de cada componente. Esta aula é a fundação teórica de todo 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Transição para o primeiro bloco. Vamos contextualizar historicamente.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 a história do 'antes'. Explore o exemplo clássico: duas aplicações que precisam de versões diferentes da mesma biblioteca na mesma máquina — conflito. Ou o servidor superdimensionado rodando a 5% de uso. Faça a ponte: containers nasceram para resolver isolamento + eficiência + reprodutibilidade.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Defina container com rigor: NÃO é uma máquina virtual. Container compartilha o kernel do host e isola processo, rede e filesystem via recursos do próprio kernel (namespaces e cgroups). É mais leve e sobe em segundos. Cite os runtimes: Docker (o mais famoso), containerd e CRI-O. Diga que aprofundaremos Docker na aula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um ponto de prova de entrevista. Desenhe no quadro as duas pilhas: VM (Hardware → Hypervisor → SO convidado → App) vs Container (Hardware → SO → Container Runtime → App). O ganho do container é não repetir o SO inteiro. Mencione a imagem comparativa do material do aluno (Atlassian).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Agora que o aluno entende container, entra a pergunta: e quando eu tenho centenas ou milhares deles?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Faça a analogia com uma orquestra: cada músico (container) é ótimo sozinho, mas sem um maestro (orquestrador) não há sinfonia. O Kubernetes é o maestro. Cite outros orquestradores historicamente (Docker Swarm, Mesos), mas explique que o K8S venceu o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K8S = Kubernetes (8 letras entre K e S). Reforce o conceito de 'estado desejado': você DECLARA o que quer (ex.: 3 réplicas rodando) e o K8S trabalha continuamente para manter esse estado. Se um pod cai, ele recria. Isso é o coração do Kubernetes e vamos repetir isso o módulo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Bloco central da aula. Use a analogia do navio o tempo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Essa analogia (</a:t>
            </a:r>
            <a:r>
              <a:rPr dirty="0" err="1"/>
              <a:t>oficial</a:t>
            </a:r>
            <a:r>
              <a:rPr dirty="0"/>
              <a:t> da </a:t>
            </a:r>
            <a:r>
              <a:rPr dirty="0" err="1"/>
              <a:t>comunidade</a:t>
            </a:r>
            <a:r>
              <a:rPr dirty="0"/>
              <a:t>) </a:t>
            </a:r>
            <a:r>
              <a:rPr dirty="0" err="1"/>
              <a:t>ajuda</a:t>
            </a:r>
            <a:r>
              <a:rPr dirty="0"/>
              <a:t> </a:t>
            </a:r>
            <a:r>
              <a:rPr dirty="0" err="1"/>
              <a:t>muito</a:t>
            </a:r>
            <a:r>
              <a:rPr dirty="0"/>
              <a:t> o </a:t>
            </a:r>
            <a:r>
              <a:rPr dirty="0" err="1"/>
              <a:t>iniciante</a:t>
            </a:r>
            <a:r>
              <a:rPr dirty="0"/>
              <a:t>. Fixe: quem TRABALHA </a:t>
            </a:r>
            <a:r>
              <a:rPr dirty="0" err="1"/>
              <a:t>rodando</a:t>
            </a:r>
            <a:r>
              <a:rPr dirty="0"/>
              <a:t> as </a:t>
            </a:r>
            <a:r>
              <a:rPr dirty="0" err="1"/>
              <a:t>aplicações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Worker Nodes; quem MANDA e </a:t>
            </a:r>
            <a:r>
              <a:rPr dirty="0" err="1"/>
              <a:t>coordena</a:t>
            </a:r>
            <a:r>
              <a:rPr dirty="0"/>
              <a:t> é o Control Plane (</a:t>
            </a:r>
            <a:r>
              <a:rPr dirty="0" err="1"/>
              <a:t>antigamente</a:t>
            </a:r>
            <a:r>
              <a:rPr dirty="0"/>
              <a:t> </a:t>
            </a:r>
            <a:r>
              <a:rPr dirty="0" err="1"/>
              <a:t>chamado</a:t>
            </a:r>
            <a:r>
              <a:rPr dirty="0"/>
              <a:t> Master). Um cluster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um de </a:t>
            </a:r>
            <a:r>
              <a:rPr dirty="0" err="1"/>
              <a:t>cada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788C-6467-806B-B37B-01965D57E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45663-36F0-D339-1D8D-4DDAD8C688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82D60-A72D-5A91-4849-AF25D4E40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um. apiserver: TUDO passa por ele, inclusive o kubectl. etcd: se perder o etcd sem backup, perdeu o cluster — voltaremos a isso no troubleshooting (aula 7) e no multi-master (aula 8). scheduler: leva em conta afinidade, antiafinidade, recursos disponíveis. controller-manager: é ele que percebe 'faltou um pod' e dispara a criação. Este slide merece tempo — é o mapa mental do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7A198-A5C3-CE75-ACF7-C37320ACA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65566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um. apiserver: TUDO passa por ele, inclusive o kubectl. etcd: se perder o etcd sem backup, perdeu o cluster — voltaremos a isso no troubleshooting (aula 7) e no multi-master (aula 8). scheduler: leva em conta afinidade, antiafinidade, recursos disponíveis. controller-manager: é ele que percebe 'faltou um pod' e dispara a criação. Este slide merece tempo — é o mapa mental do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5FF8-DF0A-A46A-2736-4A6EDF34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5E8F5E-AD82-1544-C3E7-9E0824CE2B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E2303-A93B-094B-209C-B8474D56EA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um. apiserver: TUDO passa por ele, inclusive o kubectl. etcd: se perder o etcd sem backup, perdeu o cluster — voltaremos a isso no troubleshooting (aula 7) e no multi-master (aula 8). scheduler: leva em conta afinidade, antiafinidade, recursos disponíveis. controller-manager: é ele que percebe 'faltou um pod' e dispara a criação. Este slide merece tempo — é o mapa mental do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46F49-DF34-11BC-C7E4-6E92D8822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747792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A56EA-83ED-D1E8-D8CC-792A5EAA8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D6FE8-99FB-89B6-ED1E-684E017816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FB791-31E7-D49C-27F8-D6D2F5CE8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cada um. apiserver: TUDO passa por ele, inclusive o kubectl. etcd: se perder o etcd sem backup, perdeu o cluster — voltaremos a isso no troubleshooting (aula 7) e no multi-master (aula 8). scheduler: leva em conta afinidade, antiafinidade, recursos disponíveis. controller-manager: é ele que percebe 'faltou um pod' e dispara a criação. Este slide merece tempo — é o mapa mental do cluster.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BE6DA-29C8-95A0-0363-B4AF9061F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55744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Estes componentes rodam em TODOS os nodes (inclusive nos masters). kubelet é o 'braço' do control plane em cada máquina: recebe ordens do apiserver e conversa com o runtime. kube-proxy cuida da rede/roteamento — voltaremos nele quando falarmos de Services (aula 6). Deixe claro o fluxo: apiserver → kubelet → runtime.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Apenas apresente o conceito de Pod aqui — a aula 3 é dedicada a ele. O aluno só precisa fixar: não rodamos 'containers' diretamente no K8S, rodamos Pods, e o Pod é o menor objeto que o Kubernetes gerencia.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 leve, para descontrair antes de encerrar.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Momento de curiosidade. Mencione o Borg como o 'avô' do K8S — a Google já orquestrava containers internamente muito antes. Isso dá credibilidade: a tecnologia nasceu madura, de anos de operação em escala planetária.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Feche amarrando tudo. Peça para um aluno explicar a arquitetura com as próprias palavras. Passe a leitura do material 01 e 02 (sala invertida) e peça que já tentem instalar o Minikube em casa para a próxima aula.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Conhecendo o Kubernetes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Containers, orquestração e a arquitetura do 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AEB5F-BA30-0B67-A6A9-744A79490D42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B8907-5B1F-F861-EFDA-35B359780D83}"/>
              </a:ext>
            </a:extLst>
          </p:cNvPr>
          <p:cNvSpPr txBox="1"/>
          <p:nvPr/>
        </p:nvSpPr>
        <p:spPr>
          <a:xfrm>
            <a:off x="518160" y="4084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29EA27-28E5-AAC1-C874-458B0BBBA999}"/>
              </a:ext>
            </a:extLst>
          </p:cNvPr>
          <p:cNvSpPr txBox="1"/>
          <p:nvPr/>
        </p:nvSpPr>
        <p:spPr>
          <a:xfrm>
            <a:off x="670560" y="5608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 dirty="0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Mão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na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Massa: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Minikube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kubectl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dirty="0">
                <a:solidFill>
                  <a:srgbClr val="5A5E66"/>
                </a:solidFill>
                <a:latin typeface="Lato"/>
              </a:rPr>
              <a:t>Ada · DE-OP-011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Orquestração</a:t>
            </a:r>
            <a:r>
              <a:rPr sz="750" dirty="0">
                <a:solidFill>
                  <a:srgbClr val="5A5E66"/>
                </a:solidFill>
                <a:latin typeface="Lato"/>
              </a:rPr>
              <a:t> · Kubernetes  | 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Cronograma</a:t>
            </a:r>
            <a:r>
              <a:rPr sz="750" dirty="0">
                <a:solidFill>
                  <a:srgbClr val="5A5E66"/>
                </a:solidFill>
                <a:latin typeface="Lato"/>
              </a:rPr>
              <a:t> do </a:t>
            </a:r>
            <a:r>
              <a:rPr sz="750" dirty="0" err="1">
                <a:solidFill>
                  <a:srgbClr val="5A5E66"/>
                </a:solidFill>
                <a:latin typeface="Lato"/>
              </a:rPr>
              <a:t>módulo</a:t>
            </a:r>
            <a:r>
              <a:rPr lang="pt-PT" sz="750" dirty="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 dirty="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 que vamos ver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Por que os containers existem: o problema que eles resolvem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 que é o Kubernetes e qual dor ele ataca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Comparação VM × Container × Kubernetes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Arquitetura do cluster: Control Plane e Worker Nodes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Os componentes essenciais e a analogia do navio de cargas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Curiosidades e origem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O problema: por que containers?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Da máquina dedicada ao container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 dor antes dos containers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Máquinas inteiras provisionadas para uma única aplicação — desperdício de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Ou várias aplicações na mesma máquina, sem limite de consumo por aplicação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Risco de conflito entre aplicações (dependências, versões de libs)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Alto custo de gerenciamento e mão de obra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Ambientes difíceis de replicar: "na minha máquina funciona"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 que é um container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Agrupamento isolado de recursos dentro de uma máquina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Empacota a aplicação com TODAS as suas dependências (libs, runtime, config)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Permite sistema de arquivos e ambiente distintos do host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Define limites de CPU, memória e disco por container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Replicação rápida e segura do ambiente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Várias aplicações na mesma máquina, sem conflito entre 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VM × Container: a diferença fundamental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VM: virtualiza o hardware — cada VM tem seu próprio sistema operacional completo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Pesada, sobe em minutos, consome muitos GB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Container: virtualiza o SO — compartilha o kernel do host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Leve, sobe em segundos, consome MB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Não são inimigos: é comum rodar containers DENTRO de VMs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VM × Container: a diferença fundamental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335" y="1143000"/>
            <a:ext cx="6443330" cy="34290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https://www.atlassian.com/br/microservices/microservices-architecture/kubernetes-vs-docker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O que é o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Orquestração de containers em escala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Microsserviços trouxeram um novo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Containers popularizaram a arquitetura de microsserviços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Novo desafio: como gerenciar dezenas/centenas de containers automaticamente?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Como escalar quando a demanda sobe?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Como garantir que, se um container morre, outro sobe no lugar?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Como distribuir a carga entre eles?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É aqui que entra a ORQUESTRAÇÃO de 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Kubernetes (K8S): o que ele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Ferramenta open source para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orquestração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containers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Balanceamento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carga entre containers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Garante</a:t>
            </a:r>
            <a:r>
              <a:rPr sz="1500" dirty="0">
                <a:solidFill>
                  <a:srgbClr val="181C23"/>
                </a:solidFill>
                <a:latin typeface="Lato"/>
              </a:rPr>
              <a:t> um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número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desejado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réplicas</a:t>
            </a:r>
            <a:r>
              <a:rPr sz="1500" dirty="0">
                <a:solidFill>
                  <a:srgbClr val="181C23"/>
                </a:solidFill>
                <a:latin typeface="Lato"/>
              </a:rPr>
              <a:t> sempre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disponível</a:t>
            </a:r>
            <a:r>
              <a:rPr sz="1500" dirty="0">
                <a:solidFill>
                  <a:srgbClr val="181C23"/>
                </a:solidFill>
                <a:latin typeface="Lato"/>
              </a:rPr>
              <a:t> (self-healing)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Limites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recursos</a:t>
            </a:r>
            <a:r>
              <a:rPr sz="1500" dirty="0">
                <a:solidFill>
                  <a:srgbClr val="181C23"/>
                </a:solidFill>
                <a:latin typeface="Lato"/>
              </a:rPr>
              <a:t> +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estratégias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escalabilidade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automática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Estratégias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deploy para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reduzir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indisponibilidade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Padrão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fato</a:t>
            </a:r>
            <a:r>
              <a:rPr sz="1500" dirty="0">
                <a:solidFill>
                  <a:srgbClr val="181C23"/>
                </a:solidFill>
                <a:latin typeface="Lato"/>
              </a:rPr>
              <a:t> da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indústria</a:t>
            </a:r>
            <a:r>
              <a:rPr sz="1500" dirty="0">
                <a:solidFill>
                  <a:srgbClr val="181C23"/>
                </a:solidFill>
                <a:latin typeface="Lato"/>
              </a:rPr>
              <a:t> —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mantido</a:t>
            </a:r>
            <a:r>
              <a:rPr sz="1500" dirty="0">
                <a:solidFill>
                  <a:srgbClr val="181C23"/>
                </a:solidFill>
                <a:latin typeface="Lato"/>
              </a:rPr>
              <a:t> pela </a:t>
            </a:r>
            <a:r>
              <a:rPr sz="1500" b="1" dirty="0">
                <a:solidFill>
                  <a:srgbClr val="181C23"/>
                </a:solidFill>
                <a:latin typeface="Lato"/>
              </a:rPr>
              <a:t>CNCF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(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Cloud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Native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Computing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Foundation)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181C23"/>
                </a:solidFill>
                <a:latin typeface="Lato"/>
              </a:rPr>
              <a:t>Organização sem fins lucrativos que faz parte da Linux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Foudantion</a:t>
            </a:r>
            <a:endParaRPr lang="pt-PT" sz="1500" dirty="0">
              <a:solidFill>
                <a:srgbClr val="181C23"/>
              </a:solidFill>
              <a:latin typeface="Lato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rgbClr val="181C23"/>
                </a:solidFill>
                <a:latin typeface="Lato"/>
              </a:rPr>
              <a:t>A fundação apoia a comunidade de código aberto, ajudando com infraestrutura, marketing e orientação técnica para ferramentas que formam a espinha dorsal da computação moderna.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3. Arquitetura do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Control Plane, Worker Nodes e componentes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A analogia do transporte marítimo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EB84F6-BA5D-EB83-0103-4750DB779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63" y="1900468"/>
            <a:ext cx="4862945" cy="2612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Cluster = um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porto</a:t>
            </a:r>
            <a:r>
              <a:rPr sz="1500" dirty="0">
                <a:solidFill>
                  <a:srgbClr val="181C23"/>
                </a:solidFill>
                <a:latin typeface="Lato"/>
              </a:rPr>
              <a:t> com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vários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navios</a:t>
            </a:r>
            <a:endParaRPr sz="1500" dirty="0">
              <a:solidFill>
                <a:srgbClr val="181C23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Worker Nodes =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navios</a:t>
            </a:r>
            <a:r>
              <a:rPr sz="1500" dirty="0">
                <a:solidFill>
                  <a:srgbClr val="181C23"/>
                </a:solidFill>
                <a:latin typeface="Lato"/>
              </a:rPr>
              <a:t> de carga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carregam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os</a:t>
            </a:r>
            <a:r>
              <a:rPr sz="1500" dirty="0">
                <a:solidFill>
                  <a:srgbClr val="181C23"/>
                </a:solidFill>
                <a:latin typeface="Lato"/>
              </a:rPr>
              <a:t> containers das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aplicações</a:t>
            </a:r>
            <a:r>
              <a:rPr sz="15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Master Nodes / Control Plane =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guindastes</a:t>
            </a:r>
            <a:r>
              <a:rPr sz="1500" dirty="0">
                <a:solidFill>
                  <a:srgbClr val="181C23"/>
                </a:solidFill>
                <a:latin typeface="Lato"/>
              </a:rPr>
              <a:t> e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operadores</a:t>
            </a:r>
            <a:r>
              <a:rPr sz="1500" dirty="0">
                <a:solidFill>
                  <a:srgbClr val="181C23"/>
                </a:solidFill>
                <a:latin typeface="Lato"/>
              </a:rPr>
              <a:t>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administram</a:t>
            </a:r>
            <a:r>
              <a:rPr sz="1500" dirty="0">
                <a:solidFill>
                  <a:srgbClr val="181C23"/>
                </a:solidFill>
                <a:latin typeface="Lato"/>
              </a:rPr>
              <a:t>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tudo</a:t>
            </a:r>
            <a:r>
              <a:rPr sz="1500" dirty="0">
                <a:solidFill>
                  <a:srgbClr val="181C23"/>
                </a:solidFill>
                <a:latin typeface="Lato"/>
              </a:rPr>
              <a:t>)</a:t>
            </a:r>
          </a:p>
          <a:p>
            <a:pPr lvl="1">
              <a:spcAft>
                <a:spcPts val="600"/>
              </a:spcAft>
            </a:pPr>
            <a:r>
              <a:rPr sz="1400" dirty="0">
                <a:solidFill>
                  <a:srgbClr val="5A5E66"/>
                </a:solidFill>
                <a:latin typeface="Lato"/>
              </a:rPr>
              <a:t>– 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Decidem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quantos</a:t>
            </a:r>
            <a:r>
              <a:rPr sz="1400" dirty="0">
                <a:solidFill>
                  <a:srgbClr val="5A5E66"/>
                </a:solidFill>
                <a:latin typeface="Lato"/>
              </a:rPr>
              <a:t> e quais containers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vão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em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cada</a:t>
            </a:r>
            <a:r>
              <a:rPr sz="1400" dirty="0">
                <a:solidFill>
                  <a:srgbClr val="5A5E66"/>
                </a:solidFill>
                <a:latin typeface="Lato"/>
              </a:rPr>
              <a:t>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navio</a:t>
            </a:r>
            <a:r>
              <a:rPr sz="1400" dirty="0">
                <a:solidFill>
                  <a:srgbClr val="5A5E66"/>
                </a:solidFill>
                <a:latin typeface="Lato"/>
              </a:rPr>
              <a:t>, e as </a:t>
            </a:r>
            <a:r>
              <a:rPr sz="1400" dirty="0" err="1">
                <a:solidFill>
                  <a:srgbClr val="5A5E66"/>
                </a:solidFill>
                <a:latin typeface="Lato"/>
              </a:rPr>
              <a:t>rotas</a:t>
            </a:r>
            <a:endParaRPr sz="1400" dirty="0">
              <a:solidFill>
                <a:srgbClr val="5A5E66"/>
              </a:solidFill>
              <a:latin typeface="Lato"/>
            </a:endParaRPr>
          </a:p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Kubernetes = "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timoneiro</a:t>
            </a:r>
            <a:r>
              <a:rPr sz="1500" dirty="0">
                <a:solidFill>
                  <a:srgbClr val="181C23"/>
                </a:solidFill>
                <a:latin typeface="Lato"/>
              </a:rPr>
              <a:t>" 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em</a:t>
            </a:r>
            <a:r>
              <a:rPr sz="1500" dirty="0">
                <a:solidFill>
                  <a:srgbClr val="181C23"/>
                </a:solidFill>
                <a:latin typeface="Lato"/>
              </a:rPr>
              <a:t> grego (</a:t>
            </a:r>
            <a:r>
              <a:rPr sz="1500" dirty="0" err="1">
                <a:solidFill>
                  <a:srgbClr val="181C23"/>
                </a:solidFill>
                <a:latin typeface="Lato"/>
              </a:rPr>
              <a:t>κυ</a:t>
            </a:r>
            <a:r>
              <a:rPr sz="1500" dirty="0">
                <a:solidFill>
                  <a:srgbClr val="181C23"/>
                </a:solidFill>
                <a:latin typeface="Lato"/>
              </a:rPr>
              <a:t>βερνήτης)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518DC-B121-EFF1-A1B8-BFAF742A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9DC44BBD-95C4-E687-751F-3EF442363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F78BD8-E5FA-4BD5-A9C8-474DF33B16F5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Componentes do Control Plane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128CE9-40C2-1079-D0B6-765E43ACDB8B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9A132-1A43-EEF2-958A-054B249753E3}"/>
              </a:ext>
            </a:extLst>
          </p:cNvPr>
          <p:cNvSpPr txBox="1"/>
          <p:nvPr/>
        </p:nvSpPr>
        <p:spPr>
          <a:xfrm>
            <a:off x="457200" y="1143000"/>
            <a:ext cx="822960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 err="1">
                <a:solidFill>
                  <a:srgbClr val="181C23"/>
                </a:solidFill>
                <a:latin typeface="Lato"/>
              </a:rPr>
              <a:t>kube-apiserver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 (A Porta de Entrada)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181C23"/>
                </a:solidFill>
                <a:latin typeface="Lato"/>
              </a:rPr>
              <a:t>O </a:t>
            </a:r>
            <a:r>
              <a:rPr lang="en-US" sz="1500" b="1" dirty="0" err="1">
                <a:solidFill>
                  <a:srgbClr val="181C23"/>
                </a:solidFill>
                <a:latin typeface="Lato"/>
              </a:rPr>
              <a:t>que</a:t>
            </a:r>
            <a:r>
              <a:rPr lang="en-US" sz="1500" b="1" dirty="0">
                <a:solidFill>
                  <a:srgbClr val="181C23"/>
                </a:solidFill>
                <a:latin typeface="Lato"/>
              </a:rPr>
              <a:t> </a:t>
            </a:r>
            <a:r>
              <a:rPr lang="en-US" sz="1500" b="1" dirty="0" err="1">
                <a:solidFill>
                  <a:srgbClr val="181C23"/>
                </a:solidFill>
                <a:latin typeface="Lato"/>
              </a:rPr>
              <a:t>faz</a:t>
            </a:r>
            <a:r>
              <a:rPr lang="en-US" sz="1500" b="1" dirty="0">
                <a:solidFill>
                  <a:srgbClr val="181C23"/>
                </a:solidFill>
                <a:latin typeface="Lato"/>
              </a:rPr>
              <a:t>:</a:t>
            </a:r>
            <a:r>
              <a:rPr lang="en-US" sz="1500" dirty="0">
                <a:solidFill>
                  <a:srgbClr val="181C23"/>
                </a:solidFill>
                <a:latin typeface="Lato"/>
              </a:rPr>
              <a:t> 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É o ponto central de comunicação do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Kubernetes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, tudo o que você pede para o cluster fazer passa obrigatoriamente por ele.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Analogia: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É o 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escritório central do porto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, se você quer colocar um novo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contêiner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no navio, você não vai direto ao navio; você entrega a documentação no escritório, e ele valida e autoriza o pedido.</a:t>
            </a:r>
            <a:endParaRPr sz="1400" dirty="0">
              <a:solidFill>
                <a:srgbClr val="5A5E66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3868B3-35BC-A6DA-FD91-12F3DD52FBC4}"/>
              </a:ext>
            </a:extLst>
          </p:cNvPr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34FFF6BB-741C-0A60-468D-DAB7E0368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68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Componentes do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 err="1">
                <a:solidFill>
                  <a:srgbClr val="181C23"/>
                </a:solidFill>
                <a:latin typeface="Lato"/>
              </a:rPr>
              <a:t>etcd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 (O Banco de Dados)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O que faz: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É um banco de dados extremamente confiável do tipo chave-valor, ele armazena absolutamente 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todo o estado e as configurações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do seu cluster.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Importância: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Se você perder o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etcd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e não tiver backup, você perde o cluster inteiro.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Na analogia: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É o 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livro de registro oficial do porto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, ele guarda a informação exata de quais navios estão ancorados, quais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contêineres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estão em cada navio e onde cada um deve ir.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52E-C724-5B59-526B-1A8CADE8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7BB8504B-61F3-80FF-2B84-D568A00E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A8E601-E54D-6115-A02B-E462FA9C3813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Componentes do Control Plane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0D5019-78AD-80CE-383B-AA55CB48C270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512B33-13CA-A126-C864-F60C114EFB67}"/>
              </a:ext>
            </a:extLst>
          </p:cNvPr>
          <p:cNvSpPr txBox="1"/>
          <p:nvPr/>
        </p:nvSpPr>
        <p:spPr>
          <a:xfrm>
            <a:off x="457200" y="1143000"/>
            <a:ext cx="8229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dirty="0">
                <a:solidFill>
                  <a:srgbClr val="181C23"/>
                </a:solidFill>
                <a:latin typeface="Lato"/>
              </a:rPr>
              <a:t>•  </a:t>
            </a:r>
            <a:r>
              <a:rPr sz="1500" b="1" dirty="0" err="1">
                <a:solidFill>
                  <a:srgbClr val="181C23"/>
                </a:solidFill>
                <a:latin typeface="Lato"/>
              </a:rPr>
              <a:t>kube</a:t>
            </a:r>
            <a:r>
              <a:rPr sz="1500" b="1" dirty="0">
                <a:solidFill>
                  <a:srgbClr val="181C23"/>
                </a:solidFill>
                <a:latin typeface="Lato"/>
              </a:rPr>
              <a:t>-scheduler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 (O Tomador de Decisões)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O que faz: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Ele olha para os novos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Pods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(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contêineres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) que precisam ser criados e decide em qual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Worker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Node (navio) eles vão rodar, ele faz isso analisando os recursos disponíveis (como memória e CPU) e políticas específicas.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Na analogia: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É o 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planejador de carga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, ele analisa o tamanho e o peso do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contêiner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e decide em qual navio há espaço e estrutura adequados para transportá-lo.</a:t>
            </a:r>
            <a:endParaRPr sz="1500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EAD09-4366-D307-C5B4-929D63DB64C5}"/>
              </a:ext>
            </a:extLst>
          </p:cNvPr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185487EC-D0D7-DEED-8EA0-CF21A848F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30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1F50A-F1F6-7F3E-AE9D-D007B1394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>
            <a:extLst>
              <a:ext uri="{FF2B5EF4-FFF2-40B4-BE49-F238E27FC236}">
                <a16:creationId xmlns:a16="http://schemas.microsoft.com/office/drawing/2014/main" id="{6E42C7A8-F133-C198-0CFF-46A6317C7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35382E-C80D-EF89-6D53-E732666EB249}"/>
              </a:ext>
            </a:extLst>
          </p:cNvPr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Componentes do Control Plane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A461E-A355-0F2C-1724-76BFB252415C}"/>
              </a:ext>
            </a:extLst>
          </p:cNvPr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AFE39-0DDE-DFA7-9CF0-1413C1D7C33E}"/>
              </a:ext>
            </a:extLst>
          </p:cNvPr>
          <p:cNvSpPr txBox="1"/>
          <p:nvPr/>
        </p:nvSpPr>
        <p:spPr>
          <a:xfrm>
            <a:off x="457200" y="1143000"/>
            <a:ext cx="82296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 dirty="0">
                <a:solidFill>
                  <a:srgbClr val="181C23"/>
                </a:solidFill>
                <a:latin typeface="Lato"/>
              </a:rPr>
              <a:t>•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  </a:t>
            </a:r>
            <a:r>
              <a:rPr lang="pt-PT" sz="1500" b="1" dirty="0" err="1">
                <a:solidFill>
                  <a:srgbClr val="181C23"/>
                </a:solidFill>
                <a:latin typeface="Lato"/>
              </a:rPr>
              <a:t>kube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-</a:t>
            </a:r>
            <a:r>
              <a:rPr lang="pt-PT" sz="1500" b="1" dirty="0" err="1">
                <a:solidFill>
                  <a:srgbClr val="181C23"/>
                </a:solidFill>
                <a:latin typeface="Lato"/>
              </a:rPr>
              <a:t>controller</a:t>
            </a:r>
            <a:r>
              <a:rPr lang="pt-PT" sz="1500" b="1" dirty="0">
                <a:solidFill>
                  <a:srgbClr val="181C23"/>
                </a:solidFill>
                <a:latin typeface="Lato"/>
              </a:rPr>
              <a:t>-manager (O Fiscal do Estado Desejado)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O que faz: 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É um conjunto de pequenos controladores que ficam rodando em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loops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contínuos, a única função deles é garantir que o estado atual do cluster seja exatamente igual ao estado desejado (definido por você).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Como funciona: 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Se você definiu que quer 3 cópias de um aplicativo rodando e uma delas falhar, o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controller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percebe isso imediatamente e ordena a criação de uma nova.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500" b="1" dirty="0">
                <a:solidFill>
                  <a:srgbClr val="181C23"/>
                </a:solidFill>
                <a:latin typeface="Lato"/>
              </a:rPr>
              <a:t>Na analogia: 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É o gerente de qualidade e segurança do porto, ele fica rondando o porto com uma prancheta garantindo que as regras sejam cumpridas e que nenhum </a:t>
            </a:r>
            <a:r>
              <a:rPr lang="pt-PT" sz="1500" dirty="0" err="1">
                <a:solidFill>
                  <a:srgbClr val="181C23"/>
                </a:solidFill>
                <a:latin typeface="Lato"/>
              </a:rPr>
              <a:t>contêiner</a:t>
            </a:r>
            <a:r>
              <a:rPr lang="pt-PT" sz="1500" dirty="0">
                <a:solidFill>
                  <a:srgbClr val="181C23"/>
                </a:solidFill>
                <a:latin typeface="Lato"/>
              </a:rPr>
              <a:t> caia no mar sem ser substituído.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88E9F7-3DEA-B493-41F5-51D3F2034D7E}"/>
              </a:ext>
            </a:extLst>
          </p:cNvPr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>
            <a:extLst>
              <a:ext uri="{FF2B5EF4-FFF2-40B4-BE49-F238E27FC236}">
                <a16:creationId xmlns:a16="http://schemas.microsoft.com/office/drawing/2014/main" id="{99B9CABC-7A53-D94A-011C-90FD9DFC1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046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Componentes do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g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20" y="1143000"/>
            <a:ext cx="7508759" cy="34290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>
                <a:solidFill>
                  <a:srgbClr val="5A5E66"/>
                </a:solidFill>
                <a:latin typeface="Lato"/>
              </a:rPr>
              <a:t>Fonte da imagem: [http://kubernetes.io](http://kubernetes.io)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Componentes de cada Node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kubelet — agente em cada node; garante que os containers do Pod estão rodando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Não gerencia containers que não foram criados pelo Kubernetes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kube-proxy — mantém as regras de rede; permite comunicação com os Pods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Container runtime — o software que de fato executa os containers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5A5E66"/>
                </a:solidFill>
                <a:latin typeface="Lato"/>
              </a:rPr>
              <a:t>–  Docker, containerd, CRI-O...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Pods: a menor unidade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Pod = unidade básica do Kubernetes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Encapsula um ou mais containers que compartilham rede e armazenamento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Fazer deploy de uma aplicação = criar um ou mais Pods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Aprofundaremos Pods, Namespaces e Controladores na Aula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8840"/>
            <a:ext cx="9144000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4. Origem e curiosidades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De onde veio o Kubernetes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Curiosidades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Lançado pela Google em 21 de julho de 2015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Hoje mantido pela CNCF (Cloud Native Computing Foundation)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Kubernetes = "timoneiro/piloto" em grego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K8S: 8 letras entre o K e o S (K-ubernete-S)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Herdeiro do Borg, sistema interno de orquestração da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01</a:t>
            </a: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Containers isolam aplicações e suas dependências, de forma leve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Kubernetes orquestra containers em escala, mantendo o estado desejado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Cluster = Control Plane (comando) + Worker Nodes (execução)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Componentes-chave: apiserver, etcd, scheduler, controller-manager, kubelet, kube-proxy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Próxima aula: instalar Minikube e kubectl — mão na massa!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2509</Words>
  <Application>Microsoft Office PowerPoint</Application>
  <PresentationFormat>On-screen Show (16:9)</PresentationFormat>
  <Paragraphs>172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Benedicto, Everton Jose (SI IT VC PES PLT)</cp:lastModifiedBy>
  <cp:revision>4</cp:revision>
  <dcterms:created xsi:type="dcterms:W3CDTF">2013-01-27T09:14:16Z</dcterms:created>
  <dcterms:modified xsi:type="dcterms:W3CDTF">2026-07-21T17:45:31Z</dcterms:modified>
  <cp:category/>
</cp:coreProperties>
</file>