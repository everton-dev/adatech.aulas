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0" r:id="rId3"/>
    <p:sldId id="281" r:id="rId4"/>
    <p:sldId id="282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83" r:id="rId14"/>
    <p:sldId id="284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6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72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Aula que resolve duas dores reais: 'como acesso minha app?' e 'como não perco meus dados quando o pod morre?'. Retome que na aula 4 a app rodava, mas não era acessível de fora.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Dois grandes blocos: rede (Services, Ingress) e armazenamento (ConfigMap, PV/PVC). São os dois recursos que faltam para uma aplicação 'de verdade'.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problema do IP efêmero motiva o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Conecte com a aula 4: quando um pod é recriado, ganha IP novo. Se sua app apontasse para o IP antigo, quebraria. O Service resolve isso com um endereço fixo que sempre encontra os pods certos (via labels/selector) e balanceia entre eles. Mostre 'kubectl get pods -o wide' para ver os IPs efêmeros.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cada tipo com caso de uso. ClusterIP: comunicação interna entre microsserviços. NodePort: acesso externo simples (é o que usamos no Minikube). LoadBalancer: produção em cloud. ExternalName: apontar para um serviço externo (ex.: banco gerenciado). Headless: cada pod do StatefulSet tem seu DNS. Desenhe as camadas de acesso.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Faça ao vivo. Use nginx porque tem página web (a app ruby só loga). O 'expose' é a forma imperativa (equivale a um manifesto Service). Abra a URL do 'minikube service list' no navegador e mostre a página do nginx respondendo. Explique que o Service encontra o pod pelo selector (label run=nginx). Mencione o objeto Endpoints, que rastreia quais pods pertencem ao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a diferença entre port (do service), targetPort (do container) e nodePort (do node externo). O selector é o coração: qualquer pod com label run=nginx entra neste service. Amarre com a forma declarativa da aula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Ingress é o </a:t>
            </a:r>
            <a:r>
              <a:rPr lang="pt-PT"/>
              <a:t>próximo passo depois do NodePort</a:t>
            </a:r>
            <a:r>
              <a:t>/</a:t>
            </a:r>
            <a:r>
              <a:rPr lang="pt-PT"/>
              <a:t>LoadBalancer para expor aplicações — resolve um problema real de custo e organização.</a:t>
            </a:r>
          </a:p>
          <a:p>
            <a:r>
              <a:rPr lang="pt-PT"/>
              <a:t>1. Vários LoadBalancers </a:t>
            </a:r>
            <a:r>
              <a:t>na </a:t>
            </a:r>
            <a:r>
              <a:rPr lang="pt-PT"/>
              <a:t>cloud = caro: se você tem 10 aplicações e usa </a:t>
            </a:r>
            <a:r>
              <a:t>um </a:t>
            </a:r>
            <a:r>
              <a:rPr lang="pt-PT"/>
              <a:t>Service </a:t>
            </a:r>
            <a:r>
              <a:t>LoadBalancer </a:t>
            </a:r>
            <a:r>
              <a:rPr lang="pt-PT"/>
              <a:t>para cada, a cloud </a:t>
            </a:r>
            <a:r>
              <a:t>(</a:t>
            </a:r>
            <a:r>
              <a:rPr lang="pt-PT"/>
              <a:t>AWS, GCP, Azure) provisiona 10 balanceadores externos, cada um cobrado separadamente. Escala mal financeiramente.</a:t>
            </a:r>
          </a:p>
          <a:p>
            <a:r>
              <a:rPr lang="pt-PT"/>
              <a:t>2. Ingress usa UM balanceador para todo o cluster: </a:t>
            </a:r>
            <a:r>
              <a:t>um </a:t>
            </a:r>
            <a:r>
              <a:rPr lang="pt-PT"/>
              <a:t>único ponto de entrada na frente de tudo, e é o </a:t>
            </a:r>
            <a:r>
              <a:t>Ingress </a:t>
            </a:r>
            <a:r>
              <a:rPr lang="pt-PT"/>
              <a:t>quem decide para onde mandar cada requisição internamente. Economiza recursos e simplifica a infraestrutura externa.</a:t>
            </a:r>
          </a:p>
          <a:p>
            <a:r>
              <a:rPr lang="pt-PT"/>
              <a:t>3. Roteia requisições HTTP/HTTPS </a:t>
            </a:r>
            <a:r>
              <a:t>por regras</a:t>
            </a:r>
            <a:r>
              <a:rPr lang="pt-PT"/>
              <a:t>: por Host</a:t>
            </a:r>
            <a:r>
              <a:t> (app1.com </a:t>
            </a:r>
            <a:r>
              <a:rPr lang="pt-PT"/>
              <a:t>vai para o Service A</a:t>
            </a:r>
            <a:r>
              <a:t>, app2.com </a:t>
            </a:r>
            <a:r>
              <a:rPr lang="pt-PT"/>
              <a:t>para o Service B) e por Path (meusite.com/api para um Service, meusite.com/blog para outro</a:t>
            </a:r>
            <a:r>
              <a:t>). </a:t>
            </a:r>
            <a:r>
              <a:rPr lang="pt-PT"/>
              <a:t>Isso é diferente do NodePort/LoadBalancer simples, que só expõe uma porta sem essa inteligência de roteamento por domínio/caminho.</a:t>
            </a:r>
          </a:p>
          <a:p>
            <a:r>
              <a:rPr lang="pt-PT"/>
              <a:t>4. Depende </a:t>
            </a:r>
            <a:r>
              <a:t>de um </a:t>
            </a:r>
            <a:r>
              <a:rPr lang="pt-PT"/>
              <a:t>Ingress Controller instalado: o objeto Ingress sozinho é só uma regra declarativa (um manifesto YAML) — não faz nada por si só. É preciso ter um Ingress Controller rodando </a:t>
            </a:r>
            <a:r>
              <a:t>(nginx-ingress, Traefik</a:t>
            </a:r>
            <a:r>
              <a:rPr lang="pt-PT"/>
              <a:t>, HAProxy) que lê essas regras e implementa o roteamento. Sem controller, o Ingress não tem efeito algum. </a:t>
            </a:r>
            <a:r>
              <a:t>No Minikube: addon ingress</a:t>
            </a:r>
            <a:r>
              <a:rPr lang="pt-PT"/>
              <a:t>.</a:t>
            </a:r>
          </a:p>
          <a:p>
            <a:r>
              <a:rPr lang="pt-PT"/>
              <a:t>5. Ideal para expor múltiplas aplicações web: cenário perfeito quando você tem várias aplicações HTTP/HTTPS e quer expor todas com um único IP externo, usando domínios ou paths diferentes para cada uma.</a:t>
            </a:r>
          </a:p>
          <a:p>
            <a:r>
              <a:rPr lang="pt-PT"/>
              <a:t>Analogia: o Ingress é como o porteiro/recepcionista na entrada de um prédio — olha para quem está chegando (o host/path da requisição) e direciona cada visitante para a sala certa (o Service correto), em vez de você precisar de uma porta de entrada exclusiva (LoadBalancer) para cada sala do prédio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Container é efêmero — precisamos de persistência e configuração externa.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Reforce: container é imutável e efêmero por design. Qualquer coisa que precise sobreviver (dados de banco, uploads) tem que ir para um volume. Distinga efêmero (morre com o pod, mas resiste a restart do container) de persistente (independe do pod). Conecte com StatefulSet da aula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ConfigMap separa configuração do código (12-factor app). Chave-valor ou arquivos inteiros. Pode ser consumido como variável de ambiente ou montado como arquivo no container. IMPORTANTE: NÃO use para dados sensíveis (senhas, tokens) — para isso existe o Secret, que veremos na aula 7. Limite de 1MB por ConfigMap.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PT" dirty="0"/>
              <a:t>Armazenamento persistente no Kubernetes — resolve o problema da efemeridade (dados dentro do container somem quando ele reinicia).</a:t>
            </a:r>
          </a:p>
          <a:p>
            <a:r>
              <a:rPr lang="pt-PT" dirty="0"/>
              <a:t>1. PV (</a:t>
            </a:r>
            <a:r>
              <a:rPr lang="pt-PT" dirty="0" err="1"/>
              <a:t>PersistentVolume</a:t>
            </a:r>
            <a:r>
              <a:rPr lang="pt-PT" dirty="0"/>
              <a:t>): o recurso de armazenamento no cluster. É o “pedaço de disco” real que existe fisicamente (ou na nuvem) e está disponível para o cluster usar. Recurso de infraestrutura, geralmente criado/gerenciado pelo </a:t>
            </a:r>
            <a:r>
              <a:rPr lang="pt-PT" dirty="0" err="1"/>
              <a:t>admin</a:t>
            </a:r>
            <a:r>
              <a:rPr lang="pt-PT" dirty="0"/>
              <a:t>, que existe independente de qualquer </a:t>
            </a:r>
            <a:r>
              <a:rPr lang="pt-PT" dirty="0" err="1"/>
              <a:t>Pod</a:t>
            </a:r>
            <a:r>
              <a:rPr lang="pt-PT" dirty="0"/>
              <a:t> — tem vida própria.</a:t>
            </a:r>
          </a:p>
          <a:p>
            <a:r>
              <a:rPr lang="pt-PT" dirty="0"/>
              <a:t>2. PVC (</a:t>
            </a:r>
            <a:r>
              <a:rPr lang="pt-PT" dirty="0" err="1"/>
              <a:t>PersistentVolumeClaim</a:t>
            </a:r>
            <a:r>
              <a:rPr lang="pt-PT" dirty="0"/>
              <a:t>): </a:t>
            </a:r>
            <a:r>
              <a:rPr dirty="0"/>
              <a:t>a </a:t>
            </a:r>
            <a:r>
              <a:rPr lang="pt-PT" dirty="0"/>
              <a:t>solicitação de armazenamento pelo usuário. É o “pedido” </a:t>
            </a:r>
            <a:r>
              <a:rPr dirty="0"/>
              <a:t>do </a:t>
            </a:r>
            <a:r>
              <a:rPr lang="pt-PT" dirty="0" err="1"/>
              <a:t>dev</a:t>
            </a:r>
            <a:r>
              <a:rPr lang="pt-PT" dirty="0"/>
              <a:t>: “preciso de 3Gi”. Ele não se preocupa com onde/como o armazenamento existe fisicamente — só declara a necessidade, e o Kubernetes encontra ou cria um PV que atenda.</a:t>
            </a:r>
          </a:p>
          <a:p>
            <a:r>
              <a:rPr lang="pt-PT" dirty="0"/>
              <a:t>3. Provisionamento estático ou dinâmico. Estático: o </a:t>
            </a:r>
            <a:r>
              <a:rPr lang="pt-PT" dirty="0" err="1"/>
              <a:t>admin</a:t>
            </a:r>
            <a:r>
              <a:rPr lang="pt-PT" dirty="0"/>
              <a:t> cria os </a:t>
            </a:r>
            <a:r>
              <a:rPr lang="pt-PT" dirty="0" err="1"/>
              <a:t>PVs</a:t>
            </a:r>
            <a:r>
              <a:rPr lang="pt-PT" dirty="0"/>
              <a:t> manualmente antes, “deixando em estoque” para os </a:t>
            </a:r>
            <a:r>
              <a:rPr lang="pt-PT" dirty="0" err="1"/>
              <a:t>PVCs</a:t>
            </a:r>
            <a:r>
              <a:rPr lang="pt-PT" dirty="0"/>
              <a:t> reivindicarem. Dinâmico: não existe PV pronto — quando o PVC é criado, o K8s usa uma </a:t>
            </a:r>
            <a:r>
              <a:rPr lang="pt-PT" dirty="0" err="1"/>
              <a:t>StorageClass</a:t>
            </a:r>
            <a:r>
              <a:rPr lang="pt-PT" dirty="0"/>
              <a:t> para provisionar automaticamente um novo PV que satisfaça o pedido. É o modelo mais comum hoje, especialmente em </a:t>
            </a:r>
            <a:r>
              <a:rPr lang="pt-PT" dirty="0" err="1"/>
              <a:t>cloud</a:t>
            </a:r>
            <a:r>
              <a:rPr lang="pt-PT" dirty="0"/>
              <a:t>.</a:t>
            </a:r>
          </a:p>
          <a:p>
            <a:r>
              <a:rPr lang="pt-PT" dirty="0"/>
              <a:t>4. </a:t>
            </a:r>
            <a:r>
              <a:rPr lang="pt-PT" dirty="0" err="1"/>
              <a:t>Binding</a:t>
            </a:r>
            <a:r>
              <a:rPr dirty="0"/>
              <a:t>: </a:t>
            </a:r>
            <a:r>
              <a:rPr lang="pt-PT" dirty="0"/>
              <a:t>vínculo 1-para-1 entre PVC e PV. Quando o K8s encontra um PV compatível (tamanho, modo de acesso, etc.), faz o </a:t>
            </a:r>
            <a:r>
              <a:rPr lang="pt-PT" dirty="0" err="1"/>
              <a:t>binding</a:t>
            </a:r>
            <a:r>
              <a:rPr lang="pt-PT" dirty="0"/>
              <a:t> — uma ligação exclusiva. Um PV vinculado a um PVC não pode ser usado por outro PVC ao mesmo tempo.</a:t>
            </a:r>
          </a:p>
          <a:p>
            <a:r>
              <a:rPr lang="pt-PT" dirty="0"/>
              <a:t>5. O </a:t>
            </a:r>
            <a:r>
              <a:rPr lang="pt-PT" dirty="0" err="1"/>
              <a:t>Pod</a:t>
            </a:r>
            <a:r>
              <a:rPr lang="pt-PT" dirty="0"/>
              <a:t> referencia o PVC (não o </a:t>
            </a:r>
            <a:r>
              <a:rPr dirty="0"/>
              <a:t>PV </a:t>
            </a:r>
            <a:r>
              <a:rPr lang="pt-PT" dirty="0"/>
              <a:t>diretamente). Peça-chave da arquitetura: o </a:t>
            </a:r>
            <a:r>
              <a:rPr lang="pt-PT" dirty="0" err="1"/>
              <a:t>Pod</a:t>
            </a:r>
            <a:r>
              <a:rPr lang="pt-PT" dirty="0"/>
              <a:t> nunca aponta direto para o PV, sempre para o PVC. Isso cria uma camada de abstração — o </a:t>
            </a:r>
            <a:r>
              <a:rPr lang="pt-PT" dirty="0" err="1"/>
              <a:t>Pod</a:t>
            </a:r>
            <a:r>
              <a:rPr lang="pt-PT" dirty="0"/>
              <a:t> não precisa saber se o </a:t>
            </a:r>
            <a:r>
              <a:rPr lang="pt-PT" dirty="0" err="1"/>
              <a:t>storage</a:t>
            </a:r>
            <a:r>
              <a:rPr lang="pt-PT" dirty="0"/>
              <a:t> </a:t>
            </a:r>
            <a:r>
              <a:rPr dirty="0"/>
              <a:t>é </a:t>
            </a:r>
            <a:r>
              <a:rPr lang="pt-PT" dirty="0"/>
              <a:t>disco local, EBS da AWS, </a:t>
            </a:r>
            <a:r>
              <a:rPr lang="pt-PT" dirty="0" err="1"/>
              <a:t>Azure</a:t>
            </a:r>
            <a:r>
              <a:rPr lang="pt-PT" dirty="0"/>
              <a:t> </a:t>
            </a:r>
            <a:r>
              <a:rPr lang="pt-PT" dirty="0" err="1"/>
              <a:t>Disk</a:t>
            </a:r>
            <a:r>
              <a:rPr lang="pt-PT" dirty="0"/>
              <a:t>, etc. Ele só diz “quero usar esse PVC”, e o K8s resolve o resto.</a:t>
            </a:r>
          </a:p>
          <a:p>
            <a:r>
              <a:rPr lang="pt-PT" dirty="0"/>
              <a:t>Analogia: PV = </a:t>
            </a:r>
            <a:r>
              <a:rPr dirty="0"/>
              <a:t>a </a:t>
            </a:r>
            <a:r>
              <a:rPr lang="pt-PT" dirty="0"/>
              <a:t>“escritura </a:t>
            </a:r>
            <a:r>
              <a:rPr dirty="0"/>
              <a:t>do </a:t>
            </a:r>
            <a:r>
              <a:rPr dirty="0" err="1"/>
              <a:t>terreno</a:t>
            </a:r>
            <a:r>
              <a:rPr lang="pt-PT" dirty="0"/>
              <a:t>” </a:t>
            </a:r>
            <a:r>
              <a:rPr dirty="0"/>
              <a:t>(o </a:t>
            </a:r>
            <a:r>
              <a:rPr dirty="0" err="1"/>
              <a:t>armazenamento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si</a:t>
            </a:r>
            <a:r>
              <a:rPr lang="pt-PT" dirty="0"/>
              <a:t>, existe de verdade); </a:t>
            </a:r>
            <a:r>
              <a:rPr dirty="0"/>
              <a:t>PVC </a:t>
            </a:r>
            <a:r>
              <a:rPr lang="pt-PT" dirty="0"/>
              <a:t>= </a:t>
            </a:r>
            <a:r>
              <a:rPr dirty="0"/>
              <a:t>o </a:t>
            </a:r>
            <a:r>
              <a:rPr lang="pt-PT" dirty="0"/>
              <a:t>“uso </a:t>
            </a:r>
            <a:r>
              <a:rPr dirty="0"/>
              <a:t>do </a:t>
            </a:r>
            <a:r>
              <a:rPr dirty="0" err="1"/>
              <a:t>terreno</a:t>
            </a:r>
            <a:r>
              <a:rPr lang="pt-PT" dirty="0"/>
              <a:t>” </a:t>
            </a:r>
            <a:r>
              <a:rPr dirty="0"/>
              <a:t>(a </a:t>
            </a:r>
            <a:r>
              <a:rPr dirty="0" err="1"/>
              <a:t>reivindicação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parte</a:t>
            </a:r>
            <a:r>
              <a:rPr dirty="0"/>
              <a:t> dele</a:t>
            </a:r>
            <a:r>
              <a:rPr lang="pt-PT" dirty="0"/>
              <a:t>, “quero 3Gi”). </a:t>
            </a:r>
            <a:r>
              <a:rPr dirty="0"/>
              <a:t>O dev </a:t>
            </a:r>
            <a:r>
              <a:rPr dirty="0" err="1"/>
              <a:t>pede</a:t>
            </a:r>
            <a:r>
              <a:rPr dirty="0"/>
              <a:t> via PVC</a:t>
            </a:r>
            <a:r>
              <a:rPr lang="pt-PT" dirty="0"/>
              <a:t>,</a:t>
            </a:r>
            <a:r>
              <a:rPr dirty="0"/>
              <a:t> o cluster </a:t>
            </a:r>
            <a:r>
              <a:rPr dirty="0" err="1"/>
              <a:t>encontra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provisiona</a:t>
            </a:r>
            <a:r>
              <a:rPr dirty="0"/>
              <a:t> um PV </a:t>
            </a:r>
            <a:r>
              <a:rPr lang="pt-PT" dirty="0"/>
              <a:t>compatível </a:t>
            </a:r>
            <a:r>
              <a:rPr dirty="0"/>
              <a:t>e </a:t>
            </a:r>
            <a:r>
              <a:rPr dirty="0" err="1"/>
              <a:t>faz</a:t>
            </a:r>
            <a:r>
              <a:rPr dirty="0"/>
              <a:t> o binding</a:t>
            </a:r>
            <a:r>
              <a:rPr lang="pt-PT" dirty="0"/>
              <a:t>; o </a:t>
            </a:r>
            <a:r>
              <a:rPr lang="pt-PT" dirty="0" err="1"/>
              <a:t>Pod</a:t>
            </a:r>
            <a:r>
              <a:rPr lang="pt-PT" dirty="0"/>
              <a:t> </a:t>
            </a:r>
            <a:r>
              <a:rPr dirty="0" err="1"/>
              <a:t>só</a:t>
            </a:r>
            <a:r>
              <a:rPr dirty="0"/>
              <a:t> </a:t>
            </a:r>
            <a:r>
              <a:rPr dirty="0" err="1"/>
              <a:t>conhece</a:t>
            </a:r>
            <a:r>
              <a:rPr dirty="0"/>
              <a:t> o PVC</a:t>
            </a:r>
            <a:r>
              <a:rPr lang="pt-PT" dirty="0"/>
              <a:t>, nunca o PV diretamente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didática: crie o PV (status Available), depois o PVC (o PV vira Bound — mostre a transição!), depois o pod que monta o PVC. No 'describe' aponte a seção Volumes/Mounts confirmando o vínculo. Mensagem: o pod pede armazenamento sem saber os detalhes físicos — abstração é o ponto forte do K8S.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Fechamos a parte de rede e storage. Agora a aplicação é acessível e persistente. Na próxima aula vamos aos componentes que faltam (CronJob, Secret, RBAC) e ao troubleshooting — como investigar quando algo dá errado. Peça leitura do material 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2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097280"/>
            <a:ext cx="3840480" cy="2596863"/>
          </a:xfrm>
          <a:prstGeom prst="rect">
            <a:avLst/>
          </a:prstGeom>
        </p:spPr>
      </p:pic>
      <p:pic>
        <p:nvPicPr>
          <p:cNvPr id="3" name="Picture 2" descr="ada_bar.png"/>
          <p:cNvPicPr>
            <a:picLocks noChangeAspect="1"/>
          </p:cNvPicPr>
          <p:nvPr/>
        </p:nvPicPr>
        <p:blipFill>
          <a:blip r:embed="rId4"/>
          <a:srcRect t="38297" b="38297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4" name="Picture 3" descr="ada_bar.png"/>
          <p:cNvPicPr>
            <a:picLocks noChangeAspect="1"/>
          </p:cNvPicPr>
          <p:nvPr/>
        </p:nvPicPr>
        <p:blipFill>
          <a:blip r:embed="rId4"/>
          <a:srcRect t="38297" b="38297"/>
          <a:stretch>
            <a:fillRect/>
          </a:stretch>
        </p:blipFill>
        <p:spPr>
          <a:xfrm>
            <a:off x="0" y="4997196"/>
            <a:ext cx="9144000" cy="1463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737360"/>
            <a:ext cx="146304" cy="146304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Ubuntu"/>
              </a:rPr>
              <a:t>Services, Ingress e Volumes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50E550"/>
                </a:solidFill>
                <a:latin typeface="Lato"/>
              </a:rPr>
              <a:t>Exposição de aplicações e armazenamento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DF8"/>
                </a:solidFill>
                <a:latin typeface="Lato"/>
              </a:rPr>
              <a:t>Ada · DE-OP-011 Orquestração · Kubernetes  |  Aula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ard 01"/>
          <p:cNvSpPr/>
          <p:nvPr/>
        </p:nvSpPr>
        <p:spPr>
          <a:xfrm>
            <a:off x="365760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01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17/07 · Sexta</a:t>
            </a:r>
          </a:p>
          <a:p>
            <a:r>
              <a:rPr lang="pt-PT" sz="1100" b="1" dirty="0">
                <a:solidFill>
                  <a:srgbClr val="181C23"/>
                </a:solidFill>
                <a:latin typeface="Lato"/>
              </a:rPr>
              <a:t>Conhecendo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o Kubernetes</a:t>
            </a:r>
          </a:p>
        </p:txBody>
      </p:sp>
      <p:sp>
        <p:nvSpPr>
          <p:cNvPr id="101" name="Card 02"/>
          <p:cNvSpPr/>
          <p:nvPr/>
        </p:nvSpPr>
        <p:spPr>
          <a:xfrm>
            <a:off x="3236586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02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20/07 · Segunda</a:t>
            </a:r>
          </a:p>
          <a:p>
            <a:r>
              <a:rPr sz="1100" b="1" dirty="0">
                <a:solidFill>
                  <a:srgbClr val="181C23"/>
                </a:solidFill>
                <a:latin typeface="Lato"/>
              </a:rPr>
              <a:t>Mão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na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Massa: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Minikube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e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kubectl</a:t>
            </a:r>
            <a:endParaRPr sz="1100" b="1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102" name="Card 03"/>
          <p:cNvSpPr/>
          <p:nvPr/>
        </p:nvSpPr>
        <p:spPr>
          <a:xfrm>
            <a:off x="6107412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FFFFFF">
                  <a:shade val="30000"/>
                  <a:satMod val="115000"/>
                </a:srgbClr>
              </a:gs>
              <a:gs pos="50000">
                <a:srgbClr val="FFFFFF">
                  <a:shade val="67500"/>
                  <a:satMod val="115000"/>
                </a:srgbClr>
              </a:gs>
              <a:gs pos="100000">
                <a:srgbClr val="FFFFFF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03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22/07 · Quarta</a:t>
            </a:r>
          </a:p>
          <a:p>
            <a:r>
              <a:rPr sz="1100" b="1" dirty="0">
                <a:solidFill>
                  <a:srgbClr val="181C23"/>
                </a:solidFill>
                <a:latin typeface="Lato"/>
              </a:rPr>
              <a:t>Pods, Namespaces e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Controladores</a:t>
            </a:r>
            <a:endParaRPr sz="1100" b="1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103" name="Card 04"/>
          <p:cNvSpPr/>
          <p:nvPr/>
        </p:nvSpPr>
        <p:spPr>
          <a:xfrm>
            <a:off x="365760" y="2396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04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24/07 · Sexta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Primeira Aplicação no K8S</a:t>
            </a:r>
          </a:p>
        </p:txBody>
      </p:sp>
      <p:sp>
        <p:nvSpPr>
          <p:cNvPr id="104" name="Card 05"/>
          <p:cNvSpPr/>
          <p:nvPr/>
        </p:nvSpPr>
        <p:spPr>
          <a:xfrm>
            <a:off x="3236586" y="2396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05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27/07 · Segunda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Estratégias de Deploy e Limitação de Recursos</a:t>
            </a:r>
          </a:p>
        </p:txBody>
      </p:sp>
      <p:sp>
        <p:nvSpPr>
          <p:cNvPr id="105" name="Card 06"/>
          <p:cNvSpPr/>
          <p:nvPr/>
        </p:nvSpPr>
        <p:spPr>
          <a:xfrm>
            <a:off x="6107412" y="2396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06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29/07 · Quarta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Services, Ingress e Volumes</a:t>
            </a:r>
          </a:p>
        </p:txBody>
      </p:sp>
      <p:sp>
        <p:nvSpPr>
          <p:cNvPr id="106" name="Card 07"/>
          <p:cNvSpPr/>
          <p:nvPr/>
        </p:nvSpPr>
        <p:spPr>
          <a:xfrm>
            <a:off x="365760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07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31/07 · Sexta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Componentes e Troubleshooting</a:t>
            </a:r>
          </a:p>
        </p:txBody>
      </p:sp>
      <p:sp>
        <p:nvSpPr>
          <p:cNvPr id="107" name="Card 08"/>
          <p:cNvSpPr/>
          <p:nvPr/>
        </p:nvSpPr>
        <p:spPr>
          <a:xfrm>
            <a:off x="3236586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08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03/08 · Segunda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Cluster Multi-Master</a:t>
            </a:r>
          </a:p>
        </p:txBody>
      </p:sp>
      <p:sp>
        <p:nvSpPr>
          <p:cNvPr id="108" name="Card 09"/>
          <p:cNvSpPr/>
          <p:nvPr/>
        </p:nvSpPr>
        <p:spPr>
          <a:xfrm>
            <a:off x="6107412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09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05/08 · Quarta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Concluir atividades do módulo e preencher rubricas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Cronograma</a:t>
            </a:r>
            <a:r>
              <a:rPr sz="750" dirty="0">
                <a:solidFill>
                  <a:srgbClr val="5A5E66"/>
                </a:solidFill>
                <a:latin typeface="Lato"/>
              </a:rPr>
              <a:t> do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módulo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300000" y="250000"/>
            <a:ext cx="5000000" cy="23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1100" b="1" spc="300">
                <a:solidFill>
                  <a:srgbClr val="A6F750"/>
                </a:solidFill>
                <a:latin typeface="Ubuntu"/>
              </a:rPr>
              <a:t>COMBINADO DA TURMA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90000" y="470000"/>
            <a:ext cx="6000000" cy="62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4000" b="1">
                <a:solidFill>
                  <a:srgbClr val="FFFDF8"/>
                </a:solidFill>
                <a:latin typeface="Ubuntu"/>
              </a:rPr>
              <a:t>Por favor</a:t>
            </a:r>
            <a:r>
              <a:rPr sz="4000" b="1">
                <a:solidFill>
                  <a:srgbClr val="A6F750"/>
                </a:solidFill>
                <a:latin typeface="Ubuntu"/>
              </a:rPr>
              <a:t>!</a:t>
            </a:r>
          </a:p>
        </p:txBody>
      </p:sp>
      <p:sp>
        <p:nvSpPr>
          <p:cNvPr id="10" name="LeftCard"/>
          <p:cNvSpPr/>
          <p:nvPr/>
        </p:nvSpPr>
        <p:spPr>
          <a:xfrm>
            <a:off x="300000" y="1250000"/>
            <a:ext cx="2900000" cy="3630000"/>
          </a:xfrm>
          <a:prstGeom prst="roundRect">
            <a:avLst>
              <a:gd name="adj" fmla="val 6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eftHeader"/>
          <p:cNvSpPr/>
          <p:nvPr/>
        </p:nvSpPr>
        <p:spPr>
          <a:xfrm>
            <a:off x="300000" y="1250000"/>
            <a:ext cx="2900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>
                <a:solidFill>
                  <a:srgbClr val="FFFDF8"/>
                </a:solidFill>
                <a:latin typeface="Ubuntu"/>
              </a:rPr>
              <a:t>Bora participar!</a:t>
            </a:r>
          </a:p>
        </p:txBody>
      </p:sp>
      <p:pic>
        <p:nvPicPr>
          <p:cNvPr id="12" name="VideoCon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00" y="1720000"/>
            <a:ext cx="1150000" cy="1150000"/>
          </a:xfrm>
          <a:prstGeom prst="rect">
            <a:avLst/>
          </a:prstGeom>
        </p:spPr>
      </p:pic>
      <p:pic>
        <p:nvPicPr>
          <p:cNvPr id="13" name="Raise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000" y="1720000"/>
            <a:ext cx="1150000" cy="1150000"/>
          </a:xfrm>
          <a:prstGeom prst="rect">
            <a:avLst/>
          </a:prstGeom>
        </p:spPr>
      </p:pic>
      <p:sp>
        <p:nvSpPr>
          <p:cNvPr id="14" name="LeftCaption"/>
          <p:cNvSpPr txBox="1"/>
          <p:nvPr/>
        </p:nvSpPr>
        <p:spPr>
          <a:xfrm>
            <a:off x="420000" y="2980000"/>
            <a:ext cx="2660000" cy="7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sz="1250" b="1">
                <a:solidFill>
                  <a:srgbClr val="FFFDF8"/>
                </a:solidFill>
                <a:latin typeface="Ubuntu"/>
              </a:rPr>
              <a:t>Câmera ligada + mão levantada </a:t>
            </a:r>
            <a:r>
              <a:rPr sz="1250" b="1">
                <a:solidFill>
                  <a:srgbClr val="A6F750"/>
                </a:solidFill>
                <a:latin typeface="Ubuntu"/>
              </a:rPr>
              <a:t>= aula top!</a:t>
            </a:r>
          </a:p>
        </p:txBody>
      </p:sp>
      <p:sp>
        <p:nvSpPr>
          <p:cNvPr id="15" name="IntervalBadge"/>
          <p:cNvSpPr/>
          <p:nvPr/>
        </p:nvSpPr>
        <p:spPr>
          <a:xfrm>
            <a:off x="500000" y="4150000"/>
            <a:ext cx="2500000" cy="560000"/>
          </a:xfrm>
          <a:prstGeom prst="roundRect">
            <a:avLst>
              <a:gd name="adj" fmla="val 28000"/>
            </a:avLst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 spc="150" dirty="0">
                <a:solidFill>
                  <a:srgbClr val="1E232E"/>
                </a:solidFill>
                <a:latin typeface="Ubuntu"/>
              </a:rPr>
              <a:t>INTERVALO</a:t>
            </a:r>
            <a:r>
              <a:rPr sz="1000" b="1" dirty="0">
                <a:solidFill>
                  <a:srgbClr val="1E232E"/>
                </a:solidFill>
                <a:latin typeface="Ubuntu"/>
              </a:rPr>
              <a:t>  •  16:30 BRT</a:t>
            </a:r>
          </a:p>
        </p:txBody>
      </p:sp>
      <p:sp>
        <p:nvSpPr>
          <p:cNvPr id="20" name="RightCard"/>
          <p:cNvSpPr/>
          <p:nvPr/>
        </p:nvSpPr>
        <p:spPr>
          <a:xfrm>
            <a:off x="3400000" y="1250000"/>
            <a:ext cx="5444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ightHeader"/>
          <p:cNvSpPr/>
          <p:nvPr/>
        </p:nvSpPr>
        <p:spPr>
          <a:xfrm>
            <a:off x="3400000" y="1250000"/>
            <a:ext cx="5444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Combinados da nossa aula</a:t>
            </a:r>
          </a:p>
        </p:txBody>
      </p:sp>
      <p:sp>
        <p:nvSpPr>
          <p:cNvPr id="30" name="M1"/>
          <p:cNvSpPr/>
          <p:nvPr/>
        </p:nvSpPr>
        <p:spPr>
          <a:xfrm>
            <a:off x="3620000" y="173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1</a:t>
            </a:r>
          </a:p>
        </p:txBody>
      </p:sp>
      <p:sp>
        <p:nvSpPr>
          <p:cNvPr id="31" name="T1"/>
          <p:cNvSpPr txBox="1"/>
          <p:nvPr/>
        </p:nvSpPr>
        <p:spPr>
          <a:xfrm>
            <a:off x="4160000" y="171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Câmeras ligadas.</a:t>
            </a:r>
          </a:p>
        </p:txBody>
      </p:sp>
      <p:sp>
        <p:nvSpPr>
          <p:cNvPr id="32" name="M2"/>
          <p:cNvSpPr/>
          <p:nvPr/>
        </p:nvSpPr>
        <p:spPr>
          <a:xfrm>
            <a:off x="3620000" y="235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2</a:t>
            </a:r>
          </a:p>
        </p:txBody>
      </p:sp>
      <p:sp>
        <p:nvSpPr>
          <p:cNvPr id="33" name="T2"/>
          <p:cNvSpPr txBox="1"/>
          <p:nvPr/>
        </p:nvSpPr>
        <p:spPr>
          <a:xfrm>
            <a:off x="4160000" y="233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Entrem </a:t>
            </a:r>
            <a:r>
              <a:rPr sz="1400" b="1">
                <a:solidFill>
                  <a:srgbClr val="A6F750"/>
                </a:solidFill>
                <a:latin typeface="Ubuntu"/>
              </a:rPr>
              <a:t>no horário</a:t>
            </a:r>
            <a:r>
              <a:rPr sz="1400" b="1">
                <a:solidFill>
                  <a:srgbClr val="FFFDF8"/>
                </a:solidFill>
                <a:latin typeface="Ubuntu"/>
              </a:rPr>
              <a:t>: início e intervalo.</a:t>
            </a:r>
          </a:p>
        </p:txBody>
      </p:sp>
      <p:sp>
        <p:nvSpPr>
          <p:cNvPr id="34" name="M3"/>
          <p:cNvSpPr/>
          <p:nvPr/>
        </p:nvSpPr>
        <p:spPr>
          <a:xfrm>
            <a:off x="3620000" y="297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3</a:t>
            </a:r>
          </a:p>
        </p:txBody>
      </p:sp>
      <p:sp>
        <p:nvSpPr>
          <p:cNvPr id="35" name="T3"/>
          <p:cNvSpPr txBox="1"/>
          <p:nvPr/>
        </p:nvSpPr>
        <p:spPr>
          <a:xfrm>
            <a:off x="4160000" y="295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Participem da aula.</a:t>
            </a:r>
          </a:p>
        </p:txBody>
      </p:sp>
      <p:sp>
        <p:nvSpPr>
          <p:cNvPr id="36" name="M4"/>
          <p:cNvSpPr/>
          <p:nvPr/>
        </p:nvSpPr>
        <p:spPr>
          <a:xfrm>
            <a:off x="3620000" y="359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4</a:t>
            </a:r>
          </a:p>
        </p:txBody>
      </p:sp>
      <p:sp>
        <p:nvSpPr>
          <p:cNvPr id="37" name="T4"/>
          <p:cNvSpPr txBox="1"/>
          <p:nvPr/>
        </p:nvSpPr>
        <p:spPr>
          <a:xfrm>
            <a:off x="4160000" y="357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Tirem dúvidas.</a:t>
            </a:r>
          </a:p>
        </p:txBody>
      </p:sp>
      <p:sp>
        <p:nvSpPr>
          <p:cNvPr id="38" name="M5"/>
          <p:cNvSpPr/>
          <p:nvPr/>
        </p:nvSpPr>
        <p:spPr>
          <a:xfrm>
            <a:off x="3620000" y="421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5</a:t>
            </a:r>
          </a:p>
        </p:txBody>
      </p:sp>
      <p:sp>
        <p:nvSpPr>
          <p:cNvPr id="39" name="T5"/>
          <p:cNvSpPr txBox="1"/>
          <p:nvPr/>
        </p:nvSpPr>
        <p:spPr>
          <a:xfrm>
            <a:off x="4160000" y="419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A6F750"/>
                </a:solidFill>
                <a:latin typeface="Ubuntu"/>
              </a:rPr>
              <a:t>Levantem a mão</a:t>
            </a:r>
            <a:r>
              <a:rPr sz="1400" b="1">
                <a:solidFill>
                  <a:srgbClr val="FFFDF8"/>
                </a:solidFill>
                <a:latin typeface="Ubuntu"/>
              </a:rPr>
              <a:t> para tirar dúvidas.</a:t>
            </a:r>
          </a:p>
        </p:txBody>
      </p:sp>
      <p:pic>
        <p:nvPicPr>
          <p:cNvPr id="6" name="Picture 5" descr="ada_symbol.png">
            <a:extLst>
              <a:ext uri="{FF2B5EF4-FFF2-40B4-BE49-F238E27FC236}">
                <a16:creationId xmlns:a16="http://schemas.microsoft.com/office/drawing/2014/main" id="{EC4A71FF-BDBE-5989-C850-158BFCDE7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097280"/>
            <a:ext cx="3840480" cy="25968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300000" y="250000"/>
            <a:ext cx="6000000" cy="23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1100" b="1" spc="300">
                <a:solidFill>
                  <a:srgbClr val="A6F750"/>
                </a:solidFill>
                <a:latin typeface="Ubuntu"/>
              </a:rPr>
              <a:t>TRABALHO FINAL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90000" y="470000"/>
            <a:ext cx="8500000" cy="62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4000" b="1">
                <a:solidFill>
                  <a:srgbClr val="FFFDF8"/>
                </a:solidFill>
                <a:latin typeface="Ubuntu"/>
              </a:rPr>
              <a:t>Entrega Final</a:t>
            </a:r>
            <a:r>
              <a:rPr sz="4000" b="1">
                <a:solidFill>
                  <a:srgbClr val="A6F750"/>
                </a:solidFill>
                <a:latin typeface="Ubuntu"/>
              </a:rPr>
              <a:t>!</a:t>
            </a:r>
          </a:p>
        </p:txBody>
      </p:sp>
      <p:sp>
        <p:nvSpPr>
          <p:cNvPr id="10" name="LeftCard"/>
          <p:cNvSpPr/>
          <p:nvPr/>
        </p:nvSpPr>
        <p:spPr>
          <a:xfrm>
            <a:off x="300000" y="1250000"/>
            <a:ext cx="3450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eftHeader"/>
          <p:cNvSpPr/>
          <p:nvPr/>
        </p:nvSpPr>
        <p:spPr>
          <a:xfrm>
            <a:off x="300000" y="1250000"/>
            <a:ext cx="3450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O desafio</a:t>
            </a:r>
          </a:p>
        </p:txBody>
      </p:sp>
      <p:sp>
        <p:nvSpPr>
          <p:cNvPr id="12" name="LeftBody"/>
          <p:cNvSpPr txBox="1"/>
          <p:nvPr/>
        </p:nvSpPr>
        <p:spPr>
          <a:xfrm>
            <a:off x="480000" y="1660000"/>
            <a:ext cx="3120000" cy="1650000"/>
          </a:xfrm>
          <a:prstGeom prst="rect">
            <a:avLst/>
          </a:prstGeom>
          <a:noFill/>
        </p:spPr>
        <p:txBody>
          <a:bodyPr rtlCol="0"/>
          <a:lstStyle/>
          <a:p>
            <a:pPr marL="180000" indent="-180000">
              <a:buFont typeface="Arial"/>
              <a:buChar char="•"/>
            </a:pPr>
            <a:r>
              <a:rPr sz="1150" b="1" dirty="0">
                <a:solidFill>
                  <a:srgbClr val="FFFDF8"/>
                </a:solidFill>
                <a:latin typeface="Ubuntu"/>
              </a:rPr>
              <a:t>Suba no </a:t>
            </a:r>
            <a:r>
              <a:rPr sz="1150" b="1" dirty="0" err="1">
                <a:solidFill>
                  <a:srgbClr val="A6F750"/>
                </a:solidFill>
                <a:latin typeface="Ubuntu"/>
              </a:rPr>
              <a:t>minikube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 </a:t>
            </a:r>
            <a:r>
              <a:rPr lang="pt-PT" sz="1150" b="1" dirty="0">
                <a:solidFill>
                  <a:srgbClr val="FFFDF8"/>
                </a:solidFill>
                <a:latin typeface="Ubuntu"/>
              </a:rPr>
              <a:t>dois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 Pod</a:t>
            </a:r>
            <a:r>
              <a:rPr lang="pt-PT" sz="1150" b="1" dirty="0">
                <a:solidFill>
                  <a:srgbClr val="FFFDF8"/>
                </a:solidFill>
                <a:latin typeface="Ubuntu"/>
              </a:rPr>
              <a:t>s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 um</a:t>
            </a:r>
            <a:r>
              <a:rPr lang="pt-PT" sz="1150" b="1" dirty="0">
                <a:solidFill>
                  <a:srgbClr val="FFFDF8"/>
                </a:solidFill>
                <a:latin typeface="Ubuntu"/>
              </a:rPr>
              <a:t> com a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 API e </a:t>
            </a:r>
            <a:r>
              <a:rPr lang="pt-PT" sz="1150" b="1" dirty="0">
                <a:solidFill>
                  <a:srgbClr val="FFFDF8"/>
                </a:solidFill>
                <a:latin typeface="Ubuntu"/>
              </a:rPr>
              <a:t>o outro com o 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Banco de Dados à </a:t>
            </a:r>
            <a:r>
              <a:rPr sz="1150" b="1" dirty="0" err="1">
                <a:solidFill>
                  <a:srgbClr val="FFFDF8"/>
                </a:solidFill>
                <a:latin typeface="Ubuntu"/>
              </a:rPr>
              <a:t>sua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 </a:t>
            </a:r>
            <a:r>
              <a:rPr sz="1150" b="1" dirty="0" err="1">
                <a:solidFill>
                  <a:srgbClr val="FFFDF8"/>
                </a:solidFill>
                <a:latin typeface="Ubuntu"/>
              </a:rPr>
              <a:t>escolha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.</a:t>
            </a:r>
          </a:p>
          <a:p>
            <a:pPr marL="180000" indent="-180000">
              <a:spcBef>
                <a:spcPts val="700"/>
              </a:spcBef>
              <a:buFont typeface="Arial"/>
              <a:buChar char="•"/>
            </a:pPr>
            <a:r>
              <a:rPr sz="1150" b="1" dirty="0">
                <a:solidFill>
                  <a:srgbClr val="FFFDF8"/>
                </a:solidFill>
                <a:latin typeface="Ubuntu"/>
              </a:rPr>
              <a:t>A API </a:t>
            </a:r>
            <a:r>
              <a:rPr sz="1150" b="1" dirty="0" err="1">
                <a:solidFill>
                  <a:srgbClr val="FFFDF8"/>
                </a:solidFill>
                <a:latin typeface="Ubuntu"/>
              </a:rPr>
              <a:t>deve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 </a:t>
            </a:r>
            <a:r>
              <a:rPr sz="1150" b="1" dirty="0" err="1">
                <a:solidFill>
                  <a:srgbClr val="FFFDF8"/>
                </a:solidFill>
                <a:latin typeface="Ubuntu"/>
              </a:rPr>
              <a:t>fazer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 um </a:t>
            </a:r>
            <a:r>
              <a:rPr sz="1150" b="1" dirty="0">
                <a:solidFill>
                  <a:srgbClr val="A6F750"/>
                </a:solidFill>
                <a:latin typeface="Ubuntu"/>
              </a:rPr>
              <a:t>CRUD para </a:t>
            </a:r>
            <a:r>
              <a:rPr sz="1150" b="1" dirty="0" err="1">
                <a:solidFill>
                  <a:srgbClr val="A6F750"/>
                </a:solidFill>
                <a:latin typeface="Ubuntu"/>
              </a:rPr>
              <a:t>produtos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.</a:t>
            </a:r>
          </a:p>
        </p:txBody>
      </p:sp>
      <p:sp>
        <p:nvSpPr>
          <p:cNvPr id="13" name="TableSpec"/>
          <p:cNvSpPr/>
          <p:nvPr/>
        </p:nvSpPr>
        <p:spPr>
          <a:xfrm>
            <a:off x="480000" y="3380000"/>
            <a:ext cx="3090000" cy="1330000"/>
          </a:xfrm>
          <a:prstGeom prst="roundRect">
            <a:avLst>
              <a:gd name="adj" fmla="val 8000"/>
            </a:avLst>
          </a:prstGeom>
          <a:solidFill>
            <a:srgbClr val="181C23"/>
          </a:solidFill>
          <a:ln>
            <a:solidFill>
              <a:srgbClr val="3A404D"/>
            </a:solidFill>
          </a:ln>
        </p:spPr>
        <p:txBody>
          <a:bodyPr lIns="150000" tIns="120000" rIns="120000" rtlCol="0" anchor="t"/>
          <a:lstStyle/>
          <a:p>
            <a:pPr algn="l"/>
            <a:r>
              <a:rPr sz="1000" b="1" spc="150">
                <a:solidFill>
                  <a:srgbClr val="8A93A3"/>
                </a:solidFill>
                <a:latin typeface="Ubuntu"/>
              </a:rPr>
              <a:t>TABELA </a:t>
            </a:r>
            <a:r>
              <a:rPr sz="1000" b="1" spc="150">
                <a:solidFill>
                  <a:srgbClr val="A6F750"/>
                </a:solidFill>
                <a:latin typeface="Consolas"/>
              </a:rPr>
              <a:t>produtos</a:t>
            </a:r>
          </a:p>
          <a:p>
            <a:pPr algn="l">
              <a:spcBef>
                <a:spcPts val="700"/>
              </a:spcBef>
            </a:pPr>
            <a:r>
              <a:rPr sz="1150" b="1">
                <a:solidFill>
                  <a:srgbClr val="FFFDF8"/>
                </a:solidFill>
                <a:latin typeface="Consolas"/>
              </a:rPr>
              <a:t>Id</a:t>
            </a:r>
            <a:r>
              <a:rPr sz="1150">
                <a:solidFill>
                  <a:srgbClr val="8A93A3"/>
                </a:solidFill>
                <a:latin typeface="Consolas"/>
              </a:rPr>
              <a:t>  —  INT</a:t>
            </a:r>
          </a:p>
          <a:p>
            <a:pPr algn="l">
              <a:spcBef>
                <a:spcPts val="500"/>
              </a:spcBef>
            </a:pPr>
            <a:r>
              <a:rPr sz="1150" b="1">
                <a:solidFill>
                  <a:srgbClr val="FFFDF8"/>
                </a:solidFill>
                <a:latin typeface="Consolas"/>
              </a:rPr>
              <a:t>Nome</a:t>
            </a:r>
            <a:r>
              <a:rPr sz="1150">
                <a:solidFill>
                  <a:srgbClr val="8A93A3"/>
                </a:solidFill>
                <a:latin typeface="Consolas"/>
              </a:rPr>
              <a:t>  —  VARCHAR(50)</a:t>
            </a:r>
          </a:p>
        </p:txBody>
      </p:sp>
      <p:sp>
        <p:nvSpPr>
          <p:cNvPr id="20" name="RightCard"/>
          <p:cNvSpPr/>
          <p:nvPr/>
        </p:nvSpPr>
        <p:spPr>
          <a:xfrm>
            <a:off x="3950000" y="1250000"/>
            <a:ext cx="4894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ightHeader"/>
          <p:cNvSpPr/>
          <p:nvPr/>
        </p:nvSpPr>
        <p:spPr>
          <a:xfrm>
            <a:off x="3950000" y="1250000"/>
            <a:ext cx="4894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O que significa CRUD</a:t>
            </a:r>
          </a:p>
        </p:txBody>
      </p:sp>
      <p:sp>
        <p:nvSpPr>
          <p:cNvPr id="30" name="Mc"/>
          <p:cNvSpPr/>
          <p:nvPr/>
        </p:nvSpPr>
        <p:spPr>
          <a:xfrm>
            <a:off x="4150000" y="173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C</a:t>
            </a:r>
          </a:p>
        </p:txBody>
      </p:sp>
      <p:sp>
        <p:nvSpPr>
          <p:cNvPr id="31" name="Tc"/>
          <p:cNvSpPr txBox="1"/>
          <p:nvPr/>
        </p:nvSpPr>
        <p:spPr>
          <a:xfrm>
            <a:off x="4640000" y="171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Create </a:t>
            </a:r>
            <a:r>
              <a:rPr sz="1100">
                <a:solidFill>
                  <a:srgbClr val="8A93A3"/>
                </a:solidFill>
                <a:latin typeface="Ubuntu"/>
              </a:rPr>
              <a:t>— Criar</a:t>
            </a:r>
          </a:p>
        </p:txBody>
      </p:sp>
      <p:sp>
        <p:nvSpPr>
          <p:cNvPr id="32" name="Mr"/>
          <p:cNvSpPr/>
          <p:nvPr/>
        </p:nvSpPr>
        <p:spPr>
          <a:xfrm>
            <a:off x="4150000" y="227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R</a:t>
            </a:r>
          </a:p>
        </p:txBody>
      </p:sp>
      <p:sp>
        <p:nvSpPr>
          <p:cNvPr id="33" name="Tr"/>
          <p:cNvSpPr txBox="1"/>
          <p:nvPr/>
        </p:nvSpPr>
        <p:spPr>
          <a:xfrm>
            <a:off x="4640000" y="225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Read </a:t>
            </a:r>
            <a:r>
              <a:rPr sz="1100">
                <a:solidFill>
                  <a:srgbClr val="8A93A3"/>
                </a:solidFill>
                <a:latin typeface="Ubuntu"/>
              </a:rPr>
              <a:t>— Ler</a:t>
            </a:r>
          </a:p>
        </p:txBody>
      </p:sp>
      <p:sp>
        <p:nvSpPr>
          <p:cNvPr id="34" name="Mu"/>
          <p:cNvSpPr/>
          <p:nvPr/>
        </p:nvSpPr>
        <p:spPr>
          <a:xfrm>
            <a:off x="4150000" y="281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U</a:t>
            </a:r>
          </a:p>
        </p:txBody>
      </p:sp>
      <p:sp>
        <p:nvSpPr>
          <p:cNvPr id="35" name="Tu"/>
          <p:cNvSpPr txBox="1"/>
          <p:nvPr/>
        </p:nvSpPr>
        <p:spPr>
          <a:xfrm>
            <a:off x="4640000" y="279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Update </a:t>
            </a:r>
            <a:r>
              <a:rPr sz="1100">
                <a:solidFill>
                  <a:srgbClr val="8A93A3"/>
                </a:solidFill>
                <a:latin typeface="Ubuntu"/>
              </a:rPr>
              <a:t>— Atualizar</a:t>
            </a:r>
          </a:p>
        </p:txBody>
      </p:sp>
      <p:sp>
        <p:nvSpPr>
          <p:cNvPr id="36" name="Md"/>
          <p:cNvSpPr/>
          <p:nvPr/>
        </p:nvSpPr>
        <p:spPr>
          <a:xfrm>
            <a:off x="4150000" y="335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D</a:t>
            </a:r>
          </a:p>
        </p:txBody>
      </p:sp>
      <p:sp>
        <p:nvSpPr>
          <p:cNvPr id="37" name="Td"/>
          <p:cNvSpPr txBox="1"/>
          <p:nvPr/>
        </p:nvSpPr>
        <p:spPr>
          <a:xfrm>
            <a:off x="4640000" y="333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Delete </a:t>
            </a:r>
            <a:r>
              <a:rPr sz="1100">
                <a:solidFill>
                  <a:srgbClr val="8A93A3"/>
                </a:solidFill>
                <a:latin typeface="Ubuntu"/>
              </a:rPr>
              <a:t>— Excluir</a:t>
            </a:r>
          </a:p>
        </p:txBody>
      </p:sp>
      <p:sp>
        <p:nvSpPr>
          <p:cNvPr id="40" name="DeployStrip"/>
          <p:cNvSpPr/>
          <p:nvPr/>
        </p:nvSpPr>
        <p:spPr>
          <a:xfrm>
            <a:off x="4150000" y="3900000"/>
            <a:ext cx="4494000" cy="820000"/>
          </a:xfrm>
          <a:prstGeom prst="roundRect">
            <a:avLst>
              <a:gd name="adj" fmla="val 10000"/>
            </a:avLst>
          </a:prstGeom>
          <a:solidFill>
            <a:srgbClr val="181C23"/>
          </a:solidFill>
          <a:ln>
            <a:solidFill>
              <a:srgbClr val="3A404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DeployLabel"/>
          <p:cNvSpPr txBox="1"/>
          <p:nvPr/>
        </p:nvSpPr>
        <p:spPr>
          <a:xfrm>
            <a:off x="4320000" y="3990000"/>
            <a:ext cx="4200000" cy="26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000" b="1">
                <a:solidFill>
                  <a:srgbClr val="FFFDF8"/>
                </a:solidFill>
                <a:latin typeface="Ubuntu"/>
              </a:rPr>
              <a:t>Atualize a versão do Pod de forma </a:t>
            </a:r>
            <a:r>
              <a:rPr sz="1000" b="1">
                <a:solidFill>
                  <a:srgbClr val="A6F750"/>
                </a:solidFill>
                <a:latin typeface="Ubuntu"/>
              </a:rPr>
              <a:t>declarativa</a:t>
            </a:r>
            <a:r>
              <a:rPr sz="1000" b="1">
                <a:solidFill>
                  <a:srgbClr val="FFFDF8"/>
                </a:solidFill>
                <a:latin typeface="Ubuntu"/>
              </a:rPr>
              <a:t>, demonstrando:</a:t>
            </a:r>
          </a:p>
        </p:txBody>
      </p:sp>
      <p:sp>
        <p:nvSpPr>
          <p:cNvPr id="42" name="PillRolling"/>
          <p:cNvSpPr/>
          <p:nvPr/>
        </p:nvSpPr>
        <p:spPr>
          <a:xfrm>
            <a:off x="4320000" y="4290000"/>
            <a:ext cx="2000000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50" b="1">
                <a:solidFill>
                  <a:srgbClr val="1E232E"/>
                </a:solidFill>
                <a:latin typeface="Ubuntu"/>
              </a:rPr>
              <a:t>Rolling Update</a:t>
            </a:r>
          </a:p>
        </p:txBody>
      </p:sp>
      <p:sp>
        <p:nvSpPr>
          <p:cNvPr id="43" name="PillRecreate"/>
          <p:cNvSpPr/>
          <p:nvPr/>
        </p:nvSpPr>
        <p:spPr>
          <a:xfrm>
            <a:off x="6470000" y="4290000"/>
            <a:ext cx="2000000" cy="360000"/>
          </a:xfrm>
          <a:prstGeom prst="roundRect">
            <a:avLst>
              <a:gd name="adj" fmla="val 50000"/>
            </a:avLst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50" b="1">
                <a:solidFill>
                  <a:srgbClr val="FFFDF8"/>
                </a:solidFill>
                <a:latin typeface="Ubuntu"/>
              </a:rPr>
              <a:t>Recreate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Objetivos de hoje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Entender por que não acessamos Pods pelo IP direto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Conhecer os tipos de Service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Expor uma aplicação na prática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Compreender o papel do Ingress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Persistir dados com ConfigMaps e Volumes Persistentes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06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709" y="2148840"/>
            <a:ext cx="802581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1.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Um endereço estável para seus Pods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Por que o IP do Pod não serve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Subtitle"/>
          <p:cNvSpPr txBox="1"/>
          <p:nvPr/>
        </p:nvSpPr>
        <p:spPr>
          <a:xfrm>
            <a:off x="457200" y="1060000"/>
            <a:ext cx="8229600" cy="277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1300" b="1">
                <a:solidFill>
                  <a:srgbClr val="3A3E46"/>
                </a:solidFill>
                <a:latin typeface="Ubuntu"/>
              </a:rPr>
              <a:t>Quatro razões para nunca confiar no IP direto de um Pod</a:t>
            </a:r>
          </a:p>
        </p:txBody>
      </p:sp>
      <p:sp>
        <p:nvSpPr>
          <p:cNvPr id="31" name="Chip1"/>
          <p:cNvSpPr/>
          <p:nvPr/>
        </p:nvSpPr>
        <p:spPr>
          <a:xfrm>
            <a:off x="457200" y="1470000"/>
            <a:ext cx="380000" cy="380000"/>
          </a:xfrm>
          <a:prstGeom prst="roundRect">
            <a:avLst>
              <a:gd name="adj" fmla="val 20000"/>
            </a:avLst>
          </a:prstGeom>
          <a:solidFill>
            <a:srgbClr val="181C23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500" b="1">
                <a:solidFill>
                  <a:srgbClr val="50E550"/>
                </a:solidFill>
                <a:latin typeface="Ubuntu"/>
              </a:rPr>
              <a:t>1</a:t>
            </a:r>
          </a:p>
        </p:txBody>
      </p:sp>
      <p:sp>
        <p:nvSpPr>
          <p:cNvPr id="32" name="Text1"/>
          <p:cNvSpPr txBox="1"/>
          <p:nvPr/>
        </p:nvSpPr>
        <p:spPr>
          <a:xfrm>
            <a:off x="957200" y="1445000"/>
            <a:ext cx="3479560" cy="8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200"/>
              </a:spcAft>
            </a:pPr>
            <a:r>
              <a:rPr sz="1300" b="1" dirty="0">
                <a:solidFill>
                  <a:srgbClr val="181C23"/>
                </a:solidFill>
                <a:latin typeface="Ubuntu"/>
              </a:rPr>
              <a:t>IP privado e </a:t>
            </a:r>
            <a:r>
              <a:rPr sz="1300" b="1" dirty="0" err="1">
                <a:solidFill>
                  <a:srgbClr val="181C23"/>
                </a:solidFill>
                <a:latin typeface="Ubuntu"/>
              </a:rPr>
              <a:t>efêmero</a:t>
            </a:r>
            <a:endParaRPr sz="1300" b="1" dirty="0">
              <a:solidFill>
                <a:srgbClr val="181C23"/>
              </a:solidFill>
              <a:latin typeface="Ubuntu"/>
            </a:endParaRPr>
          </a:p>
          <a:p>
            <a:r>
              <a:rPr sz="1050" dirty="0">
                <a:solidFill>
                  <a:srgbClr val="3A3E46"/>
                </a:solidFill>
                <a:latin typeface="Lato"/>
              </a:rPr>
              <a:t>Cada Pod </a:t>
            </a:r>
            <a:r>
              <a:rPr sz="1050" dirty="0" err="1">
                <a:solidFill>
                  <a:srgbClr val="3A3E46"/>
                </a:solidFill>
                <a:latin typeface="Lato"/>
              </a:rPr>
              <a:t>nasce</a:t>
            </a:r>
            <a:r>
              <a:rPr sz="1050" dirty="0">
                <a:solidFill>
                  <a:srgbClr val="3A3E46"/>
                </a:solidFill>
                <a:latin typeface="Lato"/>
              </a:rPr>
              <a:t> com um IP </a:t>
            </a:r>
            <a:r>
              <a:rPr sz="1050" dirty="0" err="1">
                <a:solidFill>
                  <a:srgbClr val="3A3E46"/>
                </a:solidFill>
                <a:latin typeface="Lato"/>
              </a:rPr>
              <a:t>interno</a:t>
            </a:r>
            <a:r>
              <a:rPr sz="1050" dirty="0">
                <a:solidFill>
                  <a:srgbClr val="3A3E46"/>
                </a:solidFill>
                <a:latin typeface="Lato"/>
              </a:rPr>
              <a:t> e </a:t>
            </a:r>
            <a:r>
              <a:rPr sz="1050" dirty="0" err="1">
                <a:solidFill>
                  <a:srgbClr val="3A3E46"/>
                </a:solidFill>
                <a:latin typeface="Lato"/>
              </a:rPr>
              <a:t>temporário</a:t>
            </a:r>
            <a:r>
              <a:rPr sz="1050" dirty="0">
                <a:solidFill>
                  <a:srgbClr val="3A3E46"/>
                </a:solidFill>
                <a:latin typeface="Lato"/>
              </a:rPr>
              <a:t>, </a:t>
            </a:r>
            <a:r>
              <a:rPr sz="1050" dirty="0" err="1">
                <a:solidFill>
                  <a:srgbClr val="3A3E46"/>
                </a:solidFill>
                <a:latin typeface="Lato"/>
              </a:rPr>
              <a:t>usado</a:t>
            </a:r>
            <a:r>
              <a:rPr sz="1050" dirty="0">
                <a:solidFill>
                  <a:srgbClr val="3A3E46"/>
                </a:solidFill>
                <a:latin typeface="Lato"/>
              </a:rPr>
              <a:t> </a:t>
            </a:r>
            <a:r>
              <a:rPr sz="1050" dirty="0" err="1">
                <a:solidFill>
                  <a:srgbClr val="3A3E46"/>
                </a:solidFill>
                <a:latin typeface="Lato"/>
              </a:rPr>
              <a:t>só</a:t>
            </a:r>
            <a:r>
              <a:rPr sz="1050" dirty="0">
                <a:solidFill>
                  <a:srgbClr val="3A3E46"/>
                </a:solidFill>
                <a:latin typeface="Lato"/>
              </a:rPr>
              <a:t> </a:t>
            </a:r>
            <a:r>
              <a:rPr sz="1050" dirty="0" err="1">
                <a:solidFill>
                  <a:srgbClr val="3A3E46"/>
                </a:solidFill>
                <a:latin typeface="Lato"/>
              </a:rPr>
              <a:t>na</a:t>
            </a:r>
            <a:r>
              <a:rPr sz="1050" dirty="0">
                <a:solidFill>
                  <a:srgbClr val="3A3E46"/>
                </a:solidFill>
                <a:latin typeface="Lato"/>
              </a:rPr>
              <a:t> rede do cluster.</a:t>
            </a:r>
          </a:p>
        </p:txBody>
      </p:sp>
      <p:sp>
        <p:nvSpPr>
          <p:cNvPr id="33" name="Chip2"/>
          <p:cNvSpPr/>
          <p:nvPr/>
        </p:nvSpPr>
        <p:spPr>
          <a:xfrm>
            <a:off x="4709160" y="1470000"/>
            <a:ext cx="380000" cy="380000"/>
          </a:xfrm>
          <a:prstGeom prst="roundRect">
            <a:avLst>
              <a:gd name="adj" fmla="val 20000"/>
            </a:avLst>
          </a:prstGeom>
          <a:solidFill>
            <a:srgbClr val="181C23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500" b="1">
                <a:solidFill>
                  <a:srgbClr val="50E550"/>
                </a:solidFill>
                <a:latin typeface="Ubuntu"/>
              </a:rPr>
              <a:t>2</a:t>
            </a:r>
          </a:p>
        </p:txBody>
      </p:sp>
      <p:sp>
        <p:nvSpPr>
          <p:cNvPr id="34" name="Text2"/>
          <p:cNvSpPr txBox="1"/>
          <p:nvPr/>
        </p:nvSpPr>
        <p:spPr>
          <a:xfrm>
            <a:off x="5209160" y="1445000"/>
            <a:ext cx="3477640" cy="8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181C23"/>
                </a:solidFill>
                <a:latin typeface="Ubuntu"/>
              </a:rPr>
              <a:t>Preso à rede interna</a:t>
            </a:r>
          </a:p>
          <a:p>
            <a:r>
              <a:rPr sz="1050">
                <a:solidFill>
                  <a:srgbClr val="3A3E46"/>
                </a:solidFill>
                <a:latin typeface="Lato"/>
              </a:rPr>
              <a:t>Esse IP não é acessível de fora do cluster sem uma camada de roteamento.</a:t>
            </a:r>
          </a:p>
        </p:txBody>
      </p:sp>
      <p:sp>
        <p:nvSpPr>
          <p:cNvPr id="35" name="Chip3"/>
          <p:cNvSpPr/>
          <p:nvPr/>
        </p:nvSpPr>
        <p:spPr>
          <a:xfrm>
            <a:off x="457200" y="2440000"/>
            <a:ext cx="380000" cy="380000"/>
          </a:xfrm>
          <a:prstGeom prst="roundRect">
            <a:avLst>
              <a:gd name="adj" fmla="val 20000"/>
            </a:avLst>
          </a:prstGeom>
          <a:solidFill>
            <a:srgbClr val="181C23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500" b="1">
                <a:solidFill>
                  <a:srgbClr val="50E550"/>
                </a:solidFill>
                <a:latin typeface="Ubuntu"/>
              </a:rPr>
              <a:t>3</a:t>
            </a:r>
          </a:p>
        </p:txBody>
      </p:sp>
      <p:sp>
        <p:nvSpPr>
          <p:cNvPr id="36" name="Text3"/>
          <p:cNvSpPr txBox="1"/>
          <p:nvPr/>
        </p:nvSpPr>
        <p:spPr>
          <a:xfrm>
            <a:off x="957200" y="2415000"/>
            <a:ext cx="3479560" cy="8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181C23"/>
                </a:solidFill>
                <a:latin typeface="Ubuntu"/>
              </a:rPr>
              <a:t>Muda a cada recriação</a:t>
            </a:r>
          </a:p>
          <a:p>
            <a:r>
              <a:rPr sz="1050">
                <a:solidFill>
                  <a:srgbClr val="3A3E46"/>
                </a:solidFill>
                <a:latin typeface="Lato"/>
              </a:rPr>
              <a:t>Pod que morre ou reescala renasce com um IP novo — a conexão antiga quebra.</a:t>
            </a:r>
          </a:p>
        </p:txBody>
      </p:sp>
      <p:sp>
        <p:nvSpPr>
          <p:cNvPr id="37" name="Chip4"/>
          <p:cNvSpPr/>
          <p:nvPr/>
        </p:nvSpPr>
        <p:spPr>
          <a:xfrm>
            <a:off x="4709160" y="2440000"/>
            <a:ext cx="380000" cy="380000"/>
          </a:xfrm>
          <a:prstGeom prst="roundRect">
            <a:avLst>
              <a:gd name="adj" fmla="val 20000"/>
            </a:avLst>
          </a:prstGeom>
          <a:solidFill>
            <a:srgbClr val="181C23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500" b="1">
                <a:solidFill>
                  <a:srgbClr val="50E550"/>
                </a:solidFill>
                <a:latin typeface="Ubuntu"/>
              </a:rPr>
              <a:t>4</a:t>
            </a:r>
          </a:p>
        </p:txBody>
      </p:sp>
      <p:sp>
        <p:nvSpPr>
          <p:cNvPr id="38" name="Text4"/>
          <p:cNvSpPr txBox="1"/>
          <p:nvPr/>
        </p:nvSpPr>
        <p:spPr>
          <a:xfrm>
            <a:off x="5209160" y="2415000"/>
            <a:ext cx="3477640" cy="8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181C23"/>
                </a:solidFill>
                <a:latin typeface="Ubuntu"/>
              </a:rPr>
              <a:t>Um Pod só, sem balanceamento</a:t>
            </a:r>
          </a:p>
          <a:p>
            <a:r>
              <a:rPr sz="1050">
                <a:solidFill>
                  <a:srgbClr val="3A3E46"/>
                </a:solidFill>
                <a:latin typeface="Lato"/>
              </a:rPr>
              <a:t>Apontar para um IP envia todo o tráfego a uma única instância, sem distribuir a carga.</a:t>
            </a:r>
          </a:p>
        </p:txBody>
      </p:sp>
      <p:sp>
        <p:nvSpPr>
          <p:cNvPr id="40" name="SolutionBox"/>
          <p:cNvSpPr/>
          <p:nvPr/>
        </p:nvSpPr>
        <p:spPr>
          <a:xfrm>
            <a:off x="457200" y="3420000"/>
            <a:ext cx="8229600" cy="1320000"/>
          </a:xfrm>
          <a:prstGeom prst="roundRect">
            <a:avLst>
              <a:gd name="adj" fmla="val 4000"/>
            </a:avLst>
          </a:prstGeom>
          <a:solidFill>
            <a:srgbClr val="EAF7EA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41" name="SolutionAccent"/>
          <p:cNvSpPr/>
          <p:nvPr/>
        </p:nvSpPr>
        <p:spPr>
          <a:xfrm>
            <a:off x="457200" y="3420000"/>
            <a:ext cx="82296" cy="1320000"/>
          </a:xfrm>
          <a:prstGeom prst="rect">
            <a:avLst/>
          </a:prstGeom>
          <a:solidFill>
            <a:srgbClr val="50E55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2" name="SolutionText"/>
          <p:cNvSpPr txBox="1"/>
          <p:nvPr/>
        </p:nvSpPr>
        <p:spPr>
          <a:xfrm>
            <a:off x="740000" y="3540000"/>
            <a:ext cx="7800000" cy="108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76B17"/>
                </a:solidFill>
                <a:latin typeface="Ubuntu"/>
              </a:rPr>
              <a:t>A solução: o Service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81C23"/>
                </a:solidFill>
                <a:latin typeface="Lato"/>
              </a:rPr>
              <a:t>Endereço único e estável: </a:t>
            </a:r>
            <a:r>
              <a:rPr sz="1100">
                <a:solidFill>
                  <a:srgbClr val="3A3E46"/>
                </a:solidFill>
                <a:latin typeface="Lato"/>
              </a:rPr>
              <a:t>um IP fixo e um nome DNS que nunca mudam, mesmo com Pods recriados.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81C23"/>
                </a:solidFill>
                <a:latin typeface="Lato"/>
              </a:rPr>
              <a:t>Balanceamento de carga: </a:t>
            </a:r>
            <a:r>
              <a:rPr sz="1100">
                <a:solidFill>
                  <a:srgbClr val="3A3E46"/>
                </a:solidFill>
                <a:latin typeface="Lato"/>
              </a:rPr>
              <a:t>distribui as requisições entre todos os Pods ativos (via labels e selectors).</a:t>
            </a:r>
          </a:p>
          <a:p>
            <a:r>
              <a:rPr sz="1150" b="1">
                <a:solidFill>
                  <a:srgbClr val="176B17"/>
                </a:solidFill>
                <a:latin typeface="Lato"/>
              </a:rPr>
              <a:t>Nunca aponte para o Pod — aponte para o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06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Por que o IP do Pod não serve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199" y="291720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06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051ECA-6B14-4F7F-6963-C3DCF7227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6" y="2226290"/>
            <a:ext cx="8906107" cy="6909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Os tipos de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Subtitle"/>
          <p:cNvSpPr txBox="1"/>
          <p:nvPr/>
        </p:nvSpPr>
        <p:spPr>
          <a:xfrm>
            <a:off x="457200" y="1035000"/>
            <a:ext cx="8229600" cy="26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1200" b="1">
                <a:solidFill>
                  <a:srgbClr val="3A3E46"/>
                </a:solidFill>
                <a:latin typeface="Ubuntu"/>
              </a:rPr>
              <a:t>O tipo depende de quem precisa acessar — de dentro ou de fora do cluster.</a:t>
            </a:r>
          </a:p>
        </p:txBody>
      </p:sp>
      <p:sp>
        <p:nvSpPr>
          <p:cNvPr id="50" name="Card1"/>
          <p:cNvSpPr/>
          <p:nvPr/>
        </p:nvSpPr>
        <p:spPr>
          <a:xfrm>
            <a:off x="457200" y="1330000"/>
            <a:ext cx="82296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60" name="Accent1"/>
          <p:cNvSpPr/>
          <p:nvPr/>
        </p:nvSpPr>
        <p:spPr>
          <a:xfrm>
            <a:off x="457200" y="1330000"/>
            <a:ext cx="68580" cy="600000"/>
          </a:xfrm>
          <a:prstGeom prst="rect">
            <a:avLst/>
          </a:prstGeom>
          <a:solidFill>
            <a:srgbClr val="1E7D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0" name="Name1"/>
          <p:cNvSpPr txBox="1"/>
          <p:nvPr/>
        </p:nvSpPr>
        <p:spPr>
          <a:xfrm>
            <a:off x="1210000" y="1330000"/>
            <a:ext cx="1290000" cy="6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pt-PT" sz="1150" b="1">
                <a:solidFill>
                  <a:srgbClr val="181C23"/>
                </a:solidFill>
                <a:latin typeface="Ubuntu"/>
              </a:rPr>
              <a:t>ClusterIP</a:t>
            </a:r>
          </a:p>
        </p:txBody>
      </p:sp>
      <p:sp>
        <p:nvSpPr>
          <p:cNvPr id="80" name="Desc1"/>
          <p:cNvSpPr txBox="1"/>
          <p:nvPr/>
        </p:nvSpPr>
        <p:spPr>
          <a:xfrm>
            <a:off x="2600000" y="1330000"/>
            <a:ext cx="4400000" cy="6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sz="1000">
                <a:solidFill>
                  <a:srgbClr val="3A3E46"/>
                </a:solidFill>
                <a:latin typeface="Lato"/>
              </a:rPr>
              <a:t>Padrão. IP virtual estável para a comunicação entre microsserviços (ex.: API ↔ banco).</a:t>
            </a:r>
          </a:p>
        </p:txBody>
      </p:sp>
      <p:sp>
        <p:nvSpPr>
          <p:cNvPr id="90" name="Pill1"/>
          <p:cNvSpPr/>
          <p:nvPr/>
        </p:nvSpPr>
        <p:spPr>
          <a:xfrm>
            <a:off x="7126800" y="1480000"/>
            <a:ext cx="1560000" cy="300000"/>
          </a:xfrm>
          <a:prstGeom prst="roundRect">
            <a:avLst>
              <a:gd name="adj" fmla="val 50000"/>
            </a:avLst>
          </a:prstGeom>
          <a:solidFill>
            <a:srgbClr val="1E7D1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Interno</a:t>
            </a:r>
          </a:p>
        </p:txBody>
      </p:sp>
      <p:sp>
        <p:nvSpPr>
          <p:cNvPr id="51" name="Card2"/>
          <p:cNvSpPr/>
          <p:nvPr/>
        </p:nvSpPr>
        <p:spPr>
          <a:xfrm>
            <a:off x="457200" y="2010000"/>
            <a:ext cx="82296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61" name="Accent2"/>
          <p:cNvSpPr/>
          <p:nvPr/>
        </p:nvSpPr>
        <p:spPr>
          <a:xfrm>
            <a:off x="457200" y="2010000"/>
            <a:ext cx="68580" cy="600000"/>
          </a:xfrm>
          <a:prstGeom prst="rect">
            <a:avLst/>
          </a:prstGeom>
          <a:solidFill>
            <a:srgbClr val="1B5FA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1" name="Name2"/>
          <p:cNvSpPr txBox="1"/>
          <p:nvPr/>
        </p:nvSpPr>
        <p:spPr>
          <a:xfrm>
            <a:off x="1210000" y="2010000"/>
            <a:ext cx="1290000" cy="6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pt-PT" sz="1150" b="1">
                <a:solidFill>
                  <a:srgbClr val="181C23"/>
                </a:solidFill>
                <a:latin typeface="Ubuntu"/>
              </a:rPr>
              <a:t>NodePort</a:t>
            </a:r>
          </a:p>
        </p:txBody>
      </p:sp>
      <p:sp>
        <p:nvSpPr>
          <p:cNvPr id="81" name="Desc2"/>
          <p:cNvSpPr txBox="1"/>
          <p:nvPr/>
        </p:nvSpPr>
        <p:spPr>
          <a:xfrm>
            <a:off x="2600000" y="2010000"/>
            <a:ext cx="4400000" cy="6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sz="1000">
                <a:solidFill>
                  <a:srgbClr val="3A3E46"/>
                </a:solidFill>
                <a:latin typeface="Lato"/>
              </a:rPr>
              <a:t>Abre uma porta (30000–32767) em todos os Nodes. Ideal para dev/testes e exposição rápida.</a:t>
            </a:r>
          </a:p>
        </p:txBody>
      </p:sp>
      <p:sp>
        <p:nvSpPr>
          <p:cNvPr id="91" name="Pill2"/>
          <p:cNvSpPr/>
          <p:nvPr/>
        </p:nvSpPr>
        <p:spPr>
          <a:xfrm>
            <a:off x="7126800" y="2160000"/>
            <a:ext cx="1560000" cy="300000"/>
          </a:xfrm>
          <a:prstGeom prst="roundRect">
            <a:avLst>
              <a:gd name="adj" fmla="val 50000"/>
            </a:avLst>
          </a:prstGeom>
          <a:solidFill>
            <a:srgbClr val="1B5FA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Externo (Node)</a:t>
            </a:r>
          </a:p>
        </p:txBody>
      </p:sp>
      <p:sp>
        <p:nvSpPr>
          <p:cNvPr id="52" name="Card3"/>
          <p:cNvSpPr/>
          <p:nvPr/>
        </p:nvSpPr>
        <p:spPr>
          <a:xfrm>
            <a:off x="457200" y="2690000"/>
            <a:ext cx="82296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62" name="Accent3"/>
          <p:cNvSpPr/>
          <p:nvPr/>
        </p:nvSpPr>
        <p:spPr>
          <a:xfrm>
            <a:off x="457200" y="2690000"/>
            <a:ext cx="68580" cy="600000"/>
          </a:xfrm>
          <a:prstGeom prst="rect">
            <a:avLst/>
          </a:prstGeom>
          <a:solidFill>
            <a:srgbClr val="1B5FA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2" name="Name3"/>
          <p:cNvSpPr txBox="1"/>
          <p:nvPr/>
        </p:nvSpPr>
        <p:spPr>
          <a:xfrm>
            <a:off x="1210000" y="2690000"/>
            <a:ext cx="1290000" cy="6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pt-PT" sz="1150" b="1">
                <a:solidFill>
                  <a:srgbClr val="181C23"/>
                </a:solidFill>
                <a:latin typeface="Ubuntu"/>
              </a:rPr>
              <a:t>LoadBalancer</a:t>
            </a:r>
          </a:p>
        </p:txBody>
      </p:sp>
      <p:sp>
        <p:nvSpPr>
          <p:cNvPr id="82" name="Desc3"/>
          <p:cNvSpPr txBox="1"/>
          <p:nvPr/>
        </p:nvSpPr>
        <p:spPr>
          <a:xfrm>
            <a:off x="2600000" y="2690000"/>
            <a:ext cx="4400000" cy="6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sz="1000">
                <a:solidFill>
                  <a:srgbClr val="3A3E46"/>
                </a:solidFill>
                <a:latin typeface="Lato"/>
              </a:rPr>
              <a:t>Balanceador real da cloud (AWS/GCP/Azure) com IP público. Para produção na internet.</a:t>
            </a:r>
          </a:p>
        </p:txBody>
      </p:sp>
      <p:sp>
        <p:nvSpPr>
          <p:cNvPr id="92" name="Pill3"/>
          <p:cNvSpPr/>
          <p:nvPr/>
        </p:nvSpPr>
        <p:spPr>
          <a:xfrm>
            <a:off x="7126800" y="2840000"/>
            <a:ext cx="1560000" cy="300000"/>
          </a:xfrm>
          <a:prstGeom prst="roundRect">
            <a:avLst>
              <a:gd name="adj" fmla="val 50000"/>
            </a:avLst>
          </a:prstGeom>
          <a:solidFill>
            <a:srgbClr val="1B5FA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Internet</a:t>
            </a:r>
          </a:p>
        </p:txBody>
      </p:sp>
      <p:sp>
        <p:nvSpPr>
          <p:cNvPr id="53" name="Card4"/>
          <p:cNvSpPr/>
          <p:nvPr/>
        </p:nvSpPr>
        <p:spPr>
          <a:xfrm>
            <a:off x="457200" y="3370000"/>
            <a:ext cx="82296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63" name="Accent4"/>
          <p:cNvSpPr/>
          <p:nvPr/>
        </p:nvSpPr>
        <p:spPr>
          <a:xfrm>
            <a:off x="457200" y="3370000"/>
            <a:ext cx="68580" cy="600000"/>
          </a:xfrm>
          <a:prstGeom prst="rect">
            <a:avLst/>
          </a:prstGeom>
          <a:solidFill>
            <a:srgbClr val="1E7D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3" name="Name4"/>
          <p:cNvSpPr txBox="1"/>
          <p:nvPr/>
        </p:nvSpPr>
        <p:spPr>
          <a:xfrm>
            <a:off x="1210000" y="3370000"/>
            <a:ext cx="1290000" cy="6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pt-PT" sz="1150" b="1">
                <a:solidFill>
                  <a:srgbClr val="181C23"/>
                </a:solidFill>
                <a:latin typeface="Ubuntu"/>
              </a:rPr>
              <a:t>ExternalName</a:t>
            </a:r>
          </a:p>
        </p:txBody>
      </p:sp>
      <p:sp>
        <p:nvSpPr>
          <p:cNvPr id="83" name="Desc4"/>
          <p:cNvSpPr txBox="1"/>
          <p:nvPr/>
        </p:nvSpPr>
        <p:spPr>
          <a:xfrm>
            <a:off x="2600000" y="3370000"/>
            <a:ext cx="4400000" cy="6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sz="1000">
                <a:solidFill>
                  <a:srgbClr val="3A3E46"/>
                </a:solidFill>
                <a:latin typeface="Lato"/>
              </a:rPr>
              <a:t>CNAME para um DNS externo (ex.: banco gerenciado), sem fixar a URL no código.</a:t>
            </a:r>
          </a:p>
        </p:txBody>
      </p:sp>
      <p:sp>
        <p:nvSpPr>
          <p:cNvPr id="93" name="Pill4"/>
          <p:cNvSpPr/>
          <p:nvPr/>
        </p:nvSpPr>
        <p:spPr>
          <a:xfrm>
            <a:off x="7126800" y="3520000"/>
            <a:ext cx="1560000" cy="300000"/>
          </a:xfrm>
          <a:prstGeom prst="roundRect">
            <a:avLst>
              <a:gd name="adj" fmla="val 50000"/>
            </a:avLst>
          </a:prstGeom>
          <a:solidFill>
            <a:srgbClr val="1E7D1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Saída externa</a:t>
            </a:r>
          </a:p>
        </p:txBody>
      </p:sp>
      <p:sp>
        <p:nvSpPr>
          <p:cNvPr id="54" name="Card5"/>
          <p:cNvSpPr/>
          <p:nvPr/>
        </p:nvSpPr>
        <p:spPr>
          <a:xfrm>
            <a:off x="457200" y="4050000"/>
            <a:ext cx="82296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64" name="Accent5"/>
          <p:cNvSpPr/>
          <p:nvPr/>
        </p:nvSpPr>
        <p:spPr>
          <a:xfrm>
            <a:off x="457200" y="4050000"/>
            <a:ext cx="68580" cy="600000"/>
          </a:xfrm>
          <a:prstGeom prst="rect">
            <a:avLst/>
          </a:prstGeom>
          <a:solidFill>
            <a:srgbClr val="1E7D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4" name="Name5"/>
          <p:cNvSpPr txBox="1"/>
          <p:nvPr/>
        </p:nvSpPr>
        <p:spPr>
          <a:xfrm>
            <a:off x="1210000" y="4050000"/>
            <a:ext cx="1290000" cy="6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pt-PT" sz="1150" b="1">
                <a:solidFill>
                  <a:srgbClr val="181C23"/>
                </a:solidFill>
                <a:latin typeface="Ubuntu"/>
              </a:rPr>
              <a:t>Headless</a:t>
            </a:r>
          </a:p>
        </p:txBody>
      </p:sp>
      <p:sp>
        <p:nvSpPr>
          <p:cNvPr id="84" name="Desc5"/>
          <p:cNvSpPr txBox="1"/>
          <p:nvPr/>
        </p:nvSpPr>
        <p:spPr>
          <a:xfrm>
            <a:off x="2600000" y="4050000"/>
            <a:ext cx="4400000" cy="6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sz="1000">
                <a:solidFill>
                  <a:srgbClr val="3A3E46"/>
                </a:solidFill>
                <a:latin typeface="Lato"/>
              </a:rPr>
              <a:t>Sem IP virtual: o DNS devolve os IPs de cada Pod. Para StatefulSets (Mongo, Cassandra, Kafka).</a:t>
            </a:r>
          </a:p>
        </p:txBody>
      </p:sp>
      <p:sp>
        <p:nvSpPr>
          <p:cNvPr id="94" name="Pill5"/>
          <p:cNvSpPr/>
          <p:nvPr/>
        </p:nvSpPr>
        <p:spPr>
          <a:xfrm>
            <a:off x="7126800" y="4200000"/>
            <a:ext cx="1560000" cy="300000"/>
          </a:xfrm>
          <a:prstGeom prst="roundRect">
            <a:avLst>
              <a:gd name="adj" fmla="val 50000"/>
            </a:avLst>
          </a:prstGeom>
          <a:solidFill>
            <a:srgbClr val="1E7D1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Interno (por Pod)</a:t>
            </a:r>
          </a:p>
        </p:txBody>
      </p:sp>
      <p:pic>
        <p:nvPicPr>
          <p:cNvPr id="100" name="Icon1"/>
          <p:cNvPicPr>
            <a:picLocks noChangeAspect="1"/>
          </p:cNvPicPr>
          <p:nvPr/>
        </p:nvPicPr>
        <p:blipFill>
          <a:blip r:embed="rId4"/>
          <a:srcRect t="6900" b="6900"/>
          <a:stretch>
            <a:fillRect/>
          </a:stretch>
        </p:blipFill>
        <p:spPr>
          <a:xfrm>
            <a:off x="600000" y="1400000"/>
            <a:ext cx="460000" cy="460000"/>
          </a:xfrm>
          <a:prstGeom prst="rect">
            <a:avLst/>
          </a:prstGeom>
        </p:spPr>
      </p:pic>
      <p:pic>
        <p:nvPicPr>
          <p:cNvPr id="101" name="Icon2"/>
          <p:cNvPicPr>
            <a:picLocks noChangeAspect="1"/>
          </p:cNvPicPr>
          <p:nvPr/>
        </p:nvPicPr>
        <p:blipFill>
          <a:blip r:embed="rId5"/>
          <a:srcRect l="2800" r="2800"/>
          <a:stretch>
            <a:fillRect/>
          </a:stretch>
        </p:blipFill>
        <p:spPr>
          <a:xfrm>
            <a:off x="600000" y="2080000"/>
            <a:ext cx="460000" cy="460000"/>
          </a:xfrm>
          <a:prstGeom prst="rect">
            <a:avLst/>
          </a:prstGeom>
        </p:spPr>
      </p:pic>
      <p:pic>
        <p:nvPicPr>
          <p:cNvPr id="102" name="Icon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00" y="2760000"/>
            <a:ext cx="460000" cy="460000"/>
          </a:xfrm>
          <a:prstGeom prst="rect">
            <a:avLst/>
          </a:prstGeom>
        </p:spPr>
      </p:pic>
      <p:pic>
        <p:nvPicPr>
          <p:cNvPr id="103" name="Icon4"/>
          <p:cNvPicPr>
            <a:picLocks noChangeAspect="1"/>
          </p:cNvPicPr>
          <p:nvPr/>
        </p:nvPicPr>
        <p:blipFill>
          <a:blip r:embed="rId7"/>
          <a:srcRect l="5430" r="5430"/>
          <a:stretch>
            <a:fillRect/>
          </a:stretch>
        </p:blipFill>
        <p:spPr>
          <a:xfrm>
            <a:off x="600000" y="3440000"/>
            <a:ext cx="460000" cy="460000"/>
          </a:xfrm>
          <a:prstGeom prst="rect">
            <a:avLst/>
          </a:prstGeom>
        </p:spPr>
      </p:pic>
      <p:pic>
        <p:nvPicPr>
          <p:cNvPr id="104" name="Icon5"/>
          <p:cNvPicPr>
            <a:picLocks noChangeAspect="1"/>
          </p:cNvPicPr>
          <p:nvPr/>
        </p:nvPicPr>
        <p:blipFill>
          <a:blip r:embed="rId8"/>
          <a:srcRect l="1550" r="1550"/>
          <a:stretch>
            <a:fillRect/>
          </a:stretch>
        </p:blipFill>
        <p:spPr>
          <a:xfrm>
            <a:off x="600000" y="4120000"/>
            <a:ext cx="460000" cy="46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06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Expondo uma aplicação com NodePort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99" y="971481"/>
            <a:ext cx="822960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Se o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namespace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 não existir crie: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create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ns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lang="pt-PT" sz="13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Suba um Pod nginx para ter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uma</a:t>
            </a:r>
            <a:r>
              <a:rPr sz="1300" dirty="0">
                <a:solidFill>
                  <a:srgbClr val="181C23"/>
                </a:solidFill>
                <a:latin typeface="Lato"/>
              </a:rPr>
              <a:t> interface web: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run nginx --image nginx:1.14.2 -n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Exponha</a:t>
            </a:r>
            <a:r>
              <a:rPr sz="1300" dirty="0">
                <a:solidFill>
                  <a:srgbClr val="181C23"/>
                </a:solidFill>
                <a:latin typeface="Lato"/>
              </a:rPr>
              <a:t> o Pod via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NodePort</a:t>
            </a:r>
            <a:r>
              <a:rPr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expose pod/nginx -n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--type=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NodePort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--port=80</a:t>
            </a: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Liste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os</a:t>
            </a:r>
            <a:r>
              <a:rPr sz="1300" dirty="0">
                <a:solidFill>
                  <a:srgbClr val="181C23"/>
                </a:solidFill>
                <a:latin typeface="Lato"/>
              </a:rPr>
              <a:t> Services: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get svc -n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Veja os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services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 no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Minikube</a:t>
            </a:r>
            <a:r>
              <a:rPr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service list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Descubra a URL de acesso e abra o browser pelo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Minikube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lang="pt-PT"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service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nginx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Descubra a URL de acesso pelo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Minikube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lang="pt-PT"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service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nginx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--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url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06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Expondo uma aplicação com NodePort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91739" y="3814491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06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8DFA53-6650-C47A-FCC2-6677FE1E1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1" y="1340369"/>
            <a:ext cx="8970818" cy="24627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Service como manifesto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 dirty="0">
                <a:solidFill>
                  <a:srgbClr val="2371FF"/>
                </a:solidFill>
                <a:latin typeface="Lato"/>
              </a:rPr>
              <a:t>nginx-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svc.yaml</a:t>
            </a:r>
            <a:r>
              <a:rPr sz="1100" i="1" dirty="0">
                <a:solidFill>
                  <a:srgbClr val="2371FF"/>
                </a:solidFill>
                <a:latin typeface="Lato"/>
              </a:rPr>
              <a:t> — 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equivalente</a:t>
            </a:r>
            <a:r>
              <a:rPr sz="1100" i="1" dirty="0">
                <a:solidFill>
                  <a:srgbClr val="2371FF"/>
                </a:solidFill>
                <a:latin typeface="Lato"/>
              </a:rPr>
              <a:t> 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declarativo</a:t>
            </a:r>
            <a:r>
              <a:rPr sz="1100" i="1" dirty="0">
                <a:solidFill>
                  <a:srgbClr val="2371FF"/>
                </a:solidFill>
                <a:latin typeface="Lato"/>
              </a:rPr>
              <a:t> do 'expose'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sz="1100" dirty="0" err="1">
                <a:solidFill>
                  <a:srgbClr val="00B050"/>
                </a:solidFill>
                <a:latin typeface="Consolas"/>
              </a:rPr>
              <a:t>apiVersion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v1</a:t>
            </a:r>
          </a:p>
          <a:p>
            <a:r>
              <a:rPr sz="1100" dirty="0">
                <a:solidFill>
                  <a:srgbClr val="00B050"/>
                </a:solidFill>
                <a:latin typeface="Consolas"/>
              </a:rPr>
              <a:t>kind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Service</a:t>
            </a:r>
          </a:p>
          <a:p>
            <a:r>
              <a:rPr sz="1100" dirty="0">
                <a:solidFill>
                  <a:srgbClr val="00B050"/>
                </a:solidFill>
                <a:latin typeface="Consolas"/>
              </a:rPr>
              <a:t>metadata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>
                <a:solidFill>
                  <a:srgbClr val="00B050"/>
                </a:solidFill>
                <a:latin typeface="Consolas"/>
              </a:rPr>
              <a:t>name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nginx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>
                <a:solidFill>
                  <a:srgbClr val="00B050"/>
                </a:solidFill>
                <a:latin typeface="Consolas"/>
              </a:rPr>
              <a:t>namespace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00B0F0"/>
                </a:solidFill>
                <a:latin typeface="Consolas"/>
              </a:rPr>
              <a:t>aplicacao</a:t>
            </a:r>
            <a:endParaRPr sz="1100" dirty="0">
              <a:solidFill>
                <a:srgbClr val="00B0F0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>
                <a:solidFill>
                  <a:srgbClr val="00B050"/>
                </a:solidFill>
                <a:latin typeface="Consolas"/>
              </a:rPr>
              <a:t>labels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</a:t>
            </a:r>
            <a:r>
              <a:rPr sz="1100" dirty="0">
                <a:solidFill>
                  <a:srgbClr val="00B050"/>
                </a:solidFill>
                <a:latin typeface="Consolas"/>
              </a:rPr>
              <a:t>run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nginx</a:t>
            </a:r>
          </a:p>
          <a:p>
            <a:r>
              <a:rPr sz="1100" dirty="0">
                <a:solidFill>
                  <a:srgbClr val="00B050"/>
                </a:solidFill>
                <a:latin typeface="Consolas"/>
              </a:rPr>
              <a:t>spec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>
                <a:solidFill>
                  <a:srgbClr val="00B050"/>
                </a:solidFill>
                <a:latin typeface="Consolas"/>
              </a:rPr>
              <a:t>type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00B0F0"/>
                </a:solidFill>
                <a:latin typeface="Consolas"/>
              </a:rPr>
              <a:t>NodePort</a:t>
            </a:r>
            <a:endParaRPr sz="1100" dirty="0">
              <a:solidFill>
                <a:srgbClr val="00B0F0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>
                <a:solidFill>
                  <a:srgbClr val="00B050"/>
                </a:solidFill>
                <a:latin typeface="Consolas"/>
              </a:rPr>
              <a:t>ports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- </a:t>
            </a:r>
            <a:r>
              <a:rPr sz="1100" dirty="0" err="1">
                <a:solidFill>
                  <a:srgbClr val="00B050"/>
                </a:solidFill>
                <a:latin typeface="Consolas"/>
              </a:rPr>
              <a:t>nodePort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31756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  </a:t>
            </a:r>
            <a:r>
              <a:rPr sz="110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# porta </a:t>
            </a:r>
            <a:r>
              <a:rPr sz="1100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exposta</a:t>
            </a:r>
            <a:r>
              <a:rPr sz="110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 no node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</a:t>
            </a:r>
            <a:r>
              <a:rPr sz="1100" dirty="0">
                <a:solidFill>
                  <a:srgbClr val="00B050"/>
                </a:solidFill>
                <a:latin typeface="Consolas"/>
              </a:rPr>
              <a:t>port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80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         </a:t>
            </a:r>
            <a:r>
              <a:rPr sz="110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# porta do Service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</a:t>
            </a:r>
            <a:r>
              <a:rPr sz="1100" dirty="0">
                <a:solidFill>
                  <a:srgbClr val="00B050"/>
                </a:solidFill>
                <a:latin typeface="Consolas"/>
              </a:rPr>
              <a:t>protocol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TCP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00B050"/>
                </a:solidFill>
                <a:latin typeface="Consolas"/>
              </a:rPr>
              <a:t>targetPort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80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   </a:t>
            </a:r>
            <a:r>
              <a:rPr sz="110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# porta do container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>
                <a:solidFill>
                  <a:srgbClr val="00B050"/>
                </a:solidFill>
                <a:latin typeface="Consolas"/>
              </a:rPr>
              <a:t>selector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</a:t>
            </a:r>
            <a:r>
              <a:rPr sz="1100" dirty="0">
                <a:solidFill>
                  <a:srgbClr val="00B050"/>
                </a:solidFill>
                <a:latin typeface="Consolas"/>
              </a:rPr>
              <a:t>run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nginx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       </a:t>
            </a:r>
            <a:r>
              <a:rPr sz="110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# </a:t>
            </a:r>
            <a:r>
              <a:rPr sz="1100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seleciona</a:t>
            </a:r>
            <a:r>
              <a:rPr sz="110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 </a:t>
            </a:r>
            <a:r>
              <a:rPr sz="1100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os</a:t>
            </a:r>
            <a:r>
              <a:rPr sz="110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 Pods com </a:t>
            </a:r>
            <a:r>
              <a:rPr sz="1100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esta</a:t>
            </a:r>
            <a:r>
              <a:rPr sz="110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 label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06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Aplicando o Service de forma declarativa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99" y="971481"/>
            <a:ext cx="822960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Aplique o manifesto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nginx-svc.yaml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 declarativamente:</a:t>
            </a:r>
          </a:p>
          <a:p>
            <a:pPr>
              <a:spcAft>
                <a:spcPts val="600"/>
              </a:spcAft>
            </a:pPr>
            <a:r>
              <a:rPr lang="pt-PT"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apply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-f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nginx-svc.yaml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Confirme que o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Service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 foi criado:</a:t>
            </a:r>
          </a:p>
          <a:p>
            <a:pPr>
              <a:spcAft>
                <a:spcPts val="600"/>
              </a:spcAft>
            </a:pPr>
            <a:r>
              <a:rPr lang="pt-PT"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get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svc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Inspecione os detalhes do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Service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lang="pt-PT"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describe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svc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nginx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Liste os Services no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Minikube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lang="pt-PT"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service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list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Abra o browser pela URL do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Minikube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lang="pt-PT"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service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nginx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Ou obtenha apenas a URL de acesso:</a:t>
            </a:r>
          </a:p>
          <a:p>
            <a:pPr>
              <a:spcAft>
                <a:spcPts val="600"/>
              </a:spcAft>
            </a:pPr>
            <a:r>
              <a:rPr lang="pt-PT"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service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nginx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--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url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>
                <a:solidFill>
                  <a:srgbClr val="5A5E66"/>
                </a:solidFill>
                <a:latin typeface="Lato"/>
              </a:rPr>
              <a:t> · Kubernetes  |  Aula 06</a:t>
            </a:r>
            <a:r>
              <a:rPr lang="pt-PT" sz="750">
                <a:solidFill>
                  <a:srgbClr val="5A5E66"/>
                </a:solidFill>
                <a:latin typeface="Lato"/>
              </a:rPr>
              <a:t> |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2A154-981C-15D0-B98F-AAFE87AD3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>
            <a:extLst>
              <a:ext uri="{FF2B5EF4-FFF2-40B4-BE49-F238E27FC236}">
                <a16:creationId xmlns:a16="http://schemas.microsoft.com/office/drawing/2014/main" id="{9E4FAC8D-5B8B-881D-8EA4-BD487E335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410557-CE6E-4A88-3019-184BD23AC689}"/>
              </a:ext>
            </a:extLst>
          </p:cNvPr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Expondo uma aplicação com NodePort (cont.)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51E21-C2FC-7A81-3ABB-040301FA2417}"/>
              </a:ext>
            </a:extLst>
          </p:cNvPr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3C16F2-4A0F-C1A4-5499-DDB446296AA9}"/>
              </a:ext>
            </a:extLst>
          </p:cNvPr>
          <p:cNvSpPr txBox="1"/>
          <p:nvPr/>
        </p:nvSpPr>
        <p:spPr>
          <a:xfrm>
            <a:off x="2491739" y="4761461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C1728F-965C-5CEC-8AAE-1138C4714733}"/>
              </a:ext>
            </a:extLst>
          </p:cNvPr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06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A44F5C-ACDA-21E8-6A76-0EF996CCE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574" y="955548"/>
            <a:ext cx="7139775" cy="383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21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Ingress: um só ponto de entrada HTTP/HTTPS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20000"/>
            <a:ext cx="4820000" cy="3003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pt-PT" sz="1250" b="1">
                <a:solidFill>
                  <a:srgbClr val="2FA82F"/>
                </a:solidFill>
                <a:latin typeface="Lato"/>
              </a:rPr>
              <a:t>▸  </a:t>
            </a:r>
            <a:r>
              <a:rPr lang="pt-PT" sz="1250" b="1">
                <a:solidFill>
                  <a:srgbClr val="181C23"/>
                </a:solidFill>
                <a:latin typeface="Lato"/>
              </a:rPr>
              <a:t>Vários LoadBalancers = caro. </a:t>
            </a:r>
            <a:r>
              <a:rPr lang="pt-PT" sz="1250">
                <a:solidFill>
                  <a:srgbClr val="181C23"/>
                </a:solidFill>
                <a:latin typeface="Lato"/>
              </a:rPr>
              <a:t>Cada Service </a:t>
            </a:r>
            <a:r>
              <a:rPr lang="pt-PT" sz="1250">
                <a:solidFill>
                  <a:srgbClr val="181C23"/>
                </a:solidFill>
                <a:latin typeface="Consolas"/>
              </a:rPr>
              <a:t>LoadBalancer</a:t>
            </a:r>
            <a:r>
              <a:rPr lang="pt-PT" sz="1250">
                <a:solidFill>
                  <a:srgbClr val="181C23"/>
                </a:solidFill>
                <a:latin typeface="Lato"/>
              </a:rPr>
              <a:t> gera um balanceador externo cobrado à parte — 10 apps, 10 cobranças.</a:t>
            </a:r>
          </a:p>
          <a:p>
            <a:pPr>
              <a:spcAft>
                <a:spcPts val="800"/>
              </a:spcAft>
            </a:pPr>
            <a:r>
              <a:rPr lang="pt-PT" sz="1250" b="1">
                <a:solidFill>
                  <a:srgbClr val="2FA82F"/>
                </a:solidFill>
                <a:latin typeface="Lato"/>
              </a:rPr>
              <a:t>▸  </a:t>
            </a:r>
            <a:r>
              <a:rPr lang="pt-PT" sz="1250" b="1">
                <a:solidFill>
                  <a:srgbClr val="181C23"/>
                </a:solidFill>
                <a:latin typeface="Lato"/>
              </a:rPr>
              <a:t>Ingress = UM balanceador. </a:t>
            </a:r>
            <a:r>
              <a:rPr lang="pt-PT" sz="1250">
                <a:solidFill>
                  <a:srgbClr val="181C23"/>
                </a:solidFill>
                <a:latin typeface="Lato"/>
              </a:rPr>
              <a:t>Um único ponto de entrada na frente de tudo; ele decide internamente o destino de cada requisição.</a:t>
            </a:r>
          </a:p>
          <a:p>
            <a:pPr>
              <a:spcAft>
                <a:spcPts val="800"/>
              </a:spcAft>
            </a:pPr>
            <a:r>
              <a:rPr lang="pt-PT" sz="1250" b="1">
                <a:solidFill>
                  <a:srgbClr val="2FA82F"/>
                </a:solidFill>
                <a:latin typeface="Lato"/>
              </a:rPr>
              <a:t>▸  </a:t>
            </a:r>
            <a:r>
              <a:rPr lang="pt-PT" sz="1250" b="1">
                <a:solidFill>
                  <a:srgbClr val="181C23"/>
                </a:solidFill>
                <a:latin typeface="Lato"/>
              </a:rPr>
              <a:t>Roteia por host e path. </a:t>
            </a:r>
            <a:r>
              <a:rPr lang="pt-PT" sz="1250">
                <a:solidFill>
                  <a:srgbClr val="181C23"/>
                </a:solidFill>
                <a:latin typeface="Consolas"/>
              </a:rPr>
              <a:t>app1.com</a:t>
            </a:r>
            <a:r>
              <a:rPr lang="pt-PT" sz="1250">
                <a:solidFill>
                  <a:srgbClr val="181C23"/>
                </a:solidFill>
                <a:latin typeface="Lato"/>
              </a:rPr>
              <a:t> → Service A; </a:t>
            </a:r>
            <a:r>
              <a:rPr lang="pt-PT" sz="1250">
                <a:solidFill>
                  <a:srgbClr val="181C23"/>
                </a:solidFill>
                <a:latin typeface="Consolas"/>
              </a:rPr>
              <a:t>site.com/api</a:t>
            </a:r>
            <a:r>
              <a:rPr lang="pt-PT" sz="1250">
                <a:solidFill>
                  <a:srgbClr val="181C23"/>
                </a:solidFill>
                <a:latin typeface="Lato"/>
              </a:rPr>
              <a:t> e </a:t>
            </a:r>
            <a:r>
              <a:rPr lang="pt-PT" sz="1250">
                <a:solidFill>
                  <a:srgbClr val="181C23"/>
                </a:solidFill>
                <a:latin typeface="Consolas"/>
              </a:rPr>
              <a:t>/blog</a:t>
            </a:r>
            <a:r>
              <a:rPr lang="pt-PT" sz="1250">
                <a:solidFill>
                  <a:srgbClr val="181C23"/>
                </a:solidFill>
                <a:latin typeface="Lato"/>
              </a:rPr>
              <a:t> → Services diferentes.</a:t>
            </a:r>
          </a:p>
          <a:p>
            <a:pPr>
              <a:spcAft>
                <a:spcPts val="800"/>
              </a:spcAft>
            </a:pPr>
            <a:r>
              <a:rPr lang="pt-PT" sz="1250" b="1">
                <a:solidFill>
                  <a:srgbClr val="2FA82F"/>
                </a:solidFill>
                <a:latin typeface="Lato"/>
              </a:rPr>
              <a:t>▸  </a:t>
            </a:r>
            <a:r>
              <a:rPr lang="pt-PT" sz="1250" b="1">
                <a:solidFill>
                  <a:srgbClr val="181C23"/>
                </a:solidFill>
                <a:latin typeface="Lato"/>
              </a:rPr>
              <a:t>Precisa de um Ingress Controller. </a:t>
            </a:r>
            <a:r>
              <a:rPr lang="pt-PT" sz="1250">
                <a:solidFill>
                  <a:srgbClr val="181C23"/>
                </a:solidFill>
                <a:latin typeface="Lato"/>
              </a:rPr>
              <a:t>O manifesto é só a regra; quem executa é o </a:t>
            </a:r>
            <a:r>
              <a:rPr lang="pt-PT" sz="1250">
                <a:solidFill>
                  <a:srgbClr val="181C23"/>
                </a:solidFill>
                <a:latin typeface="Consolas"/>
              </a:rPr>
              <a:t>nginx-ingress</a:t>
            </a:r>
            <a:r>
              <a:rPr lang="pt-PT" sz="1250">
                <a:solidFill>
                  <a:srgbClr val="181C23"/>
                </a:solidFill>
                <a:latin typeface="Lato"/>
              </a:rPr>
              <a:t>, </a:t>
            </a:r>
            <a:r>
              <a:rPr lang="pt-PT" sz="1250">
                <a:solidFill>
                  <a:srgbClr val="181C23"/>
                </a:solidFill>
                <a:latin typeface="Consolas"/>
              </a:rPr>
              <a:t>Traefik</a:t>
            </a:r>
            <a:r>
              <a:rPr lang="pt-PT" sz="1250">
                <a:solidFill>
                  <a:srgbClr val="181C23"/>
                </a:solidFill>
                <a:latin typeface="Lato"/>
              </a:rPr>
              <a:t> ou </a:t>
            </a:r>
            <a:r>
              <a:rPr lang="pt-PT" sz="1250">
                <a:solidFill>
                  <a:srgbClr val="181C23"/>
                </a:solidFill>
                <a:latin typeface="Consolas"/>
              </a:rPr>
              <a:t>HAProxy</a:t>
            </a:r>
            <a:r>
              <a:rPr lang="pt-PT" sz="1250">
                <a:solidFill>
                  <a:srgbClr val="181C23"/>
                </a:solidFill>
                <a:latin typeface="Lato"/>
              </a:rPr>
              <a:t>. Sem ele, não tem efeito.</a:t>
            </a:r>
          </a:p>
          <a:p>
            <a:pPr>
              <a:spcAft>
                <a:spcPts val="800"/>
              </a:spcAft>
            </a:pPr>
            <a:r>
              <a:rPr lang="pt-PT" sz="1250" b="1">
                <a:solidFill>
                  <a:srgbClr val="2FA82F"/>
                </a:solidFill>
                <a:latin typeface="Lato"/>
              </a:rPr>
              <a:t>▸  </a:t>
            </a:r>
            <a:r>
              <a:rPr lang="pt-PT" sz="1250" b="1">
                <a:solidFill>
                  <a:srgbClr val="181C23"/>
                </a:solidFill>
                <a:latin typeface="Lato"/>
              </a:rPr>
              <a:t>Ideal para várias apps web. </a:t>
            </a:r>
            <a:r>
              <a:rPr lang="pt-PT" sz="1250">
                <a:solidFill>
                  <a:srgbClr val="181C23"/>
                </a:solidFill>
                <a:latin typeface="Lato"/>
              </a:rPr>
              <a:t>Expõe tudo com um único IP externo, usando domínios ou paths distintos.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06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  <p:pic>
        <p:nvPicPr>
          <p:cNvPr id="8" name="Ingress porteiro" descr="Ingress como um porteiro que roteia visitantes para diferentes servico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0000" y="1210000"/>
            <a:ext cx="3260000" cy="326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709" y="2148840"/>
            <a:ext cx="802581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2. Armazenamento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ConfigMaps e Volumes Persistentes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O problema da efemeridade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Dados escritos dentro do container somem quando ele morre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Volumes resolvem: armazenamento anexado ao Pod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Volumes efêmeros: vivem junto com o Pod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Volumes persistentes: sobrevivem à morte do Pod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Focaremos em ConfigMap e Volumes Persistentes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06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ConfigMap: configuração externa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371FF"/>
                </a:solidFill>
                <a:latin typeface="Lato"/>
              </a:rPr>
              <a:t>injeta configuração (não-sensível) nos containers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sz="1100" dirty="0" err="1">
                <a:solidFill>
                  <a:srgbClr val="00B050"/>
                </a:solidFill>
                <a:latin typeface="Consolas"/>
              </a:rPr>
              <a:t>apiVersion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v1</a:t>
            </a:r>
          </a:p>
          <a:p>
            <a:r>
              <a:rPr sz="1100" dirty="0">
                <a:solidFill>
                  <a:srgbClr val="00B050"/>
                </a:solidFill>
                <a:latin typeface="Consolas"/>
              </a:rPr>
              <a:t>kind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00B0F0"/>
                </a:solidFill>
                <a:latin typeface="Consolas"/>
              </a:rPr>
              <a:t>ConfigMap</a:t>
            </a:r>
            <a:endParaRPr sz="1100" dirty="0">
              <a:solidFill>
                <a:srgbClr val="00B0F0"/>
              </a:solidFill>
              <a:latin typeface="Consolas"/>
            </a:endParaRPr>
          </a:p>
          <a:p>
            <a:r>
              <a:rPr sz="1100" dirty="0">
                <a:solidFill>
                  <a:srgbClr val="00B050"/>
                </a:solidFill>
                <a:latin typeface="Consolas"/>
              </a:rPr>
              <a:t>metadata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>
                <a:solidFill>
                  <a:srgbClr val="00B050"/>
                </a:solidFill>
                <a:latin typeface="Consolas"/>
              </a:rPr>
              <a:t>name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game-demo</a:t>
            </a:r>
          </a:p>
          <a:p>
            <a:r>
              <a:rPr sz="1100" dirty="0">
                <a:solidFill>
                  <a:srgbClr val="00B050"/>
                </a:solidFill>
                <a:latin typeface="Consolas"/>
              </a:rPr>
              <a:t>data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00B050"/>
                </a:solidFill>
                <a:latin typeface="Consolas"/>
              </a:rPr>
              <a:t>player_initial_lives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"3"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00B050"/>
                </a:solidFill>
                <a:latin typeface="Consolas"/>
              </a:rPr>
              <a:t>ui_properties_file_name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"user-</a:t>
            </a:r>
            <a:r>
              <a:rPr sz="1100" dirty="0" err="1">
                <a:solidFill>
                  <a:srgbClr val="00B0F0"/>
                </a:solidFill>
                <a:latin typeface="Consolas"/>
              </a:rPr>
              <a:t>interface.properties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"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00B050"/>
                </a:solidFill>
                <a:latin typeface="Consolas"/>
              </a:rPr>
              <a:t>game.properties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|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00B0F0"/>
                </a:solidFill>
                <a:latin typeface="Consolas"/>
              </a:rPr>
              <a:t>enemy.types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=</a:t>
            </a:r>
            <a:r>
              <a:rPr sz="1100" dirty="0" err="1">
                <a:solidFill>
                  <a:srgbClr val="00B0F0"/>
                </a:solidFill>
                <a:latin typeface="Consolas"/>
              </a:rPr>
              <a:t>aliens,monsters</a:t>
            </a:r>
            <a:endParaRPr sz="1100" dirty="0">
              <a:solidFill>
                <a:srgbClr val="00B0F0"/>
              </a:solidFill>
              <a:latin typeface="Consolas"/>
            </a:endParaRPr>
          </a:p>
          <a:p>
            <a:r>
              <a:rPr sz="1100" dirty="0">
                <a:solidFill>
                  <a:srgbClr val="00B0F0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00B0F0"/>
                </a:solidFill>
                <a:latin typeface="Consolas"/>
              </a:rPr>
              <a:t>player.maximum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-lives=5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>
                <a:solidFill>
                  <a:srgbClr val="00B050"/>
                </a:solidFill>
                <a:latin typeface="Consolas"/>
              </a:rPr>
              <a:t>user-</a:t>
            </a:r>
            <a:r>
              <a:rPr sz="1100" dirty="0" err="1">
                <a:solidFill>
                  <a:srgbClr val="00B050"/>
                </a:solidFill>
                <a:latin typeface="Consolas"/>
              </a:rPr>
              <a:t>interface.properties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|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00B0F0"/>
                </a:solidFill>
                <a:latin typeface="Consolas"/>
              </a:rPr>
              <a:t>color.good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=purple</a:t>
            </a:r>
          </a:p>
          <a:p>
            <a:r>
              <a:rPr sz="1100" dirty="0">
                <a:solidFill>
                  <a:srgbClr val="00B0F0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00B0F0"/>
                </a:solidFill>
                <a:latin typeface="Consolas"/>
              </a:rPr>
              <a:t>allow.textmode</a:t>
            </a:r>
            <a:r>
              <a:rPr sz="1100" dirty="0">
                <a:solidFill>
                  <a:srgbClr val="00B0F0"/>
                </a:solidFill>
                <a:latin typeface="Consolas"/>
              </a:rPr>
              <a:t>=true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06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Volumes Persistentes: PV e PVC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20000"/>
            <a:ext cx="4760000" cy="285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lang="pt-PT" sz="1200" b="1" dirty="0">
                <a:solidFill>
                  <a:srgbClr val="2FA82F"/>
                </a:solidFill>
                <a:latin typeface="Lato"/>
              </a:rPr>
              <a:t>▸  </a:t>
            </a:r>
            <a:r>
              <a:rPr lang="pt-PT" sz="1200" b="1" dirty="0">
                <a:solidFill>
                  <a:srgbClr val="181C23"/>
                </a:solidFill>
                <a:latin typeface="Lato"/>
              </a:rPr>
              <a:t>PV — </a:t>
            </a:r>
            <a:r>
              <a:rPr lang="pt-PT" sz="1200" b="1" dirty="0" err="1">
                <a:solidFill>
                  <a:srgbClr val="181C23"/>
                </a:solidFill>
                <a:latin typeface="Lato"/>
              </a:rPr>
              <a:t>PersistentVolume</a:t>
            </a:r>
            <a:r>
              <a:rPr lang="pt-PT" sz="1200" b="1" dirty="0">
                <a:solidFill>
                  <a:srgbClr val="181C23"/>
                </a:solidFill>
                <a:latin typeface="Lato"/>
              </a:rPr>
              <a:t>. </a:t>
            </a:r>
            <a:r>
              <a:rPr lang="pt-PT" sz="1200" dirty="0">
                <a:solidFill>
                  <a:srgbClr val="181C23"/>
                </a:solidFill>
                <a:latin typeface="Lato"/>
              </a:rPr>
              <a:t>O “pedaço de disco” real no cluster (ou na nuvem). Recurso de infraestrutura com vida própria, independente de qualquer </a:t>
            </a:r>
            <a:r>
              <a:rPr lang="pt-PT" sz="1200" dirty="0" err="1">
                <a:solidFill>
                  <a:srgbClr val="181C23"/>
                </a:solidFill>
                <a:latin typeface="Lato"/>
              </a:rPr>
              <a:t>Pod</a:t>
            </a:r>
            <a:r>
              <a:rPr lang="pt-PT" sz="1200" dirty="0">
                <a:solidFill>
                  <a:srgbClr val="181C23"/>
                </a:solidFill>
                <a:latin typeface="Lato"/>
              </a:rPr>
              <a:t>.</a:t>
            </a:r>
          </a:p>
          <a:p>
            <a:pPr>
              <a:spcAft>
                <a:spcPts val="700"/>
              </a:spcAft>
            </a:pPr>
            <a:r>
              <a:rPr lang="pt-PT" sz="1200" b="1" dirty="0">
                <a:solidFill>
                  <a:srgbClr val="2FA82F"/>
                </a:solidFill>
                <a:latin typeface="Lato"/>
              </a:rPr>
              <a:t>▸  </a:t>
            </a:r>
            <a:r>
              <a:rPr lang="pt-PT" sz="1200" b="1" dirty="0">
                <a:solidFill>
                  <a:srgbClr val="181C23"/>
                </a:solidFill>
                <a:latin typeface="Lato"/>
              </a:rPr>
              <a:t>PVC — </a:t>
            </a:r>
            <a:r>
              <a:rPr lang="pt-PT" sz="1200" b="1" dirty="0" err="1">
                <a:solidFill>
                  <a:srgbClr val="181C23"/>
                </a:solidFill>
                <a:latin typeface="Lato"/>
              </a:rPr>
              <a:t>PersistentVolumeClaim</a:t>
            </a:r>
            <a:r>
              <a:rPr lang="pt-PT" sz="1200" b="1" dirty="0">
                <a:solidFill>
                  <a:srgbClr val="181C23"/>
                </a:solidFill>
                <a:latin typeface="Lato"/>
              </a:rPr>
              <a:t>. </a:t>
            </a:r>
            <a:r>
              <a:rPr lang="pt-PT" sz="1200" dirty="0">
                <a:solidFill>
                  <a:srgbClr val="181C23"/>
                </a:solidFill>
                <a:latin typeface="Lato"/>
              </a:rPr>
              <a:t>O pedido do </a:t>
            </a:r>
            <a:r>
              <a:rPr lang="pt-PT" sz="1200" dirty="0" err="1">
                <a:solidFill>
                  <a:srgbClr val="181C23"/>
                </a:solidFill>
                <a:latin typeface="Lato"/>
              </a:rPr>
              <a:t>dev</a:t>
            </a:r>
            <a:r>
              <a:rPr lang="pt-PT" sz="1200" dirty="0">
                <a:solidFill>
                  <a:srgbClr val="181C23"/>
                </a:solidFill>
                <a:latin typeface="Lato"/>
              </a:rPr>
              <a:t>: “preciso de 3Gi”. Ele só declara a necessidade; o K8s encontra ou cria um PV que atenda.</a:t>
            </a:r>
          </a:p>
          <a:p>
            <a:pPr>
              <a:spcAft>
                <a:spcPts val="700"/>
              </a:spcAft>
            </a:pPr>
            <a:r>
              <a:rPr lang="pt-PT" sz="1200" b="1" dirty="0">
                <a:solidFill>
                  <a:srgbClr val="2FA82F"/>
                </a:solidFill>
                <a:latin typeface="Lato"/>
              </a:rPr>
              <a:t>▸  </a:t>
            </a:r>
            <a:r>
              <a:rPr lang="pt-PT" sz="1200" b="1" dirty="0">
                <a:solidFill>
                  <a:srgbClr val="181C23"/>
                </a:solidFill>
                <a:latin typeface="Lato"/>
              </a:rPr>
              <a:t>Estático ou dinâmico. </a:t>
            </a:r>
            <a:r>
              <a:rPr lang="pt-PT" sz="1200" dirty="0">
                <a:solidFill>
                  <a:srgbClr val="181C23"/>
                </a:solidFill>
                <a:latin typeface="Lato"/>
              </a:rPr>
              <a:t>Estático: o </a:t>
            </a:r>
            <a:r>
              <a:rPr lang="pt-PT" sz="1200" dirty="0" err="1">
                <a:solidFill>
                  <a:srgbClr val="181C23"/>
                </a:solidFill>
                <a:latin typeface="Lato"/>
              </a:rPr>
              <a:t>admin</a:t>
            </a:r>
            <a:r>
              <a:rPr lang="pt-PT" sz="1200" dirty="0">
                <a:solidFill>
                  <a:srgbClr val="181C23"/>
                </a:solidFill>
                <a:latin typeface="Lato"/>
              </a:rPr>
              <a:t> deixa </a:t>
            </a:r>
            <a:r>
              <a:rPr lang="pt-PT" sz="1200" dirty="0" err="1">
                <a:solidFill>
                  <a:srgbClr val="181C23"/>
                </a:solidFill>
                <a:latin typeface="Lato"/>
              </a:rPr>
              <a:t>PVs</a:t>
            </a:r>
            <a:r>
              <a:rPr lang="pt-PT" sz="1200" dirty="0">
                <a:solidFill>
                  <a:srgbClr val="181C23"/>
                </a:solidFill>
                <a:latin typeface="Lato"/>
              </a:rPr>
              <a:t> “em estoque”. Dinâmico: uma </a:t>
            </a:r>
            <a:r>
              <a:rPr lang="pt-PT" sz="1200" dirty="0" err="1">
                <a:solidFill>
                  <a:srgbClr val="181C23"/>
                </a:solidFill>
                <a:latin typeface="Consolas"/>
              </a:rPr>
              <a:t>StorageClass</a:t>
            </a:r>
            <a:r>
              <a:rPr lang="pt-PT" sz="1200" dirty="0">
                <a:solidFill>
                  <a:srgbClr val="181C23"/>
                </a:solidFill>
                <a:latin typeface="Lato"/>
              </a:rPr>
              <a:t> provisiona o PV sob demanda — o mais comum na </a:t>
            </a:r>
            <a:r>
              <a:rPr lang="pt-PT" sz="1200" dirty="0" err="1">
                <a:solidFill>
                  <a:srgbClr val="181C23"/>
                </a:solidFill>
                <a:latin typeface="Lato"/>
              </a:rPr>
              <a:t>cloud</a:t>
            </a:r>
            <a:r>
              <a:rPr lang="pt-PT" sz="1200" dirty="0">
                <a:solidFill>
                  <a:srgbClr val="181C23"/>
                </a:solidFill>
                <a:latin typeface="Lato"/>
              </a:rPr>
              <a:t>.</a:t>
            </a:r>
          </a:p>
          <a:p>
            <a:pPr>
              <a:spcAft>
                <a:spcPts val="700"/>
              </a:spcAft>
            </a:pPr>
            <a:r>
              <a:rPr lang="pt-PT" sz="1200" b="1" dirty="0">
                <a:solidFill>
                  <a:srgbClr val="2FA82F"/>
                </a:solidFill>
                <a:latin typeface="Lato"/>
              </a:rPr>
              <a:t>▸  </a:t>
            </a:r>
            <a:r>
              <a:rPr lang="pt-PT" sz="1200" b="1" dirty="0" err="1">
                <a:solidFill>
                  <a:srgbClr val="181C23"/>
                </a:solidFill>
                <a:latin typeface="Lato"/>
              </a:rPr>
              <a:t>Binding</a:t>
            </a:r>
            <a:r>
              <a:rPr lang="pt-PT" sz="1200" b="1" dirty="0">
                <a:solidFill>
                  <a:srgbClr val="181C23"/>
                </a:solidFill>
                <a:latin typeface="Lato"/>
              </a:rPr>
              <a:t>: vínculo 1-para-1. </a:t>
            </a:r>
            <a:r>
              <a:rPr lang="pt-PT" sz="1200" dirty="0">
                <a:solidFill>
                  <a:srgbClr val="181C23"/>
                </a:solidFill>
                <a:latin typeface="Lato"/>
              </a:rPr>
              <a:t>O K8s liga PVC e PV compatíveis de forma exclusiva; um PV já vinculado não serve a outro PVC.</a:t>
            </a:r>
          </a:p>
          <a:p>
            <a:pPr>
              <a:spcAft>
                <a:spcPts val="700"/>
              </a:spcAft>
            </a:pPr>
            <a:r>
              <a:rPr lang="pt-PT" sz="1200" b="1" dirty="0">
                <a:solidFill>
                  <a:srgbClr val="2FA82F"/>
                </a:solidFill>
                <a:latin typeface="Lato"/>
              </a:rPr>
              <a:t>▸  </a:t>
            </a:r>
            <a:r>
              <a:rPr lang="pt-PT" sz="1200" b="1" dirty="0">
                <a:solidFill>
                  <a:srgbClr val="181C23"/>
                </a:solidFill>
                <a:latin typeface="Lato"/>
              </a:rPr>
              <a:t>O </a:t>
            </a:r>
            <a:r>
              <a:rPr lang="pt-PT" sz="1200" b="1" dirty="0" err="1">
                <a:solidFill>
                  <a:srgbClr val="181C23"/>
                </a:solidFill>
                <a:latin typeface="Lato"/>
              </a:rPr>
              <a:t>Pod</a:t>
            </a:r>
            <a:r>
              <a:rPr lang="pt-PT" sz="1200" b="1" dirty="0">
                <a:solidFill>
                  <a:srgbClr val="181C23"/>
                </a:solidFill>
                <a:latin typeface="Lato"/>
              </a:rPr>
              <a:t> referencia o PVC. </a:t>
            </a:r>
            <a:r>
              <a:rPr lang="pt-PT" sz="1200" dirty="0">
                <a:solidFill>
                  <a:srgbClr val="181C23"/>
                </a:solidFill>
                <a:latin typeface="Lato"/>
              </a:rPr>
              <a:t>Nunca o PV direto. Essa abstração esconde se o </a:t>
            </a:r>
            <a:r>
              <a:rPr lang="pt-PT" sz="1200" dirty="0" err="1">
                <a:solidFill>
                  <a:srgbClr val="181C23"/>
                </a:solidFill>
                <a:latin typeface="Lato"/>
              </a:rPr>
              <a:t>storage</a:t>
            </a:r>
            <a:r>
              <a:rPr lang="pt-PT" sz="1200" dirty="0">
                <a:solidFill>
                  <a:srgbClr val="181C23"/>
                </a:solidFill>
                <a:latin typeface="Lato"/>
              </a:rPr>
              <a:t> é disco local, EBS, </a:t>
            </a:r>
            <a:r>
              <a:rPr lang="pt-PT" sz="1200" dirty="0" err="1">
                <a:solidFill>
                  <a:srgbClr val="181C23"/>
                </a:solidFill>
                <a:latin typeface="Lato"/>
              </a:rPr>
              <a:t>Azure</a:t>
            </a:r>
            <a:r>
              <a:rPr lang="pt-PT" sz="1200" dirty="0">
                <a:solidFill>
                  <a:srgbClr val="181C23"/>
                </a:solidFill>
                <a:latin typeface="Lato"/>
              </a:rPr>
              <a:t> </a:t>
            </a:r>
            <a:r>
              <a:rPr lang="pt-PT" sz="1200" dirty="0" err="1">
                <a:solidFill>
                  <a:srgbClr val="181C23"/>
                </a:solidFill>
                <a:latin typeface="Lato"/>
              </a:rPr>
              <a:t>Disk</a:t>
            </a:r>
            <a:r>
              <a:rPr lang="pt-PT" sz="1200" dirty="0">
                <a:solidFill>
                  <a:srgbClr val="181C23"/>
                </a:solidFill>
                <a:latin typeface="Lato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06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  <p:pic>
        <p:nvPicPr>
          <p:cNvPr id="8" name="PV PVC storage" descr="Desenvolvedor apresenta um pedido (PVC) que o cluster vincula a um disco de armazenamento (PV) usado por um container (Po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000" y="1780000"/>
            <a:ext cx="3560000" cy="2219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A0F66B-63EC-02A5-C899-212494E3DC66}"/>
              </a:ext>
            </a:extLst>
          </p:cNvPr>
          <p:cNvSpPr txBox="1"/>
          <p:nvPr/>
        </p:nvSpPr>
        <p:spPr>
          <a:xfrm>
            <a:off x="5204332" y="3925354"/>
            <a:ext cx="1044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dirty="0" err="1">
                <a:solidFill>
                  <a:srgbClr val="00B050"/>
                </a:solidFill>
              </a:rPr>
              <a:t>Developer</a:t>
            </a:r>
            <a:endParaRPr lang="pt-PT" sz="1600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EE3786-EEF6-DDC3-F905-0B8E56B42AAF}"/>
              </a:ext>
            </a:extLst>
          </p:cNvPr>
          <p:cNvSpPr txBox="1"/>
          <p:nvPr/>
        </p:nvSpPr>
        <p:spPr>
          <a:xfrm>
            <a:off x="6248400" y="3345872"/>
            <a:ext cx="9142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Kubernetes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5484EB-6A9C-3CE9-B18A-20848632C474}"/>
              </a:ext>
            </a:extLst>
          </p:cNvPr>
          <p:cNvSpPr txBox="1"/>
          <p:nvPr/>
        </p:nvSpPr>
        <p:spPr>
          <a:xfrm>
            <a:off x="7162689" y="1530927"/>
            <a:ext cx="7327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b="1" dirty="0">
                <a:solidFill>
                  <a:srgbClr val="00B050"/>
                </a:solidFill>
              </a:rPr>
              <a:t>Server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F8C735-2BEF-9E55-91F9-934D1117D442}"/>
              </a:ext>
            </a:extLst>
          </p:cNvPr>
          <p:cNvSpPr txBox="1"/>
          <p:nvPr/>
        </p:nvSpPr>
        <p:spPr>
          <a:xfrm>
            <a:off x="8048762" y="3484371"/>
            <a:ext cx="1019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b="1" dirty="0">
                <a:solidFill>
                  <a:srgbClr val="00B050"/>
                </a:solidFill>
              </a:rPr>
              <a:t>Container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Criando PV, PVC e associando a um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Crie</a:t>
            </a:r>
            <a:r>
              <a:rPr sz="1300" dirty="0">
                <a:solidFill>
                  <a:srgbClr val="181C23"/>
                </a:solidFill>
                <a:latin typeface="Lato"/>
              </a:rPr>
              <a:t> 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PersistentVolume</a:t>
            </a:r>
            <a:r>
              <a:rPr sz="1300" dirty="0">
                <a:solidFill>
                  <a:srgbClr val="181C23"/>
                </a:solidFill>
                <a:latin typeface="Lato"/>
              </a:rPr>
              <a:t> (10Gi):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apply -f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pv.yaml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get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pv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task-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pv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-volume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Status Available =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ainda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não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vinculado</a:t>
            </a:r>
            <a:endParaRPr sz="13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Crie</a:t>
            </a:r>
            <a:r>
              <a:rPr sz="1300" dirty="0">
                <a:solidFill>
                  <a:srgbClr val="181C23"/>
                </a:solidFill>
                <a:latin typeface="Lato"/>
              </a:rPr>
              <a:t> 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PersistentVolumeClaim</a:t>
            </a:r>
            <a:r>
              <a:rPr sz="1300" dirty="0">
                <a:solidFill>
                  <a:srgbClr val="181C23"/>
                </a:solidFill>
                <a:latin typeface="Lato"/>
              </a:rPr>
              <a:t> (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pede</a:t>
            </a:r>
            <a:r>
              <a:rPr sz="1300" dirty="0">
                <a:solidFill>
                  <a:srgbClr val="181C23"/>
                </a:solidFill>
                <a:latin typeface="Lato"/>
              </a:rPr>
              <a:t> 3Gi):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apply -f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pvc.yaml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get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pvc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task-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pv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-claim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Agora o PV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aparece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como</a:t>
            </a:r>
            <a:r>
              <a:rPr sz="1300" dirty="0">
                <a:solidFill>
                  <a:srgbClr val="181C23"/>
                </a:solidFill>
                <a:latin typeface="Lato"/>
              </a:rPr>
              <a:t> Bound.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Crie</a:t>
            </a:r>
            <a:r>
              <a:rPr sz="1300" dirty="0">
                <a:solidFill>
                  <a:srgbClr val="181C23"/>
                </a:solidFill>
                <a:latin typeface="Lato"/>
              </a:rPr>
              <a:t> o Pod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que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usa</a:t>
            </a:r>
            <a:r>
              <a:rPr sz="1300" dirty="0">
                <a:solidFill>
                  <a:srgbClr val="181C23"/>
                </a:solidFill>
                <a:latin typeface="Lato"/>
              </a:rPr>
              <a:t> o PVC: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apply -f pod-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pvc.yaml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describe pods task-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pv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-pod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06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Criando PV, PVC e associando a um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4590288"/>
            <a:ext cx="84170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5A5E66"/>
                </a:solidFill>
                <a:latin typeface="Lato"/>
              </a:rPr>
              <a:t>Fonte da imagem: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06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EF7C99-763B-6DBE-9CA9-7C8F27629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021" y="771680"/>
            <a:ext cx="3545957" cy="37963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rcRect t="38297" b="38297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3" name="Picture 2" descr="ada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77440"/>
            <a:ext cx="3291840" cy="22258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Ubuntu"/>
              </a:rPr>
              <a:t>Recapitulando a Aula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132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Service dá endereço estável e balanceamento aos Pods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Tipos: ClusterIP, NodePort, LoadBalancer, ExternalName, Headless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Ingress centraliza o acesso HTTP/HTTPS do cluster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ConfigMap externaliza configuração; PV/PVC persistem dados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Próxima aula: componentes finais e Troubleshooting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3056</Words>
  <Application>Microsoft Office PowerPoint</Application>
  <PresentationFormat>On-screen Show (16:9)</PresentationFormat>
  <Paragraphs>265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Consolas</vt:lpstr>
      <vt:lpstr>Lato</vt:lpstr>
      <vt:lpstr>Ubuntu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Benedicto, Everton Jose (SI IT VC PES PLT)</dc:creator>
  <cp:keywords/>
  <dc:description>generated using python-pptx</dc:description>
  <cp:lastModifiedBy>Benedicto, Everton Jose (SI IT VC PES PLT)</cp:lastModifiedBy>
  <cp:revision>17</cp:revision>
  <dcterms:created xsi:type="dcterms:W3CDTF">2013-01-27T09:14:16Z</dcterms:created>
  <dcterms:modified xsi:type="dcterms:W3CDTF">2026-07-29T21:02:48Z</dcterms:modified>
  <cp:category/>
</cp:coreProperties>
</file>