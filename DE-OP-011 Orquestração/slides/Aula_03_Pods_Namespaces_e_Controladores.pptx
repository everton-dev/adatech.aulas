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9" r:id="rId3"/>
    <p:sldId id="280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8" d="100"/>
          <a:sy n="138" d="100"/>
        </p:scale>
        <p:origin x="83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0955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Aula densa e central. Aqui o aluno aprende os objetos que vai usar o resto da vida. Retome: na aula passada rodamos comandos; hoje entendemos O QUE criamos.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Mapa da aula. Avise que teremos bastante YAML hoje — é a linguagem do Kubernetes declarativo e vamos ler manifestos juntos.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Conceito que atravessa todo o módulo.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Defenda a forma declarativa como padrão profissional: é infraestrutura como código. Você guarda o YAML no Git, tem histórico, faz code review, recria o recurso em segundos após um desastre. Este é o jeito 'certo' para produção.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Disseque a estrutura de TODO manifesto: apiVersion, kind, metadata, spec. Isso se repete em todos os objetos do K8S. Explique cada campo. Depois mostre que 'kubectl apply -f pod-nginx.yaml' cria o Pod, e 'kubectl get pods' confirma.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Contraponto: imperativo é ótimo para o dia a dia, testes rápidos, um 'kubectl run' para depurar. Mas não deixa rastro. Regra prática que o mercado usa: explorar com imperativo, entregar com declarativo. Cite a nota do material sobre escolher conforme a necessidade.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Crie os dois pods ao vivo. Com 'get pod -o yaml' mostre que o Kubernetes PREENCHEU um monte de campos que você não escreveu (status, IP, etc.) — o objeto vive no etcd com muito mais informação do que o manifesto original. Ótimo momento para mostrar '-o yaml' como ferramenta de aprendizado.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Aprofundando o que foi só apresentado na aula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o padrão multi-container: um container principal + sidecars (ex.: um agregador de logs ao lado da app). Init containers rodam antes e em ordem, úteis para preparar o ambiente. Antecipe que requests/limits e volumes têm aulas próprias.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slide é ouro para o troubleshooting da aula 7. Faça o aluno decorar: Pending geralmente = falta de recurso ou scheduling; Running = ok; CrashLoopBackOff (veremos) = app quebrando ao subir. Terminating preso é sinal de problema — voltaremos nisso.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Conceito simples, mas de grande impacto organizacional.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cada namespace padrão: default (onde você cai), kube-system (os componentes do próprio K8S — mostre com 'get pods -n kube-system'!), kube-public e kube-node-lease (heartbeat dos nodes). Avise: nunca crie namespace com prefixo 'kube-' (reservado) e nomes não podem ter espaço.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'get pods -n kube-system' é um momento revelador: o aluno vê apiserver, etcd, scheduler, coredns rodando como Pods! Amarra com a aula 1. Reforce que a flag -n acompanha quase todos os comandos e que esquecê-la é erro comum ('sumiu meu pod' = estava em outro namespace).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Ninguém cria Pods soltos em produção — usamos controladores.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Este é o 'porquê' dos controladores. Conecte com o conceito de estado desejado da aula 1: o controlador é o agente que fica vigiando e corrigindo. Se você declarou 3 réplicas e uma cai, o controlador sobe outra automaticamente.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Explique o conceito de LABELS e SELECTOR — é o mecanismo que amarra Deployment → Pods. O 'template' é o molde: o Deployment cria um ReplicaSet, que cria os Pods conforme o molde. Mostre a nomenclatura do pod: nginx-deployment-&lt;hash-rs&gt;-&lt;hash-pod&gt;. Deployment é para apps STATELESS (sem estado próprio). É o que você mais vai usar.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Contraste com Deployment: no Deployment os pods são 'gado' (descartáveis, nome aleatório); no StatefulSet são 'bichos de estimação' (identidade fixa web-0, web-1). Essencial para cluster de banco onde cada nó tem papel definido. O volume persistente segue a identidade — voltaremos a volumes na aula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Casos reais: agente de logs (Fluentd), agente de monitoração (node-exporter), plugin de rede. A ideia é 'infraestrutura por node'. Antecipe que para rodar nos masters ele precisa de tolerations — gancho perfeito para a aula 5. Voltaremos a usar DaemonSet na prática na aula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Slide-resumo para fixar a decisão. Faça perguntas à turma: 'e para um Redis com persistência?' (StatefulSet), 'e para um coletor de métricas?' (DaemonSet), 'e para uma API REST?' (Deployment). Repetição fixa o conceito.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Amarre tudo. Na próxima aula vamos usar Deployment de verdade com uma imagem própria no Docker Hub. Peça leitura do material 04 e que criem conta no Docker Hub em casa (pré-requisito da próxima aula).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symb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  <p:pic>
        <p:nvPicPr>
          <p:cNvPr id="3" name="Picture 2" descr="ada_bar.png"/>
          <p:cNvPicPr>
            <a:picLocks noChangeAspect="1"/>
          </p:cNvPicPr>
          <p:nvPr/>
        </p:nvPicPr>
        <p:blipFill>
          <a:blip r:embed="rId4"/>
          <a:srcRect t="38297" b="38297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4" name="Picture 3" descr="ada_bar.png"/>
          <p:cNvPicPr>
            <a:picLocks noChangeAspect="1"/>
          </p:cNvPicPr>
          <p:nvPr/>
        </p:nvPicPr>
        <p:blipFill>
          <a:blip r:embed="rId4"/>
          <a:srcRect t="38297" b="38297"/>
          <a:stretch>
            <a:fillRect/>
          </a:stretch>
        </p:blipFill>
        <p:spPr>
          <a:xfrm>
            <a:off x="0" y="4997196"/>
            <a:ext cx="9144000" cy="14630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1737360"/>
            <a:ext cx="146304" cy="146304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6858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Ubuntu"/>
              </a:rPr>
              <a:t>Pods, Namespaces e Controladores</a:t>
            </a:r>
          </a:p>
          <a:p>
            <a:pPr>
              <a:spcBef>
                <a:spcPts val="1000"/>
              </a:spcBef>
            </a:pPr>
            <a:r>
              <a:rPr sz="1600">
                <a:solidFill>
                  <a:srgbClr val="50E550"/>
                </a:solidFill>
                <a:latin typeface="Lato"/>
              </a:rPr>
              <a:t>Formas de gerenciamento e os objetos de carga de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343400"/>
            <a:ext cx="7315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DF8"/>
                </a:solidFill>
                <a:latin typeface="Lato"/>
              </a:rPr>
              <a:t>Ada · DE-OP-011 Orquestração · Kubernetes  |  Aula 03</a:t>
            </a:r>
            <a:r>
              <a:rPr lang="pt-PT" sz="1100">
                <a:solidFill>
                  <a:srgbClr val="FFFDF8"/>
                </a:solidFill>
                <a:latin typeface="Lato"/>
              </a:rPr>
              <a:t> · Prof.: Everton J Benedicto</a:t>
            </a:r>
            <a:endParaRPr sz="1100">
              <a:solidFill>
                <a:srgbClr val="FFFDF8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Card 01"/>
          <p:cNvSpPr/>
          <p:nvPr/>
        </p:nvSpPr>
        <p:spPr>
          <a:xfrm>
            <a:off x="365760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FFFFFF">
                  <a:shade val="30000"/>
                  <a:satMod val="115000"/>
                </a:srgbClr>
              </a:gs>
              <a:gs pos="50000">
                <a:srgbClr val="FFFFFF">
                  <a:shade val="67500"/>
                  <a:satMod val="115000"/>
                </a:srgb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01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17/07 · Sexta</a:t>
            </a:r>
          </a:p>
          <a:p>
            <a:r>
              <a:rPr lang="pt-PT" sz="1100" b="1">
                <a:solidFill>
                  <a:srgbClr val="181C23"/>
                </a:solidFill>
                <a:latin typeface="Lato"/>
              </a:rPr>
              <a:t>Conhecendo</a:t>
            </a:r>
            <a:r>
              <a:rPr sz="1100" b="1" dirty="0">
                <a:solidFill>
                  <a:srgbClr val="181C23"/>
                </a:solidFill>
                <a:latin typeface="Lato"/>
              </a:rPr>
              <a:t> o Kubernetes</a:t>
            </a:r>
          </a:p>
        </p:txBody>
      </p:sp>
      <p:sp>
        <p:nvSpPr>
          <p:cNvPr id="101" name="Card 02"/>
          <p:cNvSpPr/>
          <p:nvPr/>
        </p:nvSpPr>
        <p:spPr>
          <a:xfrm>
            <a:off x="3236586" y="1120000"/>
            <a:ext cx="2670826" cy="1106000"/>
          </a:xfrm>
          <a:prstGeom prst="roundRect">
            <a:avLst>
              <a:gd name="adj" fmla="val 6000"/>
            </a:avLst>
          </a:prstGeom>
          <a:gradFill flip="none" rotWithShape="1">
            <a:gsLst>
              <a:gs pos="0">
                <a:srgbClr val="FFFFFF">
                  <a:shade val="30000"/>
                  <a:satMod val="115000"/>
                </a:srgbClr>
              </a:gs>
              <a:gs pos="50000">
                <a:srgbClr val="FFFFFF">
                  <a:shade val="67500"/>
                  <a:satMod val="115000"/>
                </a:srgbClr>
              </a:gs>
              <a:gs pos="100000">
                <a:srgbClr val="FFFFFF">
                  <a:shade val="100000"/>
                  <a:satMod val="115000"/>
                </a:srgbClr>
              </a:gs>
            </a:gsLst>
            <a:lin ang="5400000" scaled="1"/>
            <a:tileRect/>
          </a:gra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02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20/07 · Segunda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Mão na Massa: Minikube e kubectl</a:t>
            </a:r>
          </a:p>
        </p:txBody>
      </p:sp>
      <p:sp>
        <p:nvSpPr>
          <p:cNvPr id="102" name="Card 03"/>
          <p:cNvSpPr/>
          <p:nvPr/>
        </p:nvSpPr>
        <p:spPr>
          <a:xfrm>
            <a:off x="6107412" y="1120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 dirty="0">
                <a:solidFill>
                  <a:srgbClr val="1E8E3E"/>
                </a:solidFill>
                <a:latin typeface="Ubuntu"/>
              </a:rPr>
              <a:t>03</a:t>
            </a:r>
          </a:p>
          <a:p>
            <a:pPr>
              <a:spcAft>
                <a:spcPts val="400"/>
              </a:spcAft>
            </a:pPr>
            <a:r>
              <a:rPr sz="1000" b="1" dirty="0">
                <a:solidFill>
                  <a:srgbClr val="5A5E66"/>
                </a:solidFill>
                <a:latin typeface="Lato"/>
              </a:rPr>
              <a:t>22/07 · Quarta</a:t>
            </a:r>
          </a:p>
          <a:p>
            <a:r>
              <a:rPr sz="1100" b="1" dirty="0">
                <a:solidFill>
                  <a:srgbClr val="181C23"/>
                </a:solidFill>
                <a:latin typeface="Lato"/>
              </a:rPr>
              <a:t>Pods, Namespaces e </a:t>
            </a:r>
            <a:r>
              <a:rPr sz="1100" b="1" dirty="0" err="1">
                <a:solidFill>
                  <a:srgbClr val="181C23"/>
                </a:solidFill>
                <a:latin typeface="Lato"/>
              </a:rPr>
              <a:t>Controladores</a:t>
            </a:r>
            <a:endParaRPr sz="1100" b="1" dirty="0">
              <a:solidFill>
                <a:srgbClr val="181C23"/>
              </a:solidFill>
              <a:latin typeface="Lato"/>
            </a:endParaRPr>
          </a:p>
        </p:txBody>
      </p:sp>
      <p:sp>
        <p:nvSpPr>
          <p:cNvPr id="103" name="Card 04"/>
          <p:cNvSpPr/>
          <p:nvPr/>
        </p:nvSpPr>
        <p:spPr>
          <a:xfrm>
            <a:off x="365760" y="2396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04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24/07 · Sexta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Primeira Aplicação no K8S</a:t>
            </a:r>
          </a:p>
        </p:txBody>
      </p:sp>
      <p:sp>
        <p:nvSpPr>
          <p:cNvPr id="104" name="Card 05"/>
          <p:cNvSpPr/>
          <p:nvPr/>
        </p:nvSpPr>
        <p:spPr>
          <a:xfrm>
            <a:off x="3236586" y="2396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05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27/07 · Segunda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Estratégias de Deploy e Limitação de Recursos</a:t>
            </a:r>
          </a:p>
        </p:txBody>
      </p:sp>
      <p:sp>
        <p:nvSpPr>
          <p:cNvPr id="105" name="Card 06"/>
          <p:cNvSpPr/>
          <p:nvPr/>
        </p:nvSpPr>
        <p:spPr>
          <a:xfrm>
            <a:off x="6107412" y="2396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06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29/07 · Quarta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Services, Ingress e Volumes</a:t>
            </a:r>
          </a:p>
        </p:txBody>
      </p:sp>
      <p:sp>
        <p:nvSpPr>
          <p:cNvPr id="106" name="Card 07"/>
          <p:cNvSpPr/>
          <p:nvPr/>
        </p:nvSpPr>
        <p:spPr>
          <a:xfrm>
            <a:off x="365760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07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31/07 · Sexta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Componentes e Troubleshooting</a:t>
            </a:r>
          </a:p>
        </p:txBody>
      </p:sp>
      <p:sp>
        <p:nvSpPr>
          <p:cNvPr id="107" name="Card 08"/>
          <p:cNvSpPr/>
          <p:nvPr/>
        </p:nvSpPr>
        <p:spPr>
          <a:xfrm>
            <a:off x="3236586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08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03/08 · Segunda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Cluster Multi-Master</a:t>
            </a:r>
          </a:p>
        </p:txBody>
      </p:sp>
      <p:sp>
        <p:nvSpPr>
          <p:cNvPr id="108" name="Card 09"/>
          <p:cNvSpPr/>
          <p:nvPr/>
        </p:nvSpPr>
        <p:spPr>
          <a:xfrm>
            <a:off x="6107412" y="3672000"/>
            <a:ext cx="2670826" cy="11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3DFD2"/>
            </a:solidFill>
          </a:ln>
          <a:effectLst/>
        </p:spPr>
        <p:txBody>
          <a:bodyPr wrap="square" lIns="128016" tIns="91440" rIns="128016" bIns="91440" anchor="t"/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1E8E3E"/>
                </a:solidFill>
                <a:latin typeface="Ubuntu"/>
              </a:rPr>
              <a:t>09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5A5E66"/>
                </a:solidFill>
                <a:latin typeface="Lato"/>
              </a:rPr>
              <a:t>05/08 · Quarta</a:t>
            </a:r>
          </a:p>
          <a:p>
            <a:r>
              <a:rPr sz="1100" b="1">
                <a:solidFill>
                  <a:srgbClr val="181C23"/>
                </a:solidFill>
                <a:latin typeface="Lato"/>
              </a:rPr>
              <a:t>Concluir atividades do módulo e preencher rubricas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Cronograma do módulo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C2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AccentBar"/>
          <p:cNvSpPr/>
          <p:nvPr/>
        </p:nvSpPr>
        <p:spPr>
          <a:xfrm>
            <a:off x="0" y="0"/>
            <a:ext cx="55000" cy="5143500"/>
          </a:xfrm>
          <a:prstGeom prst="rect">
            <a:avLst/>
          </a:prstGeom>
          <a:solidFill>
            <a:srgbClr val="A6F75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Eyebrow"/>
          <p:cNvSpPr txBox="1"/>
          <p:nvPr/>
        </p:nvSpPr>
        <p:spPr>
          <a:xfrm>
            <a:off x="300000" y="250000"/>
            <a:ext cx="5000000" cy="23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1100" b="1" spc="300">
                <a:solidFill>
                  <a:srgbClr val="A6F750"/>
                </a:solidFill>
                <a:latin typeface="Ubuntu"/>
              </a:rPr>
              <a:t>COMBINADO DA TURMA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290000" y="470000"/>
            <a:ext cx="6000000" cy="620000"/>
          </a:xfrm>
          <a:prstGeom prst="rect">
            <a:avLst/>
          </a:prstGeom>
          <a:noFill/>
        </p:spPr>
        <p:txBody>
          <a:bodyPr rtlCol="0"/>
          <a:lstStyle/>
          <a:p>
            <a:pPr algn="l"/>
            <a:r>
              <a:rPr sz="4000" b="1">
                <a:solidFill>
                  <a:srgbClr val="FFFDF8"/>
                </a:solidFill>
                <a:latin typeface="Ubuntu"/>
              </a:rPr>
              <a:t>Por favor</a:t>
            </a:r>
            <a:r>
              <a:rPr sz="4000" b="1">
                <a:solidFill>
                  <a:srgbClr val="A6F750"/>
                </a:solidFill>
                <a:latin typeface="Ubuntu"/>
              </a:rPr>
              <a:t>!</a:t>
            </a:r>
          </a:p>
        </p:txBody>
      </p:sp>
      <p:sp>
        <p:nvSpPr>
          <p:cNvPr id="10" name="LeftCard"/>
          <p:cNvSpPr/>
          <p:nvPr/>
        </p:nvSpPr>
        <p:spPr>
          <a:xfrm>
            <a:off x="300000" y="1250000"/>
            <a:ext cx="2900000" cy="3630000"/>
          </a:xfrm>
          <a:prstGeom prst="roundRect">
            <a:avLst>
              <a:gd name="adj" fmla="val 6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eftHeader"/>
          <p:cNvSpPr/>
          <p:nvPr/>
        </p:nvSpPr>
        <p:spPr>
          <a:xfrm>
            <a:off x="300000" y="1250000"/>
            <a:ext cx="2900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>
                <a:solidFill>
                  <a:srgbClr val="FFFDF8"/>
                </a:solidFill>
                <a:latin typeface="Ubuntu"/>
              </a:rPr>
              <a:t>Bora participar!</a:t>
            </a:r>
          </a:p>
        </p:txBody>
      </p:sp>
      <p:pic>
        <p:nvPicPr>
          <p:cNvPr id="12" name="VideoCon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00" y="1720000"/>
            <a:ext cx="1150000" cy="1150000"/>
          </a:xfrm>
          <a:prstGeom prst="rect">
            <a:avLst/>
          </a:prstGeom>
        </p:spPr>
      </p:pic>
      <p:pic>
        <p:nvPicPr>
          <p:cNvPr id="13" name="RaiseH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000" y="1720000"/>
            <a:ext cx="1150000" cy="1150000"/>
          </a:xfrm>
          <a:prstGeom prst="rect">
            <a:avLst/>
          </a:prstGeom>
        </p:spPr>
      </p:pic>
      <p:sp>
        <p:nvSpPr>
          <p:cNvPr id="14" name="LeftCaption"/>
          <p:cNvSpPr txBox="1"/>
          <p:nvPr/>
        </p:nvSpPr>
        <p:spPr>
          <a:xfrm>
            <a:off x="420000" y="2980000"/>
            <a:ext cx="2660000" cy="70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ctr"/>
            <a:r>
              <a:rPr sz="1250" b="1">
                <a:solidFill>
                  <a:srgbClr val="FFFDF8"/>
                </a:solidFill>
                <a:latin typeface="Ubuntu"/>
              </a:rPr>
              <a:t>Câmera ligada + mão levantada </a:t>
            </a:r>
            <a:r>
              <a:rPr sz="1250" b="1">
                <a:solidFill>
                  <a:srgbClr val="A6F750"/>
                </a:solidFill>
                <a:latin typeface="Ubuntu"/>
              </a:rPr>
              <a:t>= aula top!</a:t>
            </a:r>
          </a:p>
        </p:txBody>
      </p:sp>
      <p:sp>
        <p:nvSpPr>
          <p:cNvPr id="15" name="IntervalBadge"/>
          <p:cNvSpPr/>
          <p:nvPr/>
        </p:nvSpPr>
        <p:spPr>
          <a:xfrm>
            <a:off x="500000" y="4150000"/>
            <a:ext cx="2500000" cy="560000"/>
          </a:xfrm>
          <a:prstGeom prst="roundRect">
            <a:avLst>
              <a:gd name="adj" fmla="val 28000"/>
            </a:avLst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 b="1" spc="150" dirty="0">
                <a:solidFill>
                  <a:srgbClr val="1E232E"/>
                </a:solidFill>
                <a:latin typeface="Ubuntu"/>
              </a:rPr>
              <a:t>INTERVALO</a:t>
            </a:r>
            <a:r>
              <a:rPr sz="1000" b="1" dirty="0">
                <a:solidFill>
                  <a:srgbClr val="1E232E"/>
                </a:solidFill>
                <a:latin typeface="Ubuntu"/>
              </a:rPr>
              <a:t>  •  16:30 BRT</a:t>
            </a:r>
          </a:p>
        </p:txBody>
      </p:sp>
      <p:sp>
        <p:nvSpPr>
          <p:cNvPr id="20" name="RightCard"/>
          <p:cNvSpPr/>
          <p:nvPr/>
        </p:nvSpPr>
        <p:spPr>
          <a:xfrm>
            <a:off x="3400000" y="1250000"/>
            <a:ext cx="5444000" cy="3630000"/>
          </a:xfrm>
          <a:prstGeom prst="roundRect">
            <a:avLst>
              <a:gd name="adj" fmla="val 5000"/>
            </a:avLst>
          </a:prstGeom>
          <a:solidFill>
            <a:srgbClr val="2A2F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RightHeader"/>
          <p:cNvSpPr/>
          <p:nvPr/>
        </p:nvSpPr>
        <p:spPr>
          <a:xfrm>
            <a:off x="3400000" y="1250000"/>
            <a:ext cx="5444000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</p:spPr>
        <p:txBody>
          <a:bodyPr lIns="120000" rtlCol="0" anchor="ctr"/>
          <a:lstStyle/>
          <a:p>
            <a:pPr algn="l"/>
            <a:r>
              <a:rPr sz="1050" b="1">
                <a:solidFill>
                  <a:srgbClr val="FFFDF8"/>
                </a:solidFill>
                <a:latin typeface="Ubuntu"/>
              </a:rPr>
              <a:t>Combinados da nossa aula</a:t>
            </a:r>
          </a:p>
        </p:txBody>
      </p:sp>
      <p:sp>
        <p:nvSpPr>
          <p:cNvPr id="30" name="M1"/>
          <p:cNvSpPr/>
          <p:nvPr/>
        </p:nvSpPr>
        <p:spPr>
          <a:xfrm>
            <a:off x="3620000" y="173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1</a:t>
            </a:r>
          </a:p>
        </p:txBody>
      </p:sp>
      <p:sp>
        <p:nvSpPr>
          <p:cNvPr id="31" name="T1"/>
          <p:cNvSpPr txBox="1"/>
          <p:nvPr/>
        </p:nvSpPr>
        <p:spPr>
          <a:xfrm>
            <a:off x="4160000" y="171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Câmeras ligadas.</a:t>
            </a:r>
          </a:p>
        </p:txBody>
      </p:sp>
      <p:sp>
        <p:nvSpPr>
          <p:cNvPr id="32" name="M2"/>
          <p:cNvSpPr/>
          <p:nvPr/>
        </p:nvSpPr>
        <p:spPr>
          <a:xfrm>
            <a:off x="3620000" y="235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2</a:t>
            </a:r>
          </a:p>
        </p:txBody>
      </p:sp>
      <p:sp>
        <p:nvSpPr>
          <p:cNvPr id="33" name="T2"/>
          <p:cNvSpPr txBox="1"/>
          <p:nvPr/>
        </p:nvSpPr>
        <p:spPr>
          <a:xfrm>
            <a:off x="4160000" y="233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Entrem </a:t>
            </a:r>
            <a:r>
              <a:rPr sz="1400" b="1">
                <a:solidFill>
                  <a:srgbClr val="A6F750"/>
                </a:solidFill>
                <a:latin typeface="Ubuntu"/>
              </a:rPr>
              <a:t>no horário</a:t>
            </a:r>
            <a:r>
              <a:rPr sz="1400" b="1">
                <a:solidFill>
                  <a:srgbClr val="FFFDF8"/>
                </a:solidFill>
                <a:latin typeface="Ubuntu"/>
              </a:rPr>
              <a:t>: início e intervalo.</a:t>
            </a:r>
          </a:p>
        </p:txBody>
      </p:sp>
      <p:sp>
        <p:nvSpPr>
          <p:cNvPr id="34" name="M3"/>
          <p:cNvSpPr/>
          <p:nvPr/>
        </p:nvSpPr>
        <p:spPr>
          <a:xfrm>
            <a:off x="3620000" y="297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3</a:t>
            </a:r>
          </a:p>
        </p:txBody>
      </p:sp>
      <p:sp>
        <p:nvSpPr>
          <p:cNvPr id="35" name="T3"/>
          <p:cNvSpPr txBox="1"/>
          <p:nvPr/>
        </p:nvSpPr>
        <p:spPr>
          <a:xfrm>
            <a:off x="4160000" y="295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Participem da aula.</a:t>
            </a:r>
          </a:p>
        </p:txBody>
      </p:sp>
      <p:sp>
        <p:nvSpPr>
          <p:cNvPr id="36" name="M4"/>
          <p:cNvSpPr/>
          <p:nvPr/>
        </p:nvSpPr>
        <p:spPr>
          <a:xfrm>
            <a:off x="3620000" y="359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4</a:t>
            </a:r>
          </a:p>
        </p:txBody>
      </p:sp>
      <p:sp>
        <p:nvSpPr>
          <p:cNvPr id="37" name="T4"/>
          <p:cNvSpPr txBox="1"/>
          <p:nvPr/>
        </p:nvSpPr>
        <p:spPr>
          <a:xfrm>
            <a:off x="4160000" y="357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FFFDF8"/>
                </a:solidFill>
                <a:latin typeface="Ubuntu"/>
              </a:rPr>
              <a:t>Tirem dúvidas.</a:t>
            </a:r>
          </a:p>
        </p:txBody>
      </p:sp>
      <p:sp>
        <p:nvSpPr>
          <p:cNvPr id="38" name="M5"/>
          <p:cNvSpPr/>
          <p:nvPr/>
        </p:nvSpPr>
        <p:spPr>
          <a:xfrm>
            <a:off x="3620000" y="4210000"/>
            <a:ext cx="380000" cy="3800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200" b="1">
                <a:solidFill>
                  <a:srgbClr val="1E232E"/>
                </a:solidFill>
                <a:latin typeface="Ubuntu"/>
              </a:rPr>
              <a:t>5</a:t>
            </a:r>
          </a:p>
        </p:txBody>
      </p:sp>
      <p:sp>
        <p:nvSpPr>
          <p:cNvPr id="39" name="T5"/>
          <p:cNvSpPr txBox="1"/>
          <p:nvPr/>
        </p:nvSpPr>
        <p:spPr>
          <a:xfrm>
            <a:off x="4160000" y="4190000"/>
            <a:ext cx="4560000" cy="420000"/>
          </a:xfrm>
          <a:prstGeom prst="rect">
            <a:avLst/>
          </a:prstGeom>
          <a:noFill/>
        </p:spPr>
        <p:txBody>
          <a:bodyPr rtlCol="0" anchor="ctr"/>
          <a:lstStyle/>
          <a:p>
            <a:pPr algn="l"/>
            <a:r>
              <a:rPr sz="1400" b="1">
                <a:solidFill>
                  <a:srgbClr val="A6F750"/>
                </a:solidFill>
                <a:latin typeface="Ubuntu"/>
              </a:rPr>
              <a:t>Levantem a mão</a:t>
            </a:r>
            <a:r>
              <a:rPr sz="1400" b="1">
                <a:solidFill>
                  <a:srgbClr val="FFFDF8"/>
                </a:solidFill>
                <a:latin typeface="Ubuntu"/>
              </a:rPr>
              <a:t> para tirar dúvidas.</a:t>
            </a:r>
          </a:p>
        </p:txBody>
      </p:sp>
      <p:pic>
        <p:nvPicPr>
          <p:cNvPr id="6" name="Picture 5" descr="ada_symbol.png">
            <a:extLst>
              <a:ext uri="{FF2B5EF4-FFF2-40B4-BE49-F238E27FC236}">
                <a16:creationId xmlns:a16="http://schemas.microsoft.com/office/drawing/2014/main" id="{EC4A71FF-BDBE-5989-C850-158BFCDE74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097280"/>
            <a:ext cx="3840480" cy="25968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Objetivos de hoje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Diferenciar forma Declarativa × Imperativa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Aprofundar o conceito de Pod e seus status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Organizar recursos com Namespaces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Controladores: Deployment, StatefulSet e DaemonSet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Escolher o controlador certo para cada tipo de aplicação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709" y="2148840"/>
            <a:ext cx="802581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1. Declarativo × Imperativo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Duas formas de falar com a API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  <p:sp>
        <p:nvSpPr>
          <p:cNvPr id="90" name="Footer Prof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B8BCC4"/>
                </a:solidFill>
                <a:latin typeface="Lato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Forma Declarativa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Descrevemos o ESTADO DESEJADO em arquivos YAML (manifestos)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YAML: formato legível, próximo da linguagem humana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O K8S lê o manifesto e faz o necessário para atingir aquele estado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Versionável em Git, reexecutável, ideal para produção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Aplicado com: kubectl apply -f arquivo.yaml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Manifesto de um Pod (declarativo)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 dirty="0">
                <a:solidFill>
                  <a:srgbClr val="2371FF"/>
                </a:solidFill>
                <a:latin typeface="Lato"/>
              </a:rPr>
              <a:t>pod-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nginx.yaml</a:t>
            </a:r>
            <a:endParaRPr sz="1100" i="1" dirty="0">
              <a:solidFill>
                <a:srgbClr val="2371FF"/>
              </a:solidFill>
              <a:latin typeface="Lato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sz="1100" dirty="0" err="1">
                <a:solidFill>
                  <a:srgbClr val="ECEDF3"/>
                </a:solidFill>
                <a:latin typeface="Consolas"/>
              </a:rPr>
              <a:t>apiVersion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v1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kind: Pod              #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tipo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de recurs</a:t>
            </a:r>
            <a:r>
              <a:rPr lang="pt-PT" sz="1100" dirty="0">
                <a:solidFill>
                  <a:srgbClr val="ECEDF3"/>
                </a:solidFill>
                <a:latin typeface="Consolas"/>
              </a:rPr>
              <a:t>o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metadata: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name: nginx          #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nome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do Pod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spec: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containers: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- name: nginx        #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nome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do container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image: nginx:1.14.2 #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imagem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usada</a:t>
            </a:r>
            <a:endParaRPr sz="1100" dirty="0">
              <a:solidFill>
                <a:srgbClr val="ECEDF3"/>
              </a:solidFill>
              <a:latin typeface="Consolas"/>
            </a:endParaRP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ports:</a:t>
            </a:r>
          </a:p>
          <a:p>
            <a:r>
              <a:rPr sz="1100" dirty="0">
                <a:solidFill>
                  <a:srgbClr val="ECEDF3"/>
                </a:solidFill>
                <a:latin typeface="Consolas"/>
              </a:rPr>
              <a:t>    -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containerPort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: 80 # porta </a:t>
            </a:r>
            <a:r>
              <a:rPr sz="1100" dirty="0" err="1">
                <a:solidFill>
                  <a:srgbClr val="ECEDF3"/>
                </a:solidFill>
                <a:latin typeface="Consolas"/>
              </a:rPr>
              <a:t>exposta</a:t>
            </a:r>
            <a:r>
              <a:rPr sz="1100" dirty="0">
                <a:solidFill>
                  <a:srgbClr val="ECEDF3"/>
                </a:solidFill>
                <a:latin typeface="Consolas"/>
              </a:rPr>
              <a:t> no container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Forma Imperativa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Damos ordens diretas na linha de comando, sem arquivo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O K8S descobre como executar o que foi pedido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Prática e rápida para tarefas pontuais e testes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Exemplo: kubectl run --image=nginx nginx2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Desvantagem: não fica versionada nem documentada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Comparando as duas formas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Declarativo — cria a partir do arquivo: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kubectl apply -f pod-nginx.yaml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kubectl get pods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Imperativo — cria direto no comando: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kubectl run --image=nginx nginx2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Inspecione o resultado em YAML: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kubectl get pod nginx2 -o 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Comparando as duas formas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91740" y="316706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E95BE05-D676-205A-B349-939AF1686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976437"/>
            <a:ext cx="8153400" cy="11906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Comparando as duas formas (cont.)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23160" y="4562302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B9BF68-9C87-F9E7-81FE-071A6B4D0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182" y="831218"/>
            <a:ext cx="7042005" cy="37645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709" y="2148840"/>
            <a:ext cx="802581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2. Pods em profundidade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A menor unidade computacional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  <p:sp>
        <p:nvSpPr>
          <p:cNvPr id="90" name="Footer Prof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B8BCC4"/>
                </a:solidFill>
                <a:latin typeface="Lato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O que dá para configurar num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Um ou mais containers e suas respectivas imagens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Init containers: executam só no "nascimento" do Pod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requests e limits: recursos disponíveis por container (Aula 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Volumes para armazenamento (Aula 6)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Containers de um Pod compartilham rede e podem compartilhar volumes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Status do ciclo de vida de um Pod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Pending — implantado, mas um ou mais containers ainda não disponíveis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Running — implantado e com um ou mais containers em execução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Succeeded — todos os containers concluíram com sucesso (comum com init containers)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Failed — um ou mais containers terminaram em falha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Terminating — o Pod está sendo removido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709" y="2148840"/>
            <a:ext cx="802581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3. Namespaces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Organizando recursos no cluster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  <p:sp>
        <p:nvSpPr>
          <p:cNvPr id="90" name="Footer Prof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B8BCC4"/>
                </a:solidFill>
                <a:latin typeface="Lato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Namespaces: divisão lógica do cluster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Agrupam recursos dentro de um mesmo cluster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Nome de recurso é único DENTRO de um namespace (permite repetir entre namespaces)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Separam por time, ambiente, tipo de aplicação...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Padrão: default, kube-system, kube-public, kube-node-lease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Nem tudo tem namespace: nodes e volumes, por exemplo, não têm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F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Trabalhando com Namespaces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903720" y="292608"/>
            <a:ext cx="1874519" cy="411480"/>
          </a:xfrm>
          <a:prstGeom prst="roundRect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Ubuntu"/>
              </a:rPr>
              <a:t>MÃO NA MASSA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Listar namespaces (forma completa e abreviada):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kubectl get namespaces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kubectl get 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Ver os componentes internos do próprio Kubernetes: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kubectl get pods -n kube-system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Criar um namespace: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kubectl create ns teste-k8s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81C23"/>
                </a:solidFill>
                <a:latin typeface="Lato"/>
              </a:rPr>
              <a:t>Consultar recursos de um namespace específico com -n: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81C23"/>
                </a:solidFill>
                <a:latin typeface="Consolas"/>
              </a:rPr>
              <a:t>$ kubectl get pods -n teste-k8s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2371FF"/>
                </a:solidFill>
                <a:latin typeface="Ubuntu"/>
              </a:rPr>
              <a:t>Trabalhando com Namespaces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491739" y="4514125"/>
            <a:ext cx="4160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i="1" dirty="0">
                <a:solidFill>
                  <a:srgbClr val="5A5E66"/>
                </a:solidFill>
                <a:latin typeface="Lato"/>
              </a:rPr>
              <a:t>Fonte da </a:t>
            </a:r>
            <a:r>
              <a:rPr sz="800" i="1" dirty="0" err="1">
                <a:solidFill>
                  <a:srgbClr val="5A5E66"/>
                </a:solidFill>
                <a:latin typeface="Lato"/>
              </a:rPr>
              <a:t>imagem</a:t>
            </a:r>
            <a:r>
              <a:rPr sz="800" i="1" dirty="0">
                <a:solidFill>
                  <a:srgbClr val="5A5E66"/>
                </a:solidFill>
                <a:latin typeface="Lato"/>
              </a:rPr>
              <a:t>: Ada Tech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DBBA68-77AA-9F67-82AB-6F00B2866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716" y="780252"/>
            <a:ext cx="4952567" cy="373387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709" y="2148840"/>
            <a:ext cx="802581" cy="548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2860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Ubuntu"/>
              </a:rPr>
              <a:t>4. Controladores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E550"/>
                </a:solidFill>
                <a:latin typeface="Lato"/>
              </a:rPr>
              <a:t>Deployment, StatefulSet e DaemonSet</a:t>
            </a:r>
          </a:p>
        </p:txBody>
      </p:sp>
      <p:pic>
        <p:nvPicPr>
          <p:cNvPr id="5" name="Picture 4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  <p:sp>
        <p:nvSpPr>
          <p:cNvPr id="90" name="Footer Prof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B8BCC4"/>
                </a:solidFill>
                <a:latin typeface="Lato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Por que não criar Pods soltos?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Pod solto que morre NÃO volta sozinho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Controladores mantêm o estado desejado (self-healing)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Definem quantas réplicas, quais imagens, como atualizar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Três tipos principais: Deployment, StatefulSet, DaemonSet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Deployment (aplicações stateless)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 dirty="0">
                <a:solidFill>
                  <a:srgbClr val="2371FF"/>
                </a:solidFill>
                <a:latin typeface="Lato"/>
              </a:rPr>
              <a:t>nginx-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deployment.yaml</a:t>
            </a:r>
            <a:r>
              <a:rPr sz="1100" i="1" dirty="0">
                <a:solidFill>
                  <a:srgbClr val="2371FF"/>
                </a:solidFill>
                <a:latin typeface="Lato"/>
              </a:rPr>
              <a:t> — o 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controlador</a:t>
            </a:r>
            <a:r>
              <a:rPr sz="1100" i="1" dirty="0">
                <a:solidFill>
                  <a:srgbClr val="2371FF"/>
                </a:solidFill>
                <a:latin typeface="Lato"/>
              </a:rPr>
              <a:t> 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mais</a:t>
            </a:r>
            <a:r>
              <a:rPr sz="1100" i="1" dirty="0">
                <a:solidFill>
                  <a:srgbClr val="2371FF"/>
                </a:solidFill>
                <a:latin typeface="Lato"/>
              </a:rPr>
              <a:t> </a:t>
            </a:r>
            <a:r>
              <a:rPr sz="1100" i="1" dirty="0" err="1">
                <a:solidFill>
                  <a:srgbClr val="2371FF"/>
                </a:solidFill>
                <a:latin typeface="Lato"/>
              </a:rPr>
              <a:t>usado</a:t>
            </a:r>
            <a:endParaRPr sz="1100" i="1" dirty="0">
              <a:solidFill>
                <a:srgbClr val="2371FF"/>
              </a:solidFill>
              <a:latin typeface="Lato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8229600" cy="3291840"/>
          </a:xfrm>
          <a:prstGeom prst="roundRect">
            <a:avLst/>
          </a:prstGeom>
          <a:solidFill>
            <a:srgbClr val="181C23"/>
          </a:solidFill>
          <a:ln w="12700">
            <a:solidFill>
              <a:srgbClr val="2371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bIns="109728" rtlCol="0" anchor="ctr"/>
          <a:lstStyle/>
          <a:p>
            <a:r>
              <a:rPr sz="950" dirty="0" err="1">
                <a:solidFill>
                  <a:srgbClr val="ECEDF3"/>
                </a:solidFill>
                <a:latin typeface="Consolas"/>
              </a:rPr>
              <a:t>apiVersion</a:t>
            </a:r>
            <a:r>
              <a:rPr sz="950" dirty="0">
                <a:solidFill>
                  <a:srgbClr val="ECEDF3"/>
                </a:solidFill>
                <a:latin typeface="Consolas"/>
              </a:rPr>
              <a:t>: apps/v1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kind: Deployment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metadata: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name: nginx-deployment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labels: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app: nginx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spec: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replicas: 3            #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número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de Pods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selector: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matchLabels</a:t>
            </a:r>
            <a:r>
              <a:rPr sz="950" dirty="0">
                <a:solidFill>
                  <a:srgbClr val="ECEDF3"/>
                </a:solidFill>
                <a:latin typeface="Consolas"/>
              </a:rPr>
              <a:t>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app: nginx         # vincula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os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Pods ao Deployment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template:              # o "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molde</a:t>
            </a:r>
            <a:r>
              <a:rPr sz="950" dirty="0">
                <a:solidFill>
                  <a:srgbClr val="ECEDF3"/>
                </a:solidFill>
                <a:latin typeface="Consolas"/>
              </a:rPr>
              <a:t>" de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cada</a:t>
            </a:r>
            <a:r>
              <a:rPr sz="950" dirty="0">
                <a:solidFill>
                  <a:srgbClr val="ECEDF3"/>
                </a:solidFill>
                <a:latin typeface="Consolas"/>
              </a:rPr>
              <a:t> Pod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metadata: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labels: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  app: nginx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spec: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containers: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- name: nginx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  image: nginx:1.14.2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  ports:</a:t>
            </a:r>
          </a:p>
          <a:p>
            <a:r>
              <a:rPr sz="950" dirty="0">
                <a:solidFill>
                  <a:srgbClr val="ECEDF3"/>
                </a:solidFill>
                <a:latin typeface="Consolas"/>
              </a:rPr>
              <a:t>        - </a:t>
            </a:r>
            <a:r>
              <a:rPr sz="950" dirty="0" err="1">
                <a:solidFill>
                  <a:srgbClr val="ECEDF3"/>
                </a:solidFill>
                <a:latin typeface="Consolas"/>
              </a:rPr>
              <a:t>containerPort</a:t>
            </a:r>
            <a:r>
              <a:rPr sz="950" dirty="0">
                <a:solidFill>
                  <a:srgbClr val="ECEDF3"/>
                </a:solidFill>
                <a:latin typeface="Consolas"/>
              </a:rPr>
              <a:t>: 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StatefulSet (aplicações stateful)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Para aplicações com estado: bancos de dados, filas, etc.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Cada Pod tem identidade persistente e estável (web-0, web-1, web-2)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Se um Pod morre, volta com a MESMA identidade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Permite associar volume persistente por Pod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Permite ordem controlada de subida dos Pods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DaemonSet (um Pod por node)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Garante um Pod da aplicação em CADA node do cluster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Node novo entrou? Um Pod é criado nele automaticamente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Usos típicos: coleta de logs, monitoração de nodes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Pode rodar até nos masters (com tolerations — Aula 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536" y="0"/>
            <a:ext cx="1738927" cy="11887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256032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181C23"/>
                </a:solidFill>
                <a:latin typeface="Ubuntu"/>
              </a:rPr>
              <a:t>Qual controlador usar?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932688"/>
            <a:ext cx="640080" cy="45720"/>
          </a:xfrm>
          <a:prstGeom prst="rect">
            <a:avLst/>
          </a:prstGeom>
          <a:solidFill>
            <a:srgbClr val="50E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App sem estado (web, API) → Deployment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App com estado/identidade (banco de dados) → StatefulSet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Um agente por node (logs, monitoração) → DaemonSet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81C23"/>
                </a:solidFill>
                <a:latin typeface="Lato"/>
              </a:rPr>
              <a:t>•  A escolha certa simplifica muito a operação do cluster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828032"/>
            <a:ext cx="7498079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5A5E66"/>
                </a:solidFill>
                <a:latin typeface="Lato"/>
              </a:rPr>
              <a:t>Ada · DE-OP-011 Orquestração · Kubernetes  |  Aula 03</a:t>
            </a:r>
            <a:r>
              <a:rPr lang="pt-PT" sz="750">
                <a:solidFill>
                  <a:srgbClr val="5A5E66"/>
                </a:solidFill>
                <a:latin typeface="Lato"/>
              </a:rPr>
              <a:t> · Prof.: Everton J Benedicto</a:t>
            </a:r>
            <a:endParaRPr sz="750">
              <a:solidFill>
                <a:srgbClr val="5A5E66"/>
              </a:solidFill>
              <a:latin typeface="Lato"/>
            </a:endParaRPr>
          </a:p>
        </p:txBody>
      </p:sp>
      <p:pic>
        <p:nvPicPr>
          <p:cNvPr id="7" name="Picture 6" descr="ada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572000"/>
            <a:ext cx="868680" cy="5370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C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a_bar.png"/>
          <p:cNvPicPr>
            <a:picLocks noChangeAspect="1"/>
          </p:cNvPicPr>
          <p:nvPr/>
        </p:nvPicPr>
        <p:blipFill>
          <a:blip r:embed="rId3"/>
          <a:srcRect t="38297" b="38297"/>
          <a:stretch>
            <a:fillRect/>
          </a:stretch>
        </p:blipFill>
        <p:spPr>
          <a:xfrm>
            <a:off x="0" y="0"/>
            <a:ext cx="9144000" cy="146304"/>
          </a:xfrm>
          <a:prstGeom prst="rect">
            <a:avLst/>
          </a:prstGeom>
        </p:spPr>
      </p:pic>
      <p:pic>
        <p:nvPicPr>
          <p:cNvPr id="3" name="Picture 2" descr="ada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377440"/>
            <a:ext cx="3291840" cy="22258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Ubuntu"/>
              </a:rPr>
              <a:t>Recapitulando a Aula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7132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Declarativo (YAML, produção) × Imperativo (CLI, testes)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Pod é a menor unidade; conheça seus status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Namespaces organizam e isolam recursos logicamente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Deployment / StatefulSet / DaemonSet: um para cada necessidade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FFFDF8"/>
                </a:solidFill>
                <a:latin typeface="Lato"/>
              </a:rPr>
              <a:t>✓  Próxima aula: subir nossa PRIMEIRA aplicação de verdade!</a:t>
            </a:r>
          </a:p>
        </p:txBody>
      </p:sp>
      <p:sp>
        <p:nvSpPr>
          <p:cNvPr id="90" name="Footer Prof"/>
          <p:cNvSpPr txBox="1"/>
          <p:nvPr/>
        </p:nvSpPr>
        <p:spPr>
          <a:xfrm>
            <a:off x="320040" y="4828032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B8BCC4"/>
                </a:solidFill>
                <a:latin typeface="Lato"/>
              </a:rPr>
              <a:t>Prof.: Everton J Benedicto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434</TotalTime>
  <Words>2250</Words>
  <Application>Microsoft Office PowerPoint</Application>
  <PresentationFormat>On-screen Show (16:9)</PresentationFormat>
  <Paragraphs>222</Paragraphs>
  <Slides>25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Consolas</vt:lpstr>
      <vt:lpstr>Lato</vt:lpstr>
      <vt:lpstr>Ubuntu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Benedicto, Everton Jose (SI IT VC PES PLT)</dc:creator>
  <cp:keywords/>
  <dc:description>generated using python-pptx</dc:description>
  <cp:lastModifiedBy>Benedicto, Everton Jose (SI IT VC PES PLT)</cp:lastModifiedBy>
  <cp:revision>7</cp:revision>
  <dcterms:created xsi:type="dcterms:W3CDTF">2013-01-27T09:14:16Z</dcterms:created>
  <dcterms:modified xsi:type="dcterms:W3CDTF">2026-07-22T20:55:46Z</dcterms:modified>
  <cp:category/>
</cp:coreProperties>
</file>