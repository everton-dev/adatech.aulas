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A6F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5000" y="0"/>
            <a:ext cx="9089000" cy="1000000"/>
          </a:xfrm>
          <a:prstGeom prst="rect">
            <a:avLst/>
          </a:prstGeom>
          <a:solidFill>
            <a:srgbClr val="2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" y="70000"/>
            <a:ext cx="860000" cy="8600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5000" y="35000"/>
            <a:ext cx="930000" cy="930000"/>
          </a:xfrm>
          <a:prstGeom prst="ellipse">
            <a:avLst/>
          </a:prstGeom>
          <a:noFill/>
          <a:ln>
            <a:solidFill>
              <a:srgbClr val="A6F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0000" y="100000"/>
            <a:ext cx="360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DF8"/>
                </a:solidFill>
                <a:latin typeface="Ubuntu"/>
              </a:rPr>
              <a:t>E</a:t>
            </a:r>
            <a:r>
              <a:rPr lang="pt-PT" sz="3000" b="1" dirty="0">
                <a:solidFill>
                  <a:srgbClr val="FFFDF8"/>
                </a:solidFill>
                <a:latin typeface="Ubuntu"/>
              </a:rPr>
              <a:t>ver</a:t>
            </a:r>
            <a:r>
              <a:rPr sz="3000" b="1" dirty="0">
                <a:solidFill>
                  <a:srgbClr val="FFFDF8"/>
                </a:solidFill>
                <a:latin typeface="Ubuntu"/>
              </a:rPr>
              <a:t>ton Benedito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343" y="490000"/>
            <a:ext cx="42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100" b="0" dirty="0" err="1">
                <a:solidFill>
                  <a:srgbClr val="A6F750"/>
                </a:solidFill>
                <a:latin typeface="Ubuntu"/>
              </a:rPr>
              <a:t>Teacher</a:t>
            </a:r>
            <a:r>
              <a:rPr sz="1100" b="0" dirty="0">
                <a:solidFill>
                  <a:srgbClr val="A6F750"/>
                </a:solidFill>
                <a:latin typeface="Ubuntu"/>
              </a:rPr>
              <a:t>  •  </a:t>
            </a:r>
            <a:r>
              <a:rPr lang="pt-PT" sz="1100" b="0" dirty="0" err="1">
                <a:solidFill>
                  <a:srgbClr val="A6F750"/>
                </a:solidFill>
                <a:latin typeface="Ubuntu"/>
              </a:rPr>
              <a:t>Coder</a:t>
            </a:r>
            <a:r>
              <a:rPr sz="1100" b="0" dirty="0">
                <a:solidFill>
                  <a:srgbClr val="A6F750"/>
                </a:solidFill>
                <a:latin typeface="Ubuntu"/>
              </a:rPr>
              <a:t>  •  </a:t>
            </a:r>
            <a:r>
              <a:rPr lang="pt-PT" sz="1100" dirty="0">
                <a:solidFill>
                  <a:srgbClr val="A6F750"/>
                </a:solidFill>
                <a:latin typeface="Ubuntu"/>
              </a:rPr>
              <a:t>Lead • </a:t>
            </a:r>
            <a:r>
              <a:rPr lang="pt-PT" sz="1100" dirty="0" err="1">
                <a:solidFill>
                  <a:srgbClr val="A6F750"/>
                </a:solidFill>
                <a:latin typeface="Ubuntu"/>
              </a:rPr>
              <a:t>Father</a:t>
            </a:r>
            <a:endParaRPr sz="1100" b="0" dirty="0">
              <a:solidFill>
                <a:srgbClr val="A6F750"/>
              </a:solidFill>
              <a:latin typeface="Ubuntu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97264" y="709354"/>
            <a:ext cx="2220000" cy="1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dirty="0">
                <a:solidFill>
                  <a:srgbClr val="FFFDF8"/>
                </a:solidFill>
                <a:latin typeface="Ubuntu"/>
              </a:rPr>
              <a:t>linkedin.com/in/</a:t>
            </a:r>
            <a:r>
              <a:rPr sz="800" b="0" dirty="0" err="1">
                <a:solidFill>
                  <a:srgbClr val="FFFDF8"/>
                </a:solidFill>
                <a:latin typeface="Ubuntu"/>
              </a:rPr>
              <a:t>ejbenedito</a:t>
            </a:r>
            <a:r>
              <a:rPr sz="800" b="0" dirty="0">
                <a:solidFill>
                  <a:srgbClr val="FFFDF8"/>
                </a:solidFill>
                <a:latin typeface="Ubuntu"/>
              </a:rPr>
              <a:t>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70418" y="85000"/>
            <a:ext cx="29435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sz="1400" b="1" dirty="0">
                <a:solidFill>
                  <a:srgbClr val="A6F750"/>
                </a:solidFill>
                <a:latin typeface="Ubuntu"/>
              </a:rPr>
              <a:t>Arquitetura de Serviços e Dados</a:t>
            </a:r>
            <a:endParaRPr sz="1400" b="1" dirty="0">
              <a:solidFill>
                <a:srgbClr val="A6F750"/>
              </a:solidFill>
              <a:latin typeface="Ubuntu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14000" y="279000"/>
            <a:ext cx="250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dirty="0" err="1">
                <a:solidFill>
                  <a:srgbClr val="FFFDF8"/>
                </a:solidFill>
                <a:latin typeface="Ubuntu"/>
              </a:rPr>
              <a:t>Apresentação</a:t>
            </a:r>
            <a:r>
              <a:rPr sz="900" b="0" dirty="0">
                <a:solidFill>
                  <a:srgbClr val="FFFDF8"/>
                </a:solidFill>
                <a:latin typeface="Ubuntu"/>
              </a:rPr>
              <a:t> do </a:t>
            </a:r>
            <a:r>
              <a:rPr sz="900" b="0" dirty="0" err="1">
                <a:solidFill>
                  <a:srgbClr val="FFFDF8"/>
                </a:solidFill>
                <a:latin typeface="Ubuntu"/>
              </a:rPr>
              <a:t>Instrutor</a:t>
            </a:r>
            <a:endParaRPr sz="900" b="0" dirty="0">
              <a:solidFill>
                <a:srgbClr val="FFFDF8"/>
              </a:solidFill>
              <a:latin typeface="Ubuntu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69000" y="125000"/>
            <a:ext cx="110000" cy="11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919000" y="305000"/>
            <a:ext cx="70000" cy="7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686000" y="102000"/>
            <a:ext cx="56000" cy="56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30000" y="1090000"/>
            <a:ext cx="4648280" cy="3983500"/>
          </a:xfrm>
          <a:prstGeom prst="roundRect">
            <a:avLst/>
          </a:prstGeom>
          <a:solidFill>
            <a:srgbClr val="2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30000" y="1090000"/>
            <a:ext cx="4648280" cy="265000"/>
          </a:xfrm>
          <a:prstGeom prst="roundRect">
            <a:avLst/>
          </a:prstGeom>
          <a:solidFill>
            <a:srgbClr val="23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0000" y="1125000"/>
            <a:ext cx="4488280" cy="2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DF8"/>
                </a:solidFill>
                <a:latin typeface="Ubuntu"/>
              </a:rPr>
              <a:t>Especialidades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5000" y="14300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85" y="1455000"/>
            <a:ext cx="360000" cy="36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15000" y="18350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Windows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39570" y="14300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855" y="1455000"/>
            <a:ext cx="360000" cy="360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49570" y="18350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Linux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74140" y="14300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1425" y="1455000"/>
            <a:ext cx="360000" cy="360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484140" y="18350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Azure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08710" y="14300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5995" y="1455000"/>
            <a:ext cx="360000" cy="360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618710" y="18350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.NET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5000" y="21507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285" y="2175700"/>
            <a:ext cx="360000" cy="36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5000" y="25557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SQL Server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39570" y="21507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6855" y="2175700"/>
            <a:ext cx="360000" cy="360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349570" y="25557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MongoDB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474140" y="21507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41425" y="2175700"/>
            <a:ext cx="360000" cy="360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484140" y="25557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Selenium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08710" y="21507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75995" y="2175700"/>
            <a:ext cx="360000" cy="3600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618710" y="25557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Playwright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05000" y="28714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2285" y="2896400"/>
            <a:ext cx="360000" cy="3600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215000" y="32764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n8n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339570" y="28714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06855" y="2896400"/>
            <a:ext cx="360000" cy="3600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349570" y="32764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Postman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474140" y="28714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41425" y="2896400"/>
            <a:ext cx="360000" cy="3600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484140" y="32764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Angular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08710" y="28714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75995" y="2896400"/>
            <a:ext cx="360000" cy="3600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3618710" y="32764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Vue.js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05000" y="35921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2285" y="3617100"/>
            <a:ext cx="360000" cy="3600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15000" y="39971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React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339570" y="35921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06855" y="3617100"/>
            <a:ext cx="360000" cy="3600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349570" y="39971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Python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474140" y="35921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841425" y="3617100"/>
            <a:ext cx="360000" cy="36000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484140" y="39971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Docker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608710" y="35921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75995" y="3617100"/>
            <a:ext cx="360000" cy="36000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3618710" y="39971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Kubernetes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339570" y="43128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06855" y="4337800"/>
            <a:ext cx="360000" cy="3600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349570" y="47178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GitHub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688938" y="125000"/>
            <a:ext cx="145871" cy="138992"/>
          </a:xfrm>
          <a:prstGeom prst="roundRect">
            <a:avLst/>
          </a:prstGeom>
          <a:solidFill>
            <a:srgbClr val="2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4843280" y="1090000"/>
            <a:ext cx="2055970" cy="265000"/>
          </a:xfrm>
          <a:prstGeom prst="roundRect">
            <a:avLst/>
          </a:prstGeom>
          <a:solidFill>
            <a:srgbClr val="23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923280" y="1125000"/>
            <a:ext cx="1895970" cy="2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DF8"/>
                </a:solidFill>
                <a:latin typeface="Ubuntu"/>
              </a:rPr>
              <a:t>Certificações</a:t>
            </a:r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21265" y="1410000"/>
            <a:ext cx="300000" cy="30000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4883280" y="1725000"/>
            <a:ext cx="197597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FFFDF8"/>
                </a:solidFill>
                <a:latin typeface="Ubuntu"/>
              </a:rPr>
              <a:t>AZ-900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3280" y="2453705"/>
            <a:ext cx="197597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DF8"/>
                </a:solidFill>
                <a:latin typeface="Ubuntu"/>
              </a:rPr>
              <a:t>PSM I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843280" y="2987410"/>
            <a:ext cx="2055970" cy="2086090"/>
          </a:xfrm>
          <a:prstGeom prst="roundRect">
            <a:avLst/>
          </a:prstGeom>
          <a:solidFill>
            <a:srgbClr val="2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4843280" y="2987410"/>
            <a:ext cx="2055970" cy="265000"/>
          </a:xfrm>
          <a:prstGeom prst="roundRect">
            <a:avLst/>
          </a:prstGeom>
          <a:solidFill>
            <a:srgbClr val="23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923280" y="3022410"/>
            <a:ext cx="1895970" cy="2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DF8"/>
                </a:solidFill>
                <a:latin typeface="Ubuntu"/>
              </a:rPr>
              <a:t>Hobbies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898280" y="3307410"/>
            <a:ext cx="1945970" cy="407772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938280" y="3327410"/>
            <a:ext cx="1865970" cy="367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DF8"/>
                </a:solidFill>
                <a:latin typeface="Ubuntu"/>
              </a:rPr>
              <a:t>♥  Família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898280" y="3735182"/>
            <a:ext cx="1945970" cy="407772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938280" y="3755182"/>
            <a:ext cx="1865970" cy="367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DF8"/>
                </a:solidFill>
                <a:latin typeface="Ubuntu"/>
              </a:rPr>
              <a:t>♡  Esposa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898280" y="4162954"/>
            <a:ext cx="1945970" cy="407772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938280" y="4182954"/>
            <a:ext cx="18659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>
                <a:solidFill>
                  <a:srgbClr val="FFFDF8"/>
                </a:solidFill>
                <a:latin typeface="Ubuntu"/>
              </a:rPr>
              <a:t>▶  </a:t>
            </a:r>
            <a:r>
              <a:rPr lang="pt-PT" sz="900" b="0" dirty="0">
                <a:solidFill>
                  <a:srgbClr val="FFFDF8"/>
                </a:solidFill>
                <a:latin typeface="Ubuntu"/>
              </a:rPr>
              <a:t>Series \ Filmes \ </a:t>
            </a:r>
            <a:r>
              <a:rPr lang="pt-PT" sz="900" b="0" dirty="0" err="1">
                <a:solidFill>
                  <a:srgbClr val="FFFDF8"/>
                </a:solidFill>
                <a:latin typeface="Ubuntu"/>
              </a:rPr>
              <a:t>Nerdices</a:t>
            </a:r>
            <a:endParaRPr sz="900" b="0" dirty="0">
              <a:solidFill>
                <a:srgbClr val="FFFDF8"/>
              </a:solidFill>
              <a:latin typeface="Ubuntu"/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4898280" y="4590726"/>
            <a:ext cx="1945970" cy="407772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938280" y="4610726"/>
            <a:ext cx="18659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>
                <a:solidFill>
                  <a:srgbClr val="FFFDF8"/>
                </a:solidFill>
                <a:latin typeface="Ubuntu"/>
              </a:rPr>
              <a:t>◈  Video Games</a:t>
            </a:r>
            <a:r>
              <a:rPr lang="pt-PT" sz="900" b="0" dirty="0">
                <a:solidFill>
                  <a:srgbClr val="FFFDF8"/>
                </a:solidFill>
                <a:latin typeface="Ubuntu"/>
              </a:rPr>
              <a:t> \ Cavaquinho</a:t>
            </a:r>
            <a:endParaRPr sz="900" b="0" dirty="0">
              <a:solidFill>
                <a:srgbClr val="FFFDF8"/>
              </a:solidFill>
              <a:latin typeface="Ubuntu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6964250" y="1090000"/>
            <a:ext cx="2104750" cy="3983500"/>
          </a:xfrm>
          <a:prstGeom prst="roundRect">
            <a:avLst/>
          </a:prstGeom>
          <a:solidFill>
            <a:srgbClr val="2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6964250" y="1090000"/>
            <a:ext cx="2104750" cy="265000"/>
          </a:xfrm>
          <a:prstGeom prst="roundRect">
            <a:avLst/>
          </a:prstGeom>
          <a:solidFill>
            <a:srgbClr val="23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044250" y="1125000"/>
            <a:ext cx="1944750" cy="2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DF8"/>
                </a:solidFill>
                <a:latin typeface="Ubuntu"/>
              </a:rPr>
              <a:t>Perguntas para a Turma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024250" y="1415000"/>
            <a:ext cx="1984750" cy="1166166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7064250" y="1873083"/>
            <a:ext cx="250000" cy="2500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7064250" y="1873448"/>
            <a:ext cx="2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1100" b="1" dirty="0">
                <a:solidFill>
                  <a:srgbClr val="FFFDF8"/>
                </a:solidFill>
                <a:latin typeface="Ubuntu"/>
              </a:rPr>
              <a:t>1</a:t>
            </a:r>
            <a:endParaRPr sz="1100" b="1" dirty="0">
              <a:solidFill>
                <a:srgbClr val="FFFDF8"/>
              </a:solidFill>
              <a:latin typeface="Ubuntu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7369250" y="1463073"/>
            <a:ext cx="16197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pt-PT" sz="900" b="0" dirty="0">
              <a:solidFill>
                <a:srgbClr val="FFFDF8"/>
              </a:solidFill>
              <a:latin typeface="Ubuntu"/>
            </a:endParaRPr>
          </a:p>
          <a:p>
            <a:pPr algn="l"/>
            <a:endParaRPr lang="en-US" sz="900" dirty="0">
              <a:solidFill>
                <a:srgbClr val="FFFDF8"/>
              </a:solidFill>
              <a:latin typeface="Ubuntu"/>
            </a:endParaRPr>
          </a:p>
          <a:p>
            <a:pPr algn="l"/>
            <a:endParaRPr lang="en-US" sz="900" b="0" dirty="0">
              <a:solidFill>
                <a:srgbClr val="FFFDF8"/>
              </a:solidFill>
              <a:latin typeface="Ubuntu"/>
            </a:endParaRPr>
          </a:p>
          <a:p>
            <a:pPr algn="l"/>
            <a:r>
              <a:rPr sz="900" b="0" dirty="0">
                <a:solidFill>
                  <a:srgbClr val="FFFDF8"/>
                </a:solidFill>
                <a:latin typeface="Ubuntu"/>
              </a:rPr>
              <a:t>Qual é o </a:t>
            </a:r>
            <a:r>
              <a:rPr sz="900" b="0" dirty="0" err="1">
                <a:solidFill>
                  <a:srgbClr val="FFFDF8"/>
                </a:solidFill>
                <a:latin typeface="Ubuntu"/>
              </a:rPr>
              <a:t>seu</a:t>
            </a:r>
            <a:r>
              <a:rPr sz="900" b="0" dirty="0">
                <a:solidFill>
                  <a:srgbClr val="FFFDF8"/>
                </a:solidFill>
                <a:latin typeface="Ubuntu"/>
              </a:rPr>
              <a:t> </a:t>
            </a:r>
            <a:r>
              <a:rPr sz="900" b="0" dirty="0" err="1">
                <a:solidFill>
                  <a:srgbClr val="FFFDF8"/>
                </a:solidFill>
                <a:latin typeface="Ubuntu"/>
              </a:rPr>
              <a:t>nome</a:t>
            </a:r>
            <a:r>
              <a:rPr sz="900" b="0" dirty="0">
                <a:solidFill>
                  <a:srgbClr val="FFFDF8"/>
                </a:solidFill>
                <a:latin typeface="Ubuntu"/>
              </a:rPr>
              <a:t>?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024250" y="2631166"/>
            <a:ext cx="1984750" cy="1166166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7064250" y="3089249"/>
            <a:ext cx="250000" cy="2500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064250" y="3096541"/>
            <a:ext cx="2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1100" b="1" dirty="0">
                <a:solidFill>
                  <a:srgbClr val="FFFDF8"/>
                </a:solidFill>
                <a:latin typeface="Ubuntu"/>
              </a:rPr>
              <a:t>2</a:t>
            </a:r>
            <a:endParaRPr sz="1100" b="1" dirty="0">
              <a:solidFill>
                <a:srgbClr val="FFFDF8"/>
              </a:solidFill>
              <a:latin typeface="Ubuntu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7369250" y="2623823"/>
            <a:ext cx="161975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pt-PT" sz="900" b="0" dirty="0">
              <a:solidFill>
                <a:srgbClr val="FFFDF8"/>
              </a:solidFill>
              <a:latin typeface="Ubuntu"/>
            </a:endParaRPr>
          </a:p>
          <a:p>
            <a:pPr algn="l"/>
            <a:endParaRPr lang="en-US" sz="900" dirty="0">
              <a:solidFill>
                <a:srgbClr val="FFFDF8"/>
              </a:solidFill>
              <a:latin typeface="Ubuntu"/>
            </a:endParaRPr>
          </a:p>
          <a:p>
            <a:pPr algn="l"/>
            <a:endParaRPr lang="en-US" sz="900" dirty="0">
              <a:solidFill>
                <a:srgbClr val="FFFDF8"/>
              </a:solidFill>
              <a:latin typeface="Ubuntu"/>
            </a:endParaRPr>
          </a:p>
          <a:p>
            <a:pPr algn="l"/>
            <a:r>
              <a:rPr lang="pt-PT" sz="900" b="0" dirty="0">
                <a:solidFill>
                  <a:srgbClr val="FFFDF8"/>
                </a:solidFill>
                <a:latin typeface="Ubuntu"/>
              </a:rPr>
              <a:t>No seu dia a dia ou laboratórios pessoais você conhece algum tema que será abordado nesta aula</a:t>
            </a:r>
            <a:r>
              <a:rPr sz="900" b="0" dirty="0">
                <a:solidFill>
                  <a:srgbClr val="FFFDF8"/>
                </a:solidFill>
                <a:latin typeface="Ubuntu"/>
              </a:rPr>
              <a:t>?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024250" y="3847332"/>
            <a:ext cx="1984750" cy="1166166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7064250" y="4305415"/>
            <a:ext cx="250000" cy="2500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7064250" y="4319634"/>
            <a:ext cx="2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FDF8"/>
                </a:solidFill>
                <a:latin typeface="Ubuntu"/>
              </a:rP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369250" y="3819208"/>
            <a:ext cx="161975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pt-PT" sz="900" b="0" dirty="0">
              <a:solidFill>
                <a:srgbClr val="FFFDF8"/>
              </a:solidFill>
              <a:latin typeface="Ubuntu"/>
            </a:endParaRPr>
          </a:p>
          <a:p>
            <a:pPr algn="l"/>
            <a:endParaRPr lang="en-US" sz="900" dirty="0">
              <a:solidFill>
                <a:srgbClr val="FFFDF8"/>
              </a:solidFill>
              <a:latin typeface="Ubuntu"/>
            </a:endParaRPr>
          </a:p>
          <a:p>
            <a:pPr algn="l"/>
            <a:endParaRPr lang="en-US" sz="900" b="0" dirty="0">
              <a:solidFill>
                <a:srgbClr val="FFFDF8"/>
              </a:solidFill>
              <a:latin typeface="Ubuntu"/>
            </a:endParaRPr>
          </a:p>
          <a:p>
            <a:pPr algn="l"/>
            <a:r>
              <a:rPr sz="900" b="0" dirty="0">
                <a:solidFill>
                  <a:srgbClr val="FFFDF8"/>
                </a:solidFill>
                <a:latin typeface="Ubuntu"/>
              </a:rPr>
              <a:t>O </a:t>
            </a:r>
            <a:r>
              <a:rPr sz="900" b="0" dirty="0" err="1">
                <a:solidFill>
                  <a:srgbClr val="FFFDF8"/>
                </a:solidFill>
                <a:latin typeface="Ubuntu"/>
              </a:rPr>
              <a:t>que</a:t>
            </a:r>
            <a:r>
              <a:rPr sz="900" b="0" dirty="0">
                <a:solidFill>
                  <a:srgbClr val="FFFDF8"/>
                </a:solidFill>
                <a:latin typeface="Ubuntu"/>
              </a:rPr>
              <a:t> </a:t>
            </a:r>
            <a:r>
              <a:rPr sz="900" b="0" dirty="0" err="1">
                <a:solidFill>
                  <a:srgbClr val="FFFDF8"/>
                </a:solidFill>
                <a:latin typeface="Ubuntu"/>
              </a:rPr>
              <a:t>você</a:t>
            </a:r>
            <a:r>
              <a:rPr sz="900" b="0" dirty="0">
                <a:solidFill>
                  <a:srgbClr val="FFFDF8"/>
                </a:solidFill>
                <a:latin typeface="Ubuntu"/>
              </a:rPr>
              <a:t> </a:t>
            </a:r>
            <a:r>
              <a:rPr sz="900" b="0" dirty="0" err="1">
                <a:solidFill>
                  <a:srgbClr val="FFFDF8"/>
                </a:solidFill>
                <a:latin typeface="Ubuntu"/>
              </a:rPr>
              <a:t>espera</a:t>
            </a:r>
            <a:r>
              <a:rPr sz="900" b="0" dirty="0">
                <a:solidFill>
                  <a:srgbClr val="FFFDF8"/>
                </a:solidFill>
                <a:latin typeface="Ubuntu"/>
              </a:rPr>
              <a:t>
</a:t>
            </a:r>
            <a:r>
              <a:rPr sz="900" b="0" dirty="0" err="1">
                <a:solidFill>
                  <a:srgbClr val="FFFDF8"/>
                </a:solidFill>
                <a:latin typeface="Ubuntu"/>
              </a:rPr>
              <a:t>aprender</a:t>
            </a:r>
            <a:r>
              <a:rPr sz="900" b="0" dirty="0">
                <a:solidFill>
                  <a:srgbClr val="FFFDF8"/>
                </a:solidFill>
                <a:latin typeface="Ubuntu"/>
              </a:rPr>
              <a:t> </a:t>
            </a:r>
            <a:r>
              <a:rPr sz="900" b="0" dirty="0" err="1">
                <a:solidFill>
                  <a:srgbClr val="FFFDF8"/>
                </a:solidFill>
                <a:latin typeface="Ubuntu"/>
              </a:rPr>
              <a:t>neste</a:t>
            </a:r>
            <a:r>
              <a:rPr sz="900" b="0" dirty="0">
                <a:solidFill>
                  <a:srgbClr val="FFFDF8"/>
                </a:solidFill>
                <a:latin typeface="Ubuntu"/>
              </a:rPr>
              <a:t> </a:t>
            </a:r>
            <a:r>
              <a:rPr sz="900" b="0" dirty="0" err="1">
                <a:solidFill>
                  <a:srgbClr val="FFFDF8"/>
                </a:solidFill>
                <a:latin typeface="Ubuntu"/>
              </a:rPr>
              <a:t>curso</a:t>
            </a:r>
            <a:r>
              <a:rPr sz="900" b="0" dirty="0">
                <a:solidFill>
                  <a:srgbClr val="FFFDF8"/>
                </a:solidFill>
                <a:latin typeface="Ubuntu"/>
              </a:rPr>
              <a:t>?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5000" y="5088500"/>
            <a:ext cx="9089000" cy="55000"/>
          </a:xfrm>
          <a:prstGeom prst="rect">
            <a:avLst/>
          </a:prstGeom>
          <a:solidFill>
            <a:srgbClr val="23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CA6E42E2-6856-4F18-0772-1704F2D28B4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61600" y="712650"/>
            <a:ext cx="199900" cy="199900"/>
          </a:xfrm>
          <a:prstGeom prst="rect">
            <a:avLst/>
          </a:prstGeom>
        </p:spPr>
      </p:pic>
      <p:pic>
        <p:nvPicPr>
          <p:cNvPr id="1026" name="Picture 2" descr="Professional Scrum Master™ I Certification | Scrum.org">
            <a:extLst>
              <a:ext uri="{FF2B5EF4-FFF2-40B4-BE49-F238E27FC236}">
                <a16:creationId xmlns:a16="http://schemas.microsoft.com/office/drawing/2014/main" id="{DB26BBB7-23A0-BD4C-B8F3-63E59B292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5994" y="2059249"/>
            <a:ext cx="426491" cy="42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17B037D-936C-289D-10CE-571B4A99A36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54235" y="71371"/>
            <a:ext cx="821608" cy="837258"/>
          </a:xfrm>
          <a:prstGeom prst="rect">
            <a:avLst/>
          </a:prstGeom>
        </p:spPr>
      </p:pic>
      <p:sp>
        <p:nvSpPr>
          <p:cNvPr id="105" name="Rounded Rectangle 67">
            <a:extLst>
              <a:ext uri="{FF2B5EF4-FFF2-40B4-BE49-F238E27FC236}">
                <a16:creationId xmlns:a16="http://schemas.microsoft.com/office/drawing/2014/main" id="{F31ED944-6CB0-7833-4804-AC748BE3D711}"/>
              </a:ext>
            </a:extLst>
          </p:cNvPr>
          <p:cNvSpPr/>
          <p:nvPr/>
        </p:nvSpPr>
        <p:spPr>
          <a:xfrm>
            <a:off x="2485298" y="4333909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3B484BF-3CA3-7245-85B2-477509A84714}"/>
              </a:ext>
            </a:extLst>
          </p:cNvPr>
          <p:cNvSpPr txBox="1"/>
          <p:nvPr/>
        </p:nvSpPr>
        <p:spPr>
          <a:xfrm>
            <a:off x="2495298" y="4738909"/>
            <a:ext cx="107457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700" b="1" dirty="0" err="1">
                <a:solidFill>
                  <a:srgbClr val="FFFDF8"/>
                </a:solidFill>
                <a:latin typeface="Ubuntu"/>
              </a:rPr>
              <a:t>System</a:t>
            </a:r>
            <a:r>
              <a:rPr lang="pt-PT" sz="700" b="1" dirty="0">
                <a:solidFill>
                  <a:srgbClr val="FFFDF8"/>
                </a:solidFill>
                <a:latin typeface="Ubuntu"/>
              </a:rPr>
              <a:t> Design</a:t>
            </a:r>
            <a:endParaRPr sz="700" b="1" dirty="0">
              <a:solidFill>
                <a:srgbClr val="FFFDF8"/>
              </a:solidFill>
              <a:latin typeface="Ubuntu"/>
            </a:endParaRPr>
          </a:p>
        </p:txBody>
      </p:sp>
      <p:pic>
        <p:nvPicPr>
          <p:cNvPr id="1028" name="Picture 4" descr="Why should software engineer “practice” system design?">
            <a:extLst>
              <a:ext uri="{FF2B5EF4-FFF2-40B4-BE49-F238E27FC236}">
                <a16:creationId xmlns:a16="http://schemas.microsoft.com/office/drawing/2014/main" id="{DC4EAD8B-085B-937E-3479-A954BEDD2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9723" y="4380044"/>
            <a:ext cx="371702" cy="371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C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AccentBar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A6F7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300000" y="250000"/>
            <a:ext cx="5000000" cy="230000"/>
          </a:xfrm>
          <a:prstGeom prst="rect">
            <a:avLst/>
          </a:prstGeom>
          <a:noFill/>
        </p:spPr>
        <p:txBody>
          <a:bodyPr rtlCol="0"/>
          <a:lstStyle/>
          <a:p>
            <a:pPr algn="l"/>
            <a:r>
              <a:rPr sz="1100" b="1" spc="300">
                <a:solidFill>
                  <a:srgbClr val="A6F750"/>
                </a:solidFill>
                <a:latin typeface="Ubuntu"/>
              </a:rPr>
              <a:t>COMBINADO DA TURMA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290000" y="470000"/>
            <a:ext cx="6000000" cy="620000"/>
          </a:xfrm>
          <a:prstGeom prst="rect">
            <a:avLst/>
          </a:prstGeom>
          <a:noFill/>
        </p:spPr>
        <p:txBody>
          <a:bodyPr rtlCol="0"/>
          <a:lstStyle/>
          <a:p>
            <a:pPr algn="l"/>
            <a:r>
              <a:rPr sz="4000" b="1">
                <a:solidFill>
                  <a:srgbClr val="FFFDF8"/>
                </a:solidFill>
                <a:latin typeface="Ubuntu"/>
              </a:rPr>
              <a:t>Por favor</a:t>
            </a:r>
            <a:r>
              <a:rPr sz="4000" b="1">
                <a:solidFill>
                  <a:srgbClr val="A6F750"/>
                </a:solidFill>
                <a:latin typeface="Ubuntu"/>
              </a:rPr>
              <a:t>!</a:t>
            </a:r>
          </a:p>
        </p:txBody>
      </p:sp>
      <p:sp>
        <p:nvSpPr>
          <p:cNvPr id="10" name="LeftCard"/>
          <p:cNvSpPr/>
          <p:nvPr/>
        </p:nvSpPr>
        <p:spPr>
          <a:xfrm>
            <a:off x="300000" y="1250000"/>
            <a:ext cx="2900000" cy="3630000"/>
          </a:xfrm>
          <a:prstGeom prst="roundRect">
            <a:avLst>
              <a:gd name="adj" fmla="val 6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LeftHeader"/>
          <p:cNvSpPr/>
          <p:nvPr/>
        </p:nvSpPr>
        <p:spPr>
          <a:xfrm>
            <a:off x="300000" y="1250000"/>
            <a:ext cx="2900000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 b="1">
                <a:solidFill>
                  <a:srgbClr val="FFFDF8"/>
                </a:solidFill>
                <a:latin typeface="Ubuntu"/>
              </a:rPr>
              <a:t>Bora participar!</a:t>
            </a:r>
          </a:p>
        </p:txBody>
      </p:sp>
      <p:pic>
        <p:nvPicPr>
          <p:cNvPr id="12" name="VideoCon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00" y="1720000"/>
            <a:ext cx="1150000" cy="1150000"/>
          </a:xfrm>
          <a:prstGeom prst="rect">
            <a:avLst/>
          </a:prstGeom>
        </p:spPr>
      </p:pic>
      <p:pic>
        <p:nvPicPr>
          <p:cNvPr id="13" name="RaiseH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000" y="1720000"/>
            <a:ext cx="1150000" cy="1150000"/>
          </a:xfrm>
          <a:prstGeom prst="rect">
            <a:avLst/>
          </a:prstGeom>
        </p:spPr>
      </p:pic>
      <p:sp>
        <p:nvSpPr>
          <p:cNvPr id="14" name="LeftCaption"/>
          <p:cNvSpPr txBox="1"/>
          <p:nvPr/>
        </p:nvSpPr>
        <p:spPr>
          <a:xfrm>
            <a:off x="420000" y="2980000"/>
            <a:ext cx="2660000" cy="7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ctr"/>
            <a:r>
              <a:rPr sz="1250" b="1" dirty="0" err="1">
                <a:solidFill>
                  <a:srgbClr val="FFFDF8"/>
                </a:solidFill>
                <a:latin typeface="Ubuntu"/>
              </a:rPr>
              <a:t>Câmera</a:t>
            </a:r>
            <a:r>
              <a:rPr sz="1250" b="1" dirty="0">
                <a:solidFill>
                  <a:srgbClr val="FFFDF8"/>
                </a:solidFill>
                <a:latin typeface="Ubuntu"/>
              </a:rPr>
              <a:t> </a:t>
            </a:r>
            <a:r>
              <a:rPr sz="1250" b="1" dirty="0" err="1">
                <a:solidFill>
                  <a:srgbClr val="FFFDF8"/>
                </a:solidFill>
                <a:latin typeface="Ubuntu"/>
              </a:rPr>
              <a:t>ligada</a:t>
            </a:r>
            <a:r>
              <a:rPr sz="1250" b="1" dirty="0">
                <a:solidFill>
                  <a:srgbClr val="FFFDF8"/>
                </a:solidFill>
                <a:latin typeface="Ubuntu"/>
              </a:rPr>
              <a:t> + </a:t>
            </a:r>
            <a:r>
              <a:rPr sz="1250" b="1" dirty="0" err="1">
                <a:solidFill>
                  <a:srgbClr val="FFFDF8"/>
                </a:solidFill>
                <a:latin typeface="Ubuntu"/>
              </a:rPr>
              <a:t>mão</a:t>
            </a:r>
            <a:r>
              <a:rPr sz="1250" b="1" dirty="0">
                <a:solidFill>
                  <a:srgbClr val="FFFDF8"/>
                </a:solidFill>
                <a:latin typeface="Ubuntu"/>
              </a:rPr>
              <a:t> </a:t>
            </a:r>
            <a:r>
              <a:rPr sz="1250" b="1" dirty="0" err="1">
                <a:solidFill>
                  <a:srgbClr val="FFFDF8"/>
                </a:solidFill>
                <a:latin typeface="Ubuntu"/>
              </a:rPr>
              <a:t>levantada</a:t>
            </a:r>
            <a:r>
              <a:rPr sz="1250" b="1" dirty="0">
                <a:solidFill>
                  <a:srgbClr val="FFFDF8"/>
                </a:solidFill>
                <a:latin typeface="Ubuntu"/>
              </a:rPr>
              <a:t> </a:t>
            </a:r>
            <a:r>
              <a:rPr sz="1250" b="1" dirty="0">
                <a:solidFill>
                  <a:srgbClr val="A6F750"/>
                </a:solidFill>
                <a:latin typeface="Ubuntu"/>
              </a:rPr>
              <a:t>= aula top!</a:t>
            </a:r>
          </a:p>
        </p:txBody>
      </p:sp>
      <p:sp>
        <p:nvSpPr>
          <p:cNvPr id="15" name="IntervalBadge"/>
          <p:cNvSpPr/>
          <p:nvPr/>
        </p:nvSpPr>
        <p:spPr>
          <a:xfrm>
            <a:off x="500000" y="4150000"/>
            <a:ext cx="2500000" cy="560000"/>
          </a:xfrm>
          <a:prstGeom prst="roundRect">
            <a:avLst>
              <a:gd name="adj" fmla="val 28000"/>
            </a:avLst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 b="1" spc="150" dirty="0">
                <a:solidFill>
                  <a:srgbClr val="1E232E"/>
                </a:solidFill>
                <a:latin typeface="Ubuntu"/>
              </a:rPr>
              <a:t>INTERVALO</a:t>
            </a:r>
            <a:r>
              <a:rPr sz="1000" b="1" dirty="0">
                <a:solidFill>
                  <a:srgbClr val="1E232E"/>
                </a:solidFill>
                <a:latin typeface="Ubuntu"/>
              </a:rPr>
              <a:t>  •  16:30 BRT</a:t>
            </a:r>
          </a:p>
        </p:txBody>
      </p:sp>
      <p:sp>
        <p:nvSpPr>
          <p:cNvPr id="20" name="RightCard"/>
          <p:cNvSpPr/>
          <p:nvPr/>
        </p:nvSpPr>
        <p:spPr>
          <a:xfrm>
            <a:off x="3400000" y="1250000"/>
            <a:ext cx="5444000" cy="3630000"/>
          </a:xfrm>
          <a:prstGeom prst="roundRect">
            <a:avLst>
              <a:gd name="adj" fmla="val 5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RightHeader"/>
          <p:cNvSpPr/>
          <p:nvPr/>
        </p:nvSpPr>
        <p:spPr>
          <a:xfrm>
            <a:off x="3400000" y="1250000"/>
            <a:ext cx="5444000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</p:spPr>
        <p:txBody>
          <a:bodyPr lIns="120000" rtlCol="0" anchor="ctr"/>
          <a:lstStyle/>
          <a:p>
            <a:pPr algn="l"/>
            <a:r>
              <a:rPr sz="1050" b="1">
                <a:solidFill>
                  <a:srgbClr val="FFFDF8"/>
                </a:solidFill>
                <a:latin typeface="Ubuntu"/>
              </a:rPr>
              <a:t>Combinados da nossa aula</a:t>
            </a:r>
          </a:p>
        </p:txBody>
      </p:sp>
      <p:sp>
        <p:nvSpPr>
          <p:cNvPr id="30" name="M1"/>
          <p:cNvSpPr/>
          <p:nvPr/>
        </p:nvSpPr>
        <p:spPr>
          <a:xfrm>
            <a:off x="3620000" y="173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1</a:t>
            </a:r>
          </a:p>
        </p:txBody>
      </p:sp>
      <p:sp>
        <p:nvSpPr>
          <p:cNvPr id="31" name="T1"/>
          <p:cNvSpPr txBox="1"/>
          <p:nvPr/>
        </p:nvSpPr>
        <p:spPr>
          <a:xfrm>
            <a:off x="4160000" y="171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FFFDF8"/>
                </a:solidFill>
                <a:latin typeface="Ubuntu"/>
              </a:rPr>
              <a:t>Câmeras ligadas.</a:t>
            </a:r>
          </a:p>
        </p:txBody>
      </p:sp>
      <p:sp>
        <p:nvSpPr>
          <p:cNvPr id="32" name="M2"/>
          <p:cNvSpPr/>
          <p:nvPr/>
        </p:nvSpPr>
        <p:spPr>
          <a:xfrm>
            <a:off x="3620000" y="235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2</a:t>
            </a:r>
          </a:p>
        </p:txBody>
      </p:sp>
      <p:sp>
        <p:nvSpPr>
          <p:cNvPr id="33" name="T2"/>
          <p:cNvSpPr txBox="1"/>
          <p:nvPr/>
        </p:nvSpPr>
        <p:spPr>
          <a:xfrm>
            <a:off x="4160000" y="233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FFFDF8"/>
                </a:solidFill>
                <a:latin typeface="Ubuntu"/>
              </a:rPr>
              <a:t>Entrem </a:t>
            </a:r>
            <a:r>
              <a:rPr sz="1400" b="1">
                <a:solidFill>
                  <a:srgbClr val="A6F750"/>
                </a:solidFill>
                <a:latin typeface="Ubuntu"/>
              </a:rPr>
              <a:t>no horário</a:t>
            </a:r>
            <a:r>
              <a:rPr sz="1400" b="1">
                <a:solidFill>
                  <a:srgbClr val="FFFDF8"/>
                </a:solidFill>
                <a:latin typeface="Ubuntu"/>
              </a:rPr>
              <a:t>: início e intervalo.</a:t>
            </a:r>
          </a:p>
        </p:txBody>
      </p:sp>
      <p:sp>
        <p:nvSpPr>
          <p:cNvPr id="34" name="M3"/>
          <p:cNvSpPr/>
          <p:nvPr/>
        </p:nvSpPr>
        <p:spPr>
          <a:xfrm>
            <a:off x="3620000" y="297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3</a:t>
            </a:r>
          </a:p>
        </p:txBody>
      </p:sp>
      <p:sp>
        <p:nvSpPr>
          <p:cNvPr id="35" name="T3"/>
          <p:cNvSpPr txBox="1"/>
          <p:nvPr/>
        </p:nvSpPr>
        <p:spPr>
          <a:xfrm>
            <a:off x="4160000" y="295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FFFDF8"/>
                </a:solidFill>
                <a:latin typeface="Ubuntu"/>
              </a:rPr>
              <a:t>Participem da aula.</a:t>
            </a:r>
          </a:p>
        </p:txBody>
      </p:sp>
      <p:sp>
        <p:nvSpPr>
          <p:cNvPr id="36" name="M4"/>
          <p:cNvSpPr/>
          <p:nvPr/>
        </p:nvSpPr>
        <p:spPr>
          <a:xfrm>
            <a:off x="3620000" y="359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4</a:t>
            </a:r>
          </a:p>
        </p:txBody>
      </p:sp>
      <p:sp>
        <p:nvSpPr>
          <p:cNvPr id="37" name="T4"/>
          <p:cNvSpPr txBox="1"/>
          <p:nvPr/>
        </p:nvSpPr>
        <p:spPr>
          <a:xfrm>
            <a:off x="4160000" y="357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FFFDF8"/>
                </a:solidFill>
                <a:latin typeface="Ubuntu"/>
              </a:rPr>
              <a:t>Tirem dúvidas.</a:t>
            </a:r>
          </a:p>
        </p:txBody>
      </p:sp>
      <p:sp>
        <p:nvSpPr>
          <p:cNvPr id="38" name="M5"/>
          <p:cNvSpPr/>
          <p:nvPr/>
        </p:nvSpPr>
        <p:spPr>
          <a:xfrm>
            <a:off x="3620000" y="421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5</a:t>
            </a:r>
          </a:p>
        </p:txBody>
      </p:sp>
      <p:sp>
        <p:nvSpPr>
          <p:cNvPr id="39" name="T5"/>
          <p:cNvSpPr txBox="1"/>
          <p:nvPr/>
        </p:nvSpPr>
        <p:spPr>
          <a:xfrm>
            <a:off x="4160000" y="419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A6F750"/>
                </a:solidFill>
                <a:latin typeface="Ubuntu"/>
              </a:rPr>
              <a:t>Levantem a mão</a:t>
            </a:r>
            <a:r>
              <a:rPr sz="1400" b="1">
                <a:solidFill>
                  <a:srgbClr val="FFFDF8"/>
                </a:solidFill>
                <a:latin typeface="Ubuntu"/>
              </a:rPr>
              <a:t> para tirar dúvidas.</a:t>
            </a:r>
          </a:p>
        </p:txBody>
      </p:sp>
      <p:pic>
        <p:nvPicPr>
          <p:cNvPr id="6" name="Picture 5" descr="ada_symbol.png">
            <a:extLst>
              <a:ext uri="{FF2B5EF4-FFF2-40B4-BE49-F238E27FC236}">
                <a16:creationId xmlns:a16="http://schemas.microsoft.com/office/drawing/2014/main" id="{EC4A71FF-BDBE-5989-C850-158BFCDE7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097280"/>
            <a:ext cx="3840480" cy="25968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C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AccentBar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A6F7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300000" y="250000"/>
            <a:ext cx="6000000" cy="230000"/>
          </a:xfrm>
          <a:prstGeom prst="rect">
            <a:avLst/>
          </a:prstGeom>
          <a:noFill/>
        </p:spPr>
        <p:txBody>
          <a:bodyPr rtlCol="0"/>
          <a:lstStyle/>
          <a:p>
            <a:pPr algn="l"/>
            <a:r>
              <a:rPr sz="1100" b="1" spc="300">
                <a:solidFill>
                  <a:srgbClr val="A6F750"/>
                </a:solidFill>
                <a:latin typeface="Ubuntu"/>
              </a:rPr>
              <a:t>TRABALHO FINAL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290000" y="470000"/>
            <a:ext cx="8500000" cy="620000"/>
          </a:xfrm>
          <a:prstGeom prst="rect">
            <a:avLst/>
          </a:prstGeom>
          <a:noFill/>
        </p:spPr>
        <p:txBody>
          <a:bodyPr rtlCol="0"/>
          <a:lstStyle/>
          <a:p>
            <a:pPr algn="l"/>
            <a:r>
              <a:rPr sz="4000" b="1">
                <a:solidFill>
                  <a:srgbClr val="FFFDF8"/>
                </a:solidFill>
                <a:latin typeface="Ubuntu"/>
              </a:rPr>
              <a:t>Entrega Final</a:t>
            </a:r>
            <a:r>
              <a:rPr sz="4000" b="1">
                <a:solidFill>
                  <a:srgbClr val="A6F750"/>
                </a:solidFill>
                <a:latin typeface="Ubuntu"/>
              </a:rPr>
              <a:t>!</a:t>
            </a:r>
          </a:p>
        </p:txBody>
      </p:sp>
      <p:sp>
        <p:nvSpPr>
          <p:cNvPr id="10" name="LeftCard"/>
          <p:cNvSpPr/>
          <p:nvPr/>
        </p:nvSpPr>
        <p:spPr>
          <a:xfrm>
            <a:off x="300000" y="1250000"/>
            <a:ext cx="3450000" cy="3630000"/>
          </a:xfrm>
          <a:prstGeom prst="roundRect">
            <a:avLst>
              <a:gd name="adj" fmla="val 5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LeftHeader"/>
          <p:cNvSpPr/>
          <p:nvPr/>
        </p:nvSpPr>
        <p:spPr>
          <a:xfrm>
            <a:off x="300000" y="1250000"/>
            <a:ext cx="3450000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</p:spPr>
        <p:txBody>
          <a:bodyPr lIns="120000" rtlCol="0" anchor="ctr"/>
          <a:lstStyle/>
          <a:p>
            <a:pPr algn="l"/>
            <a:r>
              <a:rPr sz="1050" b="1">
                <a:solidFill>
                  <a:srgbClr val="FFFDF8"/>
                </a:solidFill>
                <a:latin typeface="Ubuntu"/>
              </a:rPr>
              <a:t>O desafio</a:t>
            </a:r>
          </a:p>
        </p:txBody>
      </p:sp>
      <p:sp>
        <p:nvSpPr>
          <p:cNvPr id="12" name="LeftBody"/>
          <p:cNvSpPr txBox="1"/>
          <p:nvPr/>
        </p:nvSpPr>
        <p:spPr>
          <a:xfrm>
            <a:off x="480000" y="1660000"/>
            <a:ext cx="3120000" cy="1650000"/>
          </a:xfrm>
          <a:prstGeom prst="rect">
            <a:avLst/>
          </a:prstGeom>
          <a:noFill/>
        </p:spPr>
        <p:txBody>
          <a:bodyPr rtlCol="0"/>
          <a:lstStyle/>
          <a:p>
            <a:pPr marL="180000" indent="-180000">
              <a:buFont typeface="Arial"/>
              <a:buChar char="•"/>
            </a:pPr>
            <a:r>
              <a:rPr sz="1150" b="1">
                <a:solidFill>
                  <a:srgbClr val="FFFDF8"/>
                </a:solidFill>
                <a:latin typeface="Ubuntu"/>
              </a:rPr>
              <a:t>Suba no </a:t>
            </a:r>
            <a:r>
              <a:rPr sz="1150" b="1">
                <a:solidFill>
                  <a:srgbClr val="A6F750"/>
                </a:solidFill>
                <a:latin typeface="Ubuntu"/>
              </a:rPr>
              <a:t>minikube</a:t>
            </a:r>
            <a:r>
              <a:rPr sz="1150" b="1">
                <a:solidFill>
                  <a:srgbClr val="FFFDF8"/>
                </a:solidFill>
                <a:latin typeface="Ubuntu"/>
              </a:rPr>
              <a:t> um Pod com uma API e um Banco de Dados à sua escolha.</a:t>
            </a:r>
          </a:p>
          <a:p>
            <a:pPr marL="180000" indent="-180000">
              <a:spcBef>
                <a:spcPts val="700"/>
              </a:spcBef>
              <a:buFont typeface="Arial"/>
              <a:buChar char="•"/>
            </a:pPr>
            <a:r>
              <a:rPr sz="1150" b="1">
                <a:solidFill>
                  <a:srgbClr val="FFFDF8"/>
                </a:solidFill>
                <a:latin typeface="Ubuntu"/>
              </a:rPr>
              <a:t>A API deve fazer um </a:t>
            </a:r>
            <a:r>
              <a:rPr sz="1150" b="1">
                <a:solidFill>
                  <a:srgbClr val="A6F750"/>
                </a:solidFill>
                <a:latin typeface="Ubuntu"/>
              </a:rPr>
              <a:t>CRUD para produtos</a:t>
            </a:r>
            <a:r>
              <a:rPr sz="1150" b="1">
                <a:solidFill>
                  <a:srgbClr val="FFFDF8"/>
                </a:solidFill>
                <a:latin typeface="Ubuntu"/>
              </a:rPr>
              <a:t>.</a:t>
            </a:r>
          </a:p>
        </p:txBody>
      </p:sp>
      <p:sp>
        <p:nvSpPr>
          <p:cNvPr id="13" name="TableSpec"/>
          <p:cNvSpPr/>
          <p:nvPr/>
        </p:nvSpPr>
        <p:spPr>
          <a:xfrm>
            <a:off x="480000" y="3380000"/>
            <a:ext cx="3090000" cy="1330000"/>
          </a:xfrm>
          <a:prstGeom prst="roundRect">
            <a:avLst>
              <a:gd name="adj" fmla="val 8000"/>
            </a:avLst>
          </a:prstGeom>
          <a:solidFill>
            <a:srgbClr val="181C23"/>
          </a:solidFill>
          <a:ln>
            <a:solidFill>
              <a:srgbClr val="3A404D"/>
            </a:solidFill>
          </a:ln>
        </p:spPr>
        <p:txBody>
          <a:bodyPr lIns="150000" tIns="120000" rIns="120000" rtlCol="0" anchor="t"/>
          <a:lstStyle/>
          <a:p>
            <a:pPr algn="l"/>
            <a:r>
              <a:rPr sz="1000" b="1" spc="150">
                <a:solidFill>
                  <a:srgbClr val="8A93A3"/>
                </a:solidFill>
                <a:latin typeface="Ubuntu"/>
              </a:rPr>
              <a:t>TABELA </a:t>
            </a:r>
            <a:r>
              <a:rPr sz="1000" b="1" spc="150">
                <a:solidFill>
                  <a:srgbClr val="A6F750"/>
                </a:solidFill>
                <a:latin typeface="Consolas"/>
              </a:rPr>
              <a:t>produtos</a:t>
            </a:r>
          </a:p>
          <a:p>
            <a:pPr algn="l">
              <a:spcBef>
                <a:spcPts val="700"/>
              </a:spcBef>
            </a:pPr>
            <a:r>
              <a:rPr sz="1150" b="1">
                <a:solidFill>
                  <a:srgbClr val="FFFDF8"/>
                </a:solidFill>
                <a:latin typeface="Consolas"/>
              </a:rPr>
              <a:t>Id</a:t>
            </a:r>
            <a:r>
              <a:rPr sz="1150">
                <a:solidFill>
                  <a:srgbClr val="8A93A3"/>
                </a:solidFill>
                <a:latin typeface="Consolas"/>
              </a:rPr>
              <a:t>  —  INT</a:t>
            </a:r>
          </a:p>
          <a:p>
            <a:pPr algn="l">
              <a:spcBef>
                <a:spcPts val="500"/>
              </a:spcBef>
            </a:pPr>
            <a:r>
              <a:rPr sz="1150" b="1">
                <a:solidFill>
                  <a:srgbClr val="FFFDF8"/>
                </a:solidFill>
                <a:latin typeface="Consolas"/>
              </a:rPr>
              <a:t>Nome</a:t>
            </a:r>
            <a:r>
              <a:rPr sz="1150">
                <a:solidFill>
                  <a:srgbClr val="8A93A3"/>
                </a:solidFill>
                <a:latin typeface="Consolas"/>
              </a:rPr>
              <a:t>  —  VARCHAR(50)</a:t>
            </a:r>
          </a:p>
        </p:txBody>
      </p:sp>
      <p:sp>
        <p:nvSpPr>
          <p:cNvPr id="20" name="RightCard"/>
          <p:cNvSpPr/>
          <p:nvPr/>
        </p:nvSpPr>
        <p:spPr>
          <a:xfrm>
            <a:off x="3950000" y="1250000"/>
            <a:ext cx="4894000" cy="3630000"/>
          </a:xfrm>
          <a:prstGeom prst="roundRect">
            <a:avLst>
              <a:gd name="adj" fmla="val 5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RightHeader"/>
          <p:cNvSpPr/>
          <p:nvPr/>
        </p:nvSpPr>
        <p:spPr>
          <a:xfrm>
            <a:off x="3950000" y="1250000"/>
            <a:ext cx="4894000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</p:spPr>
        <p:txBody>
          <a:bodyPr lIns="120000" rtlCol="0" anchor="ctr"/>
          <a:lstStyle/>
          <a:p>
            <a:pPr algn="l"/>
            <a:r>
              <a:rPr sz="1050" b="1">
                <a:solidFill>
                  <a:srgbClr val="FFFDF8"/>
                </a:solidFill>
                <a:latin typeface="Ubuntu"/>
              </a:rPr>
              <a:t>O que significa CRUD</a:t>
            </a:r>
          </a:p>
        </p:txBody>
      </p:sp>
      <p:sp>
        <p:nvSpPr>
          <p:cNvPr id="30" name="Mc"/>
          <p:cNvSpPr/>
          <p:nvPr/>
        </p:nvSpPr>
        <p:spPr>
          <a:xfrm>
            <a:off x="4150000" y="1730000"/>
            <a:ext cx="360000" cy="36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C</a:t>
            </a:r>
          </a:p>
        </p:txBody>
      </p:sp>
      <p:sp>
        <p:nvSpPr>
          <p:cNvPr id="31" name="Tc"/>
          <p:cNvSpPr txBox="1"/>
          <p:nvPr/>
        </p:nvSpPr>
        <p:spPr>
          <a:xfrm>
            <a:off x="4640000" y="1710000"/>
            <a:ext cx="4000000" cy="4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350" b="1">
                <a:solidFill>
                  <a:srgbClr val="FFFDF8"/>
                </a:solidFill>
                <a:latin typeface="Ubuntu"/>
              </a:rPr>
              <a:t>Create </a:t>
            </a:r>
            <a:r>
              <a:rPr sz="1100">
                <a:solidFill>
                  <a:srgbClr val="8A93A3"/>
                </a:solidFill>
                <a:latin typeface="Ubuntu"/>
              </a:rPr>
              <a:t>— Criar</a:t>
            </a:r>
          </a:p>
        </p:txBody>
      </p:sp>
      <p:sp>
        <p:nvSpPr>
          <p:cNvPr id="32" name="Mr"/>
          <p:cNvSpPr/>
          <p:nvPr/>
        </p:nvSpPr>
        <p:spPr>
          <a:xfrm>
            <a:off x="4150000" y="2270000"/>
            <a:ext cx="360000" cy="36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R</a:t>
            </a:r>
          </a:p>
        </p:txBody>
      </p:sp>
      <p:sp>
        <p:nvSpPr>
          <p:cNvPr id="33" name="Tr"/>
          <p:cNvSpPr txBox="1"/>
          <p:nvPr/>
        </p:nvSpPr>
        <p:spPr>
          <a:xfrm>
            <a:off x="4640000" y="2250000"/>
            <a:ext cx="4000000" cy="4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350" b="1">
                <a:solidFill>
                  <a:srgbClr val="FFFDF8"/>
                </a:solidFill>
                <a:latin typeface="Ubuntu"/>
              </a:rPr>
              <a:t>Read </a:t>
            </a:r>
            <a:r>
              <a:rPr sz="1100">
                <a:solidFill>
                  <a:srgbClr val="8A93A3"/>
                </a:solidFill>
                <a:latin typeface="Ubuntu"/>
              </a:rPr>
              <a:t>— Ler</a:t>
            </a:r>
          </a:p>
        </p:txBody>
      </p:sp>
      <p:sp>
        <p:nvSpPr>
          <p:cNvPr id="34" name="Mu"/>
          <p:cNvSpPr/>
          <p:nvPr/>
        </p:nvSpPr>
        <p:spPr>
          <a:xfrm>
            <a:off x="4150000" y="2810000"/>
            <a:ext cx="360000" cy="36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U</a:t>
            </a:r>
          </a:p>
        </p:txBody>
      </p:sp>
      <p:sp>
        <p:nvSpPr>
          <p:cNvPr id="35" name="Tu"/>
          <p:cNvSpPr txBox="1"/>
          <p:nvPr/>
        </p:nvSpPr>
        <p:spPr>
          <a:xfrm>
            <a:off x="4640000" y="2790000"/>
            <a:ext cx="4000000" cy="4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350" b="1">
                <a:solidFill>
                  <a:srgbClr val="FFFDF8"/>
                </a:solidFill>
                <a:latin typeface="Ubuntu"/>
              </a:rPr>
              <a:t>Update </a:t>
            </a:r>
            <a:r>
              <a:rPr sz="1100">
                <a:solidFill>
                  <a:srgbClr val="8A93A3"/>
                </a:solidFill>
                <a:latin typeface="Ubuntu"/>
              </a:rPr>
              <a:t>— Atualizar</a:t>
            </a:r>
          </a:p>
        </p:txBody>
      </p:sp>
      <p:sp>
        <p:nvSpPr>
          <p:cNvPr id="36" name="Md"/>
          <p:cNvSpPr/>
          <p:nvPr/>
        </p:nvSpPr>
        <p:spPr>
          <a:xfrm>
            <a:off x="4150000" y="3350000"/>
            <a:ext cx="360000" cy="36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D</a:t>
            </a:r>
          </a:p>
        </p:txBody>
      </p:sp>
      <p:sp>
        <p:nvSpPr>
          <p:cNvPr id="37" name="Td"/>
          <p:cNvSpPr txBox="1"/>
          <p:nvPr/>
        </p:nvSpPr>
        <p:spPr>
          <a:xfrm>
            <a:off x="4640000" y="3330000"/>
            <a:ext cx="4000000" cy="4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350" b="1">
                <a:solidFill>
                  <a:srgbClr val="FFFDF8"/>
                </a:solidFill>
                <a:latin typeface="Ubuntu"/>
              </a:rPr>
              <a:t>Delete </a:t>
            </a:r>
            <a:r>
              <a:rPr sz="1100">
                <a:solidFill>
                  <a:srgbClr val="8A93A3"/>
                </a:solidFill>
                <a:latin typeface="Ubuntu"/>
              </a:rPr>
              <a:t>— Excluir</a:t>
            </a:r>
          </a:p>
        </p:txBody>
      </p:sp>
      <p:sp>
        <p:nvSpPr>
          <p:cNvPr id="40" name="DeployStrip"/>
          <p:cNvSpPr/>
          <p:nvPr/>
        </p:nvSpPr>
        <p:spPr>
          <a:xfrm>
            <a:off x="4150000" y="3900000"/>
            <a:ext cx="4494000" cy="820000"/>
          </a:xfrm>
          <a:prstGeom prst="roundRect">
            <a:avLst>
              <a:gd name="adj" fmla="val 10000"/>
            </a:avLst>
          </a:prstGeom>
          <a:solidFill>
            <a:srgbClr val="181C23"/>
          </a:solidFill>
          <a:ln>
            <a:solidFill>
              <a:srgbClr val="3A404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DeployLabel"/>
          <p:cNvSpPr txBox="1"/>
          <p:nvPr/>
        </p:nvSpPr>
        <p:spPr>
          <a:xfrm>
            <a:off x="4320000" y="3990000"/>
            <a:ext cx="4200000" cy="26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000" b="1">
                <a:solidFill>
                  <a:srgbClr val="FFFDF8"/>
                </a:solidFill>
                <a:latin typeface="Ubuntu"/>
              </a:rPr>
              <a:t>Atualize a versão do Pod de forma </a:t>
            </a:r>
            <a:r>
              <a:rPr sz="1000" b="1">
                <a:solidFill>
                  <a:srgbClr val="A6F750"/>
                </a:solidFill>
                <a:latin typeface="Ubuntu"/>
              </a:rPr>
              <a:t>declarativa</a:t>
            </a:r>
            <a:r>
              <a:rPr sz="1000" b="1">
                <a:solidFill>
                  <a:srgbClr val="FFFDF8"/>
                </a:solidFill>
                <a:latin typeface="Ubuntu"/>
              </a:rPr>
              <a:t>, demonstrando:</a:t>
            </a:r>
          </a:p>
        </p:txBody>
      </p:sp>
      <p:sp>
        <p:nvSpPr>
          <p:cNvPr id="42" name="PillRolling"/>
          <p:cNvSpPr/>
          <p:nvPr/>
        </p:nvSpPr>
        <p:spPr>
          <a:xfrm>
            <a:off x="4320000" y="4290000"/>
            <a:ext cx="2000000" cy="3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50" b="1">
                <a:solidFill>
                  <a:srgbClr val="1E232E"/>
                </a:solidFill>
                <a:latin typeface="Ubuntu"/>
              </a:rPr>
              <a:t>Rolling Update</a:t>
            </a:r>
          </a:p>
        </p:txBody>
      </p:sp>
      <p:sp>
        <p:nvSpPr>
          <p:cNvPr id="43" name="PillRecreate"/>
          <p:cNvSpPr/>
          <p:nvPr/>
        </p:nvSpPr>
        <p:spPr>
          <a:xfrm>
            <a:off x="6470000" y="4290000"/>
            <a:ext cx="2000000" cy="360000"/>
          </a:xfrm>
          <a:prstGeom prst="roundRect">
            <a:avLst>
              <a:gd name="adj" fmla="val 50000"/>
            </a:avLst>
          </a:prstGeom>
          <a:solidFill>
            <a:srgbClr val="2371FF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50" b="1">
                <a:solidFill>
                  <a:srgbClr val="FFFDF8"/>
                </a:solidFill>
                <a:latin typeface="Ubuntu"/>
              </a:rPr>
              <a:t>Recreate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604</TotalTime>
  <Words>245</Words>
  <Application>Microsoft Office PowerPoint</Application>
  <PresentationFormat>On-screen Show (16:9)</PresentationFormat>
  <Paragraphs>84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Consolas</vt:lpstr>
      <vt:lpstr>Ubuntu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Benedicto, Everton Jose (SI IT VC PES PLT)</cp:lastModifiedBy>
  <cp:revision>10</cp:revision>
  <dcterms:created xsi:type="dcterms:W3CDTF">2013-01-27T09:14:16Z</dcterms:created>
  <dcterms:modified xsi:type="dcterms:W3CDTF">2026-08-11T21:34:54Z</dcterms:modified>
  <cp:category/>
</cp:coreProperties>
</file>