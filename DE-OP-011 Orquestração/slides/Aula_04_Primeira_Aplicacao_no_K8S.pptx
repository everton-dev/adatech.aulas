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9" r:id="rId3"/>
    <p:sldId id="280" r:id="rId4"/>
    <p:sldId id="28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3" r:id="rId20"/>
    <p:sldId id="272" r:id="rId21"/>
    <p:sldId id="277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21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aula mais gratificante até aqui: o aluno vê a própria aplicação rodando no cluster. Prepare o ambiente com Docker e conta no Docker Hub prontos.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Fluxo completo do dia: código → imagem → registry → deploy → verificação → atualização/reversão. É o ciclo real de trabalho de quem entrega software em K8S.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Cheque com a turma um a um. Quem não tem conta no Docker Hub, criar agora (plano Personal, gratuito). Sem imagem publicada, o K8S não consegue baixá-la.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Contextualize por que precisamos de um registro de imagens.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Analogia: a imagem é um 'app' e o registry é a 'loja de apps'. O node do cluster vai à loja (Docker Hub) e baixa. Por isso a imagem tem que estar publicada — não basta existir na sua máquina. Erro clássico de iniciante.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Aplicação simples de propósito: um loop que imprime 'Hello world!' a cada segundo. O foco é o fluxo K8S, não o código. Explique cada instrução do Dockerfile: FROM (base), COPY, WORKDIR, CMD. Reforce: o arquivo TEM que se chamar 'Dockerfile' para o build encontrá-lo.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Faça o build ao vivo e narre as camadas (layers) sendo criadas. Explique a tag &lt;username&gt;/nome:versão — o username é obrigatório para push no Docker Hub. Depois do push, abra o site do Docker Hub e mostre a imagem lá. Reforce a boa prática de VERSIONAR a imagem (1.0, 1.1...) em vez de usar só 'latest'.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Agora unimos tudo: a imagem publicada vira um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Retome os conceitos da aula 3: labels, selector, template, réplicas. Destaque 'namespace: aplicacao' — vamos criá-lo antes. Lembre de trocar a imagem pelo usuário de cada aluno. São 3 réplicas: o Deployment garante os 3 Pods sempre no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Aplique ao vivo. Em 'get pods' o aluno vê os 3 Pods com nomes '&lt;deploy&gt;-&lt;hash&gt;-&lt;hash&gt;' subindo (ContainerCreating → Running). Nos logs aparece 'Hello world!' repetindo. Momento de comemoração: 'sua primeira aplicação no Kubernetes está no ar!'. Mostre que se você deletar um pod ('kubectl delete pod'), o Deployment recria — self-healing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Recurso que salva o dia em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que o K8S guarda o histórico de revisões do Deployment. Cada 'apply' que muda o template gera uma nova revisão. Isso é o que torna o rollback possível. Mostre 'rollout status -w' (o -w = watch, acompanha ao vivo).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o clímax da aula. Ao apontar para imagem inexistente, o novo pod fica em ImagePullBackOff (não consegue baixar a imagem) — conecte com os status da aula 3. Note que os pods ANTIGOS continuam no ar (o RollingUpdate protege!). Então 'rollout undo' reverte e o pod problemático some. Mensagem-chave: em produção, rollback é sua rede de segurança. Mostre também 'undo --to-revision=N'.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Feche celebrando: eles fizeram um ciclo real de entrega. Na próxima aula vamos deixar isso mais sofisticado com estratégias de deploy (blue/green, canary), taints/tolerations e limites de recursos. Peça leitura do material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  <p:pic>
        <p:nvPicPr>
          <p:cNvPr id="3" name="Picture 2" descr="ada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ada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7196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737360"/>
            <a:ext cx="146304" cy="14630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Ubuntu"/>
              </a:rPr>
              <a:t>Primeira Aplicação no K8S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50E550"/>
                </a:solidFill>
                <a:latin typeface="Lato"/>
              </a:rPr>
              <a:t>Do Dockerfile ao Deployment, com Rollout e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DF8"/>
                </a:solidFill>
                <a:latin typeface="Lato"/>
              </a:rPr>
              <a:t>Ada · DE-OP-011 Orquestração · Kubernetes  |  Aula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ard 01"/>
          <p:cNvSpPr/>
          <p:nvPr/>
        </p:nvSpPr>
        <p:spPr>
          <a:xfrm>
            <a:off x="365760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17/07 · Sexta</a:t>
            </a:r>
          </a:p>
          <a:p>
            <a:r>
              <a:rPr lang="pt-PT" sz="1100" b="1" dirty="0">
                <a:solidFill>
                  <a:srgbClr val="181C23"/>
                </a:solidFill>
                <a:latin typeface="Lato"/>
              </a:rPr>
              <a:t>Conhecendo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o Kubernetes</a:t>
            </a:r>
          </a:p>
        </p:txBody>
      </p:sp>
      <p:sp>
        <p:nvSpPr>
          <p:cNvPr id="101" name="Card 02"/>
          <p:cNvSpPr/>
          <p:nvPr/>
        </p:nvSpPr>
        <p:spPr>
          <a:xfrm>
            <a:off x="3236586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20/07 · Segunda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Mão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na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Massa: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kubectl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2" name="Card 03"/>
          <p:cNvSpPr/>
          <p:nvPr/>
        </p:nvSpPr>
        <p:spPr>
          <a:xfrm>
            <a:off x="6107412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>
                  <a:shade val="30000"/>
                  <a:satMod val="115000"/>
                </a:srgbClr>
              </a:gs>
              <a:gs pos="50000">
                <a:srgbClr val="FFFFFF">
                  <a:shade val="675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22/07 · Quarta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Pods, Namespaces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Controladores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3" name="Card 04"/>
          <p:cNvSpPr/>
          <p:nvPr/>
        </p:nvSpPr>
        <p:spPr>
          <a:xfrm>
            <a:off x="365760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04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24/07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Primeira Aplicação no K8S</a:t>
            </a:r>
          </a:p>
        </p:txBody>
      </p:sp>
      <p:sp>
        <p:nvSpPr>
          <p:cNvPr id="104" name="Card 05"/>
          <p:cNvSpPr/>
          <p:nvPr/>
        </p:nvSpPr>
        <p:spPr>
          <a:xfrm>
            <a:off x="3236586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27/07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Estratégias de Deploy e Limitação de Recursos</a:t>
            </a:r>
          </a:p>
        </p:txBody>
      </p:sp>
      <p:sp>
        <p:nvSpPr>
          <p:cNvPr id="105" name="Card 06"/>
          <p:cNvSpPr/>
          <p:nvPr/>
        </p:nvSpPr>
        <p:spPr>
          <a:xfrm>
            <a:off x="6107412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06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29/07 · Quarta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Services, Ingress e Volumes</a:t>
            </a:r>
          </a:p>
        </p:txBody>
      </p:sp>
      <p:sp>
        <p:nvSpPr>
          <p:cNvPr id="106" name="Card 07"/>
          <p:cNvSpPr/>
          <p:nvPr/>
        </p:nvSpPr>
        <p:spPr>
          <a:xfrm>
            <a:off x="365760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07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31/07 · Sexta</a:t>
            </a:r>
          </a:p>
          <a:p>
            <a:r>
              <a:rPr sz="1100" b="1" dirty="0" err="1">
                <a:solidFill>
                  <a:srgbClr val="181C23"/>
                </a:solidFill>
                <a:latin typeface="Lato"/>
              </a:rPr>
              <a:t>Componentes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e Troubleshooting</a:t>
            </a:r>
          </a:p>
        </p:txBody>
      </p:sp>
      <p:sp>
        <p:nvSpPr>
          <p:cNvPr id="107" name="Card 08"/>
          <p:cNvSpPr/>
          <p:nvPr/>
        </p:nvSpPr>
        <p:spPr>
          <a:xfrm>
            <a:off x="3236586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08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03/08 · Segunda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Cluster Multi-Master</a:t>
            </a:r>
          </a:p>
        </p:txBody>
      </p:sp>
      <p:sp>
        <p:nvSpPr>
          <p:cNvPr id="108" name="Card 09"/>
          <p:cNvSpPr/>
          <p:nvPr/>
        </p:nvSpPr>
        <p:spPr>
          <a:xfrm>
            <a:off x="6107412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09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05/08 · Quarta</a:t>
            </a:r>
          </a:p>
          <a:p>
            <a:r>
              <a:rPr sz="1100" b="1" dirty="0" err="1">
                <a:solidFill>
                  <a:srgbClr val="181C23"/>
                </a:solidFill>
                <a:latin typeface="Lato"/>
              </a:rPr>
              <a:t>Concluir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atividades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do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módulo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preencher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rubricas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Cronograma</a:t>
            </a:r>
            <a:r>
              <a:rPr sz="750" dirty="0">
                <a:solidFill>
                  <a:srgbClr val="5A5E66"/>
                </a:solidFill>
                <a:latin typeface="Lato"/>
              </a:rPr>
              <a:t> do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módulo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5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COMBINADO DA TURMA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60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Por favor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2900000" cy="3630000"/>
          </a:xfrm>
          <a:prstGeom prst="roundRect">
            <a:avLst>
              <a:gd name="adj" fmla="val 6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290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Bora participar!</a:t>
            </a:r>
          </a:p>
        </p:txBody>
      </p:sp>
      <p:pic>
        <p:nvPicPr>
          <p:cNvPr id="12" name="VideoCon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0" y="1720000"/>
            <a:ext cx="1150000" cy="1150000"/>
          </a:xfrm>
          <a:prstGeom prst="rect">
            <a:avLst/>
          </a:prstGeom>
        </p:spPr>
      </p:pic>
      <p:pic>
        <p:nvPicPr>
          <p:cNvPr id="13" name="Raise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000" y="1720000"/>
            <a:ext cx="1150000" cy="1150000"/>
          </a:xfrm>
          <a:prstGeom prst="rect">
            <a:avLst/>
          </a:prstGeom>
        </p:spPr>
      </p:pic>
      <p:sp>
        <p:nvSpPr>
          <p:cNvPr id="14" name="LeftCaption"/>
          <p:cNvSpPr txBox="1"/>
          <p:nvPr/>
        </p:nvSpPr>
        <p:spPr>
          <a:xfrm>
            <a:off x="420000" y="2980000"/>
            <a:ext cx="2660000" cy="7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sz="1250" b="1">
                <a:solidFill>
                  <a:srgbClr val="FFFDF8"/>
                </a:solidFill>
                <a:latin typeface="Ubuntu"/>
              </a:rPr>
              <a:t>Câmera ligada + mão levantada </a:t>
            </a:r>
            <a:r>
              <a:rPr sz="1250" b="1">
                <a:solidFill>
                  <a:srgbClr val="A6F750"/>
                </a:solidFill>
                <a:latin typeface="Ubuntu"/>
              </a:rPr>
              <a:t>= aula top!</a:t>
            </a:r>
          </a:p>
        </p:txBody>
      </p:sp>
      <p:sp>
        <p:nvSpPr>
          <p:cNvPr id="15" name="IntervalBadge"/>
          <p:cNvSpPr/>
          <p:nvPr/>
        </p:nvSpPr>
        <p:spPr>
          <a:xfrm>
            <a:off x="500000" y="4150000"/>
            <a:ext cx="2500000" cy="560000"/>
          </a:xfrm>
          <a:prstGeom prst="roundRect">
            <a:avLst>
              <a:gd name="adj" fmla="val 28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spc="150" dirty="0">
                <a:solidFill>
                  <a:srgbClr val="1E232E"/>
                </a:solidFill>
                <a:latin typeface="Ubuntu"/>
              </a:rPr>
              <a:t>INTERVALO</a:t>
            </a:r>
            <a:r>
              <a:rPr sz="1000" b="1" dirty="0">
                <a:solidFill>
                  <a:srgbClr val="1E232E"/>
                </a:solidFill>
                <a:latin typeface="Ubuntu"/>
              </a:rPr>
              <a:t>  •  16:30 BRT</a:t>
            </a:r>
          </a:p>
        </p:txBody>
      </p:sp>
      <p:sp>
        <p:nvSpPr>
          <p:cNvPr id="20" name="RightCard"/>
          <p:cNvSpPr/>
          <p:nvPr/>
        </p:nvSpPr>
        <p:spPr>
          <a:xfrm>
            <a:off x="3400000" y="1250000"/>
            <a:ext cx="544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400000" y="1250000"/>
            <a:ext cx="544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Combinados da nossa aula</a:t>
            </a:r>
          </a:p>
        </p:txBody>
      </p:sp>
      <p:sp>
        <p:nvSpPr>
          <p:cNvPr id="30" name="M1"/>
          <p:cNvSpPr/>
          <p:nvPr/>
        </p:nvSpPr>
        <p:spPr>
          <a:xfrm>
            <a:off x="3620000" y="173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1</a:t>
            </a:r>
          </a:p>
        </p:txBody>
      </p:sp>
      <p:sp>
        <p:nvSpPr>
          <p:cNvPr id="31" name="T1"/>
          <p:cNvSpPr txBox="1"/>
          <p:nvPr/>
        </p:nvSpPr>
        <p:spPr>
          <a:xfrm>
            <a:off x="4160000" y="171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Câmeras ligadas.</a:t>
            </a:r>
          </a:p>
        </p:txBody>
      </p:sp>
      <p:sp>
        <p:nvSpPr>
          <p:cNvPr id="32" name="M2"/>
          <p:cNvSpPr/>
          <p:nvPr/>
        </p:nvSpPr>
        <p:spPr>
          <a:xfrm>
            <a:off x="3620000" y="235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2</a:t>
            </a:r>
          </a:p>
        </p:txBody>
      </p:sp>
      <p:sp>
        <p:nvSpPr>
          <p:cNvPr id="33" name="T2"/>
          <p:cNvSpPr txBox="1"/>
          <p:nvPr/>
        </p:nvSpPr>
        <p:spPr>
          <a:xfrm>
            <a:off x="4160000" y="233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Entrem </a:t>
            </a:r>
            <a:r>
              <a:rPr sz="1400" b="1">
                <a:solidFill>
                  <a:srgbClr val="A6F750"/>
                </a:solidFill>
                <a:latin typeface="Ubuntu"/>
              </a:rPr>
              <a:t>no horário</a:t>
            </a:r>
            <a:r>
              <a:rPr sz="1400" b="1">
                <a:solidFill>
                  <a:srgbClr val="FFFDF8"/>
                </a:solidFill>
                <a:latin typeface="Ubuntu"/>
              </a:rPr>
              <a:t>: início e intervalo.</a:t>
            </a:r>
          </a:p>
        </p:txBody>
      </p:sp>
      <p:sp>
        <p:nvSpPr>
          <p:cNvPr id="34" name="M3"/>
          <p:cNvSpPr/>
          <p:nvPr/>
        </p:nvSpPr>
        <p:spPr>
          <a:xfrm>
            <a:off x="3620000" y="297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3</a:t>
            </a:r>
          </a:p>
        </p:txBody>
      </p:sp>
      <p:sp>
        <p:nvSpPr>
          <p:cNvPr id="35" name="T3"/>
          <p:cNvSpPr txBox="1"/>
          <p:nvPr/>
        </p:nvSpPr>
        <p:spPr>
          <a:xfrm>
            <a:off x="4160000" y="295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Participem da aula.</a:t>
            </a:r>
          </a:p>
        </p:txBody>
      </p:sp>
      <p:sp>
        <p:nvSpPr>
          <p:cNvPr id="36" name="M4"/>
          <p:cNvSpPr/>
          <p:nvPr/>
        </p:nvSpPr>
        <p:spPr>
          <a:xfrm>
            <a:off x="3620000" y="359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4</a:t>
            </a:r>
          </a:p>
        </p:txBody>
      </p:sp>
      <p:sp>
        <p:nvSpPr>
          <p:cNvPr id="37" name="T4"/>
          <p:cNvSpPr txBox="1"/>
          <p:nvPr/>
        </p:nvSpPr>
        <p:spPr>
          <a:xfrm>
            <a:off x="4160000" y="357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Tirem dúvidas.</a:t>
            </a:r>
          </a:p>
        </p:txBody>
      </p:sp>
      <p:sp>
        <p:nvSpPr>
          <p:cNvPr id="38" name="M5"/>
          <p:cNvSpPr/>
          <p:nvPr/>
        </p:nvSpPr>
        <p:spPr>
          <a:xfrm>
            <a:off x="3620000" y="421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5</a:t>
            </a:r>
          </a:p>
        </p:txBody>
      </p:sp>
      <p:sp>
        <p:nvSpPr>
          <p:cNvPr id="39" name="T5"/>
          <p:cNvSpPr txBox="1"/>
          <p:nvPr/>
        </p:nvSpPr>
        <p:spPr>
          <a:xfrm>
            <a:off x="4160000" y="419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A6F750"/>
                </a:solidFill>
                <a:latin typeface="Ubuntu"/>
              </a:rPr>
              <a:t>Levantem a mão</a:t>
            </a:r>
            <a:r>
              <a:rPr sz="1400" b="1">
                <a:solidFill>
                  <a:srgbClr val="FFFDF8"/>
                </a:solidFill>
                <a:latin typeface="Ubuntu"/>
              </a:rPr>
              <a:t> para tirar dúvidas.</a:t>
            </a:r>
          </a:p>
        </p:txBody>
      </p:sp>
      <p:pic>
        <p:nvPicPr>
          <p:cNvPr id="6" name="Picture 5" descr="ada_symbol.png">
            <a:extLst>
              <a:ext uri="{FF2B5EF4-FFF2-40B4-BE49-F238E27FC236}">
                <a16:creationId xmlns:a16="http://schemas.microsoft.com/office/drawing/2014/main" id="{EC4A71FF-BDBE-5989-C850-158BFCDE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6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TRABALHO FINAL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85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Entrega Final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3450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345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desafio</a:t>
            </a:r>
          </a:p>
        </p:txBody>
      </p:sp>
      <p:sp>
        <p:nvSpPr>
          <p:cNvPr id="12" name="LeftBody"/>
          <p:cNvSpPr txBox="1"/>
          <p:nvPr/>
        </p:nvSpPr>
        <p:spPr>
          <a:xfrm>
            <a:off x="480000" y="1660000"/>
            <a:ext cx="3120000" cy="1650000"/>
          </a:xfrm>
          <a:prstGeom prst="rect">
            <a:avLst/>
          </a:prstGeom>
          <a:noFill/>
        </p:spPr>
        <p:txBody>
          <a:bodyPr rtlCol="0"/>
          <a:lstStyle/>
          <a:p>
            <a:pPr marL="180000" indent="-180000">
              <a:buFont typeface="Arial"/>
              <a:buChar char="•"/>
            </a:pPr>
            <a:r>
              <a:rPr sz="1150" b="1">
                <a:solidFill>
                  <a:srgbClr val="FFFDF8"/>
                </a:solidFill>
                <a:latin typeface="Ubuntu"/>
              </a:rPr>
              <a:t>Suba no </a:t>
            </a:r>
            <a:r>
              <a:rPr sz="1150" b="1">
                <a:solidFill>
                  <a:srgbClr val="A6F750"/>
                </a:solidFill>
                <a:latin typeface="Ubuntu"/>
              </a:rPr>
              <a:t>minikube</a:t>
            </a:r>
            <a:r>
              <a:rPr sz="1150" b="1">
                <a:solidFill>
                  <a:srgbClr val="FFFDF8"/>
                </a:solidFill>
                <a:latin typeface="Ubuntu"/>
              </a:rPr>
              <a:t> um Pod com uma API e um Banco de Dados à sua escolha.</a:t>
            </a:r>
          </a:p>
          <a:p>
            <a:pPr marL="180000" indent="-180000">
              <a:spcBef>
                <a:spcPts val="700"/>
              </a:spcBef>
              <a:buFont typeface="Arial"/>
              <a:buChar char="•"/>
            </a:pPr>
            <a:r>
              <a:rPr sz="1150" b="1">
                <a:solidFill>
                  <a:srgbClr val="FFFDF8"/>
                </a:solidFill>
                <a:latin typeface="Ubuntu"/>
              </a:rPr>
              <a:t>A API deve fazer um </a:t>
            </a:r>
            <a:r>
              <a:rPr sz="1150" b="1">
                <a:solidFill>
                  <a:srgbClr val="A6F750"/>
                </a:solidFill>
                <a:latin typeface="Ubuntu"/>
              </a:rPr>
              <a:t>CRUD para produtos</a:t>
            </a:r>
            <a:r>
              <a:rPr sz="1150" b="1">
                <a:solidFill>
                  <a:srgbClr val="FFFDF8"/>
                </a:solidFill>
                <a:latin typeface="Ubuntu"/>
              </a:rPr>
              <a:t>.</a:t>
            </a:r>
          </a:p>
        </p:txBody>
      </p:sp>
      <p:sp>
        <p:nvSpPr>
          <p:cNvPr id="13" name="TableSpec"/>
          <p:cNvSpPr/>
          <p:nvPr/>
        </p:nvSpPr>
        <p:spPr>
          <a:xfrm>
            <a:off x="480000" y="3380000"/>
            <a:ext cx="3090000" cy="1330000"/>
          </a:xfrm>
          <a:prstGeom prst="roundRect">
            <a:avLst>
              <a:gd name="adj" fmla="val 8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 lIns="150000" tIns="120000" rIns="120000" rtlCol="0" anchor="t"/>
          <a:lstStyle/>
          <a:p>
            <a:pPr algn="l"/>
            <a:r>
              <a:rPr sz="1000" b="1" spc="150">
                <a:solidFill>
                  <a:srgbClr val="8A93A3"/>
                </a:solidFill>
                <a:latin typeface="Ubuntu"/>
              </a:rPr>
              <a:t>TABELA </a:t>
            </a:r>
            <a:r>
              <a:rPr sz="1000" b="1" spc="150">
                <a:solidFill>
                  <a:srgbClr val="A6F750"/>
                </a:solidFill>
                <a:latin typeface="Consolas"/>
              </a:rPr>
              <a:t>produtos</a:t>
            </a:r>
          </a:p>
          <a:p>
            <a:pPr algn="l">
              <a:spcBef>
                <a:spcPts val="7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Id</a:t>
            </a:r>
            <a:r>
              <a:rPr sz="1150">
                <a:solidFill>
                  <a:srgbClr val="8A93A3"/>
                </a:solidFill>
                <a:latin typeface="Consolas"/>
              </a:rPr>
              <a:t>  —  INT</a:t>
            </a:r>
          </a:p>
          <a:p>
            <a:pPr algn="l">
              <a:spcBef>
                <a:spcPts val="5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Nome</a:t>
            </a:r>
            <a:r>
              <a:rPr sz="1150">
                <a:solidFill>
                  <a:srgbClr val="8A93A3"/>
                </a:solidFill>
                <a:latin typeface="Consolas"/>
              </a:rPr>
              <a:t>  —  VARCHAR(50)</a:t>
            </a:r>
          </a:p>
        </p:txBody>
      </p:sp>
      <p:sp>
        <p:nvSpPr>
          <p:cNvPr id="20" name="RightCard"/>
          <p:cNvSpPr/>
          <p:nvPr/>
        </p:nvSpPr>
        <p:spPr>
          <a:xfrm>
            <a:off x="3950000" y="1250000"/>
            <a:ext cx="489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950000" y="1250000"/>
            <a:ext cx="489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que significa CRUD</a:t>
            </a:r>
          </a:p>
        </p:txBody>
      </p:sp>
      <p:sp>
        <p:nvSpPr>
          <p:cNvPr id="30" name="Mc"/>
          <p:cNvSpPr/>
          <p:nvPr/>
        </p:nvSpPr>
        <p:spPr>
          <a:xfrm>
            <a:off x="4150000" y="173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C</a:t>
            </a:r>
          </a:p>
        </p:txBody>
      </p:sp>
      <p:sp>
        <p:nvSpPr>
          <p:cNvPr id="31" name="Tc"/>
          <p:cNvSpPr txBox="1"/>
          <p:nvPr/>
        </p:nvSpPr>
        <p:spPr>
          <a:xfrm>
            <a:off x="4640000" y="171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Create </a:t>
            </a:r>
            <a:r>
              <a:rPr sz="1100">
                <a:solidFill>
                  <a:srgbClr val="8A93A3"/>
                </a:solidFill>
                <a:latin typeface="Ubuntu"/>
              </a:rPr>
              <a:t>— Criar</a:t>
            </a:r>
          </a:p>
        </p:txBody>
      </p:sp>
      <p:sp>
        <p:nvSpPr>
          <p:cNvPr id="32" name="Mr"/>
          <p:cNvSpPr/>
          <p:nvPr/>
        </p:nvSpPr>
        <p:spPr>
          <a:xfrm>
            <a:off x="4150000" y="227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R</a:t>
            </a:r>
          </a:p>
        </p:txBody>
      </p:sp>
      <p:sp>
        <p:nvSpPr>
          <p:cNvPr id="33" name="Tr"/>
          <p:cNvSpPr txBox="1"/>
          <p:nvPr/>
        </p:nvSpPr>
        <p:spPr>
          <a:xfrm>
            <a:off x="4640000" y="225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Read </a:t>
            </a:r>
            <a:r>
              <a:rPr sz="1100">
                <a:solidFill>
                  <a:srgbClr val="8A93A3"/>
                </a:solidFill>
                <a:latin typeface="Ubuntu"/>
              </a:rPr>
              <a:t>— Ler</a:t>
            </a:r>
          </a:p>
        </p:txBody>
      </p:sp>
      <p:sp>
        <p:nvSpPr>
          <p:cNvPr id="34" name="Mu"/>
          <p:cNvSpPr/>
          <p:nvPr/>
        </p:nvSpPr>
        <p:spPr>
          <a:xfrm>
            <a:off x="4150000" y="281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U</a:t>
            </a:r>
          </a:p>
        </p:txBody>
      </p:sp>
      <p:sp>
        <p:nvSpPr>
          <p:cNvPr id="35" name="Tu"/>
          <p:cNvSpPr txBox="1"/>
          <p:nvPr/>
        </p:nvSpPr>
        <p:spPr>
          <a:xfrm>
            <a:off x="4640000" y="279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Update </a:t>
            </a:r>
            <a:r>
              <a:rPr sz="1100">
                <a:solidFill>
                  <a:srgbClr val="8A93A3"/>
                </a:solidFill>
                <a:latin typeface="Ubuntu"/>
              </a:rPr>
              <a:t>— Atualizar</a:t>
            </a:r>
          </a:p>
        </p:txBody>
      </p:sp>
      <p:sp>
        <p:nvSpPr>
          <p:cNvPr id="36" name="Md"/>
          <p:cNvSpPr/>
          <p:nvPr/>
        </p:nvSpPr>
        <p:spPr>
          <a:xfrm>
            <a:off x="4150000" y="335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D</a:t>
            </a:r>
          </a:p>
        </p:txBody>
      </p:sp>
      <p:sp>
        <p:nvSpPr>
          <p:cNvPr id="37" name="Td"/>
          <p:cNvSpPr txBox="1"/>
          <p:nvPr/>
        </p:nvSpPr>
        <p:spPr>
          <a:xfrm>
            <a:off x="4640000" y="333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Delete </a:t>
            </a:r>
            <a:r>
              <a:rPr sz="1100">
                <a:solidFill>
                  <a:srgbClr val="8A93A3"/>
                </a:solidFill>
                <a:latin typeface="Ubuntu"/>
              </a:rPr>
              <a:t>— Excluir</a:t>
            </a:r>
          </a:p>
        </p:txBody>
      </p:sp>
      <p:sp>
        <p:nvSpPr>
          <p:cNvPr id="40" name="DeployStrip"/>
          <p:cNvSpPr/>
          <p:nvPr/>
        </p:nvSpPr>
        <p:spPr>
          <a:xfrm>
            <a:off x="4150000" y="3900000"/>
            <a:ext cx="4494000" cy="820000"/>
          </a:xfrm>
          <a:prstGeom prst="roundRect">
            <a:avLst>
              <a:gd name="adj" fmla="val 10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DeployLabel"/>
          <p:cNvSpPr txBox="1"/>
          <p:nvPr/>
        </p:nvSpPr>
        <p:spPr>
          <a:xfrm>
            <a:off x="4320000" y="3990000"/>
            <a:ext cx="4200000" cy="26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000" b="1">
                <a:solidFill>
                  <a:srgbClr val="FFFDF8"/>
                </a:solidFill>
                <a:latin typeface="Ubuntu"/>
              </a:rPr>
              <a:t>Atualize a versão do Pod de forma </a:t>
            </a:r>
            <a:r>
              <a:rPr sz="1000" b="1">
                <a:solidFill>
                  <a:srgbClr val="A6F750"/>
                </a:solidFill>
                <a:latin typeface="Ubuntu"/>
              </a:rPr>
              <a:t>declarativa</a:t>
            </a:r>
            <a:r>
              <a:rPr sz="1000" b="1">
                <a:solidFill>
                  <a:srgbClr val="FFFDF8"/>
                </a:solidFill>
                <a:latin typeface="Ubuntu"/>
              </a:rPr>
              <a:t>, demonstrando:</a:t>
            </a:r>
          </a:p>
        </p:txBody>
      </p:sp>
      <p:sp>
        <p:nvSpPr>
          <p:cNvPr id="42" name="PillRolling"/>
          <p:cNvSpPr/>
          <p:nvPr/>
        </p:nvSpPr>
        <p:spPr>
          <a:xfrm>
            <a:off x="432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1E232E"/>
                </a:solidFill>
                <a:latin typeface="Ubuntu"/>
              </a:rPr>
              <a:t>Rolling Update</a:t>
            </a:r>
          </a:p>
        </p:txBody>
      </p:sp>
      <p:sp>
        <p:nvSpPr>
          <p:cNvPr id="43" name="PillRecreate"/>
          <p:cNvSpPr/>
          <p:nvPr/>
        </p:nvSpPr>
        <p:spPr>
          <a:xfrm>
            <a:off x="647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FFFDF8"/>
                </a:solidFill>
                <a:latin typeface="Ubuntu"/>
              </a:rPr>
              <a:t>Recreate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Objetivos de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Entender o papel do Docker Hub no fluxo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Construir uma imagem Docker e publicá-la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Fazer deploy da aplicação via Deployment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Verificar Pods e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Dominar Rollout e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Pré-requisitos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Docker instalado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kubectl e Minikube (das aulas anteriores)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Conta no Docker Hub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Cluster Minikube rodando (minikube start)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1. Docker Hub e a imagem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Onde as imagens ficam guardadas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Por que precisamos de um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O K8S precisa BAIXAR a imagem para rodar o container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 imagem precisa estar em um repositório acessível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Docker Hub: registro público gratuito de imagens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Alternativas: ECR (AWS), GCR, Azure ACR, registries privados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 aplicação e o Dockerfile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371FF"/>
                </a:solidFill>
                <a:latin typeface="Lato"/>
              </a:rPr>
              <a:t>app.rb (loga Hello World) + Dockerfile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>
                <a:solidFill>
                  <a:srgbClr val="50E550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app.rb</a:t>
            </a:r>
            <a:endParaRPr sz="1100" dirty="0">
              <a:solidFill>
                <a:srgbClr val="50E550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loop do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puts 'Hello world!'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STDOUT.flush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sleep 1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end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Dockerfile</a:t>
            </a:r>
            <a:endParaRPr sz="1100" dirty="0">
              <a:solidFill>
                <a:srgbClr val="50E550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FROM 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ruby:3.4.10-alpine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  #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imagem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base com Ruby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COPY . /app            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   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copia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o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código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para /app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WORKDIR /app           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   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# define o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diretório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de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trabalho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CMD ["ruby", "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app.rb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"]  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comando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executado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ao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subir</a:t>
            </a:r>
            <a:endParaRPr sz="1100" dirty="0">
              <a:solidFill>
                <a:srgbClr val="ECEDF3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Build e push da imagem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Autentique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no Docker Hub: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docker login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Construa</a:t>
            </a:r>
            <a:r>
              <a:rPr sz="1300" dirty="0">
                <a:solidFill>
                  <a:srgbClr val="181C23"/>
                </a:solidFill>
                <a:latin typeface="Lato"/>
              </a:rPr>
              <a:t> 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imagem</a:t>
            </a:r>
            <a:r>
              <a:rPr sz="1300" dirty="0">
                <a:solidFill>
                  <a:srgbClr val="181C23"/>
                </a:solidFill>
                <a:latin typeface="Lato"/>
              </a:rPr>
              <a:t> (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troque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&lt;username&gt;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pelo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seu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usuário</a:t>
            </a:r>
            <a:r>
              <a:rPr sz="1300" dirty="0">
                <a:solidFill>
                  <a:srgbClr val="181C23"/>
                </a:solidFill>
                <a:latin typeface="Lato"/>
              </a:rPr>
              <a:t>):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docker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build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. -f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app.dockerfile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-t &lt;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username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&gt;/primeira-aplicacao:1.0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Publique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imagem</a:t>
            </a:r>
            <a:r>
              <a:rPr sz="1300" dirty="0">
                <a:solidFill>
                  <a:srgbClr val="181C23"/>
                </a:solidFill>
                <a:latin typeface="Lato"/>
              </a:rPr>
              <a:t> no Docker Hub: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docker push &lt;username&gt;/primeira-aplicacao:1.0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Build e push da imagem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91740" y="4500788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5598E9-C264-538C-8B54-F385FFD91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292" y="731901"/>
            <a:ext cx="6886575" cy="895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5F61F5-19F4-8379-94ED-FFB79923E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626" y="1703785"/>
            <a:ext cx="4902748" cy="28099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5E3C40C-D75A-A5F1-F8F6-7773F71CA934}"/>
              </a:ext>
            </a:extLst>
          </p:cNvPr>
          <p:cNvSpPr/>
          <p:nvPr/>
        </p:nvSpPr>
        <p:spPr>
          <a:xfrm>
            <a:off x="2491740" y="858982"/>
            <a:ext cx="542405" cy="1194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0164B8-C3E5-12AA-E55E-92F240086ACB}"/>
              </a:ext>
            </a:extLst>
          </p:cNvPr>
          <p:cNvSpPr/>
          <p:nvPr/>
        </p:nvSpPr>
        <p:spPr>
          <a:xfrm>
            <a:off x="2625436" y="1717639"/>
            <a:ext cx="256309" cy="50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2127A1-1B6C-B18D-D33F-A882F8E8C847}"/>
              </a:ext>
            </a:extLst>
          </p:cNvPr>
          <p:cNvSpPr/>
          <p:nvPr/>
        </p:nvSpPr>
        <p:spPr>
          <a:xfrm>
            <a:off x="2635827" y="3782338"/>
            <a:ext cx="256309" cy="50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Build e push da imagem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144" y="4590288"/>
            <a:ext cx="75522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3F82A5-C0BF-6102-4F0A-692C6C29A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145" y="699968"/>
            <a:ext cx="7552259" cy="38903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2. Deploy no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Colocando a aplicação no ar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Manifesto do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 dirty="0" err="1">
                <a:solidFill>
                  <a:srgbClr val="2371FF"/>
                </a:solidFill>
                <a:latin typeface="Lato"/>
              </a:rPr>
              <a:t>primeira-aplicacao.yaml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 — 3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réplicas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 no namespace '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aplicacao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95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sz="950" dirty="0">
                <a:solidFill>
                  <a:srgbClr val="ECEDF3"/>
                </a:solidFill>
                <a:latin typeface="Consolas"/>
              </a:rPr>
              <a:t>: apps/v1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kind: Deployment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metadata: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name: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primeira-aplicacao</a:t>
            </a:r>
            <a:endParaRPr sz="950" dirty="0">
              <a:solidFill>
                <a:srgbClr val="ECEDF3"/>
              </a:solidFill>
              <a:latin typeface="Consolas"/>
            </a:endParaRP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namespace: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aplicacao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     # namespace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dedicado</a:t>
            </a:r>
            <a:endParaRPr sz="950" dirty="0">
              <a:solidFill>
                <a:srgbClr val="ECEDF3"/>
              </a:solidFill>
              <a:latin typeface="Consolas"/>
            </a:endParaRP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labels: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app: ruby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spec: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replicas: 3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selector: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matchLabels</a:t>
            </a:r>
            <a:r>
              <a:rPr sz="95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app: ruby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template: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metadata: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labels: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  app: ruby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spec: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containers: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- name: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primeira-aplicacao</a:t>
            </a:r>
            <a:endParaRPr sz="950" dirty="0">
              <a:solidFill>
                <a:srgbClr val="ECEDF3"/>
              </a:solidFill>
              <a:latin typeface="Consolas"/>
            </a:endParaRP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  image: &lt;username&gt;/primeira-aplicacao:1.0  #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sua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imagem</a:t>
            </a:r>
            <a:endParaRPr sz="950" dirty="0">
              <a:solidFill>
                <a:srgbClr val="ECEDF3"/>
              </a:solidFill>
              <a:latin typeface="Consolas"/>
            </a:endParaRP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  ports: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  -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containerPort</a:t>
            </a:r>
            <a:r>
              <a:rPr sz="950" dirty="0">
                <a:solidFill>
                  <a:srgbClr val="ECEDF3"/>
                </a:solidFill>
                <a:latin typeface="Consolas"/>
              </a:rPr>
              <a:t>: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Aplicando e verificando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Crie</a:t>
            </a:r>
            <a:r>
              <a:rPr sz="1300" dirty="0">
                <a:solidFill>
                  <a:srgbClr val="181C23"/>
                </a:solidFill>
                <a:latin typeface="Lato"/>
              </a:rPr>
              <a:t> o namespace da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aplicação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create ns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Aplique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o Deployment: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apply -f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primeira-aplicacao.yaml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Veja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300" dirty="0">
                <a:solidFill>
                  <a:srgbClr val="181C23"/>
                </a:solidFill>
                <a:latin typeface="Lato"/>
              </a:rPr>
              <a:t> 3 Pods do namespace: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get pods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Confira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300" dirty="0">
                <a:solidFill>
                  <a:srgbClr val="181C23"/>
                </a:solidFill>
                <a:latin typeface="Lato"/>
              </a:rPr>
              <a:t> logs de um Pod (Hello world 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cada</a:t>
            </a:r>
            <a:r>
              <a:rPr sz="1300" dirty="0">
                <a:solidFill>
                  <a:srgbClr val="181C23"/>
                </a:solidFill>
                <a:latin typeface="Lato"/>
              </a:rPr>
              <a:t> 1s):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logs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&lt;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nome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-do-pod&gt;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Aplicando e verificando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23160" y="4493307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26431B-99AB-63E5-4AA5-E13800689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501" y="1038812"/>
            <a:ext cx="6862157" cy="7577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CC1F8E-B358-2652-9C88-59B7B74C6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501" y="1785059"/>
            <a:ext cx="6862157" cy="27082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32FDC9-DD31-8F4D-5075-5BA07C92242F}"/>
              </a:ext>
            </a:extLst>
          </p:cNvPr>
          <p:cNvSpPr/>
          <p:nvPr/>
        </p:nvSpPr>
        <p:spPr>
          <a:xfrm>
            <a:off x="2019299" y="1052945"/>
            <a:ext cx="403861" cy="1124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3CEB6E-4839-17E1-3C3A-6BD8CE23997B}"/>
              </a:ext>
            </a:extLst>
          </p:cNvPr>
          <p:cNvSpPr/>
          <p:nvPr/>
        </p:nvSpPr>
        <p:spPr>
          <a:xfrm>
            <a:off x="2019299" y="1261594"/>
            <a:ext cx="403861" cy="1124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F719E4-88F0-3C79-9BCE-D3757E6EB19F}"/>
              </a:ext>
            </a:extLst>
          </p:cNvPr>
          <p:cNvSpPr/>
          <p:nvPr/>
        </p:nvSpPr>
        <p:spPr>
          <a:xfrm>
            <a:off x="2019299" y="1372707"/>
            <a:ext cx="403861" cy="1124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EFB331-CC7C-DA1D-A5AA-FA3005E7FF46}"/>
              </a:ext>
            </a:extLst>
          </p:cNvPr>
          <p:cNvSpPr/>
          <p:nvPr/>
        </p:nvSpPr>
        <p:spPr>
          <a:xfrm>
            <a:off x="2019298" y="1580011"/>
            <a:ext cx="403861" cy="1124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170694-40FB-293F-5A14-90160FA6BDDA}"/>
              </a:ext>
            </a:extLst>
          </p:cNvPr>
          <p:cNvSpPr/>
          <p:nvPr/>
        </p:nvSpPr>
        <p:spPr>
          <a:xfrm>
            <a:off x="2019299" y="1795135"/>
            <a:ext cx="403861" cy="1124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6F7403-7C94-F333-1697-77A23F1F87EB}"/>
              </a:ext>
            </a:extLst>
          </p:cNvPr>
          <p:cNvSpPr/>
          <p:nvPr/>
        </p:nvSpPr>
        <p:spPr>
          <a:xfrm>
            <a:off x="2067790" y="2337720"/>
            <a:ext cx="403861" cy="1124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3. Rollout e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Atualizar e reverter com segurança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Rollout: histórico de alterações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Toda mudança em um Deployment é um Rollout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É possível acompanhar o status em tempo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É possível consultar o histórico de revisões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kubectl rollout status / kubectl rollout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Provocando um erro e revertendo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Acompanhe</a:t>
            </a:r>
            <a:r>
              <a:rPr sz="1300" dirty="0">
                <a:solidFill>
                  <a:srgbClr val="181C23"/>
                </a:solidFill>
                <a:latin typeface="Lato"/>
              </a:rPr>
              <a:t> o status do rollout: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rollout status -w deployment/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primeira-aplicacao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Veja o histórico de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revisões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rollout history deployment/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primeira-aplicacao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Force um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erro</a:t>
            </a:r>
            <a:r>
              <a:rPr sz="1300" dirty="0">
                <a:solidFill>
                  <a:srgbClr val="181C23"/>
                </a:solidFill>
                <a:latin typeface="Lato"/>
              </a:rPr>
              <a:t>: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aponte</a:t>
            </a:r>
            <a:r>
              <a:rPr sz="1300" dirty="0">
                <a:solidFill>
                  <a:srgbClr val="181C23"/>
                </a:solidFill>
                <a:latin typeface="Lato"/>
              </a:rPr>
              <a:t> para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uma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imagem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inexistente</a:t>
            </a:r>
            <a:endParaRPr sz="13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set image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deployment/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primeira-aplicacao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primeira-aplicacao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=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usuario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/imagem-inexistente:1.0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Observe o status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ImagePullBackOff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get pods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Reverta</a:t>
            </a:r>
            <a:r>
              <a:rPr sz="1300" dirty="0">
                <a:solidFill>
                  <a:srgbClr val="181C23"/>
                </a:solidFill>
                <a:latin typeface="Lato"/>
              </a:rPr>
              <a:t> para 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versão</a:t>
            </a:r>
            <a:r>
              <a:rPr sz="1300" dirty="0">
                <a:solidFill>
                  <a:srgbClr val="181C23"/>
                </a:solidFill>
                <a:latin typeface="Lato"/>
              </a:rPr>
              <a:t> anterior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estável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rollout undo deployment/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primeira-aplicacao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300" b="1" dirty="0">
              <a:solidFill>
                <a:srgbClr val="181C23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Rollout: histórico de alterações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53837" y="471858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04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D40484-C7EA-ED78-09BF-4EF5C5424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66" y="863133"/>
            <a:ext cx="7724862" cy="39010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51A9CB-0316-F815-CBE9-38C26AEA96E9}"/>
              </a:ext>
            </a:extLst>
          </p:cNvPr>
          <p:cNvSpPr/>
          <p:nvPr/>
        </p:nvSpPr>
        <p:spPr>
          <a:xfrm>
            <a:off x="1764670" y="917725"/>
            <a:ext cx="306584" cy="745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45EDB9-683B-05A2-42ED-15B0FBEEBAB8}"/>
              </a:ext>
            </a:extLst>
          </p:cNvPr>
          <p:cNvSpPr/>
          <p:nvPr/>
        </p:nvSpPr>
        <p:spPr>
          <a:xfrm>
            <a:off x="1763778" y="1093539"/>
            <a:ext cx="306584" cy="745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CF5279-C708-88EE-3887-5338379B0BC3}"/>
              </a:ext>
            </a:extLst>
          </p:cNvPr>
          <p:cNvSpPr/>
          <p:nvPr/>
        </p:nvSpPr>
        <p:spPr>
          <a:xfrm>
            <a:off x="1763778" y="1611556"/>
            <a:ext cx="306584" cy="745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B8B048-3CF6-97EE-860C-6709C32D2F4C}"/>
              </a:ext>
            </a:extLst>
          </p:cNvPr>
          <p:cNvSpPr/>
          <p:nvPr/>
        </p:nvSpPr>
        <p:spPr>
          <a:xfrm>
            <a:off x="1764670" y="1789031"/>
            <a:ext cx="306584" cy="745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675074-AA7C-3DBE-74DA-6F47DF5F316B}"/>
              </a:ext>
            </a:extLst>
          </p:cNvPr>
          <p:cNvSpPr/>
          <p:nvPr/>
        </p:nvSpPr>
        <p:spPr>
          <a:xfrm>
            <a:off x="1763778" y="2299151"/>
            <a:ext cx="306584" cy="745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57BE10-3650-BB7B-94AA-AF3738554AFE}"/>
              </a:ext>
            </a:extLst>
          </p:cNvPr>
          <p:cNvSpPr/>
          <p:nvPr/>
        </p:nvSpPr>
        <p:spPr>
          <a:xfrm>
            <a:off x="1763778" y="2821686"/>
            <a:ext cx="306584" cy="745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7A62C8-1FB1-A8C4-6771-743384AA25F4}"/>
              </a:ext>
            </a:extLst>
          </p:cNvPr>
          <p:cNvSpPr/>
          <p:nvPr/>
        </p:nvSpPr>
        <p:spPr>
          <a:xfrm>
            <a:off x="1764670" y="3350178"/>
            <a:ext cx="306584" cy="745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97CE20-324C-4F82-44A0-36F409166715}"/>
              </a:ext>
            </a:extLst>
          </p:cNvPr>
          <p:cNvSpPr/>
          <p:nvPr/>
        </p:nvSpPr>
        <p:spPr>
          <a:xfrm>
            <a:off x="1763778" y="3548490"/>
            <a:ext cx="306584" cy="745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D897CB-AB87-4E00-5656-760C065D18FF}"/>
              </a:ext>
            </a:extLst>
          </p:cNvPr>
          <p:cNvSpPr/>
          <p:nvPr/>
        </p:nvSpPr>
        <p:spPr>
          <a:xfrm>
            <a:off x="1763778" y="3982633"/>
            <a:ext cx="306584" cy="745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3" name="Picture 2" descr="ada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3291840" cy="2225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Ubuntu"/>
              </a:rPr>
              <a:t>Recapitulando a Aula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Fluxo completo: código → imagem → Docker Hub → Deployment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Deployment mantém as réplicas no ar (self-healing)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Logs ajudam a verificar a aplicação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Rollout registra o histórico; Rollback reverte com segurança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Próxima aula: estratégias de deploy e limitação de recursos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1704</Words>
  <Application>Microsoft Office PowerPoint</Application>
  <PresentationFormat>On-screen Show (16:9)</PresentationFormat>
  <Paragraphs>204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Lato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Benedicto, Everton Jose (SI IT VC PES PLT)</dc:creator>
  <cp:keywords/>
  <dc:description>generated using python-pptx</dc:description>
  <cp:lastModifiedBy>Benedicto, Everton Jose (SI IT VC PES PLT)</cp:lastModifiedBy>
  <cp:revision>10</cp:revision>
  <dcterms:created xsi:type="dcterms:W3CDTF">2013-01-27T09:14:16Z</dcterms:created>
  <dcterms:modified xsi:type="dcterms:W3CDTF">2026-07-24T21:01:19Z</dcterms:modified>
  <cp:category/>
</cp:coreProperties>
</file>