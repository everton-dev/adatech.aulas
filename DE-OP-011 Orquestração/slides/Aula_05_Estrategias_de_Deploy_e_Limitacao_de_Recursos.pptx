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80" r:id="rId3"/>
    <p:sldId id="289" r:id="rId4"/>
    <p:sldId id="290" r:id="rId5"/>
    <p:sldId id="257" r:id="rId6"/>
    <p:sldId id="258" r:id="rId7"/>
    <p:sldId id="259" r:id="rId8"/>
    <p:sldId id="281" r:id="rId9"/>
    <p:sldId id="283" r:id="rId10"/>
    <p:sldId id="284" r:id="rId11"/>
    <p:sldId id="282" r:id="rId12"/>
    <p:sldId id="260" r:id="rId13"/>
    <p:sldId id="261" r:id="rId14"/>
    <p:sldId id="262" r:id="rId15"/>
    <p:sldId id="263" r:id="rId16"/>
    <p:sldId id="264" r:id="rId17"/>
    <p:sldId id="265" r:id="rId18"/>
    <p:sldId id="267" r:id="rId19"/>
    <p:sldId id="285" r:id="rId20"/>
    <p:sldId id="268" r:id="rId21"/>
    <p:sldId id="269" r:id="rId22"/>
    <p:sldId id="270" r:id="rId23"/>
    <p:sldId id="286" r:id="rId24"/>
    <p:sldId id="271" r:id="rId25"/>
    <p:sldId id="272" r:id="rId26"/>
    <p:sldId id="273" r:id="rId27"/>
    <p:sldId id="274" r:id="rId28"/>
    <p:sldId id="275" r:id="rId29"/>
    <p:sldId id="287" r:id="rId30"/>
    <p:sldId id="288" r:id="rId31"/>
    <p:sldId id="276" r:id="rId32"/>
    <p:sldId id="277" r:id="rId33"/>
    <p:sldId id="279" r:id="rId3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46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que separa quem 'faz deploy' de quem 'faz deploy com estratégia'. Retome o rollout/rollback da aula 4 como gancho: agora vamos controlar COMO a atualização acontece e onde os pods rodam.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Três blocos: estratégias de deploy, alocação (taints/tolerations) e recursos (requests/limits, HPA, LimitRange). Todos ligados a confiabilidade e eficiência.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 comum: atualizar sem derrubar 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uma. RollingUpdate: é o que aconteceu automaticamente na aula 4 — por isso os pods antigos ficaram no ar durante o erro. Recreate: gera downtime, mas às vezes é necessário (ex.: mudança de schema incompatível). Blue/Green e Canary exigem ferramentas extras (service mesh, ingress avançado) — explique que o K8S sozinho não faz canary sofisticado. Desenhe cada fluxo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39325-8E83-C3B8-F7FC-A66C369F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B5CCC-8668-5C5A-3CE0-FE3587E7D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C7761-09A3-89F6-AD5E-A62F57470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uma. RollingUpdate: é o que aconteceu automaticamente na aula 4 — por isso os pods antigos ficaram no ar durante o erro. Recreate: gera downtime, mas às vezes é necessário (ex.: mudança de schema incompatível). Blue/Green e Canary exigem ferramentas extras (service mesh, ingress avançado) — explique que o K8S sozinho não faz canary sofisticado. Desenhe cada fluxo no quadro.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4E2C1-9D69-5011-364E-2D7049E29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2244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D4E7E-6415-DC97-7B00-E520D5634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43A88-946C-1A7E-321E-B84AA5C62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62B7F-0EEC-F345-6C9D-CA165BFAD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uma. RollingUpdate: é o que aconteceu automaticamente na aula 4 — por isso os pods antigos ficaram no ar durante o erro. Recreate: gera downtime, mas às vezes é necessário (ex.: mudança de schema incompatível). Blue/Green e Canary exigem ferramentas extras (service mesh, ingress avançado) — explique que o K8S sozinho não faz canary sofisticado. Desenhe cada fluxo no quadro.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7D71-F3E1-29EA-0922-0D1A2F5F4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852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B719-FCE8-A8A6-6A52-407E2881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482EF-BA4D-2028-D22F-8B5474F40B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1035D-DE0A-6036-C429-8F124020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uma. RollingUpdate: é o que aconteceu automaticamente na aula 4 — por isso os pods antigos ficaram no ar durante o erro. Recreate: gera downtime, mas às vezes é necessário (ex.: mudança de schema incompatível). Blue/Green e Canary exigem ferramentas extras (service mesh, ingress avançado) — explique que o K8S sozinho não faz canary sofisticado. Desenhe cada fluxo no quadro.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38F96-1C4B-E7C4-70AE-1E00B6780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0898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6DE7-EA46-C213-C49B-A99C5F37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D1E0E-DB47-129C-26B0-7B11D5E68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620B9-2692-EEC1-F5D6-2E624DE8C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uma. RollingUpdate: é o que aconteceu automaticamente na aula 4 — por isso os pods antigos ficaram no ar durante o erro. Recreate: gera downtime, mas às vezes é necessário (ex.: mudança de schema incompatível). Blue/Green e Canary exigem ferramentas extras (service mesh, ingress avançado) — explique que o K8S sozinho não faz canary sofisticado. Desenhe cada fluxo no quadro.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8036A-0632-D754-5D0F-D5EE2E484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6832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decisão. Traga exemplos: RollingUpdate para uma API web comum; Recreate para uma app que não pode ter duas versões acessando o mesmo banco; Blue/Green para um sistema crítico onde você quer poder voltar instantaneamente; Canary para validar um recurso novo com 5% dos usuários.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Mecanismo de repulsão/exceção entre nodes e pods.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Analogia: taint é uma placa 'proibido entrar, exceto autorizados' no node. Exemplo real: reservar nodes com GPU só para cargas de ML. Ou impedir que apps pesadas (ElasticSearch) subam em nodes fracos. Explique os 3 efeitos com cuidado — NoExecute é o mais agressivo, expulsa quem já está lá.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Deixe claro o par: taint (no node) repele; toleration (no pod) autoriza a exceção. Só quem tem a toleration certa entra no node com taint. Faça o desenho: node com taint app=ruby:NoExecute + pod com toleration correspondente = permitido.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ao vivo com a app da aula 4. Ao aplicar o NoExecute, os 3 pods entram em Terminating e os novos ficam Pending (não há outro node no Minikube). Isso demonstra visualmente o poder do taint. Depois adicione a toleration e veja os pods voltarem a Running. O hífen no final REMOVE o taint.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onde exatamente entra no manifesto (dentro do template.spec, junto aos containers). Compare com o operador Exists (sem 'value'). Reaplicar com apply e os pods voltam ao node que tinha o taint.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98C6-17B6-9A76-48CC-7781B00F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D71F8-33E5-EDE6-10D2-E169BAF2B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A04B6-89F7-6116-DF25-776A7DA4E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ao vivo com a app da aula 4. Ao aplicar o NoExecute, os 3 pods entram em Terminating e os novos ficam Pending (não há outro node no Minikube). Isso demonstra visualmente o poder do taint. Depois adicione a toleration e veja os pods voltarem a Running. O hífen no final REMOVE o taint.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31D7C-3CC5-6C01-C4DE-F888406A2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4668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 isso, uma app pode consumir o cluster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Conceito crítico e cobrado em entrevista. requests = 'o que eu garanto que tenho'; limits = 'o teto que não posso ultrapassar'. Se estourar o limite de memória, o container é morto (OOMKilled) — gancho para troubleshooting. Explique milicore: 1000m = 1 CPU. O scheduler soma os requests para não superlotar o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o manifesto: este container reserva 64Mi e 250m, e não pode passar de 128Mi e 500m. Reforce a boa prática: SEMPRE definir requests/limits em produção. É o que garante convivência saudável entre aplicações no mesmo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HPA depende de requests/limits estarem definidos (por isso a ordem dos temas). Explique: se o uso médio de CPU passa de 50% do configurado, o HPA cria mais pods, até o máximo; quando a carga cai, reduz até o mínimo. É a escalabilidade automática que vendemos como grande vantagem do K8S (lembre da aula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Crie o HPA ao vivo. No Minikube pode ser preciso o metrics-server habilitado ('minikube addons enable metrics-server') para o HPA ler métricas — avise a turma. Mostre o 'get hpa' com a coluna de targets. Explique que gerar carga real para ver escalar exige um teste de estresse (opcional).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LimitRange é a camada de governança do namespace. Enquanto requests/limits são por container (responsabilidade do dev), o LimitRange é a regra do administrador do namespace. Se um pod tenta pedir mais que o máximo, é recusado. Ótimo para ambientes compartilhados entre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56C0-D26A-F407-F5E9-3C4003A1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083F9-1083-702E-D15F-510174181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EF84F-0CCE-5001-6CEF-34A91B4AD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o manifesto: este container reserva 64Mi e 250m, e não pode passar de 128Mi e 500m. Reforce a boa prática: SEMPRE definir requests/limits em produção. É o que garante convivência saudável entre aplicações no mesmo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B2EB9-F88C-2A76-0582-1A6B66C13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0669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EA3F-E65F-9CC4-77B0-C57A7271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40540-7F93-7D7E-EFE9-831264826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1C500-4100-6E97-C91E-67A47BF84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o manifesto: este container reserva 64Mi e 250m, e não pode passar de 128Mi e 500m. Reforce a boa prática: SEMPRE definir requests/limits em produção. É o que garante convivência saudável entre aplicações no mesmo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9BA81-1206-E0FC-9248-71162B367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71500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o erro 'Forbidden' ao violar o LimitRange — é didático ver a regra atuando. O pod-limit.yaml pede 100m (abaixo do mínimo) e teto de 1500m (acima do máximo), então é barrado nas duas pontas. Fecha o bloco de governança de recursos.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Amarre confiabilidade (estratégias) + alocação (taints) + eficiência (recursos). Na próxima aula resolvemos como EXPOR e dar ARMAZENAMENTO às aplicações. Peça leitura do material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gi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gi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gif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Estratégias de Deploy e Limitação de Recursos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RollingUpdate, Blue/Green, Canary, Taints, Requests/Limits e HPA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FFFDF8"/>
                </a:solidFill>
                <a:latin typeface="Lato"/>
              </a:rPr>
              <a:t>Ada · DE-OP-011 </a:t>
            </a:r>
            <a:r>
              <a:rPr sz="1100" dirty="0" err="1">
                <a:solidFill>
                  <a:srgbClr val="FFFDF8"/>
                </a:solidFill>
                <a:latin typeface="Lato"/>
              </a:rPr>
              <a:t>Orquestração</a:t>
            </a:r>
            <a:r>
              <a:rPr sz="1100" dirty="0">
                <a:solidFill>
                  <a:srgbClr val="FFFDF8"/>
                </a:solidFill>
                <a:latin typeface="Lato"/>
              </a:rPr>
              <a:t> · Kubernetes  |  Aula 05</a:t>
            </a:r>
            <a:r>
              <a:rPr lang="pt-PT" sz="1100" dirty="0">
                <a:solidFill>
                  <a:srgbClr val="FFFDF8"/>
                </a:solidFill>
                <a:latin typeface="Lato"/>
              </a:rPr>
              <a:t> | Everton J Benedicto</a:t>
            </a:r>
            <a:endParaRPr sz="1100" dirty="0">
              <a:solidFill>
                <a:srgbClr val="FFFDF8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 dirty="0" err="1">
                <a:solidFill>
                  <a:srgbClr val="FFFDF8"/>
                </a:solidFill>
                <a:latin typeface="Ubuntu"/>
              </a:rPr>
              <a:t>Câmera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250" b="1" dirty="0" err="1">
                <a:solidFill>
                  <a:srgbClr val="FFFDF8"/>
                </a:solidFill>
                <a:latin typeface="Ubuntu"/>
              </a:rPr>
              <a:t>ligada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+ </a:t>
            </a:r>
            <a:r>
              <a:rPr sz="1250" b="1" dirty="0" err="1">
                <a:solidFill>
                  <a:srgbClr val="FFFDF8"/>
                </a:solidFill>
                <a:latin typeface="Ubuntu"/>
              </a:rPr>
              <a:t>mão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250" b="1" dirty="0" err="1">
                <a:solidFill>
                  <a:srgbClr val="FFFDF8"/>
                </a:solidFill>
                <a:latin typeface="Ubuntu"/>
              </a:rPr>
              <a:t>levantada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250" b="1" dirty="0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>
                <a:solidFill>
                  <a:srgbClr val="FFFDF8"/>
                </a:solidFill>
                <a:latin typeface="Ubuntu"/>
              </a:rPr>
              <a:t> um Pod com uma API e um Banco de Dados à sua escolha.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A API deve fazer um </a:t>
            </a:r>
            <a:r>
              <a:rPr sz="1150" b="1">
                <a:solidFill>
                  <a:srgbClr val="A6F750"/>
                </a:solidFill>
                <a:latin typeface="Ubuntu"/>
              </a:rPr>
              <a:t>CRUD para produtos</a:t>
            </a:r>
            <a:r>
              <a:rPr sz="1150" b="1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Conhecer as estratégias de deploy do mercado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Controlar a alocação de Pods com Taints e Tolerations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Reservar e limitar recursos com requests e limits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Escalar automaticamente com HPA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Restringir recursos por namespace com LimitRange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Estratégias de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Reduzindo a indisponibilidade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As quatro estratégias principais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 err="1">
                <a:solidFill>
                  <a:srgbClr val="181C23"/>
                </a:solidFill>
                <a:latin typeface="Lato"/>
              </a:rPr>
              <a:t>RollingUpdate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migração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gradual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ordenada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(</a:t>
            </a:r>
            <a:r>
              <a:rPr sz="1500" dirty="0">
                <a:solidFill>
                  <a:srgbClr val="181C23"/>
                </a:solidFill>
                <a:latin typeface="Lato"/>
              </a:rPr>
              <a:t>PADRÃO do K8S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Como funciona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O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Kubernetes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substitui os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Pods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da versão antiga pelos novos de forma progressiva (um por um ou em pequenos blocos)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Vantagem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Zero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downtime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- a aplicação não fica fora do ar em nenhum momento.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Ponto de atenção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Durante o processo, versões antigas e novas rodam ao mesmo tempo por alguns instantes.</a:t>
            </a:r>
            <a:endParaRPr sz="1400" dirty="0">
              <a:solidFill>
                <a:srgbClr val="5A5E66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F7B54D-7CDF-F7A3-31C7-C5A95C8F0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4" y="3152726"/>
            <a:ext cx="9053946" cy="798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E67AE-9AA2-E210-8618-4182D161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0A649381-91D5-BDFC-4985-DF1B5E157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2A2D64-611D-5D62-EEFB-A3B6372F49A8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As quatro estratégias principais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9AA8A-4D5B-4566-4B29-5FD5CDFFED62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C13D8-52C4-8FB7-8303-A401A76BA173}"/>
              </a:ext>
            </a:extLst>
          </p:cNvPr>
          <p:cNvSpPr txBox="1"/>
          <p:nvPr/>
        </p:nvSpPr>
        <p:spPr>
          <a:xfrm>
            <a:off x="457200" y="1143000"/>
            <a:ext cx="82296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>
                <a:solidFill>
                  <a:srgbClr val="181C23"/>
                </a:solidFill>
                <a:latin typeface="Lato"/>
              </a:rPr>
              <a:t>Recreate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derruba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todos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Pods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recria</a:t>
            </a:r>
            <a:r>
              <a:rPr sz="1500" dirty="0">
                <a:solidFill>
                  <a:srgbClr val="181C23"/>
                </a:solidFill>
                <a:latin typeface="Lato"/>
              </a:rPr>
              <a:t> com a nova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versão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Como funciona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Todos os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Pods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da versão antiga são desligados de uma só vez antes que a nova versão seja iniciada.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Vantagem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Garante que duas versões diferentes nunca rodem juntas (necessário quando há mudanças incompatíveis no banco de dados, por exemplo).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Ponto de atenção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Causa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downtime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(o sistema fica fora do ar até a nova versão subir completamente).</a:t>
            </a:r>
            <a:endParaRPr sz="1400" dirty="0">
              <a:solidFill>
                <a:srgbClr val="5A5E66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42DE7-E042-81BD-C15B-34AFE5AB3D06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3C9FB748-67A6-7B3C-F70B-B4DE9AD34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05C17D-7CEF-1ADB-E081-950E8298C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7" y="3262721"/>
            <a:ext cx="74390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7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7F0C6-42D4-44A0-73FE-59B26D30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26DCF927-272D-D571-A6F4-15C5C224D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E26316-1ED3-73F5-226B-ABE036887FCF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As quatro estratégias principais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39BCF9-DE86-8190-93A0-0BC7B611C0FA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76C67-047B-A675-E506-7B1DA6505DE0}"/>
              </a:ext>
            </a:extLst>
          </p:cNvPr>
          <p:cNvSpPr txBox="1"/>
          <p:nvPr/>
        </p:nvSpPr>
        <p:spPr>
          <a:xfrm>
            <a:off x="457200" y="1143000"/>
            <a:ext cx="8229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>
                <a:solidFill>
                  <a:srgbClr val="181C23"/>
                </a:solidFill>
                <a:latin typeface="Lato"/>
              </a:rPr>
              <a:t>Blue/Green </a:t>
            </a:r>
            <a:r>
              <a:rPr sz="1500" dirty="0">
                <a:solidFill>
                  <a:srgbClr val="181C23"/>
                </a:solidFill>
                <a:latin typeface="Lato"/>
              </a:rPr>
              <a:t>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dois</a:t>
            </a:r>
            <a:r>
              <a:rPr sz="1500" dirty="0">
                <a:solidFill>
                  <a:srgbClr val="181C23"/>
                </a:solidFill>
                <a:latin typeface="Lato"/>
              </a:rPr>
              <a:t> ambientes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idênticos</a:t>
            </a:r>
            <a:r>
              <a:rPr sz="1500" dirty="0">
                <a:solidFill>
                  <a:srgbClr val="181C23"/>
                </a:solidFill>
                <a:latin typeface="Lato"/>
              </a:rPr>
              <a:t>;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troca</a:t>
            </a:r>
            <a:r>
              <a:rPr sz="1500" dirty="0">
                <a:solidFill>
                  <a:srgbClr val="181C23"/>
                </a:solidFill>
                <a:latin typeface="Lato"/>
              </a:rPr>
              <a:t> 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tráfego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após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V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alidar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Como funciona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Mantém dois ambientes idênticos ativos: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Blue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(versão atual rodando) e Green (nova versão implantada). Após testar e validar o ambiente Green, o tráfego de todos os usuários é direcionado para ele de forma instantânea.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Vantagem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Rollback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facílimo e imediato — se houver erro no Green, basta redirecionar o tráfego de volta para o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Blue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Ponto de atenção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Dobra o custo de infraestrutura temporariamente e exige ferramentas externas (como roteadores de tráfego/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Ingress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avançado).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999F9-5D5E-39D4-CA60-2973022AB972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045B55A4-3492-CA8A-54C7-E1725E5EF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97D1B0-C059-28CD-1F8C-A23D56DB7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7609" y="3059305"/>
            <a:ext cx="57245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6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6ED00-39F3-4B8A-26FA-43EEF707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DCDDD426-5C4F-A63D-348A-C138654B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848E26-1023-1E3D-50A7-D460EB8EBDC1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As quatro estratégias principais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A74A9A-F66F-D21F-8D57-3E602D31D84C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46853-822D-F661-D537-AFE8F5C2B5C9}"/>
              </a:ext>
            </a:extLst>
          </p:cNvPr>
          <p:cNvSpPr txBox="1"/>
          <p:nvPr/>
        </p:nvSpPr>
        <p:spPr>
          <a:xfrm>
            <a:off x="457200" y="1143000"/>
            <a:ext cx="8229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>
                <a:solidFill>
                  <a:srgbClr val="181C23"/>
                </a:solidFill>
                <a:latin typeface="Lato"/>
              </a:rPr>
              <a:t>Canary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libera a nova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para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fração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dos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usuários</a:t>
            </a:r>
            <a:r>
              <a:rPr sz="1500" dirty="0">
                <a:solidFill>
                  <a:srgbClr val="181C23"/>
                </a:solidFill>
                <a:latin typeface="Lato"/>
              </a:rPr>
              <a:t>,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gradualmente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Como funciona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A nova versão é liberada inicialmente apenas para uma pequena fatia de usuários (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ex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5% ou 10%). Conforme se valida a estabilidade, a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porcentagem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é aumentada gradualmente até cobrir 100%.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Vantagem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Minimiza riscos — se houver um bug, apenas um número reduzido de usuários será afetado.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Ponto de atenção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O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Kubernetes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padrão não faz o gerenciamento fino de tráfego do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Canary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por conta própria (exige ferramentas como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Service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Mesh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/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Istio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).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6300E-5AEE-7B14-A05B-276350EE4A68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BE45748D-612F-5023-827C-8FC010DA9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820D7-154A-4D1F-F762-C9863B7F2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07" y="3159688"/>
            <a:ext cx="7917873" cy="164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1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157A4-6114-3C24-3BDE-731EC38F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CB63A1C3-1B52-8A3A-744F-E858F7EC7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1D6FB-5BC0-7A53-9B10-8F9D7C8BC9F0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As quatro estratégias principais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B8600-F679-C6F1-C069-361C2BA81C2C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0CE5D-48E3-3861-7D57-48B412077747}"/>
              </a:ext>
            </a:extLst>
          </p:cNvPr>
          <p:cNvSpPr txBox="1"/>
          <p:nvPr/>
        </p:nvSpPr>
        <p:spPr>
          <a:xfrm>
            <a:off x="457200" y="114300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>
                <a:solidFill>
                  <a:srgbClr val="181C23"/>
                </a:solidFill>
                <a:latin typeface="Lato"/>
              </a:rPr>
              <a:t>Recreate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derruba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todos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Pods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recria</a:t>
            </a:r>
            <a:r>
              <a:rPr sz="1500" dirty="0">
                <a:solidFill>
                  <a:srgbClr val="181C23"/>
                </a:solidFill>
                <a:latin typeface="Lato"/>
              </a:rPr>
              <a:t> com a nova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versão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Como funciona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Todos os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Pods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da versão antiga são desligados de uma só vez antes que a nova versão seja iniciada.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Vantagem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Garante que duas versões diferentes nunca rodem juntas (necessário quando há mudanças incompatíveis no banco de dados, por exemplo).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PT" sz="1400" b="1" dirty="0">
                <a:solidFill>
                  <a:srgbClr val="5A5E66"/>
                </a:solidFill>
                <a:latin typeface="Lato"/>
              </a:rPr>
              <a:t>Ponto de atenção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: Causa </a:t>
            </a:r>
            <a:r>
              <a:rPr lang="pt-PT" sz="1400" dirty="0" err="1">
                <a:solidFill>
                  <a:srgbClr val="5A5E66"/>
                </a:solidFill>
                <a:latin typeface="Lato"/>
              </a:rPr>
              <a:t>downtime</a:t>
            </a:r>
            <a:r>
              <a:rPr lang="pt-PT" sz="1400" dirty="0">
                <a:solidFill>
                  <a:srgbClr val="5A5E66"/>
                </a:solidFill>
                <a:latin typeface="Lato"/>
              </a:rPr>
              <a:t> (o sistema fica fora do ar até a nova versão subir completamente).</a:t>
            </a:r>
            <a:endParaRPr sz="1400" dirty="0">
              <a:solidFill>
                <a:srgbClr val="5A5E66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Blue/Green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dois</a:t>
            </a:r>
            <a:r>
              <a:rPr sz="1500" dirty="0">
                <a:solidFill>
                  <a:srgbClr val="181C23"/>
                </a:solidFill>
                <a:latin typeface="Lato"/>
              </a:rPr>
              <a:t> ambientes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idênticos</a:t>
            </a:r>
            <a:r>
              <a:rPr sz="1500" dirty="0">
                <a:solidFill>
                  <a:srgbClr val="181C23"/>
                </a:solidFill>
                <a:latin typeface="Lato"/>
              </a:rPr>
              <a:t>;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troca</a:t>
            </a:r>
            <a:r>
              <a:rPr sz="1500" dirty="0">
                <a:solidFill>
                  <a:srgbClr val="181C23"/>
                </a:solidFill>
                <a:latin typeface="Lato"/>
              </a:rPr>
              <a:t> 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tráfego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após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validar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Canary — libera a nova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para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fração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dos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usuários</a:t>
            </a:r>
            <a:r>
              <a:rPr sz="1500" dirty="0">
                <a:solidFill>
                  <a:srgbClr val="181C23"/>
                </a:solidFill>
                <a:latin typeface="Lato"/>
              </a:rPr>
              <a:t>,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gradualmente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1C684-A478-2AFF-FFDD-A346449A56D6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2BC3821D-E5CD-62CD-019F-EE7C69A2D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64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Como escolher a estratégia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Precisa de zero downtime e é stateless → RollingUpdate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Pode ter downtime / mudança incompatível → Recreate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Quer validar a nova versão em produção antes de trocar → Blue/Green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Quer testar com poucos usuários e crescer aos poucos → Canary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Taints e Tolerations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Controlando onde os Pods rodam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Taints: repelindo Pods de um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Taint =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marca</a:t>
            </a:r>
            <a:r>
              <a:rPr sz="1500" dirty="0">
                <a:solidFill>
                  <a:srgbClr val="181C23"/>
                </a:solidFill>
                <a:latin typeface="Lato"/>
              </a:rPr>
              <a:t> no NODE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que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repele</a:t>
            </a:r>
            <a:r>
              <a:rPr sz="1500" dirty="0">
                <a:solidFill>
                  <a:srgbClr val="181C23"/>
                </a:solidFill>
                <a:latin typeface="Lato"/>
              </a:rPr>
              <a:t> Pods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sem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tolerância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correspondente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Evita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conflitos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uso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indevido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nodes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específicos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Efeitos</a:t>
            </a:r>
            <a:r>
              <a:rPr sz="1500" dirty="0">
                <a:solidFill>
                  <a:srgbClr val="181C23"/>
                </a:solidFill>
                <a:latin typeface="Lato"/>
              </a:rPr>
              <a:t>: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NoSchedule</a:t>
            </a:r>
            <a:r>
              <a:rPr sz="1500" dirty="0">
                <a:solidFill>
                  <a:srgbClr val="181C23"/>
                </a:solidFill>
                <a:latin typeface="Lato"/>
              </a:rPr>
              <a:t>,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PreferNoSchedule</a:t>
            </a:r>
            <a:r>
              <a:rPr sz="1500" dirty="0">
                <a:solidFill>
                  <a:srgbClr val="181C23"/>
                </a:solidFill>
                <a:latin typeface="Lato"/>
              </a:rPr>
              <a:t>,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NoExecute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5A5E66"/>
                </a:solidFill>
                <a:latin typeface="Lato"/>
              </a:rPr>
              <a:t>– 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NoSchedule</a:t>
            </a:r>
            <a:r>
              <a:rPr sz="1400" dirty="0">
                <a:solidFill>
                  <a:srgbClr val="5A5E66"/>
                </a:solidFill>
                <a:latin typeface="Lato"/>
              </a:rPr>
              <a:t>: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não</a:t>
            </a:r>
            <a:r>
              <a:rPr sz="1400" dirty="0">
                <a:solidFill>
                  <a:srgbClr val="5A5E66"/>
                </a:solidFill>
                <a:latin typeface="Lato"/>
              </a:rPr>
              <a:t> agenda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novos</a:t>
            </a:r>
            <a:r>
              <a:rPr sz="1400" dirty="0">
                <a:solidFill>
                  <a:srgbClr val="5A5E66"/>
                </a:solidFill>
                <a:latin typeface="Lato"/>
              </a:rPr>
              <a:t> Pods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sem</a:t>
            </a:r>
            <a:r>
              <a:rPr sz="1400" dirty="0">
                <a:solidFill>
                  <a:srgbClr val="5A5E66"/>
                </a:solidFill>
                <a:latin typeface="Lato"/>
              </a:rPr>
              <a:t> toleration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5A5E66"/>
                </a:solidFill>
                <a:latin typeface="Lato"/>
              </a:rPr>
              <a:t>– 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NoExecute</a:t>
            </a:r>
            <a:r>
              <a:rPr sz="1400" dirty="0">
                <a:solidFill>
                  <a:srgbClr val="5A5E66"/>
                </a:solidFill>
                <a:latin typeface="Lato"/>
              </a:rPr>
              <a:t>: remove Pods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existentes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sem</a:t>
            </a:r>
            <a:r>
              <a:rPr sz="1400" dirty="0">
                <a:solidFill>
                  <a:srgbClr val="5A5E66"/>
                </a:solidFill>
                <a:latin typeface="Lato"/>
              </a:rPr>
              <a:t> toleration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5A5E66"/>
                </a:solidFill>
                <a:latin typeface="Lato"/>
              </a:rPr>
              <a:t>– 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PreferNoSchedule</a:t>
            </a:r>
            <a:r>
              <a:rPr sz="1400" dirty="0">
                <a:solidFill>
                  <a:srgbClr val="5A5E66"/>
                </a:solidFill>
                <a:latin typeface="Lato"/>
              </a:rPr>
              <a:t>: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evita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agendar</a:t>
            </a:r>
            <a:r>
              <a:rPr sz="1400" dirty="0">
                <a:solidFill>
                  <a:srgbClr val="5A5E66"/>
                </a:solidFill>
                <a:latin typeface="Lato"/>
              </a:rPr>
              <a:t>, mas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não</a:t>
            </a:r>
            <a:r>
              <a:rPr sz="1400" dirty="0">
                <a:solidFill>
                  <a:srgbClr val="5A5E66"/>
                </a:solidFill>
                <a:latin typeface="Lato"/>
              </a:rPr>
              <a:t> é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regra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rígida</a:t>
            </a:r>
            <a:endParaRPr sz="1400" dirty="0">
              <a:solidFill>
                <a:srgbClr val="5A5E66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Tolerations: a permissão de exceção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Toleration = configuração no POD que permite rodar em node com taint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Operador Equal: valor deve ser exatamente igual ao do taint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Operador Exists: basta existir o taint com aquele efeito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Taint + Toleration compatíveis = Pod pode rodar no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Testando Taints e Tolerations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1. Crie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namespace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caso já não tenha criado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create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namespace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2. Crie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da aplicação feita em Ruby (primeira-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aplicacao.yaml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apply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-f primeira-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aplicacao.yaml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3.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Aplique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um taint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expulsa</a:t>
            </a:r>
            <a:r>
              <a:rPr sz="1300" dirty="0">
                <a:solidFill>
                  <a:srgbClr val="181C23"/>
                </a:solidFill>
                <a:latin typeface="Lato"/>
              </a:rPr>
              <a:t> pods com label app=ruby: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taint nodes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app=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ruby:NoExecute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4. </a:t>
            </a:r>
            <a:r>
              <a:rPr sz="1300" dirty="0">
                <a:solidFill>
                  <a:srgbClr val="181C23"/>
                </a:solidFill>
                <a:latin typeface="Lato"/>
              </a:rPr>
              <a:t>Veja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pods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entrarem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300" dirty="0">
                <a:solidFill>
                  <a:srgbClr val="181C23"/>
                </a:solidFill>
                <a:latin typeface="Lato"/>
              </a:rPr>
              <a:t> Terminating/Pending: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pods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5.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Adicione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toleration ao Deployment 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reaplique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(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primeira-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aplicacao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-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toleration.yaml</a:t>
            </a:r>
            <a:r>
              <a:rPr sz="13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apply -f 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primeira-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toleration.yaml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6. </a:t>
            </a:r>
            <a:r>
              <a:rPr sz="1300" dirty="0">
                <a:solidFill>
                  <a:srgbClr val="181C23"/>
                </a:solidFill>
                <a:latin typeface="Lato"/>
              </a:rPr>
              <a:t>Para remover o taint,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repita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comando</a:t>
            </a:r>
            <a:r>
              <a:rPr sz="1300" dirty="0">
                <a:solidFill>
                  <a:srgbClr val="181C23"/>
                </a:solidFill>
                <a:latin typeface="Lato"/>
              </a:rPr>
              <a:t> com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hífen</a:t>
            </a:r>
            <a:r>
              <a:rPr sz="1300" dirty="0">
                <a:solidFill>
                  <a:srgbClr val="181C23"/>
                </a:solidFill>
                <a:latin typeface="Lato"/>
              </a:rPr>
              <a:t> ao final: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taint nodes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app=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ruby:NoExecute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Testando Taints e Tolerations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735757"/>
            <a:ext cx="84810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AD65AD-FF76-93A4-00B7-801E966D5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524" y="721901"/>
            <a:ext cx="4712952" cy="4013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Toleration no manifesto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trecho adicionado ao spec.template.spec do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>
                <a:solidFill>
                  <a:srgbClr val="ECEDF3"/>
                </a:solidFill>
                <a:latin typeface="Consolas"/>
              </a:rPr>
              <a:t>      tolerations: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- key: "app"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operator: "Equal"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value: "ruby"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effect: "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NoExecute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A27A9-3476-8018-3084-B98DB8692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85DE674E-AFDC-1E29-5995-D7C7A015E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F48D98-56C4-8EEC-433F-E83450B94251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Testando Taints e Tolerations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2045E6-B9F0-A480-68FB-A91B31BF878F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16CED2-260E-EEEA-A74C-058F3064B171}"/>
              </a:ext>
            </a:extLst>
          </p:cNvPr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21C10-C00A-E980-2CC5-3FAC0E18991C}"/>
              </a:ext>
            </a:extLst>
          </p:cNvPr>
          <p:cNvSpPr txBox="1"/>
          <p:nvPr/>
        </p:nvSpPr>
        <p:spPr>
          <a:xfrm>
            <a:off x="457200" y="1143000"/>
            <a:ext cx="82296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1. Aplique um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taint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que expulsa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pods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com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label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app=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ruby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taint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nodes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app=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ruby:NoExecute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2. Crie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da aplicação feita em Ruby (primeira-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aplicacao.yaml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apply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-f primeira-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aplicacao.yaml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r>
              <a:rPr lang="pt-PT" sz="1300" dirty="0">
                <a:solidFill>
                  <a:srgbClr val="181C23"/>
                </a:solidFill>
                <a:latin typeface="Lato"/>
              </a:rPr>
              <a:t>3. Crie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da aplicação feita em Ruby (primeira-aplicação-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toleration.yaml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apply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-f primeira-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-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toleration.yaml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4. </a:t>
            </a:r>
            <a:r>
              <a:rPr sz="1300" dirty="0">
                <a:solidFill>
                  <a:srgbClr val="181C23"/>
                </a:solidFill>
                <a:latin typeface="Lato"/>
              </a:rPr>
              <a:t>Veja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pods 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criados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get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pods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A68D8-3A60-BFEA-E2B1-C1B537DA9A2C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16600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Toleration no manifesto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714979"/>
            <a:ext cx="84170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0F5A9-A55A-454D-1ECC-1CC8E1A5B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70719"/>
            <a:ext cx="8417052" cy="16020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3. Recursos: Requests 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Reservar e limitar CPU/memória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/>
          </p:cNvPicPr>
          <p:nvPr/>
        </p:nvPicPr>
        <p:blipFill>
          <a:blip r:embed="rId3"/>
          <a:srcRect t="40000" b="4098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Requests ×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arning Banner"/>
          <p:cNvSpPr/>
          <p:nvPr/>
        </p:nvSpPr>
        <p:spPr>
          <a:xfrm>
            <a:off x="411480" y="1030000"/>
            <a:ext cx="8321040" cy="620000"/>
          </a:xfrm>
          <a:prstGeom prst="roundRect">
            <a:avLst>
              <a:gd name="adj" fmla="val 9000"/>
            </a:avLst>
          </a:prstGeom>
          <a:solidFill>
            <a:srgbClr val="FBEAE7"/>
          </a:solidFill>
          <a:ln w="12700">
            <a:solidFill>
              <a:srgbClr val="EBC3B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arning Badge"/>
          <p:cNvSpPr/>
          <p:nvPr/>
        </p:nvSpPr>
        <p:spPr>
          <a:xfrm>
            <a:off x="580000" y="1170000"/>
            <a:ext cx="340000" cy="340000"/>
          </a:xfrm>
          <a:prstGeom prst="ellipse">
            <a:avLst/>
          </a:prstGeom>
          <a:solidFill>
            <a:srgbClr val="D6454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Ubuntu"/>
              </a:rPr>
              <a:t>!</a:t>
            </a:r>
          </a:p>
        </p:txBody>
      </p:sp>
      <p:sp>
        <p:nvSpPr>
          <p:cNvPr id="12" name="Warning Text"/>
          <p:cNvSpPr txBox="1"/>
          <p:nvPr/>
        </p:nvSpPr>
        <p:spPr>
          <a:xfrm>
            <a:off x="1070000" y="1110000"/>
            <a:ext cx="7480000" cy="4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B23A34"/>
                </a:solidFill>
                <a:latin typeface="Ubuntu"/>
              </a:rPr>
              <a:t>Sem limites, o padrão é perigoso</a:t>
            </a:r>
          </a:p>
          <a:p>
            <a:r>
              <a:rPr sz="1050">
                <a:solidFill>
                  <a:srgbClr val="4A3F3D"/>
                </a:solidFill>
                <a:latin typeface="Lato"/>
              </a:rPr>
              <a:t>Por padrão o container consome o quanto quiser. Um vazamento ou pico de memória pode esgotar o nó inteiro e derrubar as outras aplicações que rodam nele.</a:t>
            </a:r>
          </a:p>
        </p:txBody>
      </p:sp>
      <p:sp>
        <p:nvSpPr>
          <p:cNvPr id="13" name="Requests Card"/>
          <p:cNvSpPr/>
          <p:nvPr/>
        </p:nvSpPr>
        <p:spPr>
          <a:xfrm>
            <a:off x="411480" y="1720000"/>
            <a:ext cx="4040520" cy="151000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quests Accent"/>
          <p:cNvSpPr/>
          <p:nvPr/>
        </p:nvSpPr>
        <p:spPr>
          <a:xfrm>
            <a:off x="411480" y="1810000"/>
            <a:ext cx="82296" cy="133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quests Text"/>
          <p:cNvSpPr txBox="1"/>
          <p:nvPr/>
        </p:nvSpPr>
        <p:spPr>
          <a:xfrm>
            <a:off x="620000" y="1830000"/>
            <a:ext cx="3660000" cy="1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E7A3C"/>
                </a:solidFill>
                <a:latin typeface="Ubuntu"/>
              </a:rPr>
              <a:t>REQUESTS</a:t>
            </a:r>
            <a:r>
              <a:rPr sz="1050" i="1">
                <a:solidFill>
                  <a:srgbClr val="5A5E66"/>
                </a:solidFill>
                <a:latin typeface="Lato"/>
              </a:rPr>
              <a:t>   garantia mínima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81C23"/>
                </a:solidFill>
                <a:latin typeface="Lato"/>
              </a:rPr>
              <a:t>•  O mínimo que o container precisa para funcionar.</a:t>
            </a:r>
          </a:p>
          <a:p>
            <a:r>
              <a:rPr sz="1050">
                <a:solidFill>
                  <a:srgbClr val="181C23"/>
                </a:solidFill>
                <a:latin typeface="Lato"/>
              </a:rPr>
              <a:t>•  O Scheduler olha só para os requests e escolhe um nó com pelo menos esse valor livre.</a:t>
            </a:r>
          </a:p>
        </p:txBody>
      </p:sp>
      <p:sp>
        <p:nvSpPr>
          <p:cNvPr id="16" name="Limits Card"/>
          <p:cNvSpPr/>
          <p:nvPr/>
        </p:nvSpPr>
        <p:spPr>
          <a:xfrm>
            <a:off x="4692000" y="1720000"/>
            <a:ext cx="4040520" cy="1510000"/>
          </a:xfrm>
          <a:prstGeom prst="roundRect">
            <a:avLst>
              <a:gd name="adj" fmla="val 6000"/>
            </a:avLst>
          </a:prstGeom>
          <a:solidFill>
            <a:srgbClr val="FBEF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imits Accent"/>
          <p:cNvSpPr/>
          <p:nvPr/>
        </p:nvSpPr>
        <p:spPr>
          <a:xfrm>
            <a:off x="4692000" y="1810000"/>
            <a:ext cx="82296" cy="1330000"/>
          </a:xfrm>
          <a:prstGeom prst="rect">
            <a:avLst/>
          </a:prstGeom>
          <a:solidFill>
            <a:srgbClr val="E08A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imits Text"/>
          <p:cNvSpPr txBox="1"/>
          <p:nvPr/>
        </p:nvSpPr>
        <p:spPr>
          <a:xfrm>
            <a:off x="4900000" y="1830000"/>
            <a:ext cx="3660000" cy="1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5651D"/>
                </a:solidFill>
                <a:latin typeface="Ubuntu"/>
              </a:rPr>
              <a:t>LIMITS</a:t>
            </a:r>
            <a:r>
              <a:rPr sz="1050" i="1">
                <a:solidFill>
                  <a:srgbClr val="5A5E66"/>
                </a:solidFill>
                <a:latin typeface="Lato"/>
              </a:rPr>
              <a:t>   teto máximo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81C23"/>
                </a:solidFill>
                <a:latin typeface="Lato"/>
              </a:rPr>
              <a:t>•  O máximo permitido, mesmo com sobra no nó.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81C23"/>
                </a:solidFill>
                <a:latin typeface="Lato"/>
              </a:rPr>
              <a:t>•  Memória acima do teto → </a:t>
            </a:r>
            <a:r>
              <a:rPr sz="1050" b="1">
                <a:solidFill>
                  <a:srgbClr val="C0392B"/>
                </a:solidFill>
                <a:latin typeface="Lato"/>
              </a:rPr>
              <a:t>OOMKilled</a:t>
            </a:r>
            <a:r>
              <a:rPr sz="1050">
                <a:solidFill>
                  <a:srgbClr val="181C23"/>
                </a:solidFill>
                <a:latin typeface="Lato"/>
              </a:rPr>
              <a:t> (reiniciado).</a:t>
            </a:r>
          </a:p>
          <a:p>
            <a:r>
              <a:rPr sz="1050">
                <a:solidFill>
                  <a:srgbClr val="181C23"/>
                </a:solidFill>
                <a:latin typeface="Lato"/>
              </a:rPr>
              <a:t>•  CPU acima do teto → </a:t>
            </a:r>
            <a:r>
              <a:rPr sz="1050" b="1">
                <a:solidFill>
                  <a:srgbClr val="B5651D"/>
                </a:solidFill>
                <a:latin typeface="Lato"/>
              </a:rPr>
              <a:t>throttling</a:t>
            </a:r>
            <a:r>
              <a:rPr sz="1050">
                <a:solidFill>
                  <a:srgbClr val="181C23"/>
                </a:solidFill>
                <a:latin typeface="Lato"/>
              </a:rPr>
              <a:t> (fica lento).</a:t>
            </a:r>
          </a:p>
        </p:txBody>
      </p:sp>
      <p:sp>
        <p:nvSpPr>
          <p:cNvPr id="19" name="Units Strip"/>
          <p:cNvSpPr/>
          <p:nvPr/>
        </p:nvSpPr>
        <p:spPr>
          <a:xfrm>
            <a:off x="411480" y="3300000"/>
            <a:ext cx="8321040" cy="470000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>
            <a:noFill/>
          </a:ln>
        </p:spPr>
        <p:txBody>
          <a:bodyPr lIns="182880" rIns="91440" rtlCol="0" anchor="ctr"/>
          <a:lstStyle/>
          <a:p>
            <a:r>
              <a:rPr sz="1050" b="1">
                <a:solidFill>
                  <a:srgbClr val="181C23"/>
                </a:solidFill>
                <a:latin typeface="Ubuntu"/>
              </a:rPr>
              <a:t>Unidades   </a:t>
            </a:r>
            <a:r>
              <a:rPr sz="1050" b="1">
                <a:solidFill>
                  <a:srgbClr val="34A853"/>
                </a:solidFill>
                <a:latin typeface="Lato"/>
              </a:rPr>
              <a:t>CPU: </a:t>
            </a:r>
            <a:r>
              <a:rPr sz="1050">
                <a:solidFill>
                  <a:srgbClr val="181C23"/>
                </a:solidFill>
                <a:latin typeface="Lato"/>
              </a:rPr>
              <a:t>1 CPU = 1000m · 250m = 0,25 núcleo (25%).    </a:t>
            </a:r>
            <a:r>
              <a:rPr sz="1050" b="1">
                <a:solidFill>
                  <a:srgbClr val="B5651D"/>
                </a:solidFill>
                <a:latin typeface="Lato"/>
              </a:rPr>
              <a:t>Memória: </a:t>
            </a:r>
            <a:r>
              <a:rPr sz="1050">
                <a:solidFill>
                  <a:srgbClr val="181C23"/>
                </a:solidFill>
                <a:latin typeface="Lato"/>
              </a:rPr>
              <a:t>Mi (Mebibytes) / Gi (Gibibytes).</a:t>
            </a:r>
          </a:p>
        </p:txBody>
      </p:sp>
      <p:sp>
        <p:nvSpPr>
          <p:cNvPr id="20" name="Summary Band"/>
          <p:cNvSpPr/>
          <p:nvPr/>
        </p:nvSpPr>
        <p:spPr>
          <a:xfrm>
            <a:off x="411480" y="3840000"/>
            <a:ext cx="8321040" cy="710000"/>
          </a:xfrm>
          <a:prstGeom prst="roundRect">
            <a:avLst>
              <a:gd name="adj" fmla="val 7000"/>
            </a:avLst>
          </a:prstGeom>
          <a:solidFill>
            <a:srgbClr val="181C23"/>
          </a:solidFill>
          <a:ln>
            <a:noFill/>
          </a:ln>
        </p:spPr>
        <p:txBody>
          <a:bodyPr lIns="182880" tIns="45720" bIns="45720" rtlCol="0" anchor="ctr"/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Ubuntu"/>
              </a:rPr>
              <a:t>Na prática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50E550"/>
                </a:solidFill>
                <a:latin typeface="Lato"/>
              </a:rPr>
              <a:t>Request →  </a:t>
            </a:r>
            <a:r>
              <a:rPr sz="1100">
                <a:solidFill>
                  <a:srgbClr val="E8E6DF"/>
                </a:solidFill>
                <a:latin typeface="Lato"/>
              </a:rPr>
              <a:t>“o que preciso garantido para iniciar.”</a:t>
            </a:r>
          </a:p>
          <a:p>
            <a:r>
              <a:rPr sz="1100" b="1">
                <a:solidFill>
                  <a:srgbClr val="F2A93B"/>
                </a:solidFill>
                <a:latin typeface="Lato"/>
              </a:rPr>
              <a:t>Limit →  </a:t>
            </a:r>
            <a:r>
              <a:rPr sz="1100">
                <a:solidFill>
                  <a:srgbClr val="E8E6DF"/>
                </a:solidFill>
                <a:latin typeface="Lato"/>
              </a:rPr>
              <a:t>“o teto que nunca posso ultrapassar.”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/>
          </p:cNvPicPr>
          <p:nvPr/>
        </p:nvPicPr>
        <p:blipFill>
          <a:blip r:embed="rId2"/>
          <a:srcRect t="40000" b="4098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Mi e Gi: memória em base binária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ntro"/>
          <p:cNvSpPr txBox="1"/>
          <p:nvPr/>
        </p:nvSpPr>
        <p:spPr>
          <a:xfrm>
            <a:off x="457200" y="1000000"/>
            <a:ext cx="8229600" cy="37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>
                <a:solidFill>
                  <a:srgbClr val="181C23"/>
                </a:solidFill>
                <a:latin typeface="Lato"/>
              </a:rPr>
              <a:t>Mi e Gi são unidades do </a:t>
            </a:r>
            <a:r>
              <a:rPr sz="1200" b="1">
                <a:solidFill>
                  <a:srgbClr val="1E7A3C"/>
                </a:solidFill>
                <a:latin typeface="Lato"/>
              </a:rPr>
              <a:t>sistema binário</a:t>
            </a:r>
            <a:r>
              <a:rPr sz="1200">
                <a:solidFill>
                  <a:srgbClr val="181C23"/>
                </a:solidFill>
                <a:latin typeface="Lato"/>
              </a:rPr>
              <a:t> — Mebibytes e Gibibytes — que o Kubernetes usa para medir memória RAM.</a:t>
            </a:r>
          </a:p>
        </p:txBody>
      </p:sp>
      <p:graphicFrame>
        <p:nvGraphicFramePr>
          <p:cNvPr id="3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126549"/>
              </p:ext>
            </p:extLst>
          </p:nvPr>
        </p:nvGraphicFramePr>
        <p:xfrm>
          <a:off x="457200" y="1430000"/>
          <a:ext cx="8229600" cy="1510000"/>
        </p:xfrm>
        <a:graphic>
          <a:graphicData uri="http://schemas.openxmlformats.org/drawingml/2006/table">
            <a:tbl>
              <a:tblPr firstRow="1"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Ubuntu"/>
                        </a:rPr>
                        <a:t>Binário (Kubernetes)</a:t>
                      </a:r>
                    </a:p>
                  </a:txBody>
                  <a:tcPr marL="109728" marR="54864"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Ubuntu"/>
                        </a:rPr>
                        <a:t>Em bytes</a:t>
                      </a:r>
                    </a:p>
                  </a:txBody>
                  <a:tcPr marL="109728" marR="54864"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Ubuntu"/>
                        </a:rPr>
                        <a:t>Decimal (tradicional)</a:t>
                      </a:r>
                    </a:p>
                  </a:txBody>
                  <a:tcPr marL="109728" marR="54864" anchor="ctr">
                    <a:solidFill>
                      <a:srgbClr val="3A3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Ubuntu"/>
                        </a:rPr>
                        <a:t>Em bytes</a:t>
                      </a:r>
                    </a:p>
                  </a:txBody>
                  <a:tcPr marL="109728" marR="54864" anchor="ctr">
                    <a:solidFill>
                      <a:srgbClr val="3A3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7A3C"/>
                          </a:solidFill>
                          <a:latin typeface="Lato"/>
                        </a:rPr>
                        <a:t>1 Ki </a:t>
                      </a:r>
                      <a:r>
                        <a:rPr sz="1000">
                          <a:solidFill>
                            <a:srgbClr val="181C23"/>
                          </a:solidFill>
                          <a:latin typeface="Lato"/>
                        </a:rPr>
                        <a:t>Kibibyte</a:t>
                      </a:r>
                    </a:p>
                  </a:txBody>
                  <a:tcPr marL="109728" marR="54864" anchor="ctr"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3"/>
                          </a:solidFill>
                          <a:latin typeface="Lato"/>
                        </a:rPr>
                        <a:t>2¹⁰ → 1.024</a:t>
                      </a:r>
                    </a:p>
                  </a:txBody>
                  <a:tcPr marL="109728" marR="54864" anchor="ctr">
                    <a:solidFill>
                      <a:srgbClr val="F4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B6357"/>
                          </a:solidFill>
                          <a:latin typeface="Lato"/>
                        </a:rPr>
                        <a:t>1 KB </a:t>
                      </a:r>
                      <a:r>
                        <a:rPr sz="1000">
                          <a:solidFill>
                            <a:srgbClr val="5A5E66"/>
                          </a:solidFill>
                          <a:latin typeface="Lato"/>
                        </a:rPr>
                        <a:t>Kilobyte</a:t>
                      </a:r>
                    </a:p>
                  </a:txBody>
                  <a:tcPr marL="109728" marR="54864" anchor="ctr">
                    <a:solidFill>
                      <a:srgbClr val="F1E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A5E66"/>
                          </a:solidFill>
                          <a:latin typeface="Lato"/>
                        </a:rPr>
                        <a:t>10³ → 1.000</a:t>
                      </a:r>
                    </a:p>
                  </a:txBody>
                  <a:tcPr marL="109728" marR="54864" anchor="ctr"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7A3C"/>
                          </a:solidFill>
                          <a:latin typeface="Lato"/>
                        </a:rPr>
                        <a:t>1 Mi </a:t>
                      </a:r>
                      <a:r>
                        <a:rPr sz="1000">
                          <a:solidFill>
                            <a:srgbClr val="181C23"/>
                          </a:solidFill>
                          <a:latin typeface="Lato"/>
                        </a:rPr>
                        <a:t>Mebibyte</a:t>
                      </a:r>
                    </a:p>
                  </a:txBody>
                  <a:tcPr marL="109728" marR="54864" anchor="ctr"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3"/>
                          </a:solidFill>
                          <a:latin typeface="Lato"/>
                        </a:rPr>
                        <a:t>2²⁰ → 1.048.576</a:t>
                      </a:r>
                    </a:p>
                  </a:txBody>
                  <a:tcPr marL="109728" marR="54864" anchor="ctr">
                    <a:solidFill>
                      <a:srgbClr val="F4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B6357"/>
                          </a:solidFill>
                          <a:latin typeface="Lato"/>
                        </a:rPr>
                        <a:t>1 MB </a:t>
                      </a:r>
                      <a:r>
                        <a:rPr sz="1000">
                          <a:solidFill>
                            <a:srgbClr val="5A5E66"/>
                          </a:solidFill>
                          <a:latin typeface="Lato"/>
                        </a:rPr>
                        <a:t>Megabyte</a:t>
                      </a:r>
                    </a:p>
                  </a:txBody>
                  <a:tcPr marL="109728" marR="54864" anchor="ctr">
                    <a:solidFill>
                      <a:srgbClr val="F1E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A5E66"/>
                          </a:solidFill>
                          <a:latin typeface="Lato"/>
                        </a:rPr>
                        <a:t>10⁶ → 1.000.000</a:t>
                      </a:r>
                    </a:p>
                  </a:txBody>
                  <a:tcPr marL="109728" marR="54864" anchor="ctr"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7A3C"/>
                          </a:solidFill>
                          <a:latin typeface="Lato"/>
                        </a:rPr>
                        <a:t>1 Gi </a:t>
                      </a:r>
                      <a:r>
                        <a:rPr sz="1000">
                          <a:solidFill>
                            <a:srgbClr val="181C23"/>
                          </a:solidFill>
                          <a:latin typeface="Lato"/>
                        </a:rPr>
                        <a:t>Gibibyte</a:t>
                      </a:r>
                    </a:p>
                  </a:txBody>
                  <a:tcPr marL="109728" marR="54864" anchor="ctr"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1C23"/>
                          </a:solidFill>
                          <a:latin typeface="Lato"/>
                        </a:rPr>
                        <a:t>2³⁰ → 1.073.741.824</a:t>
                      </a:r>
                    </a:p>
                  </a:txBody>
                  <a:tcPr marL="109728" marR="54864" anchor="ctr">
                    <a:solidFill>
                      <a:srgbClr val="F4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B6357"/>
                          </a:solidFill>
                          <a:latin typeface="Lato"/>
                        </a:rPr>
                        <a:t>1 GB </a:t>
                      </a:r>
                      <a:r>
                        <a:rPr sz="1000">
                          <a:solidFill>
                            <a:srgbClr val="5A5E66"/>
                          </a:solidFill>
                          <a:latin typeface="Lato"/>
                        </a:rPr>
                        <a:t>Gigabyte</a:t>
                      </a:r>
                    </a:p>
                  </a:txBody>
                  <a:tcPr marL="109728" marR="54864" anchor="ctr">
                    <a:solidFill>
                      <a:srgbClr val="F1E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A5E66"/>
                          </a:solidFill>
                          <a:latin typeface="Lato"/>
                        </a:rPr>
                        <a:t>10⁹ → 1.000.000.000</a:t>
                      </a:r>
                    </a:p>
                  </a:txBody>
                  <a:tcPr marL="109728" marR="54864" anchor="ctr"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Why Card"/>
          <p:cNvSpPr/>
          <p:nvPr/>
        </p:nvSpPr>
        <p:spPr>
          <a:xfrm>
            <a:off x="457200" y="3010000"/>
            <a:ext cx="4040520" cy="100000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>
            <a:noFill/>
          </a:ln>
        </p:spPr>
        <p:txBody>
          <a:bodyPr lIns="164592" tIns="82296" rIns="109728" bIns="82296" rtlCol="0" anchor="ctr"/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E7A3C"/>
                </a:solidFill>
                <a:latin typeface="Ubuntu"/>
              </a:rPr>
              <a:t>Por que o “i”?</a:t>
            </a:r>
          </a:p>
          <a:p>
            <a:r>
              <a:rPr sz="1000">
                <a:solidFill>
                  <a:srgbClr val="181C23"/>
                </a:solidFill>
                <a:latin typeface="Lato"/>
              </a:rPr>
              <a:t>O sistema operacional conta a RAM em potências de 2 (1024). O padrão IEC usa o “i” para marcar essa base binária e evitar ambiguidade com o decimal.</a:t>
            </a:r>
          </a:p>
        </p:txBody>
      </p:sp>
      <p:sp>
        <p:nvSpPr>
          <p:cNvPr id="32" name="Practical Card"/>
          <p:cNvSpPr/>
          <p:nvPr/>
        </p:nvSpPr>
        <p:spPr>
          <a:xfrm>
            <a:off x="4646280" y="3010000"/>
            <a:ext cx="4040520" cy="1000000"/>
          </a:xfrm>
          <a:prstGeom prst="roundRect">
            <a:avLst>
              <a:gd name="adj" fmla="val 6000"/>
            </a:avLst>
          </a:prstGeom>
          <a:solidFill>
            <a:srgbClr val="F1EEE4"/>
          </a:solidFill>
          <a:ln>
            <a:noFill/>
          </a:ln>
        </p:spPr>
        <p:txBody>
          <a:bodyPr lIns="164592" tIns="82296" rIns="109728" bIns="82296" rtlCol="0" anchor="ctr"/>
          <a:lstStyle/>
          <a:p>
            <a:pPr>
              <a:spcAft>
                <a:spcPts val="400"/>
              </a:spcAft>
            </a:pPr>
            <a:r>
              <a:rPr sz="1250" b="1" dirty="0">
                <a:solidFill>
                  <a:srgbClr val="B5651D"/>
                </a:solidFill>
                <a:latin typeface="Ubuntu"/>
              </a:rPr>
              <a:t>Na </a:t>
            </a:r>
            <a:r>
              <a:rPr sz="1250" b="1" dirty="0" err="1">
                <a:solidFill>
                  <a:srgbClr val="B5651D"/>
                </a:solidFill>
                <a:latin typeface="Ubuntu"/>
              </a:rPr>
              <a:t>prática</a:t>
            </a:r>
            <a:endParaRPr sz="1250" b="1" dirty="0">
              <a:solidFill>
                <a:srgbClr val="B5651D"/>
              </a:solidFill>
              <a:latin typeface="Ubuntu"/>
            </a:endParaRPr>
          </a:p>
          <a:p>
            <a:pPr>
              <a:spcAft>
                <a:spcPts val="300"/>
              </a:spcAft>
            </a:pPr>
            <a:r>
              <a:rPr sz="1000" dirty="0">
                <a:solidFill>
                  <a:srgbClr val="181C23"/>
                </a:solidFill>
                <a:latin typeface="Lato"/>
              </a:rPr>
              <a:t>•  1 Mi é ~ </a:t>
            </a:r>
            <a:r>
              <a:rPr sz="1000" b="1" dirty="0">
                <a:solidFill>
                  <a:srgbClr val="B5651D"/>
                </a:solidFill>
                <a:latin typeface="Lato"/>
              </a:rPr>
              <a:t>4,8% </a:t>
            </a:r>
            <a:r>
              <a:rPr sz="1000" b="1" dirty="0" err="1">
                <a:solidFill>
                  <a:srgbClr val="B5651D"/>
                </a:solidFill>
                <a:latin typeface="Lato"/>
              </a:rPr>
              <a:t>maior</a:t>
            </a:r>
            <a:r>
              <a:rPr sz="1000" dirty="0">
                <a:solidFill>
                  <a:srgbClr val="181C23"/>
                </a:solidFill>
                <a:latin typeface="Lato"/>
              </a:rPr>
              <a:t> </a:t>
            </a:r>
            <a:r>
              <a:rPr sz="1000" dirty="0" err="1">
                <a:solidFill>
                  <a:srgbClr val="181C23"/>
                </a:solidFill>
                <a:latin typeface="Lato"/>
              </a:rPr>
              <a:t>que</a:t>
            </a:r>
            <a:r>
              <a:rPr sz="1000" dirty="0">
                <a:solidFill>
                  <a:srgbClr val="181C23"/>
                </a:solidFill>
                <a:latin typeface="Lato"/>
              </a:rPr>
              <a:t> 1 MB.</a:t>
            </a:r>
          </a:p>
          <a:p>
            <a:r>
              <a:rPr sz="1000" dirty="0">
                <a:solidFill>
                  <a:srgbClr val="181C23"/>
                </a:solidFill>
                <a:latin typeface="Lato"/>
              </a:rPr>
              <a:t>•  1 Gi é ~ </a:t>
            </a:r>
            <a:r>
              <a:rPr sz="1000" b="1" dirty="0">
                <a:solidFill>
                  <a:srgbClr val="B5651D"/>
                </a:solidFill>
                <a:latin typeface="Lato"/>
              </a:rPr>
              <a:t>7,3% </a:t>
            </a:r>
            <a:r>
              <a:rPr sz="1000" b="1" dirty="0" err="1">
                <a:solidFill>
                  <a:srgbClr val="B5651D"/>
                </a:solidFill>
                <a:latin typeface="Lato"/>
              </a:rPr>
              <a:t>maior</a:t>
            </a:r>
            <a:r>
              <a:rPr sz="1000" dirty="0">
                <a:solidFill>
                  <a:srgbClr val="181C23"/>
                </a:solidFill>
                <a:latin typeface="Lato"/>
              </a:rPr>
              <a:t> </a:t>
            </a:r>
            <a:r>
              <a:rPr sz="1000" dirty="0" err="1">
                <a:solidFill>
                  <a:srgbClr val="181C23"/>
                </a:solidFill>
                <a:latin typeface="Lato"/>
              </a:rPr>
              <a:t>que</a:t>
            </a:r>
            <a:r>
              <a:rPr sz="1000" dirty="0">
                <a:solidFill>
                  <a:srgbClr val="181C23"/>
                </a:solidFill>
                <a:latin typeface="Lato"/>
              </a:rPr>
              <a:t> 1 GB.</a:t>
            </a:r>
          </a:p>
        </p:txBody>
      </p:sp>
      <p:sp>
        <p:nvSpPr>
          <p:cNvPr id="33" name="Tip Band"/>
          <p:cNvSpPr/>
          <p:nvPr/>
        </p:nvSpPr>
        <p:spPr>
          <a:xfrm>
            <a:off x="457200" y="4070000"/>
            <a:ext cx="8229600" cy="47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noFill/>
          </a:ln>
        </p:spPr>
        <p:txBody>
          <a:bodyPr lIns="164592" tIns="45720" rIns="109728" bIns="45720" rtlCol="0" anchor="ctr"/>
          <a:lstStyle/>
          <a:p>
            <a:r>
              <a:rPr sz="1050" b="1" dirty="0" err="1">
                <a:solidFill>
                  <a:srgbClr val="50E550"/>
                </a:solidFill>
                <a:latin typeface="Lato"/>
              </a:rPr>
              <a:t>Dica</a:t>
            </a:r>
            <a:r>
              <a:rPr sz="1050" b="1" dirty="0">
                <a:solidFill>
                  <a:srgbClr val="50E550"/>
                </a:solidFill>
                <a:latin typeface="Lato"/>
              </a:rPr>
              <a:t>: 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nos</a:t>
            </a:r>
            <a:r>
              <a:rPr sz="1050" dirty="0">
                <a:solidFill>
                  <a:srgbClr val="E8E6DF"/>
                </a:solidFill>
                <a:latin typeface="Lato"/>
              </a:rPr>
              <a:t> manifests use sempre </a:t>
            </a:r>
            <a:r>
              <a:rPr sz="1050" b="1" dirty="0">
                <a:solidFill>
                  <a:srgbClr val="FFFFFF"/>
                </a:solidFill>
                <a:latin typeface="Consolas"/>
              </a:rPr>
              <a:t>Mi</a:t>
            </a:r>
            <a:r>
              <a:rPr sz="1050" dirty="0">
                <a:solidFill>
                  <a:srgbClr val="E8E6DF"/>
                </a:solidFill>
                <a:latin typeface="Lato"/>
              </a:rPr>
              <a:t>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ou</a:t>
            </a:r>
            <a:r>
              <a:rPr sz="1050" dirty="0">
                <a:solidFill>
                  <a:srgbClr val="E8E6DF"/>
                </a:solidFill>
                <a:latin typeface="Lato"/>
              </a:rPr>
              <a:t> </a:t>
            </a:r>
            <a:r>
              <a:rPr sz="1050" b="1" dirty="0">
                <a:solidFill>
                  <a:srgbClr val="FFFFFF"/>
                </a:solidFill>
                <a:latin typeface="Consolas"/>
              </a:rPr>
              <a:t>Gi</a:t>
            </a:r>
            <a:r>
              <a:rPr sz="1050" dirty="0">
                <a:solidFill>
                  <a:srgbClr val="E8E6DF"/>
                </a:solidFill>
                <a:latin typeface="Lato"/>
              </a:rPr>
              <a:t> (ex.: </a:t>
            </a:r>
            <a:r>
              <a:rPr sz="1050" b="1" dirty="0">
                <a:solidFill>
                  <a:srgbClr val="F2A93B"/>
                </a:solidFill>
                <a:latin typeface="Consolas"/>
              </a:rPr>
              <a:t>512Mi</a:t>
            </a:r>
            <a:r>
              <a:rPr sz="1050" dirty="0">
                <a:solidFill>
                  <a:srgbClr val="E8E6DF"/>
                </a:solidFill>
                <a:latin typeface="Lato"/>
              </a:rPr>
              <a:t>, </a:t>
            </a:r>
            <a:r>
              <a:rPr sz="1050" b="1" dirty="0">
                <a:solidFill>
                  <a:srgbClr val="F2A93B"/>
                </a:solidFill>
                <a:latin typeface="Consolas"/>
              </a:rPr>
              <a:t>2Gi</a:t>
            </a:r>
            <a:r>
              <a:rPr sz="1050" dirty="0">
                <a:solidFill>
                  <a:srgbClr val="E8E6DF"/>
                </a:solidFill>
                <a:latin typeface="Lato"/>
              </a:rPr>
              <a:t>) — é a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precisão</a:t>
            </a:r>
            <a:r>
              <a:rPr sz="1050" dirty="0">
                <a:solidFill>
                  <a:srgbClr val="E8E6DF"/>
                </a:solidFill>
                <a:latin typeface="Lato"/>
              </a:rPr>
              <a:t>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exata</a:t>
            </a:r>
            <a:r>
              <a:rPr sz="1050" dirty="0">
                <a:solidFill>
                  <a:srgbClr val="E8E6DF"/>
                </a:solidFill>
                <a:latin typeface="Lato"/>
              </a:rPr>
              <a:t>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que</a:t>
            </a:r>
            <a:r>
              <a:rPr sz="1050" dirty="0">
                <a:solidFill>
                  <a:srgbClr val="E8E6DF"/>
                </a:solidFill>
                <a:latin typeface="Lato"/>
              </a:rPr>
              <a:t> o SO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usa</a:t>
            </a:r>
            <a:r>
              <a:rPr sz="1050" dirty="0">
                <a:solidFill>
                  <a:srgbClr val="E8E6DF"/>
                </a:solidFill>
                <a:latin typeface="Lato"/>
              </a:rPr>
              <a:t> para </a:t>
            </a:r>
            <a:r>
              <a:rPr sz="1050" dirty="0" err="1">
                <a:solidFill>
                  <a:srgbClr val="E8E6DF"/>
                </a:solidFill>
                <a:latin typeface="Lato"/>
              </a:rPr>
              <a:t>gerenciar</a:t>
            </a:r>
            <a:r>
              <a:rPr sz="1050" dirty="0">
                <a:solidFill>
                  <a:srgbClr val="E8E6DF"/>
                </a:solidFill>
                <a:latin typeface="Lato"/>
              </a:rPr>
              <a:t> a 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>
                <a:solidFill>
                  <a:srgbClr val="5A5E66"/>
                </a:solidFill>
                <a:latin typeface="Lato"/>
              </a:rPr>
              <a:t> |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requests e limits em um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reserva 64Mi/250m, teto de 128Mi/500m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v1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kind: Pod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metadata: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name: frontend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spec: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containers: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- name: app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image: images.my-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company.example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/app:v4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resources: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requests: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memory: "64Mi"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cpu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"250m"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limits: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memory: "128Mi"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cpu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"500m"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HPA — Horizontal Pod Autoscaler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Escala 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número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Pods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automaticamente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conforme</a:t>
            </a:r>
            <a:r>
              <a:rPr sz="1500" dirty="0">
                <a:solidFill>
                  <a:srgbClr val="181C23"/>
                </a:solidFill>
                <a:latin typeface="Lato"/>
              </a:rPr>
              <a:t> a carga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Métricas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comuns</a:t>
            </a:r>
            <a:r>
              <a:rPr sz="1500" dirty="0">
                <a:solidFill>
                  <a:srgbClr val="181C23"/>
                </a:solidFill>
                <a:latin typeface="Lato"/>
              </a:rPr>
              <a:t>: CPU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memória</a:t>
            </a:r>
            <a:r>
              <a:rPr sz="1500" dirty="0">
                <a:solidFill>
                  <a:srgbClr val="181C23"/>
                </a:solidFill>
                <a:latin typeface="Lato"/>
              </a:rPr>
              <a:t>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ou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métricas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customizadas</a:t>
            </a:r>
            <a:r>
              <a:rPr sz="15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Baseia-se no percentual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sobre</a:t>
            </a:r>
            <a:r>
              <a:rPr sz="1500" dirty="0">
                <a:solidFill>
                  <a:srgbClr val="181C23"/>
                </a:solidFill>
                <a:latin typeface="Lato"/>
              </a:rPr>
              <a:t> 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limite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definido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Define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mínimo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máximo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réplicas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kubectl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autoscale</a:t>
            </a:r>
            <a:r>
              <a:rPr sz="1500" dirty="0">
                <a:solidFill>
                  <a:srgbClr val="181C23"/>
                </a:solidFill>
                <a:latin typeface="Lato"/>
              </a:rPr>
              <a:t> deployment ... --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cpu</a:t>
            </a:r>
            <a:r>
              <a:rPr sz="1500" dirty="0">
                <a:solidFill>
                  <a:srgbClr val="181C23"/>
                </a:solidFill>
                <a:latin typeface="Lato"/>
              </a:rPr>
              <a:t>-percent=50 --min=1 --max=10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Criando um HPA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Crie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autoscaler</a:t>
            </a:r>
            <a:r>
              <a:rPr sz="1300" dirty="0">
                <a:solidFill>
                  <a:srgbClr val="181C23"/>
                </a:solidFill>
                <a:latin typeface="Lato"/>
              </a:rPr>
              <a:t> para o Deployment: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autoscale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deployment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--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cpu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-percent=50 --min=1 --max=10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Verifique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HPA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criado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hpa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--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cpu</a:t>
            </a:r>
            <a:r>
              <a:rPr sz="1300" dirty="0">
                <a:solidFill>
                  <a:srgbClr val="181C23"/>
                </a:solidFill>
                <a:latin typeface="Lato"/>
              </a:rPr>
              <a:t>-percent=50: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escala</a:t>
            </a:r>
            <a:r>
              <a:rPr sz="1300" dirty="0">
                <a:solidFill>
                  <a:srgbClr val="181C23"/>
                </a:solidFill>
                <a:latin typeface="Lato"/>
              </a:rPr>
              <a:t> ao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atingir</a:t>
            </a:r>
            <a:r>
              <a:rPr sz="1300" dirty="0">
                <a:solidFill>
                  <a:srgbClr val="181C23"/>
                </a:solidFill>
                <a:latin typeface="Lato"/>
              </a:rPr>
              <a:t> 50% do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limite</a:t>
            </a:r>
            <a:r>
              <a:rPr sz="1300" dirty="0">
                <a:solidFill>
                  <a:srgbClr val="181C23"/>
                </a:solidFill>
                <a:latin typeface="Lato"/>
              </a:rPr>
              <a:t> de CPU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--min=1 / --max=10: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limites</a:t>
            </a:r>
            <a:r>
              <a:rPr sz="1300" dirty="0">
                <a:solidFill>
                  <a:srgbClr val="181C23"/>
                </a:solidFill>
                <a:latin typeface="Lato"/>
              </a:rPr>
              <a:t> inferior e superior de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réplicas</a:t>
            </a:r>
            <a:endParaRPr sz="13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Criando um HPA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2899" y="4716666"/>
            <a:ext cx="84124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1CDD43-441D-693B-C248-E7C9B750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0466"/>
            <a:ext cx="9144000" cy="7625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 err="1">
                <a:solidFill>
                  <a:srgbClr val="181C23"/>
                </a:solidFill>
                <a:latin typeface="Ubuntu"/>
              </a:rPr>
              <a:t>LimitRange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— </a:t>
            </a:r>
            <a:r>
              <a:rPr sz="2300" b="1" dirty="0" err="1">
                <a:solidFill>
                  <a:srgbClr val="181C23"/>
                </a:solidFill>
                <a:latin typeface="Ubuntu"/>
              </a:rPr>
              <a:t>limites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</a:t>
            </a:r>
            <a:r>
              <a:rPr sz="2300" b="1" dirty="0" err="1">
                <a:solidFill>
                  <a:srgbClr val="181C23"/>
                </a:solidFill>
                <a:latin typeface="Ubuntu"/>
              </a:rPr>
              <a:t>por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namespace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Aplica mínimos e máximos de recursos por container/Pod no namespace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Pode recusar Pods criados fora dos limites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Pode definir requests/limits padrão para Pods que não os declararam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Governança: impede abuso de recursos por qualquer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137F9-6043-F58D-8210-84A7D9DB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1F7C761A-B012-5607-8112-CE6F5E245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9C6B5-3536-E598-C2DB-BACC3554A8E6}"/>
              </a:ext>
            </a:extLst>
          </p:cNvPr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300" b="1" dirty="0" err="1">
                <a:solidFill>
                  <a:srgbClr val="181C23"/>
                </a:solidFill>
                <a:latin typeface="Ubuntu"/>
              </a:rPr>
              <a:t>LimitRange</a:t>
            </a:r>
            <a:r>
              <a:rPr lang="pt-PT" sz="2300" b="1" dirty="0">
                <a:solidFill>
                  <a:srgbClr val="181C23"/>
                </a:solidFill>
                <a:latin typeface="Ubuntu"/>
              </a:rPr>
              <a:t> — limites por </a:t>
            </a:r>
            <a:r>
              <a:rPr lang="pt-PT" sz="2300" b="1" dirty="0" err="1">
                <a:solidFill>
                  <a:srgbClr val="181C23"/>
                </a:solidFill>
                <a:latin typeface="Ubuntu"/>
              </a:rPr>
              <a:t>namespace</a:t>
            </a:r>
            <a:endParaRPr lang="pt-PT" sz="2300" b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AF65C-9989-3FEF-9E42-AA50C727C98D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1D20D-0853-0436-2062-A9D6E073400C}"/>
              </a:ext>
            </a:extLst>
          </p:cNvPr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i="1" dirty="0">
                <a:solidFill>
                  <a:srgbClr val="2371FF"/>
                </a:solidFill>
                <a:latin typeface="Lato"/>
              </a:rPr>
              <a:t>Crie o arquivo </a:t>
            </a:r>
            <a:r>
              <a:rPr lang="pt-PT" sz="1100" i="1" dirty="0" err="1">
                <a:solidFill>
                  <a:srgbClr val="2371FF"/>
                </a:solidFill>
                <a:latin typeface="Lato"/>
              </a:rPr>
              <a:t>limitrange.yaml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4891DC-0084-ED3A-CF29-5736D2C3E599}"/>
              </a:ext>
            </a:extLst>
          </p:cNvPr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v1</a:t>
            </a: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LimitRange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cpu-aplicacao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spec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limits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-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max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cpu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"800m"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min: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cpu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"200m"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type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Container</a:t>
            </a:r>
            <a:endParaRPr sz="110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F32F1-F9BF-55FF-C79D-2F144E814378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84617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43CDE-9457-E58E-6679-DB788B29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79156256-C48E-4956-FEB4-F835D170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3C7310-C562-C8FC-4517-30D4EEF709E8}"/>
              </a:ext>
            </a:extLst>
          </p:cNvPr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300" b="1" dirty="0" err="1">
                <a:solidFill>
                  <a:srgbClr val="181C23"/>
                </a:solidFill>
                <a:latin typeface="Ubuntu"/>
              </a:rPr>
              <a:t>LimitRange</a:t>
            </a:r>
            <a:r>
              <a:rPr lang="pt-PT" sz="2300" b="1" dirty="0">
                <a:solidFill>
                  <a:srgbClr val="181C23"/>
                </a:solidFill>
                <a:latin typeface="Ubuntu"/>
              </a:rPr>
              <a:t> — limites por </a:t>
            </a:r>
            <a:r>
              <a:rPr lang="pt-PT" sz="2300" b="1" dirty="0" err="1">
                <a:solidFill>
                  <a:srgbClr val="181C23"/>
                </a:solidFill>
                <a:latin typeface="Ubuntu"/>
              </a:rPr>
              <a:t>namespace</a:t>
            </a:r>
            <a:endParaRPr lang="pt-PT" sz="2300" b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94CD1-85E6-8785-17EF-5279A1557369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9C630-7CE7-8D61-31A0-BBF7E2534880}"/>
              </a:ext>
            </a:extLst>
          </p:cNvPr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i="1" dirty="0">
                <a:solidFill>
                  <a:srgbClr val="2371FF"/>
                </a:solidFill>
                <a:latin typeface="Lato"/>
              </a:rPr>
              <a:t>Crie o arquivo </a:t>
            </a:r>
            <a:r>
              <a:rPr lang="pt-PT" sz="1100" i="1" dirty="0" err="1">
                <a:solidFill>
                  <a:srgbClr val="2371FF"/>
                </a:solidFill>
                <a:latin typeface="Lato"/>
              </a:rPr>
              <a:t>pod-limit.yaml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4D89AD-5F2A-A434-6A95-3F9781B1631D}"/>
              </a:ext>
            </a:extLst>
          </p:cNvPr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v1</a:t>
            </a: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Pod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limit-cpu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spec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containers: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-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limit-cpu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image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nginx:1.14.2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resources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limits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cpu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"1500m"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requests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cpu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"100m"</a:t>
            </a:r>
            <a:endParaRPr sz="110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13034-546C-610A-230C-3C08A2B03C4B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361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LimitRange na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Aplique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um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LimitRange</a:t>
            </a:r>
            <a:r>
              <a:rPr sz="1300" dirty="0">
                <a:solidFill>
                  <a:srgbClr val="181C23"/>
                </a:solidFill>
                <a:latin typeface="Lato"/>
              </a:rPr>
              <a:t> (min 200m, max 800m de CPU) no namespace: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apply -f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limitrange.yaml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Inspecione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LimitRange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limitrange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cpu-aplicacao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-o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yaml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Tente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criar</a:t>
            </a:r>
            <a:r>
              <a:rPr sz="1300" dirty="0">
                <a:solidFill>
                  <a:srgbClr val="181C23"/>
                </a:solidFill>
                <a:latin typeface="Lato"/>
              </a:rPr>
              <a:t> um Pod fora dos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limites</a:t>
            </a:r>
            <a:r>
              <a:rPr sz="1300" dirty="0">
                <a:solidFill>
                  <a:srgbClr val="181C23"/>
                </a:solidFill>
                <a:latin typeface="Lato"/>
              </a:rPr>
              <a:t>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será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recusado</a:t>
            </a:r>
            <a:r>
              <a:rPr sz="1300" dirty="0">
                <a:solidFill>
                  <a:srgbClr val="181C23"/>
                </a:solidFill>
                <a:latin typeface="Lato"/>
              </a:rPr>
              <a:t>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create -f pod-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limit.yaml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Erro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esperado</a:t>
            </a:r>
            <a:r>
              <a:rPr sz="1300" dirty="0">
                <a:solidFill>
                  <a:srgbClr val="181C23"/>
                </a:solidFill>
                <a:latin typeface="Lato"/>
              </a:rPr>
              <a:t>: request 100m &lt;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mínimo</a:t>
            </a:r>
            <a:r>
              <a:rPr sz="1300" dirty="0">
                <a:solidFill>
                  <a:srgbClr val="181C23"/>
                </a:solidFill>
                <a:latin typeface="Lato"/>
              </a:rPr>
              <a:t> 200m; limit 1500m &gt;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máximo</a:t>
            </a:r>
            <a:r>
              <a:rPr sz="1300" dirty="0">
                <a:solidFill>
                  <a:srgbClr val="181C23"/>
                </a:solidFill>
                <a:latin typeface="Lato"/>
              </a:rPr>
              <a:t> 800m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LimitRange na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329" y="4040517"/>
            <a:ext cx="84353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05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761C4-A337-5FC5-290B-5D31D0CC7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10" y="1102982"/>
            <a:ext cx="8891239" cy="29375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Estratégias: RollingUpdate, Recreate, Blue/Green, Canary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Taints (repelem) + Tolerations (autorizam) controlam a alocação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requests reservam, limits limitam — sempre defina em produção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HPA escala Pods automaticamente; LimitRange governa o namespace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Próxima aula: Services, Ingress e Volumes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3747</Words>
  <Application>Microsoft Office PowerPoint</Application>
  <PresentationFormat>On-screen Show (16:9)</PresentationFormat>
  <Paragraphs>332</Paragraphs>
  <Slides>33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Consolas</vt:lpstr>
      <vt:lpstr>Lato</vt:lpstr>
      <vt:lpstr>Ubuntu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Benedicto, Everton Jose (SI IT VC PES PLT)</dc:creator>
  <cp:keywords/>
  <dc:description>generated using python-pptx</dc:description>
  <cp:lastModifiedBy>Benedicto, Everton Jose (SI IT VC PES PLT)</cp:lastModifiedBy>
  <cp:revision>22</cp:revision>
  <dcterms:created xsi:type="dcterms:W3CDTF">2013-01-27T09:14:16Z</dcterms:created>
  <dcterms:modified xsi:type="dcterms:W3CDTF">2026-07-27T21:46:17Z</dcterms:modified>
  <cp:category/>
</cp:coreProperties>
</file>