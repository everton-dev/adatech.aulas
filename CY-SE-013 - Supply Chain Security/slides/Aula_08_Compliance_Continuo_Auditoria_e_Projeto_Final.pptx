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Abertura da Aula 08: Compliance Contínuo, Auditoria e Projeto Final. Apresente o tema, a pergunta geradora e situe a aula na progressão do módulo. Confirme que os laboratórios da aula anterior foram concluídos.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Mostre onde estamos no cronograma (card escuro). Lembre os próximos encontros e, na Aula 7, avise que não há aula em 02/11 (Finados). O último encontro, 06/11, é dedicado às apresentações e rubricas.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Relembre os combinados da turma rapidamente: câmeras ligadas, pontualidade, participação e mão levantada para dúvidas. Informe o horário do intervalo de 15 minutos.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Pergunte como a organização comprova controles entre auditorias. Compliance contínuo só é viável quando os controles existem como código — é a junção das 7 aulas.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Cada camada tem componentes típicos. Evidência precisa ser recuperável e verificável de forma independente pelo auditor.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Percorra a figura e nomeie a evidência de cada elo. A mesma evidência pode atender vários frameworks ao mesmo tempo.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Deixe claro: mapear controle a framework não é certificação. É a base probatória que o auditor vai verificar.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Nem o time interno deve conseguir alterar a evidência. Composição típica: artefato assinado (Rekor) + relatório em bucket com Object Lock + decisões em log com hash chain.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Todo KPI precisa de numerador, denominador e fonte de dados. Taxa de violação de policy deve ter tendência decrescente, não meta fixa.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O auditor recebe o CSV e pode validar cada linha de forma independente. O script Python que consome a API do Dependency-Track complementa com CVEs e licenças.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12 min</a:t>
            </a:r>
          </a:p>
          <a:p/>
          <a:p>
            <a:r>
              <a:t>Mostre a estrutura do repositório e os workflows release.yml e verify.yml. Rubrica: insuficiente (0–39) a excelente (90–100); pipeline sem intervenção manual e apresentação valem 15 pontos cada.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O cenário adversarial é obrigatório: capture a saída do admission webhook negando como evidência. A banca pode pedir qualquer evidência — tudo precisa estar recuperável.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70 min</a:t>
            </a:r>
          </a:p>
          <a:p/>
          <a:p>
            <a:r>
              <a:t>Distribua responsabilidades por camada nos grupos. Cada grupo deve provar uma decisão com log, digest ou atestação antes de encerrar.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6 min</a:t>
            </a:r>
          </a:p>
          <a:p/>
          <a:p>
            <a:r>
              <a:t>Recapitule a progressão do módulo: política → inventário → cadeia → compliance. Combine horário e ordem das apresentações.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Reforce prazos de entrega do projeto e das atividades do LMS.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2743500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560000"/>
            <a:ext cx="24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A6F750"/>
                </a:solidFill>
                <a:latin typeface="Segoe UI Light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80000"/>
            <a:ext cx="6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Segoe UI Semibold"/>
              </a:rPr>
              <a:t>AULA 08  ·  Terça, 03/11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60000"/>
            <a:ext cx="66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81C23"/>
                </a:solidFill>
                <a:latin typeface="Segoe UI Semibold"/>
              </a:rPr>
              <a:t>Compliance Contínuo, Auditoria e Projeto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Segoe UI Light"/>
              </a:rPr>
              <a:t>Como evidenciar controle de ponta a ponta da cadeia em uma auditoria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Segoe UI"/>
              </a:rPr>
              <a:t>Módulo · CY-SE-013 - Supply Chain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16/10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Policy as Code e Compliance Automatizado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19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19/10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Linguagem Rego e Escrita de Políticas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21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20/10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Enforcement: OPA Gatekeeper e Admission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23/10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SBOM: Fundamentos, SPDX e CycloneDX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19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19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26/10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Análise de SBOM e Gestão de Dependências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21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21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27/10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Supply Chain Security: Ataques e Frameworks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30/10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Integridade e Procedência de Artefatos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19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6F750"/>
                </a:solidFill>
                <a:latin typeface="Segoe UI Semibold"/>
              </a:rPr>
              <a:t>Ter 03/11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DF8"/>
                </a:solidFill>
                <a:latin typeface="Segoe UI"/>
              </a:rPr>
              <a:t>Compliance Contínuo, Auditoria e Projeto Final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21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06/11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Concluir atividades e preencher rubricas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Segoe UI Semibold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Segoe UI Semibold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00" y="2446148"/>
            <a:ext cx="2839028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Câmera ligada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+ mão levantada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6F750"/>
                </a:solidFill>
                <a:latin typeface="Segoe UI Semibold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00" y="4273500"/>
            <a:ext cx="2839028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81C23"/>
                </a:solidFill>
                <a:latin typeface="Segoe UI Semibold"/>
              </a:rPr>
              <a:t>INTERVALO ·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PROBLEMA GERADOR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Compliance pontual vs. compliance contínuo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00" y="1746148"/>
            <a:ext cx="38303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Segoe UI Semibold"/>
              </a:rPr>
              <a:t>Pontual</a:t>
            </a:r>
          </a:p>
        </p:txBody>
      </p:sp>
      <p:sp>
        <p:nvSpPr>
          <p:cNvPr id="9" name="Oval 8"/>
          <p:cNvSpPr/>
          <p:nvPr/>
        </p:nvSpPr>
        <p:spPr>
          <a:xfrm>
            <a:off x="461700" y="2445817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700" y="2206148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Campanha anual de coleta de evidências</a:t>
            </a:r>
          </a:p>
        </p:txBody>
      </p:sp>
      <p:sp>
        <p:nvSpPr>
          <p:cNvPr id="11" name="Oval 10"/>
          <p:cNvSpPr/>
          <p:nvPr/>
        </p:nvSpPr>
        <p:spPr>
          <a:xfrm>
            <a:off x="461700" y="3065155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700" y="2825486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Planilhas e capturas de tela</a:t>
            </a:r>
          </a:p>
        </p:txBody>
      </p:sp>
      <p:sp>
        <p:nvSpPr>
          <p:cNvPr id="13" name="Oval 12"/>
          <p:cNvSpPr/>
          <p:nvPr/>
        </p:nvSpPr>
        <p:spPr>
          <a:xfrm>
            <a:off x="461700" y="3684493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700" y="3444824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Alto risco de edição humana</a:t>
            </a:r>
          </a:p>
        </p:txBody>
      </p:sp>
      <p:sp>
        <p:nvSpPr>
          <p:cNvPr id="15" name="Oval 14"/>
          <p:cNvSpPr/>
          <p:nvPr/>
        </p:nvSpPr>
        <p:spPr>
          <a:xfrm>
            <a:off x="461700" y="4303831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700" y="4064162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Desvio detectado meses depois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20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20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2000" y="1746148"/>
            <a:ext cx="38303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81C23"/>
                </a:solidFill>
                <a:latin typeface="Segoe UI Semibold"/>
              </a:rPr>
              <a:t>Contínuo</a:t>
            </a:r>
          </a:p>
        </p:txBody>
      </p:sp>
      <p:sp>
        <p:nvSpPr>
          <p:cNvPr id="20" name="Oval 19"/>
          <p:cNvSpPr/>
          <p:nvPr/>
        </p:nvSpPr>
        <p:spPr>
          <a:xfrm>
            <a:off x="4852000" y="2445817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2000" y="2206148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Evidência é subproduto do pipeline</a:t>
            </a:r>
          </a:p>
        </p:txBody>
      </p:sp>
      <p:sp>
        <p:nvSpPr>
          <p:cNvPr id="22" name="Oval 21"/>
          <p:cNvSpPr/>
          <p:nvPr/>
        </p:nvSpPr>
        <p:spPr>
          <a:xfrm>
            <a:off x="4852000" y="3065155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2000" y="2825486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Logs estruturados e assinados na origem</a:t>
            </a:r>
          </a:p>
        </p:txBody>
      </p:sp>
      <p:sp>
        <p:nvSpPr>
          <p:cNvPr id="24" name="Oval 23"/>
          <p:cNvSpPr/>
          <p:nvPr/>
        </p:nvSpPr>
        <p:spPr>
          <a:xfrm>
            <a:off x="4852000" y="3684493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2000" y="3444824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Baixo risco de falsificação</a:t>
            </a:r>
          </a:p>
        </p:txBody>
      </p:sp>
      <p:sp>
        <p:nvSpPr>
          <p:cNvPr id="26" name="Oval 25"/>
          <p:cNvSpPr/>
          <p:nvPr/>
        </p:nvSpPr>
        <p:spPr>
          <a:xfrm>
            <a:off x="4852000" y="4303831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2000" y="4064162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Desvio detectado em minutos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Evidência automatizada em quatro camadas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17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170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70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Produzir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70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OPA decision logs, Cosign bundles, SBOMs, relatórios Trivy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018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518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618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185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185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Coletar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85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Dependency-Track, OPA bundle service, Loki, Elasticsearch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4200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920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020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200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200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Imutabilizar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200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Object Lock, Rekor, WORM, hash chain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821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321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421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4215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215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Apresentar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215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Grafana, Kibana, relatórios CSV para GRC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MAPA DE EVIDÊNCIAS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Cada etapa da cadeia deixa uma prova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1700" y="1976089"/>
            <a:ext cx="4394712" cy="2317469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upply-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036089"/>
            <a:ext cx="4274712" cy="21974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Segoe UI"/>
              </a:rPr>
              <a:t>Fonte: clavis.com.br — Ameaças à cadeia de software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76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86412" y="176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PR / merge: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decisão OPA, approver, commit assinado (Gitsign → Rekor)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0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6412" y="240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Build: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SBOM e provenance anexados via Cosign attest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04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6412" y="304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Registry: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bundle Sigstore: certificado, assinatura, entrada Rekor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68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6412" y="368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Deploy / runtime: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decisão do admission controller, eventos Falco, violations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Um controle, várias exigências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NIST SSDF PS.2.1: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cosign sign em todo release → atestação no registry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SLSA Build L3: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builder hospedado + provenance assinada e não falsificável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ISO 27001 A.8.28: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SAST obrigatório no PR → findings SARIF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PCI DSS 6.2.4: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Trivy + Dependency-Track → tickets com CVE e correção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LGPD art. 46: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medidas técnicas documentadas → mapeamento SSDF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Uma única câmera de segurança bem posicionada serve para o seguro, para a polícia e para o condomínio. Evidência boa é reaproveitável.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NÃO-REPÚDIO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Trilha de auditoria imutável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Object Lock: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S3, Azure Blob Immutable, GCS Bucket Lock — retenção de 7 anos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38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38361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35361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Append-only log: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Rekor, CloudTrail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99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99108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96108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Hash chain: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cada registro referencia o hash do anterior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59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59855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56855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Assinatura digital: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Cosign, KMS — ninguém altera depois do fato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420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00" y="420602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417602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Transparência pública: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Rekor, Certificate Transparency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INDICADORES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KPIs da postura da cadeia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Releases com SBOM: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releases_com_sbom / releases_totais → 100%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38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38361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35361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Imagens assinadas em produção: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→ 100%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99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99108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96108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MTTR de CVE crítica: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data_correção − data_publicação → &lt; 7 dias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59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59855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56855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Cobertura de admission policies: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clusters_com_gate / clusters → 100%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420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00" y="420602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417602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Cobertura SLSA L3: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pipelines_l3 / pipelines → &gt; 80%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RELATÓRIO AUTOMATIZADO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Conformidade PS.2.1 em um 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Um relatório é uma consulta sobre as evidências — com link para o Rekor de cada entrada: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MES=$(date +%Y-%m)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gh release list --limit 50 --json tagName,publishedAt \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| jq --arg m "$MES" '.[] | select(.publishedAt | startswith($m))' &gt; releases.json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ID='^https://github.com/empresa/.*'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ISS=https://token.actions.githubusercontent.com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jq -r '.tagName' releases.json | while read TAG; do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IMG="ghcr.io/empresa/api-pagamentos:$TAG"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SIG=$(cosign verify "$IMG" --certificate-identity-regexp "$ID" \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    --certificate-oidc-issuer "$ISS" &gt;/dev/null 2&gt;&amp;1 &amp;&amp; echo sim || echo nao)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PROV=$(cosign verify-attestation "$IMG" --type slsaprovenance \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    --certificate-identity-regexp "$ID" --certificate-oidc-issuer "$ISS" \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FFFDF8"/>
                </a:solidFill>
                <a:latin typeface="Consolas"/>
              </a:rPr>
              <a:t>        &gt;/dev/null 2&gt;&amp;1 &amp;&amp; echo sim || echo nao)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echo "$TAG,$SIG,$PROV" &gt;&gt; conformidade.csv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PROJETO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api-pagamentos: requisitos obrigatórios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Policy as Code: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5+ policies Rego com opa test + 1 policy bloqueante no admission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38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38361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35361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SBOM: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CycloneDX e SPDX no pipeline; ingestão no Dependency-Track; allowlist de licenças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99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99108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96108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Cadeia: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Cosign keyless, SLSA Provenance anexada, gate que rejeita imagem sem assinatura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59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59855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56855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Auditoria: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relatório mensal automatizado + dashboard com 4 KPIs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420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00" y="420602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417602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Documentação: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README com mapeamento NIST SSDF, SLSA e ISO 27001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BANCA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Apresentação em 15 minutos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17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170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70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Contexto · 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70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A aplicação e os riscos que enfrenta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5382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82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1382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382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382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Demo · 3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82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Pipeline do commit ao deploy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4594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9594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0594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94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94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Ataque · 3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594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Imagem não assinada → bloqueio no gate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3806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8806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9806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9806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806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Evidência · 2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8806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Prova pedida pela banca: assinatura, SBOM ou provenance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3018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8018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9018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9018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018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Framework + Q&amp;A · 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018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Mapeamento escolhido pela banca e perguntas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Laboratório: pipeline final integrador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1700" y="178788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00" y="178788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" y="174614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Integrar: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policies Rego + SBOM (Syft) + scan (Trivy) no release.yml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700" y="219961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00" y="224135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00" y="224135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700" y="219961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Assinar e atestar: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cosign sign + attest (SBOM, vuln) + slsa-github-generator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700" y="265308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00" y="269482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00" y="269482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00" y="265308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Gate: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ClusterImagePolicy exigindo assinatura, SBOM e provenance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10655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700" y="314829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00" y="314829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" y="310655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Adversarial: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kubectl run intruso --image=...:fake → denied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1700" y="356002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00" y="360176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00" y="360176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" y="356002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Evidenciar: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gera_relatorio.sh, consulta_dt.py e tabela de frameworks no README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1700" y="4163500"/>
            <a:ext cx="8520600" cy="62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1700" y="4163500"/>
            <a:ext cx="70000" cy="6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700" y="4233500"/>
            <a:ext cx="81206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✅ ENTREGÁVEL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700" y="4453500"/>
            <a:ext cx="8120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181C23"/>
                </a:solidFill>
                <a:latin typeface="Segoe UI"/>
              </a:rPr>
              <a:t>Repositório funcional, evidências do bloqueio, CSV de conformidade e README mapeado. Runbook: labs/Aula_08_Runbook.md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Compliance contínuo: evidência como subproduto do pipeline, não como campanha anual.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Quatro camadas: produzir, coletar, imutabilizar, apresentar — com não-repúdio em cada uma.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A mesma evidência atende NIST SSDF, SLSA, ISO 27001, PCI DSS e LGPD.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Projeto final integra PaC + SBOM + Cosign + relatórios; a banca verifica evidências, não narrativas.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Compliance Contínuo, Auditoria e Projeto Final |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000" y="987004"/>
            <a:ext cx="3800000" cy="2569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1750"/>
            <a:ext cx="9144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181C23"/>
                </a:solidFill>
                <a:latin typeface="Segoe UI Semibold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71750"/>
            <a:ext cx="9144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A707D"/>
                </a:solidFill>
                <a:latin typeface="Segoe UI Light"/>
              </a:rPr>
              <a:t>Próximo encontro: concluir atividades e preencher rubricas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000" y="4025287"/>
            <a:ext cx="1000000" cy="618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803500"/>
            <a:ext cx="9144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A707D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