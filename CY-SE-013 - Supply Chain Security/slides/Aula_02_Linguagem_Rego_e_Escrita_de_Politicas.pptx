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Segoe UI" panose="020B0502040204020203" pitchFamily="34" charset="0"/>
      <p:regular r:id="rId25"/>
      <p:bold r:id="rId26"/>
      <p:italic r:id="rId27"/>
      <p:boldItalic r:id="rId28"/>
    </p:embeddedFont>
    <p:embeddedFont>
      <p:font typeface="Segoe UI Light" panose="020B0502040204020203" pitchFamily="34" charset="0"/>
      <p:regular r:id="rId29"/>
      <p:italic r:id="rId30"/>
    </p:embeddedFont>
    <p:embeddedFont>
      <p:font typeface="Segoe UI Semibold" panose="020B0702040204020203" pitchFamily="34" charset="0"/>
      <p:bold r:id="rId31"/>
      <p:boldItalic r:id="rId32"/>
    </p:embeddedFont>
    <p:embeddedFont>
      <p:font typeface="Ubuntu" panose="020B0504030602030204" pitchFamily="34" charset="0"/>
      <p:regular r:id="rId33"/>
      <p:bold r:id="rId34"/>
      <p:italic r:id="rId35"/>
      <p:boldItalic r:id="rId36"/>
    </p:embeddedFont>
    <p:embeddedFont>
      <p:font typeface="Ubuntu Light" panose="020B0304030602030204" pitchFamily="34" charset="0"/>
      <p:regular r:id="rId37"/>
      <p:bold r:id="rId38"/>
      <p:italic r:id="rId39"/>
      <p:boldItalic r:id="rId40"/>
    </p:embeddedFont>
    <p:embeddedFont>
      <p:font typeface="Ubuntu Medium" panose="020B060403060203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font" Target="fonts/font26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font" Target="fonts/font2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font" Target="fonts/font24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4" Type="http://schemas.openxmlformats.org/officeDocument/2006/relationships/font" Target="fonts/font2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font" Target="fonts/font27.fntdata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Abertura da Aula 02: Linguagem Rego e Escrita de Políticas. Apresente o tema, a pergunta geradora e situe a aula na progressão do módulo. Confirme que os laboratórios da aula anterior foram concluídos.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>
            <a:endParaRPr/>
          </a:p>
          <a:p>
            <a:r>
              <a:t>Mostre onde estamos no cronograma (card escuro). Lembre os próximos encontros e, na Aula 7, avise que não há aula em 02/11 (Finados). O último encontro, 06/11, é dedicado às apresentações e rubricas.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>
            <a:endParaRPr/>
          </a:p>
          <a:p>
            <a:r>
              <a:t>Relembre os combinados da turma rapidamente: câmeras ligadas, pontualidade, participação e mão levantada para dúvidas. Informe o horário do intervalo de 15 minutos.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>
            <a:endParaRPr/>
          </a:p>
          <a:p>
            <a:r>
              <a:t>Contraste com código imperativo. O desconforto inicial é normal; a fluência vem repetindo os exemplos. Avise que hoje a aula é majoritariamente prática.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>
            <a:endParaRPr/>
          </a:p>
          <a:p>
            <a:r>
              <a:t>Percorra o fluxo input → regra → query → decisão. Diferencie input (muda a cada avaliação) de data (carregado como configuração).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>
            <a:endParaRPr/>
          </a:p>
          <a:p>
            <a:r>
              <a:t>Mostre que vários blocos deny com o mesmo nome se somam. 'default allow = false' é falha segura: se nada casar, nega.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12 min</a:t>
            </a:r>
          </a:p>
          <a:p>
            <a:endParaRPr/>
          </a:p>
          <a:p>
            <a:r>
              <a:t>Explique _ como 'para cada'. Cite as famílias de built-ins: strings (startswith, contains), coleções (count), regex, conjuntos (in). Não decorar — consultar a referência.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12 min</a:t>
            </a:r>
          </a:p>
          <a:p>
            <a:endParaRPr/>
          </a:p>
          <a:p>
            <a:r>
              <a:t>Destaque a função helper is_approved e a allowlist como conjunto. Pergunte o que acontece com 'FROM ubuntu:latest'.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>
            <a:endParaRPr/>
          </a:p>
          <a:p>
            <a:r>
              <a:t>Mostre o caminho spec.template.spec.containers no YAML real. Mencione a política de secrets em env vars como exercício extra.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>
            <a:endParaRPr/>
          </a:p>
          <a:p>
            <a:r>
              <a:t>Toda política de produção tem teste positivo e negativo. Mostre a cobertura como forma de achar caminhos não testados.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>
            <a:endParaRPr/>
          </a:p>
          <a:p>
            <a:r>
              <a:t>Mostre a estrutura de repositório recomendada. Reforce: política é código de produção, com dono, teste e histórico.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70 min</a:t>
            </a:r>
          </a:p>
          <a:p>
            <a:endParaRPr/>
          </a:p>
          <a:p>
            <a:r>
              <a:t>Comece pelo Dockerfile e só depois Kubernetes. Peça que cada grupo quebre a própria política de propósito para ver a mensagem de erro.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5 min</a:t>
            </a:r>
          </a:p>
          <a:p>
            <a:endParaRPr/>
          </a:p>
          <a:p>
            <a:r>
              <a:t>Peça a alguém para explicar quando usar regra parcial vs. completa. Ponte: a Aula 3 impõe essas políticas no cluster.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Peça que tragam kind/minikube e kubectl instalados para a próxima aula.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 idx="2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sor">
  <p:cSld name="CUSTOM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2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Limpo">
  <p:cSld name="CUSTOM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fismo ADA">
  <p:cSld name="CUSTOM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erramento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BF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000" y="2743500"/>
            <a:ext cx="3400000" cy="2299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0000" y="560000"/>
            <a:ext cx="240000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 i="0">
                <a:solidFill>
                  <a:srgbClr val="A6F750"/>
                </a:solidFill>
                <a:latin typeface="Segoe UI Ligh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238000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371FF"/>
                </a:solidFill>
                <a:latin typeface="Segoe UI Semibold"/>
              </a:rPr>
              <a:t>AULA 02  ·  Segunda, 19/10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2660000"/>
            <a:ext cx="660000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81C23"/>
                </a:solidFill>
                <a:latin typeface="Segoe UI Semibold"/>
              </a:rPr>
              <a:t>Linguagem Rego e Escrita de Políticas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3720000"/>
            <a:ext cx="66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A707D"/>
                </a:solidFill>
                <a:latin typeface="Segoe UI Light"/>
              </a:rPr>
              <a:t>Como escrever uma política que reprova uma configuração insegura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4000" y="4041644"/>
            <a:ext cx="1200000" cy="741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4350000"/>
            <a:ext cx="4600000" cy="300000"/>
          </a:xfrm>
          <a:prstGeom prst="roundRect">
            <a:avLst>
              <a:gd name="adj" fmla="val 50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000" y="4350000"/>
            <a:ext cx="46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A6F750"/>
                </a:solidFill>
                <a:latin typeface="Segoe UI"/>
              </a:rPr>
              <a:t>Módulo · CY-SE-013 - Supply Chain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4720000"/>
            <a:ext cx="4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81C23"/>
                </a:solidFill>
                <a:latin typeface="Segoe UI Semibold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66148"/>
            <a:ext cx="85206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00" y="127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17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00" y="1556148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00" y="1856148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16/10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00" y="2056148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Policy as Code e Compliance Automatizado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19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01900" y="1466148"/>
            <a:ext cx="70000" cy="1005784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1900" y="1556148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900" y="1856148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6F750"/>
                </a:solidFill>
                <a:latin typeface="Segoe UI Semibold"/>
              </a:rPr>
              <a:t>Seg 19/10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1900" y="2056148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DF8"/>
                </a:solidFill>
                <a:latin typeface="Segoe UI"/>
              </a:rPr>
              <a:t>Linguagem Rego e Escrita de Políticas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21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2100" y="1556148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00" y="1856148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20/10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2100" y="2056148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Enforcement: OPA Gatekeeper e Admission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00" y="2711932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00" y="3011932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23/10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00" y="3211932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SBOM: Fundamentos, SPDX e CycloneDX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19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51900" y="2711932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900" y="3011932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Seg 26/10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1900" y="3211932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Análise de SBOM e Gestão de Dependências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21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42100" y="2711932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00" y="3011932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27/10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2100" y="3211932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Supply Chain Security: Ataques e Frameworks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17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00" y="3867716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00" y="4167716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30/10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00" y="4367716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Integridade e Procedência de Artefatos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19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51900" y="3867716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900" y="4167716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03/11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1900" y="4367716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Compliance Contínuo, Auditoria e Projeto Final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21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2100" y="3867716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00" y="4167716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06/11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100" y="4367716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Concluir atividades e preencher rubricas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Linguagem Rego e Escrita de Políticas | Everton J Benedicto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000" y="1016148"/>
            <a:ext cx="3000000" cy="2028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700" y="76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6F750"/>
                </a:solidFill>
                <a:latin typeface="Segoe UI Semibold"/>
              </a:rPr>
              <a:t>COMBINADO DA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1016148"/>
            <a:ext cx="85206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0" i="0">
                <a:solidFill>
                  <a:srgbClr val="181C23"/>
                </a:solidFill>
                <a:latin typeface="Segoe UI Semibold"/>
              </a:rPr>
              <a:t>Por favor!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1700" y="1866148"/>
            <a:ext cx="3139028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866148"/>
            <a:ext cx="3139028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Segoe UI Semibold"/>
              </a:rPr>
              <a:t>Bora participar!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700" y="2246148"/>
            <a:ext cx="3139028" cy="2537352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00" y="2446148"/>
            <a:ext cx="2839028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81C23"/>
                </a:solidFill>
                <a:latin typeface="Segoe UI Semibold"/>
              </a:rPr>
              <a:t>Câmera ligada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81C23"/>
                </a:solidFill>
                <a:latin typeface="Segoe UI Semibold"/>
              </a:rPr>
              <a:t>+ mão levantada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6F750"/>
                </a:solidFill>
                <a:latin typeface="Segoe UI Semibold"/>
              </a:rPr>
              <a:t>= aula top!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00" y="4273500"/>
            <a:ext cx="2839028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00" y="4273500"/>
            <a:ext cx="2839028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81C23"/>
                </a:solidFill>
                <a:latin typeface="Segoe UI Semibold"/>
              </a:rPr>
              <a:t>INTERVALO · 15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0728" y="1866148"/>
            <a:ext cx="5121572" cy="300000"/>
          </a:xfrm>
          <a:prstGeom prst="roundRect">
            <a:avLst>
              <a:gd name="adj" fmla="val 1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0728" y="1866148"/>
            <a:ext cx="51215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Segoe UI Semibold"/>
              </a:rPr>
              <a:t>Combinados da nossa aula</a:t>
            </a:r>
          </a:p>
        </p:txBody>
      </p:sp>
      <p:sp>
        <p:nvSpPr>
          <p:cNvPr id="14" name="Oval 13"/>
          <p:cNvSpPr/>
          <p:nvPr/>
        </p:nvSpPr>
        <p:spPr>
          <a:xfrm>
            <a:off x="3710728" y="239788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10728" y="239788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0728" y="226614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Câmeras ligadas.</a:t>
            </a:r>
          </a:p>
        </p:txBody>
      </p:sp>
      <p:sp>
        <p:nvSpPr>
          <p:cNvPr id="17" name="Oval 16"/>
          <p:cNvSpPr/>
          <p:nvPr/>
        </p:nvSpPr>
        <p:spPr>
          <a:xfrm>
            <a:off x="3710728" y="290135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0728" y="290135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728" y="276961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Entrem no horário: início e intervalo.</a:t>
            </a:r>
          </a:p>
        </p:txBody>
      </p:sp>
      <p:sp>
        <p:nvSpPr>
          <p:cNvPr id="20" name="Oval 19"/>
          <p:cNvSpPr/>
          <p:nvPr/>
        </p:nvSpPr>
        <p:spPr>
          <a:xfrm>
            <a:off x="3710728" y="340482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10728" y="340482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728" y="327308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Participem da aula.</a:t>
            </a:r>
          </a:p>
        </p:txBody>
      </p:sp>
      <p:sp>
        <p:nvSpPr>
          <p:cNvPr id="23" name="Oval 22"/>
          <p:cNvSpPr/>
          <p:nvPr/>
        </p:nvSpPr>
        <p:spPr>
          <a:xfrm>
            <a:off x="3710728" y="390829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10728" y="390829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728" y="377655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Tirem dúvidas.</a:t>
            </a:r>
          </a:p>
        </p:txBody>
      </p:sp>
      <p:sp>
        <p:nvSpPr>
          <p:cNvPr id="26" name="Oval 25"/>
          <p:cNvSpPr/>
          <p:nvPr/>
        </p:nvSpPr>
        <p:spPr>
          <a:xfrm>
            <a:off x="3710728" y="441176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10728" y="441176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728" y="428002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Levantem a mão para tirar dúvidas.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Linguagem Rego e Escrita de Políticas |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MODELO 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Declarativo: descreva condições, não passos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Inspirada em Datalog: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você descreve quando algo é verdadeiro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242986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Opera sobre JSON: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input, data e políticas são estruturas de dados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739824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Condições com AND implícito: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todas verdadeiras → regra produz valor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236662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Resultado: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políticas concisas, auditáveis e testáveis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💡 ANALOGIA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Segoe UI"/>
              </a:rPr>
              <a:t>É como um filtro de e-mail: você não programa 'como procurar spam', você descreve como o spam se parece — 'se vier de X e contém Y, marque'.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Linguagem Rego e Escrita de Políticas |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ANATOMIA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Os quatro blocos de uma política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2170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1700" y="203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700" y="2326148"/>
            <a:ext cx="158015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package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700" y="2836148"/>
            <a:ext cx="1800150" cy="194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Namespace: data.docker.security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0185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5185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66185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61850" y="203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1850" y="2326148"/>
            <a:ext cx="158015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Regras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1850" y="2836148"/>
            <a:ext cx="1800150" cy="194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deny[msg] { ... } ou allow = true { ... }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44200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9200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0200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02000" y="203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2000" y="2326148"/>
            <a:ext cx="158015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input /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2000" y="2836148"/>
            <a:ext cx="1800150" cy="194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Evento avaliado e contexto externo (allowlists)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68215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03215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14215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42150" y="203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2150" y="2326148"/>
            <a:ext cx="158015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Decisão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2150" y="2836148"/>
            <a:ext cx="1800150" cy="194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Conjunto de mensagens ou valor único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Linguagem Rego e Escrita de Políticas |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TIPOS DE REGRA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Regra completa vs. regra parcial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00" y="1746148"/>
            <a:ext cx="38303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Segoe UI Semibold"/>
              </a:rPr>
              <a:t>Completa — um valor</a:t>
            </a:r>
          </a:p>
        </p:txBody>
      </p:sp>
      <p:sp>
        <p:nvSpPr>
          <p:cNvPr id="9" name="Oval 8"/>
          <p:cNvSpPr/>
          <p:nvPr/>
        </p:nvSpPr>
        <p:spPr>
          <a:xfrm>
            <a:off x="461700" y="2445817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700" y="2206148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default allow = false</a:t>
            </a:r>
          </a:p>
        </p:txBody>
      </p:sp>
      <p:sp>
        <p:nvSpPr>
          <p:cNvPr id="11" name="Oval 10"/>
          <p:cNvSpPr/>
          <p:nvPr/>
        </p:nvSpPr>
        <p:spPr>
          <a:xfrm>
            <a:off x="461700" y="3065155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700" y="2825486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allow { input.user.role == "admin" }</a:t>
            </a:r>
          </a:p>
        </p:txBody>
      </p:sp>
      <p:sp>
        <p:nvSpPr>
          <p:cNvPr id="13" name="Oval 12"/>
          <p:cNvSpPr/>
          <p:nvPr/>
        </p:nvSpPr>
        <p:spPr>
          <a:xfrm>
            <a:off x="461700" y="3684493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700" y="3444824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Resultado escalar: true / false</a:t>
            </a:r>
          </a:p>
        </p:txBody>
      </p:sp>
      <p:sp>
        <p:nvSpPr>
          <p:cNvPr id="15" name="Oval 14"/>
          <p:cNvSpPr/>
          <p:nvPr/>
        </p:nvSpPr>
        <p:spPr>
          <a:xfrm>
            <a:off x="461700" y="4303831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700" y="4064162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Uso: decisões binárias, flags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20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020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52000" y="1746148"/>
            <a:ext cx="38303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81C23"/>
                </a:solidFill>
                <a:latin typeface="Segoe UI Semibold"/>
              </a:rPr>
              <a:t>Parcial — um conjunto</a:t>
            </a:r>
          </a:p>
        </p:txBody>
      </p:sp>
      <p:sp>
        <p:nvSpPr>
          <p:cNvPr id="20" name="Oval 19"/>
          <p:cNvSpPr/>
          <p:nvPr/>
        </p:nvSpPr>
        <p:spPr>
          <a:xfrm>
            <a:off x="4852000" y="2445817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2000" y="2206148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deny[msg] { ... }</a:t>
            </a:r>
          </a:p>
        </p:txBody>
      </p:sp>
      <p:sp>
        <p:nvSpPr>
          <p:cNvPr id="22" name="Oval 21"/>
          <p:cNvSpPr/>
          <p:nvPr/>
        </p:nvSpPr>
        <p:spPr>
          <a:xfrm>
            <a:off x="4852000" y="3065155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2000" y="2825486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Cada bloco que casar adiciona uma msg</a:t>
            </a:r>
          </a:p>
        </p:txBody>
      </p:sp>
      <p:sp>
        <p:nvSpPr>
          <p:cNvPr id="24" name="Oval 23"/>
          <p:cNvSpPr/>
          <p:nvPr/>
        </p:nvSpPr>
        <p:spPr>
          <a:xfrm>
            <a:off x="4852000" y="3684493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2000" y="3444824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Resultado: lista de violações</a:t>
            </a:r>
          </a:p>
        </p:txBody>
      </p:sp>
      <p:sp>
        <p:nvSpPr>
          <p:cNvPr id="26" name="Oval 25"/>
          <p:cNvSpPr/>
          <p:nvPr/>
        </p:nvSpPr>
        <p:spPr>
          <a:xfrm>
            <a:off x="4852000" y="4303831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2000" y="4064162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Uso: deny, warn, violation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Linguagem Rego e Escrita de Políticas | Everton J Benedicto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SINTAXE ESSENCIAL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Variáveis, iteração e built-ins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:= declara, == compara, _ itera; sprintf monta a mensagem: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rego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deny[msg] {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  container := input.spec.containers[_]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  container.image == "nginx:latest"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  msg := sprintf("Container '%v' usa tag latest.", [container.name])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}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deny[msg] {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  image := input.spec.containers[_].image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  not regex.match(`.*@sha256:[a-f0-9]{64}$`, image)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  msg := sprintf("Imagem '%v' deve usar digest.", [image])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Linguagem Rego e Escrita de Políticas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DOCKERFILE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Política para Dockerfile (formato Conftest)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O Conftest converte cada linha em {Cmd, Value}: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rego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package main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approved_base := {"cgr.dev/chainguard/static", "gcr.io/distroless/base"}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deny[msg] {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  input[i].Cmd == "from"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  image := input[i].Value[0]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  not is_approved(image)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  msg := sprintf("Linha %d: base '%v' não aprovada.", [i, image])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}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deny[msg] { not has_user; msg := "Dockerfile sem USER." }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has_user { input[_].Cmd == "user" }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is_approved(img) { startswith(img, approved_base[_])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Linguagem Rego e Escrita de Políticas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KUBERNETES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Política para manifests Kubernetes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YAML vira JSON; o padrão é o mesmo: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rego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package kubernetes.pod_security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deny[msg] {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  input.kind == "Deployment"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  c := input.spec.template.spec.containers[_]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  c.securityContext.runAsUser == 0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  msg := sprintf("'%v' não pode rodar como UID 0.", [c.name])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}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deny[msg] {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  c := input.spec.template.spec.containers[_]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  not c.resources.limits.memory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  msg := sprintf("'%v' sem limite de memória.", [c.name])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Linguagem Rego e Escrita de Políticas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Testes com opa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Arquivo *_test.rego, regras test_*, 'with input as':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rego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package main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test_deny_root_user {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  deny["Linha 2: USER 'root' proibido."] with input as [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      {"Cmd": "from", "Value": ["cgr.dev/chainguard/static:latest"]},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      {"Cmd": "user", "Value": ["root"]}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  ]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}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test_allow_valid { count(deny) == 0 with input as [...] }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A707D"/>
                </a:solidFill>
                <a:latin typeface="Consolas"/>
              </a:rPr>
              <a:t># opa test policies/ -v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FFFDF8"/>
                </a:solidFill>
                <a:latin typeface="Consolas"/>
              </a:rPr>
              <a:t>&gt; PASS: 3/3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A707D"/>
                </a:solidFill>
                <a:latin typeface="Consolas"/>
              </a:rPr>
              <a:t># opa test policies/ --coverage --format=json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Linguagem Rego e Escrita de Políticas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PADRÕES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Boas práticas que evitam dor de cabeça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Um pacote por domínio: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docker/, kubernetes/, sbom/, shared/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17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17361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14361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Mensagens acionáveis: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diga exatamente o que corrigir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57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57108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54108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Allowlist em data: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atualize listas sem tocar na política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296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296855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293855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Exceções documentadas: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ticket e prazo no próprio código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336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1700" y="336602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333602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Revisão por PR: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mesmo rigor do código de produção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💡 ANALOGIA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Segoe UI"/>
              </a:rPr>
              <a:t>Política sem teste e sem comentário é como regra de condomínio colada no elevador sem assinatura: ninguém sabe quem decidiu, por quê, nem se ainda vale.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Linguagem Rego e Escrita de Políticas | Everton J Benedicto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dirty="0" err="1">
                <a:solidFill>
                  <a:srgbClr val="181C23"/>
                </a:solidFill>
                <a:latin typeface="Segoe UI Semibold"/>
              </a:rPr>
              <a:t>Laboratório</a:t>
            </a:r>
            <a:r>
              <a:rPr sz="2400" b="0" i="0" dirty="0">
                <a:solidFill>
                  <a:srgbClr val="181C23"/>
                </a:solidFill>
                <a:latin typeface="Segoe UI Semibold"/>
              </a:rPr>
              <a:t>: </a:t>
            </a:r>
            <a:r>
              <a:rPr sz="2400" b="0" i="0" dirty="0" err="1">
                <a:solidFill>
                  <a:srgbClr val="181C23"/>
                </a:solidFill>
                <a:latin typeface="Segoe UI Semibold"/>
              </a:rPr>
              <a:t>política</a:t>
            </a:r>
            <a:r>
              <a:rPr sz="2400" b="0" i="0" dirty="0">
                <a:solidFill>
                  <a:srgbClr val="181C23"/>
                </a:solidFill>
                <a:latin typeface="Segoe UI Semibold"/>
              </a:rPr>
              <a:t> completa para </a:t>
            </a:r>
            <a:r>
              <a:rPr sz="2400" b="0" i="0" dirty="0" err="1">
                <a:solidFill>
                  <a:srgbClr val="181C23"/>
                </a:solidFill>
                <a:latin typeface="Segoe UI Semibold"/>
              </a:rPr>
              <a:t>Dockerfile</a:t>
            </a:r>
            <a:r>
              <a:rPr sz="2400" b="0" i="0" dirty="0">
                <a:solidFill>
                  <a:srgbClr val="181C23"/>
                </a:solidFill>
                <a:latin typeface="Segoe UI Semibold"/>
              </a:rPr>
              <a:t> e Kubernetes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61700" y="178788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00" y="1787883"/>
            <a:ext cx="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" y="1746148"/>
            <a:ext cx="7780600" cy="36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Estruturar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policies/docker, policies/kubernetes, manifests/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1700" y="219961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1700" y="224135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00" y="2241353"/>
            <a:ext cx="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700" y="2199618"/>
            <a:ext cx="7780600" cy="36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Docker: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allowlist de base, bloquear USER root, exigir USER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1700" y="265308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1700" y="269482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00" y="2694823"/>
            <a:ext cx="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700" y="2653088"/>
            <a:ext cx="7780600" cy="36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Quebrar: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trocar para ubuntu:latest + root e ver as violações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10655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61700" y="314829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00" y="3148293"/>
            <a:ext cx="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700" y="3106558"/>
            <a:ext cx="7780600" cy="36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Kubernetes: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bloquear UID 0 e exigir limite de memória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1700" y="356002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1700" y="360176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00" y="3601763"/>
            <a:ext cx="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700" y="3560028"/>
            <a:ext cx="7780600" cy="36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Testar: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security_test.rego → opa test policies/ -v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1700" y="4163500"/>
            <a:ext cx="8520600" cy="62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11700" y="4163500"/>
            <a:ext cx="70000" cy="62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1700" y="4233500"/>
            <a:ext cx="81206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✅ ENTREGÁVEL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700" y="4453500"/>
            <a:ext cx="81206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181C23"/>
                </a:solidFill>
                <a:latin typeface="Segoe UI"/>
              </a:rPr>
              <a:t>Políticas Docker/Kubernetes, manifests de teste e *_test.rego passando. Runbook: labs/Aula_02_Runbook.md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Linguagem Rego e Escrita de Políticas | Everton J Benedicto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Recapitulando 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Rego é declarativo: descreva as condições que tornam a violação verdadeira.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deny[msg] coleta violações; default allow = false garante falha segura.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Conftest aplica a mesma política a Dockerfiles, YAML e JSON reais.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opa test com casos positivos e negativos previne regressões.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Linguagem Rego e Escrita de Políticas |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2000" y="987004"/>
            <a:ext cx="3800000" cy="25694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871750"/>
            <a:ext cx="9144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0" i="0">
                <a:solidFill>
                  <a:srgbClr val="181C23"/>
                </a:solidFill>
                <a:latin typeface="Segoe UI Semibold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71750"/>
            <a:ext cx="9144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6A707D"/>
                </a:solidFill>
                <a:latin typeface="Segoe UI Light"/>
              </a:rPr>
              <a:t>Próxima aula: Enforcement com OPA Gatekeeper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2000" y="4025287"/>
            <a:ext cx="1000000" cy="6182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4803500"/>
            <a:ext cx="9144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6A707D"/>
                </a:solidFill>
                <a:latin typeface="Segoe UI Semibold"/>
              </a:rPr>
              <a:t>Prof.: Everton J Benedicto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1844</Words>
  <Application>Microsoft Office PowerPoint</Application>
  <PresentationFormat>On-screen Show (16:9)</PresentationFormat>
  <Paragraphs>266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Segoe UI</vt:lpstr>
      <vt:lpstr>Segoe UI Semibold</vt:lpstr>
      <vt:lpstr>Ubuntu Light</vt:lpstr>
      <vt:lpstr>Ubuntu</vt:lpstr>
      <vt:lpstr>Ubuntu Medium</vt:lpstr>
      <vt:lpstr>Lato</vt:lpstr>
      <vt:lpstr>Consolas</vt:lpstr>
      <vt:lpstr>Segoe UI Light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B IT PES PLT)</cp:lastModifiedBy>
  <cp:revision>1</cp:revision>
  <dcterms:modified xsi:type="dcterms:W3CDTF">2026-10-09T15:13:30Z</dcterms:modified>
</cp:coreProperties>
</file>