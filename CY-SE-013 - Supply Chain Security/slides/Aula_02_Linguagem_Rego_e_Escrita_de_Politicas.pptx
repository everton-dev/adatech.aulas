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9"/>
  </p:notesMasterIdLst>
  <p:sldIdLst>
    <p:sldId id="256" r:id="rId2"/>
    <p:sldId id="257" r:id="rId3"/>
    <p:sldId id="258" r:id="rId4"/>
    <p:sldId id="272" r:id="rId5"/>
    <p:sldId id="270" r:id="rId6"/>
    <p:sldId id="259" r:id="rId7"/>
    <p:sldId id="260" r:id="rId8"/>
    <p:sldId id="261" r:id="rId9"/>
    <p:sldId id="27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20"/>
      <p:bold r:id="rId21"/>
      <p:italic r:id="rId22"/>
      <p:boldItalic r:id="rId23"/>
    </p:embeddedFont>
    <p:embeddedFont>
      <p:font typeface="Lato" panose="020F0502020204030203" pitchFamily="34" charset="0"/>
      <p:regular r:id="rId24"/>
      <p:bold r:id="rId25"/>
      <p:italic r:id="rId26"/>
      <p:boldItalic r:id="rId27"/>
    </p:embeddedFont>
    <p:embeddedFont>
      <p:font typeface="Segoe UI" panose="020B0502040204020203" pitchFamily="34" charset="0"/>
      <p:regular r:id="rId28"/>
      <p:bold r:id="rId29"/>
      <p:italic r:id="rId30"/>
      <p:boldItalic r:id="rId31"/>
    </p:embeddedFont>
    <p:embeddedFont>
      <p:font typeface="Segoe UI Light" panose="020B0502040204020203" pitchFamily="34" charset="0"/>
      <p:regular r:id="rId32"/>
      <p:italic r:id="rId33"/>
    </p:embeddedFont>
    <p:embeddedFont>
      <p:font typeface="Segoe UI Semibold" panose="020B0702040204020203" pitchFamily="34" charset="0"/>
      <p:bold r:id="rId34"/>
      <p:boldItalic r:id="rId35"/>
    </p:embeddedFont>
    <p:embeddedFont>
      <p:font typeface="Ubuntu" panose="020B0504030602030204" pitchFamily="34" charset="0"/>
      <p:regular r:id="rId36"/>
      <p:bold r:id="rId37"/>
      <p:italic r:id="rId38"/>
      <p:boldItalic r:id="rId39"/>
    </p:embeddedFont>
    <p:embeddedFont>
      <p:font typeface="Ubuntu Light" panose="020B0304030602030204" pitchFamily="34" charset="0"/>
      <p:regular r:id="rId40"/>
      <p:bold r:id="rId41"/>
      <p:italic r:id="rId42"/>
      <p:boldItalic r:id="rId43"/>
    </p:embeddedFont>
    <p:embeddedFont>
      <p:font typeface="Ubuntu Medium" panose="020B0604030602030204" pitchFamily="34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9" Type="http://schemas.openxmlformats.org/officeDocument/2006/relationships/font" Target="fonts/font20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font" Target="fonts/font15.fntdata"/><Relationship Id="rId42" Type="http://schemas.openxmlformats.org/officeDocument/2006/relationships/font" Target="fonts/font23.fntdata"/><Relationship Id="rId47" Type="http://schemas.openxmlformats.org/officeDocument/2006/relationships/font" Target="fonts/font28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font" Target="fonts/font14.fntdata"/><Relationship Id="rId38" Type="http://schemas.openxmlformats.org/officeDocument/2006/relationships/font" Target="fonts/font19.fntdata"/><Relationship Id="rId46" Type="http://schemas.openxmlformats.org/officeDocument/2006/relationships/font" Target="fonts/font2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41" Type="http://schemas.openxmlformats.org/officeDocument/2006/relationships/font" Target="fonts/font2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font" Target="fonts/font13.fntdata"/><Relationship Id="rId37" Type="http://schemas.openxmlformats.org/officeDocument/2006/relationships/font" Target="fonts/font18.fntdata"/><Relationship Id="rId40" Type="http://schemas.openxmlformats.org/officeDocument/2006/relationships/font" Target="fonts/font21.fntdata"/><Relationship Id="rId45" Type="http://schemas.openxmlformats.org/officeDocument/2006/relationships/font" Target="fonts/font2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36" Type="http://schemas.openxmlformats.org/officeDocument/2006/relationships/font" Target="fonts/font17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4" Type="http://schemas.openxmlformats.org/officeDocument/2006/relationships/font" Target="fonts/font2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font" Target="fonts/font16.fntdata"/><Relationship Id="rId43" Type="http://schemas.openxmlformats.org/officeDocument/2006/relationships/font" Target="fonts/font24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596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Abertura da Aula 02: Linguagem Rego e Escrita de Políticas. Apresente o tema, a pergunta geradora e situe a aula na progressão do módulo. Confirme que os laboratórios da aula anterior foram concluídos.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Mostre onde estamos no cronograma (card escuro). Lembre os próximos encontros e, na Aula 7, avise que não há aula em 02/11 (Finados). O último encontro, 06/11, é dedicado às apresentações e rubricas.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2 min</a:t>
            </a:r>
          </a:p>
          <a:p>
            <a:endParaRPr/>
          </a:p>
          <a:p>
            <a:r>
              <a:t>Relembre os combinados da turma rapidamente: câmeras ligadas, pontualidade, participação e mão levantada para dúvidas. Informe o horário do intervalo de 15 minutos.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Pergunta para a turma: O que você faz para se atualizar no assunto tecnologia?</a:t>
            </a:r>
          </a:p>
          <a:p>
            <a:r>
              <a:t>Convide a turma a compartilhar uma fonte favorita.</a:t>
            </a:r>
          </a:p>
          <a:p>
            <a:r>
              <a:t>[Sources]</a:t>
            </a:r>
          </a:p>
          <a:p>
            <a:r>
              <a:t>Pergunta fornecida pelo usuário.</a:t>
            </a:r>
          </a:p>
          <a:p>
            <a:r>
              <a:t>Ilustrações humorísticas de gatos geradas por IA para este slide. As 47 abas são uma piada, não um dado factual.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Contraste com código imperativo. O desconforto inicial é normal; a fluência vem repetindo os exemplos. Avise que hoje a aula é majoritariamente prática.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Percorra o fluxo input → regra → query → decisão. Diferencie input (muda a cada avaliação) de data (carregado como configuração).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Mostre que vários blocos deny com o mesmo nome se somam. 'default allow = false' é falha segura: se nada casar, nega.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12 min</a:t>
            </a:r>
          </a:p>
          <a:p>
            <a:endParaRPr/>
          </a:p>
          <a:p>
            <a:r>
              <a:t>Explique _ como 'para cada'. Cite as famílias de built-ins: strings (startswith, contains), coleções (count), regex, conjuntos (in). Não decorar — consultar a referência.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12 min</a:t>
            </a:r>
          </a:p>
          <a:p>
            <a:endParaRPr/>
          </a:p>
          <a:p>
            <a:r>
              <a:t>Destaque a função helper is_approved e a allowlist como conjunto. Pergunte o que acontece com 'FROM ubuntu:latest'.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Mostre o caminho spec.template.spec.containers no YAML real. Mencione a política de secrets em env vars como exercício extra.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10 min</a:t>
            </a:r>
          </a:p>
          <a:p>
            <a:endParaRPr/>
          </a:p>
          <a:p>
            <a:r>
              <a:t>Toda política de produção tem teste positivo e negativo. Mostre a cobertura como forma de achar caminhos não testados.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8 min</a:t>
            </a:r>
          </a:p>
          <a:p>
            <a:endParaRPr/>
          </a:p>
          <a:p>
            <a:r>
              <a:t>Mostre a estrutura de repositório recomendada. Reforce: política é código de produção, com dono, teste e histórico.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70 min</a:t>
            </a:r>
          </a:p>
          <a:p>
            <a:endParaRPr/>
          </a:p>
          <a:p>
            <a:r>
              <a:t>Comece pelo Dockerfile e só depois Kubernetes. Peça que cada grupo quebre a própria política de propósito para ver a mensagem de erro.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5 min</a:t>
            </a:r>
          </a:p>
          <a:p>
            <a:endParaRPr/>
          </a:p>
          <a:p>
            <a:r>
              <a:t>Peça a alguém para explicar quando usar regra parcial vs. completa. Ponte: a Aula 3 impõe essas políticas no cluster.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Tempo sugerido: 3 min</a:t>
            </a:r>
          </a:p>
          <a:p>
            <a:endParaRPr/>
          </a:p>
          <a:p>
            <a:r>
              <a:t>Peça que tragam kind/minikube e kubectl instalados para a próxima aula.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a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title"/>
          </p:nvPr>
        </p:nvSpPr>
        <p:spPr>
          <a:xfrm>
            <a:off x="691650" y="2017200"/>
            <a:ext cx="3370500" cy="45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Ubuntu Light"/>
              <a:buNone/>
              <a:defRPr sz="2200">
                <a:latin typeface="Ubuntu Light"/>
                <a:ea typeface="Ubuntu Light"/>
                <a:cs typeface="Ubuntu Light"/>
                <a:sym typeface="Ubuntu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 idx="2"/>
          </p:nvPr>
        </p:nvSpPr>
        <p:spPr>
          <a:xfrm>
            <a:off x="691650" y="2582150"/>
            <a:ext cx="3370500" cy="57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Ubuntu Medium"/>
              <a:buNone/>
              <a:defRPr>
                <a:latin typeface="Ubuntu Medium"/>
                <a:ea typeface="Ubuntu Medium"/>
                <a:cs typeface="Ubuntu Medium"/>
                <a:sym typeface="Ubuntu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3" name="Google Shape;13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49225" y="-18825"/>
            <a:ext cx="198350" cy="520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sor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 title="BG colorido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683025" y="2071050"/>
            <a:ext cx="3921300" cy="10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2600"/>
              <a:buFont typeface="Ubuntu"/>
              <a:buNone/>
              <a:defRPr sz="2600">
                <a:solidFill>
                  <a:srgbClr val="181C23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pic>
        <p:nvPicPr>
          <p:cNvPr id="17" name="Google Shape;17;p3" title="Ad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78399" y="4348525"/>
            <a:ext cx="737449" cy="45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3131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2371FF"/>
              </a:buClr>
              <a:buSzPts val="2200"/>
              <a:buFont typeface="Ubuntu"/>
              <a:buNone/>
              <a:defRPr sz="2200">
                <a:solidFill>
                  <a:srgbClr val="2371FF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511075"/>
            <a:ext cx="8520600" cy="305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8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●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○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400"/>
              <a:buFont typeface="Lato"/>
              <a:buChar char="■"/>
              <a:defRPr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ubTitle" idx="2"/>
          </p:nvPr>
        </p:nvSpPr>
        <p:spPr>
          <a:xfrm>
            <a:off x="311700" y="720025"/>
            <a:ext cx="5698800" cy="33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81C23"/>
              </a:buClr>
              <a:buSzPts val="1200"/>
              <a:buFont typeface="Lato"/>
              <a:buNone/>
              <a:defRPr sz="1200">
                <a:solidFill>
                  <a:srgbClr val="181C2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Limpo">
  <p:cSld name="CUSTOM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fismo ADA">
  <p:cSld name="CUSTOM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5;p6" title="verde.png"/>
          <p:cNvPicPr preferRelativeResize="0"/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6076250" y="2628925"/>
            <a:ext cx="4844777" cy="327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erramento" type="blank">
  <p:cSld name="BLANK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7" title="Ada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722050" y="1994575"/>
            <a:ext cx="1867250" cy="1154351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7"/>
          <p:cNvSpPr txBox="1"/>
          <p:nvPr/>
        </p:nvSpPr>
        <p:spPr>
          <a:xfrm>
            <a:off x="778150" y="2431300"/>
            <a:ext cx="2731200" cy="38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700">
                <a:solidFill>
                  <a:srgbClr val="181C23"/>
                </a:solidFill>
                <a:latin typeface="Ubuntu Light"/>
                <a:ea typeface="Ubuntu Light"/>
                <a:cs typeface="Ubuntu Light"/>
                <a:sym typeface="Ubuntu Light"/>
              </a:rPr>
              <a:t>print("thank you")</a:t>
            </a:r>
            <a:endParaRPr sz="1700">
              <a:solidFill>
                <a:srgbClr val="181C23"/>
              </a:solidFill>
              <a:latin typeface="Ubuntu Light"/>
              <a:ea typeface="Ubuntu Light"/>
              <a:cs typeface="Ubuntu Light"/>
              <a:sym typeface="Ubuntu Light"/>
            </a:endParaRPr>
          </a:p>
        </p:txBody>
      </p:sp>
      <p:pic>
        <p:nvPicPr>
          <p:cNvPr id="29" name="Google Shape;29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3507151" y="4767018"/>
            <a:ext cx="5641001" cy="38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BF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4000" y="2743500"/>
            <a:ext cx="3400000" cy="22990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0000" y="560000"/>
            <a:ext cx="2400000" cy="1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0" b="1" i="0">
                <a:solidFill>
                  <a:srgbClr val="A6F750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0000" y="2380000"/>
            <a:ext cx="6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2371FF"/>
                </a:solidFill>
                <a:latin typeface="Segoe UI Semibold"/>
              </a:rPr>
              <a:t>AULA 02  ·  Segunda, 19/10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00" y="2660000"/>
            <a:ext cx="6600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0">
                <a:solidFill>
                  <a:srgbClr val="181C23"/>
                </a:solidFill>
                <a:latin typeface="Segoe UI Semibold"/>
              </a:rPr>
              <a:t>Linguagem Rego e Escrita de Políticas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000" y="3720000"/>
            <a:ext cx="6600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1">
                <a:solidFill>
                  <a:srgbClr val="6A707D"/>
                </a:solidFill>
                <a:latin typeface="Segoe UI Light"/>
              </a:rPr>
              <a:t>Como escrever uma política que reprova uma configuração insegura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4000" y="4041644"/>
            <a:ext cx="1200000" cy="741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4350000"/>
            <a:ext cx="4600000" cy="300000"/>
          </a:xfrm>
          <a:prstGeom prst="roundRect">
            <a:avLst>
              <a:gd name="adj" fmla="val 50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000" y="435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A6F750"/>
                </a:solidFill>
                <a:latin typeface="Segoe UI"/>
              </a:rPr>
              <a:t>Módulo · CY-SE-013 - Supply Chain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" y="4720000"/>
            <a:ext cx="460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81C23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66148"/>
            <a:ext cx="85206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Cronograma das Aulas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1700" y="127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117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17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16/10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Policy as Code e Compliance Automatizado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19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201900" y="1466148"/>
            <a:ext cx="70000" cy="1005784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519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19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A6F750"/>
                </a:solidFill>
                <a:latin typeface="Segoe UI Semibold"/>
              </a:rPr>
              <a:t>Seg 19/10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19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DF8"/>
                </a:solidFill>
                <a:latin typeface="Segoe UI"/>
              </a:rPr>
              <a:t>Linguagem Rego e Escrita de Políticas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2100" y="1466148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2100" y="1556148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42100" y="1856148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20/10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2100" y="2056148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Enforcement: OPA Gatekeeper e Admission Control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17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23/10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SBOM: Fundamentos, SPDX e CycloneDX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19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3519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19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Seg 26/10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19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Análise de SBOM e Gestão de Dependências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2100" y="2621932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42100" y="2711932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2100" y="3011932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Ter 27/10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2100" y="3211932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Supply Chain Security: Ataques e Frameworks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17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17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2371FF"/>
                </a:solidFill>
                <a:latin typeface="Segoe UI Semibold"/>
              </a:rPr>
              <a:t>Sex 30/10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Integridade e Procedência de Artefatos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19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519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51900" y="4167716"/>
            <a:ext cx="24402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PT" sz="1000" b="0" i="0" dirty="0">
                <a:solidFill>
                  <a:srgbClr val="2371FF"/>
                </a:solidFill>
                <a:latin typeface="Segoe UI Semibold"/>
              </a:rPr>
              <a:t>Qua</a:t>
            </a:r>
            <a:r>
              <a:rPr sz="1000" b="0" i="0" dirty="0">
                <a:solidFill>
                  <a:srgbClr val="2371FF"/>
                </a:solidFill>
                <a:latin typeface="Segoe UI Semibold"/>
              </a:rPr>
              <a:t> 0</a:t>
            </a:r>
            <a:r>
              <a:rPr lang="pt-PT" sz="1000" b="0" i="0" dirty="0">
                <a:solidFill>
                  <a:srgbClr val="2371FF"/>
                </a:solidFill>
                <a:latin typeface="Segoe UI Semibold"/>
              </a:rPr>
              <a:t>4</a:t>
            </a:r>
            <a:r>
              <a:rPr sz="1000" b="0" i="0" dirty="0">
                <a:solidFill>
                  <a:srgbClr val="2371FF"/>
                </a:solidFill>
                <a:latin typeface="Segoe UI Semibold"/>
              </a:rPr>
              <a:t>/11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19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Compliance Contínuo, Auditoria e Projeto Final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2100" y="3777716"/>
            <a:ext cx="2740200" cy="1005784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42100" y="3867716"/>
            <a:ext cx="24402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A6F750"/>
                </a:solidFill>
                <a:latin typeface="Segoe UI Semibold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42100" y="4167716"/>
            <a:ext cx="24402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2371FF"/>
                </a:solidFill>
                <a:latin typeface="Segoe UI Semibold"/>
              </a:rPr>
              <a:t>Sex 06/11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42100" y="4367716"/>
            <a:ext cx="2440200" cy="375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181C23"/>
                </a:solidFill>
                <a:latin typeface="Segoe UI"/>
              </a:rPr>
              <a:t>Concluir atividades e preencher rubricas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000" y="1016148"/>
            <a:ext cx="3000000" cy="202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11700" y="76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A6F750"/>
                </a:solidFill>
                <a:latin typeface="Segoe UI Semibold"/>
              </a:rPr>
              <a:t>COMBINADO DA TURMA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1700" y="1016148"/>
            <a:ext cx="85206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0" i="0">
                <a:solidFill>
                  <a:srgbClr val="181C23"/>
                </a:solidFill>
                <a:latin typeface="Segoe UI Semibold"/>
              </a:rPr>
              <a:t>Por favor!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1700" y="1866148"/>
            <a:ext cx="3139028" cy="30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866148"/>
            <a:ext cx="3139028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Bora participar!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1700" y="2246148"/>
            <a:ext cx="3139028" cy="2537352"/>
          </a:xfrm>
          <a:prstGeom prst="roundRect">
            <a:avLst>
              <a:gd name="adj" fmla="val 5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1700" y="2446148"/>
            <a:ext cx="2839028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Câmera ligada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81C23"/>
                </a:solidFill>
                <a:latin typeface="Segoe UI Semibold"/>
              </a:rPr>
              <a:t>+ mão levantada</a:t>
            </a:r>
          </a:p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A6F750"/>
                </a:solidFill>
                <a:latin typeface="Segoe UI Semibold"/>
              </a:rPr>
              <a:t>= aula top!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00" y="4273500"/>
            <a:ext cx="2839028" cy="36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1700" y="4273500"/>
            <a:ext cx="2839028" cy="3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181C23"/>
                </a:solidFill>
                <a:latin typeface="Segoe UI Semibold"/>
              </a:rPr>
              <a:t>INTERVALO · 15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0728" y="1866148"/>
            <a:ext cx="5121572" cy="300000"/>
          </a:xfrm>
          <a:prstGeom prst="roundRect">
            <a:avLst>
              <a:gd name="adj" fmla="val 10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10728" y="1866148"/>
            <a:ext cx="5121572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FFFDF8"/>
                </a:solidFill>
                <a:latin typeface="Segoe UI Semibold"/>
              </a:rPr>
              <a:t>Combinados da nossa aula</a:t>
            </a:r>
          </a:p>
        </p:txBody>
      </p:sp>
      <p:sp>
        <p:nvSpPr>
          <p:cNvPr id="14" name="Oval 13"/>
          <p:cNvSpPr/>
          <p:nvPr/>
        </p:nvSpPr>
        <p:spPr>
          <a:xfrm>
            <a:off x="3710728" y="239788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10728" y="239788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0728" y="226614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Câmeras ligadas.</a:t>
            </a:r>
          </a:p>
        </p:txBody>
      </p:sp>
      <p:sp>
        <p:nvSpPr>
          <p:cNvPr id="17" name="Oval 16"/>
          <p:cNvSpPr/>
          <p:nvPr/>
        </p:nvSpPr>
        <p:spPr>
          <a:xfrm>
            <a:off x="3710728" y="290135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10728" y="290135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0728" y="276961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Entrem no horário: início e intervalo.</a:t>
            </a:r>
          </a:p>
        </p:txBody>
      </p:sp>
      <p:sp>
        <p:nvSpPr>
          <p:cNvPr id="20" name="Oval 19"/>
          <p:cNvSpPr/>
          <p:nvPr/>
        </p:nvSpPr>
        <p:spPr>
          <a:xfrm>
            <a:off x="3710728" y="340482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10728" y="340482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0728" y="327308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Participem da aula.</a:t>
            </a:r>
          </a:p>
        </p:txBody>
      </p:sp>
      <p:sp>
        <p:nvSpPr>
          <p:cNvPr id="23" name="Oval 22"/>
          <p:cNvSpPr/>
          <p:nvPr/>
        </p:nvSpPr>
        <p:spPr>
          <a:xfrm>
            <a:off x="3710728" y="390829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10728" y="390829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0728" y="377655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Tirem dúvidas.</a:t>
            </a:r>
          </a:p>
        </p:txBody>
      </p:sp>
      <p:sp>
        <p:nvSpPr>
          <p:cNvPr id="26" name="Oval 25"/>
          <p:cNvSpPr/>
          <p:nvPr/>
        </p:nvSpPr>
        <p:spPr>
          <a:xfrm>
            <a:off x="3710728" y="4411763"/>
            <a:ext cx="240000" cy="2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10728" y="4411763"/>
            <a:ext cx="240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0728" y="4280028"/>
            <a:ext cx="4701572" cy="50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181C23"/>
                </a:solidFill>
                <a:latin typeface="Segoe UI"/>
              </a:rPr>
              <a:t>Levantem a mão para tirar dúvidas.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868680"/>
            <a:ext cx="8229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371FF"/>
                </a:solidFill>
                <a:latin typeface="Segoe UI Semibold"/>
              </a:rPr>
              <a:t>HORA DE TROCAR FIGURINHAS</a:t>
            </a:r>
          </a:p>
        </p:txBody>
      </p:sp>
      <p:pic>
        <p:nvPicPr>
          <p:cNvPr id="32" name="Picture 31" descr="image-5f3fd722c89d06fd148529797f5c8ee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934255"/>
            <a:ext cx="2011680" cy="1983648"/>
          </a:xfrm>
          <a:prstGeom prst="rect">
            <a:avLst/>
          </a:prstGeom>
        </p:spPr>
      </p:pic>
      <p:pic>
        <p:nvPicPr>
          <p:cNvPr id="33" name="Picture 32" descr="image-ac9262b32b460a2a5fbc3b55e076536b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1941588"/>
            <a:ext cx="2011680" cy="1968983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286000" y="1554480"/>
            <a:ext cx="4572000" cy="2377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181C23"/>
                </a:solidFill>
                <a:latin typeface="Segoe UI Semibold"/>
              </a:rPr>
              <a:t>O que você faz</a:t>
            </a:r>
          </a:p>
          <a:p>
            <a:pPr algn="ctr">
              <a:spcAft>
                <a:spcPts val="0"/>
              </a:spcAft>
            </a:pPr>
            <a:r>
              <a:rPr sz="2900" b="1">
                <a:solidFill>
                  <a:srgbClr val="181C23"/>
                </a:solidFill>
                <a:latin typeface="Segoe UI Semibold"/>
              </a:rPr>
              <a:t>para se atualizar</a:t>
            </a:r>
          </a:p>
          <a:p>
            <a:pPr algn="ctr">
              <a:spcAft>
                <a:spcPts val="0"/>
              </a:spcAft>
            </a:pPr>
            <a:r>
              <a:rPr sz="2900" b="1">
                <a:solidFill>
                  <a:srgbClr val="181C23"/>
                </a:solidFill>
                <a:latin typeface="Segoe UI Semibold"/>
              </a:rPr>
              <a:t>no assunto</a:t>
            </a:r>
          </a:p>
          <a:p>
            <a:pPr algn="ctr">
              <a:spcAft>
                <a:spcPts val="0"/>
              </a:spcAft>
            </a:pPr>
            <a:r>
              <a:rPr sz="2900" b="1">
                <a:solidFill>
                  <a:srgbClr val="181C23"/>
                </a:solidFill>
                <a:latin typeface="Segoe UI Semibold"/>
              </a:rPr>
              <a:t>tecnologia?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388620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371FF"/>
                </a:solidFill>
                <a:latin typeface="Segoe UI Semibold"/>
              </a:rPr>
              <a:t>Só mais um tutorial...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88620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371FF"/>
                </a:solidFill>
                <a:latin typeface="Segoe UI Semibold"/>
              </a:rPr>
              <a:t>Abri 47 abas.</a:t>
            </a:r>
          </a:p>
          <a:p>
            <a:pPr algn="ctr">
              <a:spcAft>
                <a:spcPts val="0"/>
              </a:spcAft>
            </a:pPr>
            <a:r>
              <a:rPr sz="1200" b="1">
                <a:solidFill>
                  <a:srgbClr val="2371FF"/>
                </a:solidFill>
                <a:latin typeface="Segoe UI Semibold"/>
              </a:rPr>
              <a:t>Agora vai!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4489704"/>
            <a:ext cx="71323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A707D"/>
                </a:solidFill>
                <a:latin typeface="Segoe UI"/>
              </a:rPr>
              <a:t>Vale canal, curso, podcast... e aquele amigo que sabe de tudo!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MODELO 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Declarativo: descreva condições, não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311700" y="4050000"/>
            <a:ext cx="8520600" cy="75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11700" y="4050000"/>
            <a:ext cx="70000" cy="75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41400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3900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É como um filtro de e-mail: você não programa 'como procurar spam', você descreve como o spam se parece — 'se vier de X e contém Y, marque'.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4 (visual)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1700" y="1750000"/>
            <a:ext cx="2733533" cy="145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2770233" y="1775000"/>
            <a:ext cx="250000" cy="25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27" name="Oval 26"/>
          <p:cNvSpPr/>
          <p:nvPr/>
        </p:nvSpPr>
        <p:spPr>
          <a:xfrm>
            <a:off x="1428466" y="1980000"/>
            <a:ext cx="500000" cy="5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DF8"/>
                </a:solidFill>
                <a:latin typeface="Segoe UI Semibold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1700" y="2550000"/>
            <a:ext cx="2733533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Datalog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1700" y="2830000"/>
            <a:ext cx="2733533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Segoe UI"/>
              </a:rPr>
              <a:t>pergunta: isso é verdade?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5233" y="1750000"/>
            <a:ext cx="2733533" cy="145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663766" y="1775000"/>
            <a:ext cx="250000" cy="25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32" name="Oval 31"/>
          <p:cNvSpPr/>
          <p:nvPr/>
        </p:nvSpPr>
        <p:spPr>
          <a:xfrm>
            <a:off x="4322000" y="1980000"/>
            <a:ext cx="500000" cy="5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DF8"/>
                </a:solidFill>
                <a:latin typeface="Segoe UI Semibold"/>
              </a:rPr>
              <a:t>{ }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5233" y="2550000"/>
            <a:ext cx="2733533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5233" y="2830000"/>
            <a:ext cx="2733533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Segoe UI"/>
              </a:rPr>
              <a:t>input · data · policy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8766" y="1750000"/>
            <a:ext cx="2733533" cy="145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557300" y="1775000"/>
            <a:ext cx="250000" cy="25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37" name="Oval 36"/>
          <p:cNvSpPr/>
          <p:nvPr/>
        </p:nvSpPr>
        <p:spPr>
          <a:xfrm>
            <a:off x="7215533" y="1980000"/>
            <a:ext cx="500000" cy="5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8766" y="2550000"/>
            <a:ext cx="2733533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Resultado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8766" y="2830000"/>
            <a:ext cx="2733533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Segoe UI"/>
              </a:rPr>
              <a:t>conciso · auditável · testável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11700" y="3300000"/>
            <a:ext cx="8520600" cy="650000"/>
          </a:xfrm>
          <a:prstGeom prst="roundRect">
            <a:avLst>
              <a:gd name="adj" fmla="val 6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341700" y="3330000"/>
            <a:ext cx="240000" cy="2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1700" y="3340000"/>
            <a:ext cx="19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81C23"/>
                </a:solidFill>
                <a:latin typeface="Segoe UI Semibold"/>
              </a:rPr>
              <a:t>AND implícito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1700" y="3600000"/>
            <a:ext cx="19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6A707D"/>
                </a:solidFill>
                <a:latin typeface="Segoe UI"/>
              </a:rPr>
              <a:t>todas devem ser verdadeiras</a:t>
            </a:r>
          </a:p>
        </p:txBody>
      </p:sp>
      <p:sp>
        <p:nvSpPr>
          <p:cNvPr id="44" name="Oval 43"/>
          <p:cNvSpPr/>
          <p:nvPr/>
        </p:nvSpPr>
        <p:spPr>
          <a:xfrm>
            <a:off x="2990000" y="3435000"/>
            <a:ext cx="320000" cy="32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50000" y="3775000"/>
            <a:ext cx="6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 i="0">
                <a:solidFill>
                  <a:srgbClr val="6A707D"/>
                </a:solidFill>
                <a:latin typeface="Segoe UI"/>
              </a:rPr>
              <a:t>cond.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50000" y="3465000"/>
            <a:ext cx="3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6A707D"/>
                </a:solidFill>
                <a:latin typeface="Segoe UI"/>
              </a:rPr>
              <a:t>→</a:t>
            </a:r>
          </a:p>
        </p:txBody>
      </p:sp>
      <p:sp>
        <p:nvSpPr>
          <p:cNvPr id="47" name="Oval 46"/>
          <p:cNvSpPr/>
          <p:nvPr/>
        </p:nvSpPr>
        <p:spPr>
          <a:xfrm>
            <a:off x="4490000" y="3435000"/>
            <a:ext cx="320000" cy="32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50000" y="3775000"/>
            <a:ext cx="6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 i="0">
                <a:solidFill>
                  <a:srgbClr val="6A707D"/>
                </a:solidFill>
                <a:latin typeface="Segoe UI"/>
              </a:rPr>
              <a:t>cond.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0000" y="3465000"/>
            <a:ext cx="3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6A707D"/>
                </a:solidFill>
                <a:latin typeface="Segoe UI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850000" y="3365000"/>
            <a:ext cx="600000" cy="460000"/>
          </a:xfrm>
          <a:prstGeom prst="roundRect">
            <a:avLst>
              <a:gd name="adj" fmla="val 15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50000" y="3775000"/>
            <a:ext cx="6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 i="0">
                <a:solidFill>
                  <a:srgbClr val="6A707D"/>
                </a:solidFill>
                <a:latin typeface="Segoe UI"/>
              </a:rPr>
              <a:t>AND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0000" y="3465000"/>
            <a:ext cx="3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6A707D"/>
                </a:solidFill>
                <a:latin typeface="Segoe UI"/>
              </a:rPr>
              <a:t>→</a:t>
            </a:r>
          </a:p>
        </p:txBody>
      </p:sp>
      <p:sp>
        <p:nvSpPr>
          <p:cNvPr id="53" name="Oval 52"/>
          <p:cNvSpPr/>
          <p:nvPr/>
        </p:nvSpPr>
        <p:spPr>
          <a:xfrm>
            <a:off x="7430000" y="3375000"/>
            <a:ext cx="440000" cy="4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rgbClr val="181C23"/>
                </a:solidFill>
                <a:latin typeface="Segoe UI Semibold"/>
              </a:rP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00000" y="3775000"/>
            <a:ext cx="70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 i="0">
                <a:solidFill>
                  <a:srgbClr val="6A707D"/>
                </a:solidFill>
                <a:latin typeface="Segoe UI"/>
              </a:rPr>
              <a:t>regra = true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MODELO 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Declarativo: descreva condições, não 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Inspirada em Datalog: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você descreve quando algo é verdadeiro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272986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272986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242986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Opera sobre JSON: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input, data e políticas são estruturas de dados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769824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769824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739824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Condições com AND implícito: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todas verdadeiras → regra produz valor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3266662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3266662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3236662"/>
            <a:ext cx="8020600" cy="4968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Resultado: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políticas concisas, auditáveis e testáveis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É como um filtro de e-mail: você não programa 'como procurar spam', você descreve como o spam se parece — 'se vier de X e contém Y, marque'.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ANATOMIA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Os quatro blocos de uma política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217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17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7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package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70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Namespace: data.docker.security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018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5518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6618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6618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18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Regras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5185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deny[msg] { ... } ou allow = true { ... }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4200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9200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90200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0200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200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input /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9200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Evento avaliado e contexto externo (allowlists)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682150" y="2196148"/>
            <a:ext cx="260000" cy="220000"/>
          </a:xfrm>
          <a:prstGeom prst="rightArrow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032150" y="1926148"/>
            <a:ext cx="1800150" cy="760000"/>
          </a:xfrm>
          <a:prstGeom prst="roundRect">
            <a:avLst>
              <a:gd name="adj" fmla="val 12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142150" y="2036148"/>
            <a:ext cx="260000" cy="26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42150" y="2036148"/>
            <a:ext cx="2600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181C23"/>
                </a:solidFill>
                <a:latin typeface="Segoe UI Semibol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42150" y="2326148"/>
            <a:ext cx="158015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DF8"/>
                </a:solidFill>
                <a:latin typeface="Segoe UI Semibold"/>
              </a:rPr>
              <a:t>Decisão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2150" y="2836148"/>
            <a:ext cx="1800150" cy="194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A707D"/>
                </a:solidFill>
                <a:latin typeface="Segoe UI"/>
              </a:rPr>
              <a:t>Conjunto de mensagens ou valor único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TIPOS DE REGRA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Regra completa vs. regra parcial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46148"/>
            <a:ext cx="383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DF8"/>
                </a:solidFill>
                <a:latin typeface="Segoe UI Semibold"/>
              </a:rPr>
              <a:t>Completa — um valor</a:t>
            </a:r>
          </a:p>
        </p:txBody>
      </p:sp>
      <p:sp>
        <p:nvSpPr>
          <p:cNvPr id="9" name="Oval 8"/>
          <p:cNvSpPr/>
          <p:nvPr/>
        </p:nvSpPr>
        <p:spPr>
          <a:xfrm>
            <a:off x="461700" y="2445817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700" y="2206148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default allow = false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3065155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700" y="2825486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allow { input.user.role == "admin" }</a:t>
            </a:r>
          </a:p>
        </p:txBody>
      </p:sp>
      <p:sp>
        <p:nvSpPr>
          <p:cNvPr id="13" name="Oval 12"/>
          <p:cNvSpPr/>
          <p:nvPr/>
        </p:nvSpPr>
        <p:spPr>
          <a:xfrm>
            <a:off x="461700" y="3684493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700" y="3444824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Resultado escalar: true / false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4303831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700" y="4064162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Uso: decisões binárias, flags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20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52000" y="1746148"/>
            <a:ext cx="383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81C23"/>
                </a:solidFill>
                <a:latin typeface="Segoe UI Semibold"/>
              </a:rPr>
              <a:t>Parcial — um conjunto</a:t>
            </a:r>
          </a:p>
        </p:txBody>
      </p:sp>
      <p:sp>
        <p:nvSpPr>
          <p:cNvPr id="20" name="Oval 19"/>
          <p:cNvSpPr/>
          <p:nvPr/>
        </p:nvSpPr>
        <p:spPr>
          <a:xfrm>
            <a:off x="4852000" y="2445817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2000" y="2206148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deny[msg] { ... }</a:t>
            </a:r>
          </a:p>
        </p:txBody>
      </p:sp>
      <p:sp>
        <p:nvSpPr>
          <p:cNvPr id="22" name="Oval 21"/>
          <p:cNvSpPr/>
          <p:nvPr/>
        </p:nvSpPr>
        <p:spPr>
          <a:xfrm>
            <a:off x="4852000" y="3065155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22000" y="2825486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Cada bloco que casar adiciona uma msg</a:t>
            </a:r>
          </a:p>
        </p:txBody>
      </p:sp>
      <p:sp>
        <p:nvSpPr>
          <p:cNvPr id="24" name="Oval 23"/>
          <p:cNvSpPr/>
          <p:nvPr/>
        </p:nvSpPr>
        <p:spPr>
          <a:xfrm>
            <a:off x="4852000" y="3684493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22000" y="3444824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Resultado: lista de violações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4303831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22000" y="4064162"/>
            <a:ext cx="3560300" cy="61933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Uso: deny, warn, violation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TIPOS DE REGRA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Regra completa vs. regra parcial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46148"/>
            <a:ext cx="383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DF8"/>
                </a:solidFill>
                <a:latin typeface="Segoe UI Semibold"/>
              </a:rPr>
              <a:t>Completa — um valor</a:t>
            </a:r>
          </a:p>
        </p:txBody>
      </p:sp>
      <p:sp>
        <p:nvSpPr>
          <p:cNvPr id="9" name="Oval 8"/>
          <p:cNvSpPr/>
          <p:nvPr/>
        </p:nvSpPr>
        <p:spPr>
          <a:xfrm>
            <a:off x="461700" y="2336148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700" y="2206148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default allow = false</a:t>
            </a:r>
          </a:p>
        </p:txBody>
      </p:sp>
      <p:sp>
        <p:nvSpPr>
          <p:cNvPr id="11" name="Oval 10"/>
          <p:cNvSpPr/>
          <p:nvPr/>
        </p:nvSpPr>
        <p:spPr>
          <a:xfrm>
            <a:off x="461700" y="2786148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700" y="2656148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allow { input.user.role == "admin" }</a:t>
            </a:r>
          </a:p>
        </p:txBody>
      </p:sp>
      <p:sp>
        <p:nvSpPr>
          <p:cNvPr id="15" name="Oval 14"/>
          <p:cNvSpPr/>
          <p:nvPr/>
        </p:nvSpPr>
        <p:spPr>
          <a:xfrm>
            <a:off x="461700" y="3236148"/>
            <a:ext cx="140000" cy="14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700" y="3106148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Uso: decisões binárias, flags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2000" y="1746148"/>
            <a:ext cx="4130300" cy="3037352"/>
          </a:xfrm>
          <a:prstGeom prst="roundRect">
            <a:avLst>
              <a:gd name="adj" fmla="val 4000"/>
            </a:avLst>
          </a:prstGeom>
          <a:solidFill>
            <a:srgbClr val="FFFDF8"/>
          </a:solidFill>
          <a:ln w="9525">
            <a:solidFill>
              <a:srgbClr val="EC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702000" y="1746148"/>
            <a:ext cx="4130300" cy="320000"/>
          </a:xfrm>
          <a:prstGeom prst="roundRect">
            <a:avLst>
              <a:gd name="adj" fmla="val 4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52000" y="1746148"/>
            <a:ext cx="3830300" cy="3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181C23"/>
                </a:solidFill>
                <a:latin typeface="Segoe UI Semibold"/>
              </a:rPr>
              <a:t>Parcial — um conjunto</a:t>
            </a:r>
          </a:p>
        </p:txBody>
      </p:sp>
      <p:sp>
        <p:nvSpPr>
          <p:cNvPr id="20" name="Oval 19"/>
          <p:cNvSpPr/>
          <p:nvPr/>
        </p:nvSpPr>
        <p:spPr>
          <a:xfrm>
            <a:off x="4852000" y="2336148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22000" y="2206148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deny[msg] { ... }</a:t>
            </a:r>
          </a:p>
        </p:txBody>
      </p:sp>
      <p:sp>
        <p:nvSpPr>
          <p:cNvPr id="22" name="Oval 21"/>
          <p:cNvSpPr/>
          <p:nvPr/>
        </p:nvSpPr>
        <p:spPr>
          <a:xfrm>
            <a:off x="4852000" y="2786148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22000" y="2656148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Cada bloco que casar adiciona uma msg</a:t>
            </a:r>
          </a:p>
        </p:txBody>
      </p:sp>
      <p:sp>
        <p:nvSpPr>
          <p:cNvPr id="26" name="Oval 25"/>
          <p:cNvSpPr/>
          <p:nvPr/>
        </p:nvSpPr>
        <p:spPr>
          <a:xfrm>
            <a:off x="4852000" y="3236148"/>
            <a:ext cx="140000" cy="14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122000" y="3106148"/>
            <a:ext cx="3560300" cy="4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81C23"/>
                </a:solidFill>
                <a:latin typeface="Segoe UI"/>
              </a:rPr>
              <a:t>Uso: deny, warn, violation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6 (visual)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00" y="3696148"/>
            <a:ext cx="38303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2371FF"/>
                </a:solidFill>
                <a:latin typeface="Segoe UI Semibold"/>
              </a:rPr>
              <a:t>RESULTADO DA AVALIAÇÃO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1700" y="3976148"/>
            <a:ext cx="3830300" cy="707352"/>
          </a:xfrm>
          <a:prstGeom prst="roundRect">
            <a:avLst>
              <a:gd name="adj" fmla="val 8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1700" y="3976148"/>
            <a:ext cx="3530300" cy="707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i="0">
                <a:solidFill>
                  <a:srgbClr val="A6F750"/>
                </a:solidFill>
                <a:latin typeface="Consolas"/>
              </a:rPr>
              <a:t>allow → false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2000" y="3696148"/>
            <a:ext cx="38303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>
                <a:solidFill>
                  <a:srgbClr val="2371FF"/>
                </a:solidFill>
                <a:latin typeface="Segoe UI Semibold"/>
              </a:rPr>
              <a:t>RESULTADO DA AVALIAÇÃO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52000" y="3976148"/>
            <a:ext cx="3830300" cy="707352"/>
          </a:xfrm>
          <a:prstGeom prst="roundRect">
            <a:avLst>
              <a:gd name="adj" fmla="val 8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32000" y="3976148"/>
            <a:ext cx="3530300" cy="707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>
                <a:solidFill>
                  <a:srgbClr val="A6F750"/>
                </a:solidFill>
                <a:latin typeface="Consolas"/>
              </a:rPr>
              <a:t>deny → {</a:t>
            </a:r>
          </a:p>
          <a:p>
            <a:pPr algn="l"/>
            <a:r>
              <a:rPr sz="1050">
                <a:solidFill>
                  <a:srgbClr val="A6F750"/>
                </a:solidFill>
                <a:latin typeface="Consolas"/>
              </a:rPr>
              <a:t>  "USER root proibido",</a:t>
            </a:r>
          </a:p>
          <a:p>
            <a:pPr algn="l"/>
            <a:r>
              <a:rPr sz="1050">
                <a:solidFill>
                  <a:srgbClr val="A6F750"/>
                </a:solidFill>
                <a:latin typeface="Consolas"/>
              </a:rPr>
              <a:t>  "Sem digest" 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SINTAXE ESSENCIAL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Variáveis, iteração e built-ins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:= declara, == compara, _ itera; sprintf monta a mensagem: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container := input.spec.containers[_]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container.image == "nginx:latest"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msg := sprintf("Container '%v' usa tag latest.", [container.name])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image := input.spec.containers[_].image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not regex.match(`.*@sha256:[a-f0-9]{64}$`, image)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    msg := sprintf("Imagem '%v' deve usar digest.", [image])</a:t>
            </a:r>
          </a:p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A6F750"/>
                </a:solidFill>
                <a:latin typeface="Consolas"/>
              </a:rPr>
              <a:t>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DOCKERFILE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Política para Dockerfile (formato Conftest)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O Conftest converte cada linha em {Cmd, Value}: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package main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approved_base := {"cgr.dev/chainguard/static", "gcr.io/distroless/base"}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input[i].Cmd == "from"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image := input[i].Value[0]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not is_approved(image)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msg := sprintf("Linha %d: base '%v' não aprovada.", [i, image])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deny[msg] { not has_user; msg := "Dockerfile sem USER." }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has_user { input[_].Cmd == "user" }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is_approved(img) { startswith(img, approved_base[_]) 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KUBERNETES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Política para manifests Kubernetes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YAML vira JSON; o padrão é o mesmo: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package kubernetes.pod_security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input.kind == "Deployment"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c := input.spec.template.spec.containers[_]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c.securityContext.runAsUser == 0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msg := sprintf("'%v' não pode rodar como UID 0.", [c.name])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deny[msg] {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c := input.spec.template.spec.containers[_]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not c.resources.limits.memory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msg := sprintf("'%v' sem limite de memória.", [c.name])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QUALIDADE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Testes com opa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11700" y="1746148"/>
            <a:ext cx="85206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A707D"/>
                </a:solidFill>
                <a:latin typeface="Segoe UI"/>
              </a:rPr>
              <a:t>Arquivo *_test.rego, regras test_*, 'with input as':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1700" y="2126148"/>
            <a:ext cx="8520600" cy="2657352"/>
          </a:xfrm>
          <a:prstGeom prst="roundRect">
            <a:avLst>
              <a:gd name="adj" fmla="val 3000"/>
            </a:avLst>
          </a:prstGeom>
          <a:solidFill>
            <a:srgbClr val="181C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11700" y="2126148"/>
            <a:ext cx="8520600" cy="260000"/>
          </a:xfrm>
          <a:prstGeom prst="roundRect">
            <a:avLst>
              <a:gd name="adj" fmla="val 3000"/>
            </a:avLst>
          </a:prstGeom>
          <a:solidFill>
            <a:srgbClr val="2A2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61700" y="2206148"/>
            <a:ext cx="100000" cy="100000"/>
          </a:xfrm>
          <a:prstGeom prst="ellipse">
            <a:avLst/>
          </a:prstGeom>
          <a:solidFill>
            <a:srgbClr val="FF2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61700" y="2206148"/>
            <a:ext cx="100000" cy="100000"/>
          </a:xfrm>
          <a:prstGeom prst="ellipse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1700" y="2206148"/>
            <a:ext cx="100000" cy="1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1700" y="2126148"/>
            <a:ext cx="8520600" cy="26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6A707D"/>
                </a:solidFill>
                <a:latin typeface="Consolas"/>
              </a:rPr>
              <a:t>rego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700" y="2486148"/>
            <a:ext cx="8120600" cy="21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package main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test_deny_root_user {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deny["Linha 2: USER 'root' proibido."] with input as [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{"Cmd": "from", "Value": ["cgr.dev/chainguard/static:latest"]},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    {"Cmd": "user", "Value": ["root"]}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    ]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6F750"/>
                </a:solidFill>
                <a:latin typeface="Consolas"/>
              </a:rPr>
              <a:t>test_allow_valid { count(deny) == 0 with input as [...] }</a:t>
            </a:r>
          </a:p>
          <a:p>
            <a:pPr algn="l">
              <a:lnSpc>
                <a:spcPct val="112000"/>
              </a:lnSpc>
            </a:pPr>
            <a:r>
              <a:rPr sz="600" b="0" i="0">
                <a:solidFill>
                  <a:srgbClr val="181C23"/>
                </a:solidFill>
                <a:latin typeface="Consolas"/>
              </a:rPr>
              <a:t> 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A707D"/>
                </a:solidFill>
                <a:latin typeface="Consolas"/>
              </a:rPr>
              <a:t># opa test policies/ -v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FFFDF8"/>
                </a:solidFill>
                <a:latin typeface="Consolas"/>
              </a:rPr>
              <a:t>&gt; PASS: 3/3</a:t>
            </a:r>
          </a:p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6A707D"/>
                </a:solidFill>
                <a:latin typeface="Consolas"/>
              </a:rPr>
              <a:t># opa test policies/ --coverage --format=json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PADRÕES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Boas práticas que evitam dor de cabeça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1700" y="1776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11700" y="1776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1700" y="174614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Um pacote por domínio: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docker/, kubernetes/, sbom/, shared/</a:t>
            </a:r>
          </a:p>
        </p:txBody>
      </p:sp>
      <p:sp>
        <p:nvSpPr>
          <p:cNvPr id="9" name="Oval 8"/>
          <p:cNvSpPr/>
          <p:nvPr/>
        </p:nvSpPr>
        <p:spPr>
          <a:xfrm>
            <a:off x="311700" y="217361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1700" y="217361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700" y="214361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Mensagens acionáveis: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diga exatamente o que corrigir</a:t>
            </a:r>
          </a:p>
        </p:txBody>
      </p:sp>
      <p:sp>
        <p:nvSpPr>
          <p:cNvPr id="12" name="Oval 11"/>
          <p:cNvSpPr/>
          <p:nvPr/>
        </p:nvSpPr>
        <p:spPr>
          <a:xfrm>
            <a:off x="311700" y="257108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1700" y="257108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700" y="254108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Allowlist em data: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atualize listas sem tocar na política</a:t>
            </a:r>
          </a:p>
        </p:txBody>
      </p:sp>
      <p:sp>
        <p:nvSpPr>
          <p:cNvPr id="15" name="Oval 14"/>
          <p:cNvSpPr/>
          <p:nvPr/>
        </p:nvSpPr>
        <p:spPr>
          <a:xfrm>
            <a:off x="311700" y="296855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1700" y="296855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700" y="293855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Exceções documentadas: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ticket e prazo no próprio código</a:t>
            </a:r>
          </a:p>
        </p:txBody>
      </p:sp>
      <p:sp>
        <p:nvSpPr>
          <p:cNvPr id="18" name="Oval 17"/>
          <p:cNvSpPr/>
          <p:nvPr/>
        </p:nvSpPr>
        <p:spPr>
          <a:xfrm>
            <a:off x="311700" y="336602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11700" y="336602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700" y="3336028"/>
            <a:ext cx="8020600" cy="397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81C23"/>
                </a:solidFill>
                <a:latin typeface="Segoe UI Semibold"/>
              </a:rPr>
              <a:t>Revisão por PR: </a:t>
            </a:r>
            <a:r>
              <a:rPr sz="1400" b="0" i="0">
                <a:solidFill>
                  <a:srgbClr val="6A707D"/>
                </a:solidFill>
                <a:latin typeface="Segoe UI"/>
              </a:rPr>
              <a:t>mesmo rigor do código de produção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83500"/>
            <a:ext cx="8520600" cy="90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83500"/>
            <a:ext cx="70000" cy="90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1700" y="3973500"/>
            <a:ext cx="81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💡 ANALOGIA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700" y="4223500"/>
            <a:ext cx="81206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181C23"/>
                </a:solidFill>
                <a:latin typeface="Segoe UI"/>
              </a:rPr>
              <a:t>Política sem teste e sem comentário é como regra de condomínio colada no elevador sem assinatura: ninguém sabe quem decidiu, por quê, nem se ainda vale.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MÃO NA MASSA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0" i="0" dirty="0" err="1">
                <a:solidFill>
                  <a:srgbClr val="181C23"/>
                </a:solidFill>
                <a:latin typeface="Segoe UI Semibold"/>
              </a:rPr>
              <a:t>Laboratório</a:t>
            </a:r>
            <a:r>
              <a:rPr sz="2400" b="0" i="0" dirty="0">
                <a:solidFill>
                  <a:srgbClr val="181C23"/>
                </a:solidFill>
                <a:latin typeface="Segoe UI Semibold"/>
              </a:rPr>
              <a:t>: </a:t>
            </a:r>
            <a:r>
              <a:rPr sz="2400" b="0" i="0" dirty="0" err="1">
                <a:solidFill>
                  <a:srgbClr val="181C23"/>
                </a:solidFill>
                <a:latin typeface="Segoe UI Semibold"/>
              </a:rPr>
              <a:t>política</a:t>
            </a:r>
            <a:r>
              <a:rPr sz="2400" b="0" i="0" dirty="0">
                <a:solidFill>
                  <a:srgbClr val="181C23"/>
                </a:solidFill>
                <a:latin typeface="Segoe UI Semibold"/>
              </a:rPr>
              <a:t> completa para </a:t>
            </a:r>
            <a:r>
              <a:rPr sz="2400" b="0" i="0" dirty="0" err="1">
                <a:solidFill>
                  <a:srgbClr val="181C23"/>
                </a:solidFill>
                <a:latin typeface="Segoe UI Semibold"/>
              </a:rPr>
              <a:t>Dockerfile</a:t>
            </a:r>
            <a:r>
              <a:rPr sz="2400" b="0" i="0" dirty="0">
                <a:solidFill>
                  <a:srgbClr val="181C23"/>
                </a:solidFill>
                <a:latin typeface="Segoe UI Semibold"/>
              </a:rPr>
              <a:t> e Kubernetes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61700" y="178788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61700" y="178788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700" y="174614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Estruturar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policies/docker, policies/kubernetes, manifests/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1700" y="219961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1700" y="224135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1700" y="224135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700" y="219961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Docker: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allowlist de base, bloquear USER root, exigir USER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1700" y="265308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61700" y="269482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00" y="269482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700" y="265308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Quebrar: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trocar para ubuntu:latest + root e ver as violações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1700" y="310655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461700" y="314829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700" y="314829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700" y="310655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Kubernetes: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bloquear UID 0 e exigir limite de memória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1700" y="3560028"/>
            <a:ext cx="8520600" cy="36347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61700" y="3601763"/>
            <a:ext cx="280000" cy="28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00" y="3601763"/>
            <a:ext cx="280000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DF8"/>
                </a:solidFill>
                <a:latin typeface="Segoe UI Semibold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700" y="3560028"/>
            <a:ext cx="7780600" cy="3634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81C23"/>
                </a:solidFill>
                <a:latin typeface="Segoe UI Semibold"/>
              </a:rPr>
              <a:t>Testar: </a:t>
            </a:r>
            <a:r>
              <a:rPr sz="1300" b="0" i="0">
                <a:solidFill>
                  <a:srgbClr val="6A707D"/>
                </a:solidFill>
                <a:latin typeface="Segoe UI"/>
              </a:rPr>
              <a:t>security_test.rego → opa test policies/ -v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1700" y="4163500"/>
            <a:ext cx="8520600" cy="620000"/>
          </a:xfrm>
          <a:prstGeom prst="roundRect">
            <a:avLst>
              <a:gd name="adj" fmla="val 6000"/>
            </a:avLst>
          </a:prstGeom>
          <a:solidFill>
            <a:srgbClr val="DAF9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11700" y="4163500"/>
            <a:ext cx="70000" cy="62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1700" y="4233500"/>
            <a:ext cx="81206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✅ ENTREGÁVEL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700" y="4453500"/>
            <a:ext cx="81206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181C23"/>
                </a:solidFill>
                <a:latin typeface="Segoe UI"/>
              </a:rPr>
              <a:t>Políticas Docker/Kubernetes, manifests de teste e *_test.rego passando. Runbook: labs/Aula_02_Runbook.md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11700" y="796148"/>
            <a:ext cx="85206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371FF"/>
                </a:solidFill>
                <a:latin typeface="Segoe UI Semibold"/>
              </a:rPr>
              <a:t>RESUMO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1700" y="1056148"/>
            <a:ext cx="85206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0" i="0">
                <a:solidFill>
                  <a:srgbClr val="181C23"/>
                </a:solidFill>
                <a:latin typeface="Segoe UI Semibold"/>
              </a:rPr>
              <a:t>Recapitulando a Aula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311700" y="1616148"/>
            <a:ext cx="900000" cy="55000"/>
          </a:xfrm>
          <a:prstGeom prst="rect">
            <a:avLst/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11700" y="17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11700" y="17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1700" y="18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1700" y="18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700" y="17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Rego é declarativo: descreva as condições que tornam a violação verdadeira.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700" y="24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11700" y="24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91700" y="25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1700" y="25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700" y="24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deny[msg] coleta violações; default allow = false garante falha segura.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1700" y="31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11700" y="31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91700" y="32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1700" y="32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700" y="31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Conftest aplica a mesma política a Dockerfiles, YAML e JSON reais.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1700" y="3846148"/>
            <a:ext cx="8520600" cy="570000"/>
          </a:xfrm>
          <a:prstGeom prst="roundRect">
            <a:avLst>
              <a:gd name="adj" fmla="val 8000"/>
            </a:avLst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11700" y="3846148"/>
            <a:ext cx="70000" cy="570000"/>
          </a:xfrm>
          <a:prstGeom prst="roundRect">
            <a:avLst>
              <a:gd name="adj" fmla="val 50000"/>
            </a:avLst>
          </a:prstGeom>
          <a:solidFill>
            <a:srgbClr val="A6F7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1700" y="3981148"/>
            <a:ext cx="300000" cy="300000"/>
          </a:xfrm>
          <a:prstGeom prst="ellipse">
            <a:avLst/>
          </a:prstGeom>
          <a:solidFill>
            <a:srgbClr val="237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1700" y="3981148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DF8"/>
                </a:solidFill>
                <a:latin typeface="Segoe UI Semibold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700" y="3846148"/>
            <a:ext cx="7680600" cy="5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81C23"/>
                </a:solidFill>
                <a:latin typeface="Segoe UI"/>
              </a:rPr>
              <a:t>opa test com casos positivos e negativos previne regressões.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1700" y="4843500"/>
            <a:ext cx="8520600" cy="6000"/>
          </a:xfrm>
          <a:prstGeom prst="rect">
            <a:avLst/>
          </a:prstGeom>
          <a:solidFill>
            <a:srgbClr val="EC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11700" y="4883500"/>
            <a:ext cx="79206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A707D"/>
                </a:solidFill>
                <a:latin typeface="Segoe UI"/>
              </a:rPr>
              <a:t>Ada · CY-SE-013 - Supply Chain Security · Linguagem Rego e Escrita de Políticas | Everton J Benedicto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2300" y="4883500"/>
            <a:ext cx="500000" cy="2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0" i="0">
                <a:solidFill>
                  <a:srgbClr val="2371FF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rcRect b="1429"/>
          <a:stretch>
            <a:fillRect/>
          </a:stretch>
        </p:blipFill>
        <p:spPr>
          <a:xfrm>
            <a:off x="0" y="0"/>
            <a:ext cx="9144000" cy="6161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2000" y="987004"/>
            <a:ext cx="3800000" cy="25694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871750"/>
            <a:ext cx="9144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400" b="0" i="0">
                <a:solidFill>
                  <a:srgbClr val="181C23"/>
                </a:solidFill>
                <a:latin typeface="Segoe UI Semibold"/>
              </a:rPr>
              <a:t>Obrigado!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671750"/>
            <a:ext cx="9144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i="1">
                <a:solidFill>
                  <a:srgbClr val="6A707D"/>
                </a:solidFill>
                <a:latin typeface="Segoe UI Light"/>
              </a:rPr>
              <a:t>Próxima aula: Enforcement com OPA Gatekeeper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2000" y="4025287"/>
            <a:ext cx="1000000" cy="6182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4803500"/>
            <a:ext cx="9144000" cy="2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>
                <a:solidFill>
                  <a:srgbClr val="6A707D"/>
                </a:solidFill>
                <a:latin typeface="Segoe UI Semibold"/>
              </a:rPr>
              <a:t>Prof.: Everton J Benedicto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181C23"/>
      </a:dk1>
      <a:lt1>
        <a:srgbClr val="FFFDF8"/>
      </a:lt1>
      <a:dk2>
        <a:srgbClr val="2371FF"/>
      </a:dk2>
      <a:lt2>
        <a:srgbClr val="50E550"/>
      </a:lt2>
      <a:accent1>
        <a:srgbClr val="DAF9DA"/>
      </a:accent1>
      <a:accent2>
        <a:srgbClr val="2371FF"/>
      </a:accent2>
      <a:accent3>
        <a:srgbClr val="DAF9DA"/>
      </a:accent3>
      <a:accent4>
        <a:srgbClr val="ECEDF3"/>
      </a:accent4>
      <a:accent5>
        <a:srgbClr val="C4D2F8"/>
      </a:accent5>
      <a:accent6>
        <a:srgbClr val="9DF09D"/>
      </a:accent6>
      <a:hlink>
        <a:srgbClr val="2371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d258917-277f-42cd-a3cd-14c4e9ee58bc}" enabled="1" method="Standard" siteId="{38ae3bcd-9579-4fd4-adda-b42e1495d55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2186</Words>
  <Application>Microsoft Office PowerPoint</Application>
  <PresentationFormat>On-screen Show (16:9)</PresentationFormat>
  <Paragraphs>332</Paragraphs>
  <Slides>17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Segoe UI Light</vt:lpstr>
      <vt:lpstr>Ubuntu Medium</vt:lpstr>
      <vt:lpstr>Consolas</vt:lpstr>
      <vt:lpstr>Segoe UI</vt:lpstr>
      <vt:lpstr>Ubuntu Light</vt:lpstr>
      <vt:lpstr>Arial</vt:lpstr>
      <vt:lpstr>Ubuntu</vt:lpstr>
      <vt:lpstr>Segoe UI Semibold</vt:lpstr>
      <vt:lpstr>Lato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Benedicto, Everton Jose (SI B IT PES PLT)</dc:creator>
  <cp:lastModifiedBy>Benedicto, Everton Jose (SI B IT PES PLT)</cp:lastModifiedBy>
  <cp:revision>4</cp:revision>
  <dcterms:modified xsi:type="dcterms:W3CDTF">2026-10-19T21:18:53Z</dcterms:modified>
</cp:coreProperties>
</file>