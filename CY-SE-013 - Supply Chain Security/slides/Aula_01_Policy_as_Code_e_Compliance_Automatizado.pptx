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71" r:id="rId12"/>
    <p:sldId id="272" r:id="rId13"/>
    <p:sldId id="273" r:id="rId14"/>
    <p:sldId id="274" r:id="rId15"/>
    <p:sldId id="267" r:id="rId16"/>
    <p:sldId id="268" r:id="rId17"/>
    <p:sldId id="269" r:id="rId18"/>
    <p:sldId id="270" r:id="rId19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Lato" panose="020F0502020204030203" pitchFamily="34" charset="0"/>
      <p:regular r:id="rId25"/>
      <p:bold r:id="rId26"/>
      <p:italic r:id="rId27"/>
      <p:boldItalic r:id="rId28"/>
    </p:embeddedFont>
    <p:embeddedFont>
      <p:font typeface="Segoe UI" panose="020B0502040204020203" pitchFamily="34" charset="0"/>
      <p:regular r:id="rId29"/>
      <p:bold r:id="rId30"/>
      <p:italic r:id="rId31"/>
      <p:boldItalic r:id="rId32"/>
    </p:embeddedFont>
    <p:embeddedFont>
      <p:font typeface="Segoe UI Light" panose="020B0502040204020203" pitchFamily="34" charset="0"/>
      <p:regular r:id="rId33"/>
      <p:italic r:id="rId34"/>
    </p:embeddedFont>
    <p:embeddedFont>
      <p:font typeface="Segoe UI Semibold" panose="020B0702040204020203" pitchFamily="34" charset="0"/>
      <p:bold r:id="rId35"/>
      <p:boldItalic r:id="rId36"/>
    </p:embeddedFont>
    <p:embeddedFont>
      <p:font typeface="Ubuntu" panose="020B0504030602030204" pitchFamily="34" charset="0"/>
      <p:regular r:id="rId37"/>
      <p:bold r:id="rId38"/>
      <p:italic r:id="rId39"/>
      <p:boldItalic r:id="rId40"/>
    </p:embeddedFont>
    <p:embeddedFont>
      <p:font typeface="Ubuntu Light" panose="020B0304030602030204" pitchFamily="34" charset="0"/>
      <p:regular r:id="rId41"/>
      <p:bold r:id="rId42"/>
      <p:italic r:id="rId43"/>
      <p:boldItalic r:id="rId44"/>
    </p:embeddedFont>
    <p:embeddedFont>
      <p:font typeface="Ubuntu Medium" panose="020B0604030602030204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162" autoAdjust="0"/>
  </p:normalViewPr>
  <p:slideViewPr>
    <p:cSldViewPr snapToGrid="0">
      <p:cViewPr varScale="1">
        <p:scale>
          <a:sx n="133" d="100"/>
          <a:sy n="133" d="100"/>
        </p:scale>
        <p:origin x="98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font" Target="fonts/font19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42" Type="http://schemas.openxmlformats.org/officeDocument/2006/relationships/font" Target="fonts/font22.fntdata"/><Relationship Id="rId47" Type="http://schemas.openxmlformats.org/officeDocument/2006/relationships/font" Target="fonts/font27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font" Target="fonts/font18.fntdata"/><Relationship Id="rId46" Type="http://schemas.openxmlformats.org/officeDocument/2006/relationships/font" Target="fonts/font2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41" Type="http://schemas.openxmlformats.org/officeDocument/2006/relationships/font" Target="fonts/font2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font" Target="fonts/font17.fntdata"/><Relationship Id="rId40" Type="http://schemas.openxmlformats.org/officeDocument/2006/relationships/font" Target="fonts/font20.fntdata"/><Relationship Id="rId45" Type="http://schemas.openxmlformats.org/officeDocument/2006/relationships/font" Target="fonts/font2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4" Type="http://schemas.openxmlformats.org/officeDocument/2006/relationships/font" Target="fonts/font24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43" Type="http://schemas.openxmlformats.org/officeDocument/2006/relationships/font" Target="fonts/font23.fntdata"/><Relationship Id="rId48" Type="http://schemas.openxmlformats.org/officeDocument/2006/relationships/font" Target="fonts/font28.fntdata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7427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Abertura da Aula 01: Policy as Code e Compliance Automatizado.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Situe o módulo como extensão do DevSecOps (CY-SE-010). Percorra a figura da esquerda para a direita e diga que cada elo terá um controle ao longo das 8 aulas. Pergunte onde a turma acha que o risco é maior.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Tempo </a:t>
            </a:r>
            <a:r>
              <a:rPr dirty="0" err="1"/>
              <a:t>sugerido</a:t>
            </a:r>
            <a:r>
              <a:rPr dirty="0"/>
              <a:t>: 10 min</a:t>
            </a:r>
          </a:p>
          <a:p>
            <a:endParaRPr dirty="0"/>
          </a:p>
          <a:p>
            <a:r>
              <a:rPr dirty="0"/>
              <a:t>Conte o </a:t>
            </a:r>
            <a:r>
              <a:rPr dirty="0" err="1"/>
              <a:t>caso</a:t>
            </a:r>
            <a:r>
              <a:rPr dirty="0"/>
              <a:t> das 17 imagens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falha</a:t>
            </a:r>
            <a:r>
              <a:rPr dirty="0"/>
              <a:t> de feedback, </a:t>
            </a:r>
            <a:r>
              <a:rPr dirty="0" err="1"/>
              <a:t>não</a:t>
            </a:r>
            <a:r>
              <a:rPr dirty="0"/>
              <a:t> de </a:t>
            </a:r>
            <a:r>
              <a:rPr dirty="0" err="1"/>
              <a:t>intenção</a:t>
            </a:r>
            <a:r>
              <a:rPr dirty="0"/>
              <a:t>. </a:t>
            </a:r>
            <a:r>
              <a:rPr dirty="0" err="1"/>
              <a:t>Pergunte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momento</a:t>
            </a:r>
            <a:r>
              <a:rPr dirty="0"/>
              <a:t> a equipe </a:t>
            </a:r>
            <a:r>
              <a:rPr dirty="0" err="1"/>
              <a:t>deveria</a:t>
            </a:r>
            <a:r>
              <a:rPr dirty="0"/>
              <a:t> ter </a:t>
            </a:r>
            <a:r>
              <a:rPr dirty="0" err="1"/>
              <a:t>descoberto</a:t>
            </a:r>
            <a:r>
              <a:rPr dirty="0"/>
              <a:t>? A </a:t>
            </a:r>
            <a:r>
              <a:rPr dirty="0" err="1"/>
              <a:t>resposta</a:t>
            </a:r>
            <a:r>
              <a:rPr dirty="0"/>
              <a:t> leva ao </a:t>
            </a:r>
            <a:r>
              <a:rPr dirty="0" err="1"/>
              <a:t>conceito</a:t>
            </a:r>
            <a:r>
              <a:rPr dirty="0"/>
              <a:t> de </a:t>
            </a:r>
            <a:r>
              <a:rPr dirty="0" err="1"/>
              <a:t>verificação</a:t>
            </a:r>
            <a:r>
              <a:rPr dirty="0"/>
              <a:t> </a:t>
            </a:r>
            <a:r>
              <a:rPr dirty="0" err="1"/>
              <a:t>automática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mudança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Tempo </a:t>
            </a:r>
            <a:r>
              <a:rPr dirty="0" err="1"/>
              <a:t>sugerido</a:t>
            </a:r>
            <a:r>
              <a:rPr dirty="0"/>
              <a:t>: 10 min</a:t>
            </a:r>
          </a:p>
          <a:p>
            <a:endParaRPr dirty="0"/>
          </a:p>
          <a:p>
            <a:r>
              <a:rPr dirty="0" err="1"/>
              <a:t>Explique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mesma</a:t>
            </a:r>
            <a:r>
              <a:rPr dirty="0"/>
              <a:t> </a:t>
            </a:r>
            <a:r>
              <a:rPr dirty="0" err="1"/>
              <a:t>filosofia</a:t>
            </a:r>
            <a:r>
              <a:rPr dirty="0"/>
              <a:t> </a:t>
            </a:r>
            <a:r>
              <a:rPr dirty="0" err="1"/>
              <a:t>transformou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(</a:t>
            </a:r>
            <a:r>
              <a:rPr dirty="0" err="1"/>
              <a:t>IaC</a:t>
            </a:r>
            <a:r>
              <a:rPr dirty="0"/>
              <a:t>) e pipelines (Pipeline as Code). </a:t>
            </a:r>
            <a:r>
              <a:rPr dirty="0" err="1"/>
              <a:t>Destaque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pilares</a:t>
            </a:r>
            <a:r>
              <a:rPr dirty="0"/>
              <a:t>: </a:t>
            </a:r>
            <a:r>
              <a:rPr dirty="0" err="1"/>
              <a:t>código</a:t>
            </a:r>
            <a:r>
              <a:rPr dirty="0"/>
              <a:t>, </a:t>
            </a:r>
            <a:r>
              <a:rPr dirty="0" err="1"/>
              <a:t>automação</a:t>
            </a:r>
            <a:r>
              <a:rPr dirty="0"/>
              <a:t> e </a:t>
            </a:r>
            <a:r>
              <a:rPr dirty="0" err="1"/>
              <a:t>governança</a:t>
            </a:r>
            <a:r>
              <a:rPr dirty="0"/>
              <a:t>.</a:t>
            </a:r>
          </a:p>
          <a:p>
            <a:endParaRPr lang="pt-PT" dirty="0"/>
          </a:p>
          <a:p>
            <a:r>
              <a:rPr lang="pt-PT" dirty="0"/>
              <a:t>Referência indicada pelo utilizador: https://www.openpolicyagent.org/docs/policy-language</a:t>
            </a:r>
          </a:p>
          <a:p>
            <a:r>
              <a:rPr lang="pt-PT" dirty="0"/>
              <a:t>A página não ficou acessível nesta edição. A definição acrescentada é uma síntese geral, não uma citação verificada da página.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Compare frequência, custo e qualidade da evidência. Reforce que a automação não elimina governança: exceções e aprovações continuam existindo, mas ficam rastreáveis.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12 min</a:t>
            </a:r>
          </a:p>
          <a:p>
            <a:endParaRPr/>
          </a:p>
          <a:p>
            <a:r>
              <a:t>Mostre o fluxo no diagrama: a aplicação envia input, o OPA avalia contra políticas e dados e devolve a decisão. Vantagens: atualizar política sem redeploy, fonte única de verdade, reutilização em CI, Kubernetes e APIs.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Conecte com os gates do módulo DevSecOps. Cada gate consome uma família de políticas e o Gatekeeper é a última barreira em runtime (tema da Aula 3).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Leia a regra em voz alta: 'negue com esta mensagem quando o usuário for root'. Diga que a Aula 2 destrincha a sintaxe; hoje o objetivo é ver que uma política cabe em poucas linhas e é testável.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Mostre que o mesmo motor (OPA) atende CI (Conftest), Kubernetes (Gatekeeper) e aplicações (API). Cite Kyverno e Sentinel como alternativas do ecossistema.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60 min</a:t>
            </a:r>
          </a:p>
          <a:p>
            <a:endParaRPr/>
          </a:p>
          <a:p>
            <a:r>
              <a:t>Confirme instalações antes de começar. Peça que prevejam a saída antes de cada comando. Circule entre os grupos e cuide para que as mensagens de deny sejam acionáveis.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Retome a enquete inicial: política no papel vs. política executável. Antecipe a Aula 2: dominar a sintaxe Rego para escrever regras reais.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Encerre lembrando a atividade do LMS e a instalação de OPA/Conftest para quem ainda não concluiu.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2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sor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2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Limpo">
  <p:cSld name="CUSTOM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fismo ADA">
  <p:cSld name="CUSTOM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erramento" typ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B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01  ·  Sexta, 16/10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Policy as Code e Compliance Automatizado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Como transformar regras de segurança em código versionável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 dirty="0" err="1">
                <a:solidFill>
                  <a:srgbClr val="A6F750"/>
                </a:solidFill>
                <a:latin typeface="Segoe UI"/>
              </a:rPr>
              <a:t>Módulo</a:t>
            </a:r>
            <a:r>
              <a:rPr sz="1000" b="0" i="0" dirty="0">
                <a:solidFill>
                  <a:srgbClr val="A6F750"/>
                </a:solidFill>
                <a:latin typeface="Segoe UI"/>
              </a:rPr>
              <a:t>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dirty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466148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6F750"/>
                </a:solidFill>
                <a:latin typeface="Segoe UI Semibold"/>
              </a:rPr>
              <a:t>Sex 16/10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20/10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03/11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ONDE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A cadeia de suprimentos de software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700" y="1976089"/>
            <a:ext cx="4394712" cy="2317469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upply-ch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036089"/>
            <a:ext cx="4274712" cy="21974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1700" y="4553500"/>
            <a:ext cx="427471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1">
                <a:solidFill>
                  <a:srgbClr val="6A707D"/>
                </a:solidFill>
                <a:latin typeface="Segoe UI"/>
              </a:rPr>
              <a:t>Fonte: clavis.com.br — Ameaças à cadeia de software</a:t>
            </a:r>
          </a:p>
        </p:txBody>
      </p:sp>
      <p:sp>
        <p:nvSpPr>
          <p:cNvPr id="9" name="Oval 8"/>
          <p:cNvSpPr/>
          <p:nvPr/>
        </p:nvSpPr>
        <p:spPr>
          <a:xfrm>
            <a:off x="4886412" y="176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6412" y="176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6412" y="1863465"/>
            <a:ext cx="3525888" cy="40536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dirty="0" err="1">
                <a:solidFill>
                  <a:srgbClr val="181C23"/>
                </a:solidFill>
                <a:latin typeface="Segoe UI Semibold"/>
              </a:rPr>
              <a:t>Desenvolvimento</a:t>
            </a:r>
            <a:r>
              <a:rPr sz="1300" b="0" i="0" dirty="0">
                <a:solidFill>
                  <a:srgbClr val="181C23"/>
                </a:solidFill>
                <a:latin typeface="Segoe UI Semibold"/>
              </a:rPr>
              <a:t>: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código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autoral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, </a:t>
            </a:r>
            <a:r>
              <a:rPr sz="1300" b="0" i="0" dirty="0" err="1">
                <a:solidFill>
                  <a:srgbClr val="6A707D"/>
                </a:solidFill>
                <a:latin typeface="Segoe UI"/>
              </a:rPr>
              <a:t>revisão</a:t>
            </a:r>
            <a:r>
              <a:rPr sz="1300" b="0" i="0" dirty="0">
                <a:solidFill>
                  <a:srgbClr val="6A707D"/>
                </a:solidFill>
                <a:latin typeface="Segoe UI"/>
              </a:rPr>
              <a:t>, </a:t>
            </a:r>
            <a:r>
              <a:rPr lang="pt-PT" sz="1300" b="0" i="0" dirty="0" err="1">
                <a:solidFill>
                  <a:srgbClr val="6A707D"/>
                </a:solidFill>
                <a:latin typeface="Segoe UI"/>
              </a:rPr>
              <a:t>secrets</a:t>
            </a:r>
            <a:endParaRPr sz="1300" b="0" i="0" dirty="0">
              <a:solidFill>
                <a:srgbClr val="6A707D"/>
              </a:solidFill>
              <a:latin typeface="Segoe UI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886412" y="240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86412" y="240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6412" y="238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Dependências e build: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bibliotecas, imagens, pipeline</a:t>
            </a:r>
          </a:p>
        </p:txBody>
      </p:sp>
      <p:sp>
        <p:nvSpPr>
          <p:cNvPr id="15" name="Oval 14"/>
          <p:cNvSpPr/>
          <p:nvPr/>
        </p:nvSpPr>
        <p:spPr>
          <a:xfrm>
            <a:off x="4886412" y="304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86412" y="304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6412" y="302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Distribuição e deploy: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registries, clusters, runtime</a:t>
            </a:r>
          </a:p>
        </p:txBody>
      </p:sp>
      <p:sp>
        <p:nvSpPr>
          <p:cNvPr id="18" name="Oval 17"/>
          <p:cNvSpPr/>
          <p:nvPr/>
        </p:nvSpPr>
        <p:spPr>
          <a:xfrm>
            <a:off x="4886412" y="368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86412" y="368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6412" y="366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Este módulo: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política → inventário → integridade → compliance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PROBLEMA GERADOR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Regra no papel, risco em produção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 regra existe: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"nenhuma imagem roda como root"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 verificação: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checklist manual, uma vez por trimestre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O resultado: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17 imagens rodando como root em produção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O diagnóstico: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o problema não é a política, é como ela é verificada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Uma placa de 'use o cinto' sem sensor no banco: todo mundo conhece a regra, ninguém verifica. Policy as Code é o sensor que apita antes de o carro sair da garagem.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POLICY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Da regra escrita ao código executável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Política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Requisito de segurança ou compliance em linguagem natural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Código Rego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Regra formal, versionada no Git e revisada por PR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Gate no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Avaliada automaticamente a cada commit, build e deploy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Evidência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Log do CI e decisão registrada — prova para auditoria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dirty="0">
                <a:solidFill>
                  <a:srgbClr val="6A707D"/>
                </a:solidFill>
                <a:latin typeface="Segoe UI"/>
              </a:rPr>
              <a:t>Ada · CY-SE-013 - Supply Chain Security · Policy as Code e Compliance </a:t>
            </a:r>
            <a:r>
              <a:rPr sz="800" b="0" i="0" dirty="0" err="1">
                <a:solidFill>
                  <a:srgbClr val="6A707D"/>
                </a:solidFill>
                <a:latin typeface="Segoe UI"/>
              </a:rPr>
              <a:t>Automatizado</a:t>
            </a:r>
            <a:r>
              <a:rPr sz="800" b="0" i="0" dirty="0">
                <a:solidFill>
                  <a:srgbClr val="6A707D"/>
                </a:solidFill>
                <a:latin typeface="Segoe UI"/>
              </a:rPr>
              <a:t>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6</a:t>
            </a:r>
          </a:p>
        </p:txBody>
      </p:sp>
      <p:sp>
        <p:nvSpPr>
          <p:cNvPr id="32" name="Definição Rego título"/>
          <p:cNvSpPr txBox="1"/>
          <p:nvPr/>
        </p:nvSpPr>
        <p:spPr>
          <a:xfrm>
            <a:off x="310896" y="3840480"/>
            <a:ext cx="8522208" cy="3017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181C23"/>
                </a:solidFill>
                <a:latin typeface="Segoe UI Semibold"/>
              </a:rPr>
              <a:t>O que é Rego?</a:t>
            </a:r>
          </a:p>
        </p:txBody>
      </p:sp>
      <p:sp>
        <p:nvSpPr>
          <p:cNvPr id="33" name="Definição Rego texto"/>
          <p:cNvSpPr txBox="1"/>
          <p:nvPr/>
        </p:nvSpPr>
        <p:spPr>
          <a:xfrm>
            <a:off x="310896" y="4187952"/>
            <a:ext cx="8522208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Rego é a linguagem declarativa de políticas do Open Policy Agent (OPA). Define regras sobre dados estruturados, como JSON, para produzir decisões de autorização e compliance.</a:t>
            </a:r>
          </a:p>
        </p:txBody>
      </p:sp>
      <p:sp>
        <p:nvSpPr>
          <p:cNvPr id="34" name="Documentação Rego hyperlink"/>
          <p:cNvSpPr txBox="1"/>
          <p:nvPr/>
        </p:nvSpPr>
        <p:spPr>
          <a:xfrm>
            <a:off x="310896" y="4608576"/>
            <a:ext cx="8522208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u="none" dirty="0">
                <a:solidFill>
                  <a:srgbClr val="2371FF"/>
                </a:solidFill>
                <a:latin typeface="Segoe UI"/>
              </a:rPr>
              <a:t>https://www.openpolicyagent.org/docs/policy-language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MUDANÇA DE PARADIGMA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Compliance manual vs. Policy as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46148"/>
            <a:ext cx="383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DF8"/>
                </a:solidFill>
                <a:latin typeface="Segoe UI Semibold"/>
              </a:rPr>
              <a:t>Compliance manual</a:t>
            </a:r>
          </a:p>
        </p:txBody>
      </p:sp>
      <p:sp>
        <p:nvSpPr>
          <p:cNvPr id="9" name="Oval 8"/>
          <p:cNvSpPr/>
          <p:nvPr/>
        </p:nvSpPr>
        <p:spPr>
          <a:xfrm>
            <a:off x="461700" y="24458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700" y="2206148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Checklist em PDF ou Confluence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30651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825486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Auditoria trimestral por humano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36844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700" y="3444824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Evidência em planilha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4303831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4064162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Feedback semanas depois do deploy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20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52000" y="1746148"/>
            <a:ext cx="383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81C23"/>
                </a:solidFill>
                <a:latin typeface="Segoe UI Semibold"/>
              </a:rPr>
              <a:t>Policy as Code</a:t>
            </a:r>
          </a:p>
        </p:txBody>
      </p:sp>
      <p:sp>
        <p:nvSpPr>
          <p:cNvPr id="20" name="Oval 19"/>
          <p:cNvSpPr/>
          <p:nvPr/>
        </p:nvSpPr>
        <p:spPr>
          <a:xfrm>
            <a:off x="4852000" y="24458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2000" y="2206148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dirty="0" err="1">
                <a:solidFill>
                  <a:srgbClr val="181C23"/>
                </a:solidFill>
                <a:latin typeface="Segoe UI"/>
              </a:rPr>
              <a:t>Regra</a:t>
            </a:r>
            <a:r>
              <a:rPr sz="1200" b="0" i="0" dirty="0">
                <a:solidFill>
                  <a:srgbClr val="181C23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181C23"/>
                </a:solidFill>
                <a:latin typeface="Segoe UI"/>
              </a:rPr>
              <a:t>em</a:t>
            </a:r>
            <a:r>
              <a:rPr sz="1200" b="0" i="0" dirty="0">
                <a:solidFill>
                  <a:srgbClr val="181C23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181C23"/>
                </a:solidFill>
                <a:latin typeface="Segoe UI"/>
              </a:rPr>
              <a:t>arquivo</a:t>
            </a:r>
            <a:r>
              <a:rPr sz="1200" b="0" i="0" dirty="0">
                <a:solidFill>
                  <a:srgbClr val="181C23"/>
                </a:solidFill>
                <a:latin typeface="Segoe UI"/>
              </a:rPr>
              <a:t> .</a:t>
            </a:r>
            <a:r>
              <a:rPr sz="1200" b="0" i="0" dirty="0" err="1">
                <a:solidFill>
                  <a:srgbClr val="181C23"/>
                </a:solidFill>
                <a:latin typeface="Segoe UI"/>
              </a:rPr>
              <a:t>rego</a:t>
            </a:r>
            <a:r>
              <a:rPr sz="1200" b="0" i="0" dirty="0">
                <a:solidFill>
                  <a:srgbClr val="181C23"/>
                </a:solidFill>
                <a:latin typeface="Segoe UI"/>
              </a:rPr>
              <a:t> </a:t>
            </a:r>
            <a:r>
              <a:rPr sz="1200" b="0" i="0" dirty="0" err="1">
                <a:solidFill>
                  <a:srgbClr val="181C23"/>
                </a:solidFill>
                <a:latin typeface="Segoe UI"/>
              </a:rPr>
              <a:t>versionado</a:t>
            </a:r>
            <a:endParaRPr sz="1200" b="0" i="0" dirty="0">
              <a:solidFill>
                <a:srgbClr val="181C23"/>
              </a:solidFill>
              <a:latin typeface="Segoe UI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852000" y="30651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2000" y="2825486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Avaliação automática por commit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36844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2000" y="3444824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Evidência em código + logs do CI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4303831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2000" y="4064162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Feedback em segundos, no PR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PRINCÍPIO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Decoupling: a aplicação pergunta, o OPA decide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700" y="2287832"/>
            <a:ext cx="4394712" cy="1693983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sacoplamento-o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347832"/>
            <a:ext cx="4274712" cy="15739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1700" y="4553500"/>
            <a:ext cx="427471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1">
                <a:solidFill>
                  <a:srgbClr val="6A707D"/>
                </a:solidFill>
                <a:latin typeface="Segoe UI"/>
              </a:rPr>
              <a:t>Fonte: Material do aluno (figura criada por IA)</a:t>
            </a:r>
          </a:p>
        </p:txBody>
      </p:sp>
      <p:sp>
        <p:nvSpPr>
          <p:cNvPr id="9" name="Oval 8"/>
          <p:cNvSpPr/>
          <p:nvPr/>
        </p:nvSpPr>
        <p:spPr>
          <a:xfrm>
            <a:off x="4886412" y="176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6412" y="176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6412" y="174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Input: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JSON que descreve o evento avaliado</a:t>
            </a:r>
          </a:p>
        </p:txBody>
      </p:sp>
      <p:sp>
        <p:nvSpPr>
          <p:cNvPr id="12" name="Oval 11"/>
          <p:cNvSpPr/>
          <p:nvPr/>
        </p:nvSpPr>
        <p:spPr>
          <a:xfrm>
            <a:off x="4886412" y="240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86412" y="240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6412" y="238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Data: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contexto externo, ex.: registries aprovados</a:t>
            </a:r>
          </a:p>
        </p:txBody>
      </p:sp>
      <p:sp>
        <p:nvSpPr>
          <p:cNvPr id="15" name="Oval 14"/>
          <p:cNvSpPr/>
          <p:nvPr/>
        </p:nvSpPr>
        <p:spPr>
          <a:xfrm>
            <a:off x="4886412" y="304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86412" y="304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6412" y="302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Política: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regras Rego mantidas pelo time de segurança</a:t>
            </a:r>
          </a:p>
        </p:txBody>
      </p:sp>
      <p:sp>
        <p:nvSpPr>
          <p:cNvPr id="18" name="Oval 17"/>
          <p:cNvSpPr/>
          <p:nvPr/>
        </p:nvSpPr>
        <p:spPr>
          <a:xfrm>
            <a:off x="4886412" y="368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86412" y="368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6412" y="366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Decisão: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allow / deny com mensagens explicativas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SECURITY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Onde a política atua no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Commit /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Secrets, licenças — pre-commit e Conftest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dirty="0" err="1">
                <a:solidFill>
                  <a:srgbClr val="6A707D"/>
                </a:solidFill>
                <a:latin typeface="Segoe UI"/>
              </a:rPr>
              <a:t>Dockerfile</a:t>
            </a:r>
            <a:r>
              <a:rPr sz="1100" b="0" i="0" dirty="0">
                <a:solidFill>
                  <a:srgbClr val="6A707D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A707D"/>
                </a:solidFill>
                <a:latin typeface="Segoe UI"/>
              </a:rPr>
              <a:t>IaC</a:t>
            </a:r>
            <a:r>
              <a:rPr sz="1100" b="0" i="0" dirty="0">
                <a:solidFill>
                  <a:srgbClr val="6A707D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A707D"/>
                </a:solidFill>
                <a:latin typeface="Segoe UI"/>
              </a:rPr>
              <a:t>dependências</a:t>
            </a:r>
            <a:r>
              <a:rPr sz="1100" b="0" i="0" dirty="0">
                <a:solidFill>
                  <a:srgbClr val="6A707D"/>
                </a:solidFill>
                <a:latin typeface="Segoe UI"/>
              </a:rPr>
              <a:t> — </a:t>
            </a:r>
            <a:r>
              <a:rPr sz="1100" b="0" i="0" dirty="0" err="1">
                <a:solidFill>
                  <a:srgbClr val="6A707D"/>
                </a:solidFill>
                <a:latin typeface="Segoe UI"/>
              </a:rPr>
              <a:t>Conftest</a:t>
            </a:r>
            <a:r>
              <a:rPr sz="1100" b="0" i="0" dirty="0">
                <a:solidFill>
                  <a:srgbClr val="6A707D"/>
                </a:solidFill>
                <a:latin typeface="Segoe UI"/>
              </a:rPr>
              <a:t> no CI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Artefato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SBOM, assinatura, atestações — Conftest + Cosign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0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Configuração de runtime — OPA Gatekeeper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Pense em aeroporto: check-in, raio-x, portão e porta do avião. Cada gate verifica algo diferente e ninguém embarca pulando etapas.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PRIMEIRO CONTATO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Uma política Rego em 8 linhas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Em vez de um documento dizendo 'imagens não podem rodar como root':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package docker.security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input.config.User == "root"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msg := "Imagem não pode executar como root."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not input.config.User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msg := "Defina um usuário não-privilegiado."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DECIFRANDO O REGO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Lendo a política linha por linha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Relembrando o exemplo anterior: cada linha do Rego é uma frase quase em português.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package docker.security</a:t>
            </a:r>
            <a:r>
              <a:rPr sz="1100" b="0" i="0">
                <a:solidFill>
                  <a:srgbClr val="181C23"/>
                </a:solidFill>
                <a:latin typeface="Consolas"/>
              </a:rPr>
              <a:t>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"gaveta" onde moram as regras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deny[msg] {</a:t>
            </a:r>
            <a:r>
              <a:rPr sz="1100" b="0" i="0">
                <a:solidFill>
                  <a:srgbClr val="181C23"/>
                </a:solidFill>
                <a:latin typeface="Consolas"/>
              </a:rPr>
              <a:t>        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"bloqueie se..."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input.config.User == "root",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msg := "Não pode rodar como root."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}</a:t>
            </a:r>
            <a:r>
              <a:rPr sz="1100" b="0" i="0">
                <a:solidFill>
                  <a:srgbClr val="181C23"/>
                </a:solidFill>
                <a:latin typeface="Consolas"/>
              </a:rPr>
              <a:t>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fim da regra: tudo dentro tem de ser verdade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not input.config.User</a:t>
            </a:r>
            <a:r>
              <a:rPr sz="1100" b="0" i="0">
                <a:solidFill>
                  <a:srgbClr val="181C23"/>
                </a:solidFill>
                <a:latin typeface="Consolas"/>
              </a:rPr>
              <a:t>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"not" = nega a condição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DECIFRANDO O REGO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As peças que você vai usar toda hora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Um mini dicionário: com estas 6 peças você já lê 90% de qualquer política Rego.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package pacote.nome</a:t>
            </a:r>
            <a:r>
              <a:rPr sz="1050" b="0" i="0">
                <a:solidFill>
                  <a:srgbClr val="181C23"/>
                </a:solidFill>
                <a:latin typeface="Consolas"/>
              </a:rPr>
              <a:t>     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nomeia o arquivo de regras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import rego.v1</a:t>
            </a:r>
            <a:r>
              <a:rPr sz="1050" b="0" i="0">
                <a:solidFill>
                  <a:srgbClr val="181C23"/>
                </a:solidFill>
                <a:latin typeface="Consolas"/>
              </a:rPr>
              <a:t>          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ativa a sintaxe mais nova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input.algo.campo</a:t>
            </a:r>
            <a:r>
              <a:rPr sz="1050" b="0" i="0">
                <a:solidFill>
                  <a:srgbClr val="181C23"/>
                </a:solidFill>
                <a:latin typeface="Consolas"/>
              </a:rPr>
              <a:t>       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le um valor do JSON de entrada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some item in lista</a:t>
            </a:r>
            <a:r>
              <a:rPr sz="1050" b="0" i="0">
                <a:solidFill>
                  <a:srgbClr val="181C23"/>
                </a:solidFill>
                <a:latin typeface="Consolas"/>
              </a:rPr>
              <a:t>     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"para cada item da lista"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not condicao</a:t>
            </a:r>
            <a:r>
              <a:rPr sz="1050" b="0" i="0">
                <a:solidFill>
                  <a:srgbClr val="181C23"/>
                </a:solidFill>
                <a:latin typeface="Consolas"/>
              </a:rPr>
              <a:t>            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"se NAO for verdade que..."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sprintf("erro: %v", [x])</a:t>
            </a:r>
            <a:r>
              <a:rPr sz="1050" b="0" i="0">
                <a:solidFill>
                  <a:srgbClr val="181C23"/>
                </a:solidFill>
                <a:latin typeface="Consolas"/>
              </a:rPr>
              <a:t>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monta uma mensagem com variavel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DECIFRANDO O REGO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Política vs. teste: dois arquivos, dois papéis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security.rego define a regra; security_test.rego garante que ela continua funcionando.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A707D"/>
                </a:solidFill>
                <a:latin typeface="Consolas"/>
              </a:rPr>
              <a:t># security.rego</a:t>
            </a:r>
            <a:r>
              <a:rPr sz="1000" b="0" i="0">
                <a:solidFill>
                  <a:srgbClr val="181C23"/>
                </a:solidFill>
                <a:latin typeface="Consolas"/>
              </a:rPr>
              <a:t>  </a:t>
            </a:r>
            <a:r>
              <a:rPr sz="1000" b="0" i="0">
                <a:solidFill>
                  <a:srgbClr val="FFFDF8"/>
                </a:solidFill>
                <a:latin typeface="Consolas"/>
              </a:rPr>
              <a:t>-&gt;  DEFINE a politica (producao)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deny contains msg if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input.config.User == "root"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msg := "Nao pode rodar como root."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A707D"/>
                </a:solidFill>
                <a:latin typeface="Consolas"/>
              </a:rPr>
              <a:t># security_test.rego</a:t>
            </a:r>
            <a:r>
              <a:rPr sz="1000" b="0" i="0">
                <a:solidFill>
                  <a:srgbClr val="181C23"/>
                </a:solidFill>
                <a:latin typeface="Consolas"/>
              </a:rPr>
              <a:t>  </a:t>
            </a:r>
            <a:r>
              <a:rPr sz="1000" b="0" i="0">
                <a:solidFill>
                  <a:srgbClr val="FFFDF8"/>
                </a:solidFill>
                <a:latin typeface="Consolas"/>
              </a:rPr>
              <a:t>-&gt;  TESTA a politica (garantia)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test_deny_root_user if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deny["Nao pode rodar como root."]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    with input as {"config": {"User": "root"}}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opa test policies/ -v</a:t>
            </a:r>
            <a:r>
              <a:rPr sz="1100" b="0" i="0">
                <a:solidFill>
                  <a:srgbClr val="181C23"/>
                </a:solidFill>
                <a:latin typeface="Consolas"/>
              </a:rPr>
              <a:t>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roda todos os testes de uma vez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DECIFRANDO O REGO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 "input" muda de forma dependendo de quem chama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security.rego e dockerfile.rego parecem iguais, mas recebem o input em formatos diferentes.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6A707D"/>
                </a:solidFill>
                <a:latin typeface="Consolas"/>
              </a:rPr>
              <a:t># opa eval  -&gt;  voce cria o input a mao (objeto)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FFDF8"/>
                </a:solidFill>
                <a:latin typeface="Consolas"/>
              </a:rPr>
              <a:t>{"config": {"User": "root"}}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input.config.User == "root"</a:t>
            </a:r>
            <a:r>
              <a:rPr sz="1050" b="0" i="0">
                <a:solidFill>
                  <a:srgbClr val="181C23"/>
                </a:solidFill>
                <a:latin typeface="Consolas"/>
              </a:rPr>
              <a:t>   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acesso direto por campo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6A707D"/>
                </a:solidFill>
                <a:latin typeface="Consolas"/>
              </a:rPr>
              <a:t># conftest  -&gt;  parser gera o input (lista!)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FFFDF8"/>
                </a:solidFill>
                <a:latin typeface="Consolas"/>
              </a:rPr>
              <a:t>[{"Cmd": "user", "Value": ["root"]}, ...]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input[i].Cmd == "user"</a:t>
            </a:r>
            <a:r>
              <a:rPr sz="1050" b="0" i="0">
                <a:solidFill>
                  <a:srgbClr val="181C23"/>
                </a:solidFill>
                <a:latin typeface="Consolas"/>
              </a:rPr>
              <a:t>           </a:t>
            </a:r>
            <a:r>
              <a:rPr sz="900" b="0" i="0">
                <a:solidFill>
                  <a:srgbClr val="6A707D"/>
                </a:solidFill>
                <a:latin typeface="Consolas"/>
              </a:rPr>
              <a:t># precisa percorrer a lista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input[i].Value[0] == "root"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6F750"/>
                </a:solidFill>
                <a:latin typeface="Consolas"/>
              </a:rPr>
              <a:t>dica:</a:t>
            </a:r>
            <a:r>
              <a:rPr sz="1000" b="0" i="0">
                <a:solidFill>
                  <a:srgbClr val="FFFDF8"/>
                </a:solidFill>
                <a:latin typeface="Consolas"/>
              </a:rPr>
              <a:t> objeto -&gt; ponto (.campo);  lista -&gt; indice ([i] ou [_])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FERRAMENTA DO DIA A 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Conftest: OPA aplicado a arquivos reais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O Conftest valida Dockerfiles, manifests Kubernetes, Terraform, JSON e YAML no pipeline: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conftest test Dockerfile --policy ./policies/docker/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conftest test deployment.yaml --policy ./policies/kubernetes/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conftest test sbom.json --policy ./policies/sbom/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Saída típica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FFFDF8"/>
                </a:solidFill>
                <a:latin typeface="Consolas"/>
              </a:rPr>
              <a:t>&gt; FAIL - Dockerfile - Imagem não pode executar como root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FFFDF8"/>
                </a:solidFill>
                <a:latin typeface="Consolas"/>
              </a:rPr>
              <a:t>&gt; FAIL - Dockerfile - Base 'ubuntu:latest' não está na allowlist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FFFDF8"/>
                </a:solidFill>
                <a:latin typeface="Consolas"/>
              </a:rPr>
              <a:t>&gt; WARN - Dockerfile - Considere usar imagem distroless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FFFDF8"/>
                </a:solidFill>
                <a:latin typeface="Consolas"/>
              </a:rPr>
              <a:t>&gt; 2 tests, 0 passed, 1 warning, 2 failures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Laboratório: primeira política e validação do ambiente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Instalar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OPA e Conftest; validar com opa version e conftest --version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Escrever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policies/docker/security.rego com dois deny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Avaliar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opa eval com input root → violação; UID 1001 → vazio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Validar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Dockerfile real com conftest test Dockerfile --policy policies/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Refletir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como isso vira gate obrigatório em cada push?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Política Rego, dois inputs JSON, Dockerfile de teste e as saídas dos comandos. Runbook: labs/Aula_01_Runbook.md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Policy as Code: políticas versionadas, testadas e executadas automaticamente a cada mudança.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Decoupling: a aplicação pergunta, o OPA decide — uma política vale para CI, Kubernetes e APIs.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Compliance contínuo substitui o checklist trimestral por evidência viva no pipeline.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Conftest leva o OPA para Dockerfiles, manifests e SBOMs no CI.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Policy as Code e Compliance Automatizado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Próxima aula: Linguagem Rego e Escrita de Políticas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2351</Words>
  <Application>Microsoft Office PowerPoint</Application>
  <PresentationFormat>On-screen Show (16:9)</PresentationFormat>
  <Paragraphs>317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Ubuntu Light</vt:lpstr>
      <vt:lpstr>Ubuntu</vt:lpstr>
      <vt:lpstr>Consolas</vt:lpstr>
      <vt:lpstr>Segoe UI Light</vt:lpstr>
      <vt:lpstr>Arial</vt:lpstr>
      <vt:lpstr>Segoe UI</vt:lpstr>
      <vt:lpstr>Lato</vt:lpstr>
      <vt:lpstr>Segoe UI Semibold</vt:lpstr>
      <vt:lpstr>Ubuntu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Benedicto, Everton Jose (SI B IT PES PLT)</dc:creator>
  <cp:lastModifiedBy>Benedicto, Everton Jose (SI B IT PES PLT)</cp:lastModifiedBy>
  <cp:revision>2</cp:revision>
  <dcterms:modified xsi:type="dcterms:W3CDTF">2026-10-16T21:13:43Z</dcterms:modified>
</cp:coreProperties>
</file>