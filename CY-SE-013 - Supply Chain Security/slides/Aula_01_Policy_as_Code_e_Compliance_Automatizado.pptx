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71" r:id="rId12"/>
    <p:sldId id="272" r:id="rId13"/>
    <p:sldId id="273" r:id="rId14"/>
    <p:sldId id="274" r:id="rId15"/>
    <p:sldId id="267" r:id="rId16"/>
    <p:sldId id="268" r:id="rId17"/>
    <p:sldId id="269" r:id="rId18"/>
    <p:sldId id="270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Segoe UI" panose="020B0502040204020203" pitchFamily="34" charset="0"/>
      <p:regular r:id="rId29"/>
      <p:bold r:id="rId30"/>
      <p:italic r:id="rId31"/>
      <p:boldItalic r:id="rId32"/>
    </p:embeddedFont>
    <p:embeddedFont>
      <p:font typeface="Segoe UI Light" panose="020B0502040204020203" pitchFamily="34" charset="0"/>
      <p:regular r:id="rId33"/>
      <p:italic r:id="rId34"/>
    </p:embeddedFont>
    <p:embeddedFont>
      <p:font typeface="Segoe UI Semibold" panose="020B0702040204020203" pitchFamily="34" charset="0"/>
      <p:bold r:id="rId35"/>
      <p:boldItalic r:id="rId36"/>
    </p:embeddedFont>
    <p:embeddedFont>
      <p:font typeface="Ubuntu" panose="020B0504030602030204" pitchFamily="34" charset="0"/>
      <p:regular r:id="rId37"/>
      <p:bold r:id="rId38"/>
      <p:italic r:id="rId39"/>
      <p:boldItalic r:id="rId40"/>
    </p:embeddedFont>
    <p:embeddedFont>
      <p:font typeface="Ubuntu Light" panose="020B0304030602030204" pitchFamily="34" charset="0"/>
      <p:regular r:id="rId41"/>
      <p:bold r:id="rId42"/>
      <p:italic r:id="rId43"/>
      <p:boldItalic r:id="rId44"/>
    </p:embeddedFont>
    <p:embeddedFont>
      <p:font typeface="Ubuntu Medium" panose="020B060403060203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162" autoAdjust="0"/>
  </p:normalViewPr>
  <p:slideViewPr>
    <p:cSldViewPr snapToGrid="0">
      <p:cViewPr varScale="1">
        <p:scale>
          <a:sx n="129" d="100"/>
          <a:sy n="129" d="100"/>
        </p:scale>
        <p:origin x="144" y="3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font" Target="fonts/font2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font" Target="fonts/font2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font" Target="fonts/font2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font" Target="fonts/font28.fnt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4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Abertura da Aula 01: Policy as Code e Compliance Automatizado. Apresente o tema, a pergunta geradora e situe a aula na progressão do módulo. Confirme que os laboratórios da aula anterior foram concluídos.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>
            <a:endParaRPr/>
          </a:p>
          <a:p>
            <a:r>
              <a:t>Mostre onde estamos no cronograma (card escuro). Lembre os próximos encontros e, na Aula 7, avise que não há aula em 02/11 (Finados). O último encontro, 06/11, é dedicado às apresentações e rubricas.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>
            <a:endParaRPr/>
          </a:p>
          <a:p>
            <a:r>
              <a:t>Relembre os combinados da turma rapidamente: câmeras ligadas, pontualidade, participação e mão levantada para dúvidas. Informe o horário do intervalo de 15 minutos.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>
            <a:endParaRPr/>
          </a:p>
          <a:p>
            <a:r>
              <a:t>Situe o módulo como extensão do DevSecOps (CY-SE-010). Percorra a figura da esquerda para a direita e diga que cada elo terá um controle ao longo das 8 aulas. Pergunte onde a turma acha que o risco é maior.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Tempo </a:t>
            </a:r>
            <a:r>
              <a:rPr dirty="0" err="1"/>
              <a:t>sugerido</a:t>
            </a:r>
            <a:r>
              <a:rPr dirty="0"/>
              <a:t>: 10 min</a:t>
            </a:r>
          </a:p>
          <a:p>
            <a:endParaRPr dirty="0"/>
          </a:p>
          <a:p>
            <a:r>
              <a:rPr dirty="0"/>
              <a:t>Conte o </a:t>
            </a:r>
            <a:r>
              <a:rPr dirty="0" err="1"/>
              <a:t>caso</a:t>
            </a:r>
            <a:r>
              <a:rPr dirty="0"/>
              <a:t> das 17 imagens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falha</a:t>
            </a:r>
            <a:r>
              <a:rPr dirty="0"/>
              <a:t> de feedback, </a:t>
            </a:r>
            <a:r>
              <a:rPr dirty="0" err="1"/>
              <a:t>não</a:t>
            </a:r>
            <a:r>
              <a:rPr dirty="0"/>
              <a:t> de </a:t>
            </a:r>
            <a:r>
              <a:rPr dirty="0" err="1"/>
              <a:t>intenção</a:t>
            </a:r>
            <a:r>
              <a:rPr dirty="0"/>
              <a:t>. </a:t>
            </a:r>
            <a:r>
              <a:rPr dirty="0" err="1"/>
              <a:t>Pergunte</a:t>
            </a:r>
            <a:r>
              <a:rPr dirty="0"/>
              <a:t>: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 a equipe </a:t>
            </a:r>
            <a:r>
              <a:rPr dirty="0" err="1"/>
              <a:t>deveria</a:t>
            </a:r>
            <a:r>
              <a:rPr dirty="0"/>
              <a:t> ter </a:t>
            </a:r>
            <a:r>
              <a:rPr dirty="0" err="1"/>
              <a:t>descoberto</a:t>
            </a:r>
            <a:r>
              <a:rPr dirty="0"/>
              <a:t>? A </a:t>
            </a:r>
            <a:r>
              <a:rPr dirty="0" err="1"/>
              <a:t>resposta</a:t>
            </a:r>
            <a:r>
              <a:rPr dirty="0"/>
              <a:t> leva ao </a:t>
            </a:r>
            <a:r>
              <a:rPr dirty="0" err="1"/>
              <a:t>conceito</a:t>
            </a:r>
            <a:r>
              <a:rPr dirty="0"/>
              <a:t> de </a:t>
            </a:r>
            <a:r>
              <a:rPr dirty="0" err="1"/>
              <a:t>verificação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mudança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Tempo </a:t>
            </a:r>
            <a:r>
              <a:rPr dirty="0" err="1"/>
              <a:t>sugerido</a:t>
            </a:r>
            <a:r>
              <a:rPr dirty="0"/>
              <a:t>: 10 min</a:t>
            </a:r>
          </a:p>
          <a:p>
            <a:endParaRPr dirty="0"/>
          </a:p>
          <a:p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filosofia</a:t>
            </a:r>
            <a:r>
              <a:rPr dirty="0"/>
              <a:t> </a:t>
            </a:r>
            <a:r>
              <a:rPr dirty="0" err="1"/>
              <a:t>transformou</a:t>
            </a:r>
            <a:r>
              <a:rPr dirty="0"/>
              <a:t> </a:t>
            </a:r>
            <a:r>
              <a:rPr dirty="0" err="1"/>
              <a:t>infraestrutura</a:t>
            </a:r>
            <a:r>
              <a:rPr dirty="0"/>
              <a:t> (</a:t>
            </a:r>
            <a:r>
              <a:rPr dirty="0" err="1"/>
              <a:t>IaC</a:t>
            </a:r>
            <a:r>
              <a:rPr dirty="0"/>
              <a:t>) e pipelines (Pipeline as Code). </a:t>
            </a:r>
            <a:r>
              <a:rPr dirty="0" err="1"/>
              <a:t>Destaque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pilares</a:t>
            </a:r>
            <a:r>
              <a:rPr dirty="0"/>
              <a:t>: </a:t>
            </a:r>
            <a:r>
              <a:rPr dirty="0" err="1"/>
              <a:t>código</a:t>
            </a:r>
            <a:r>
              <a:rPr dirty="0"/>
              <a:t>, </a:t>
            </a:r>
            <a:r>
              <a:rPr dirty="0" err="1"/>
              <a:t>automação</a:t>
            </a:r>
            <a:r>
              <a:rPr dirty="0"/>
              <a:t> e </a:t>
            </a:r>
            <a:r>
              <a:rPr dirty="0" err="1"/>
              <a:t>governança</a:t>
            </a:r>
            <a:r>
              <a:rPr dirty="0"/>
              <a:t>.</a:t>
            </a:r>
          </a:p>
          <a:p>
            <a:endParaRPr lang="pt-PT" dirty="0"/>
          </a:p>
          <a:p>
            <a:r>
              <a:rPr lang="pt-PT" dirty="0"/>
              <a:t>Referência indicada pelo utilizador: https://www.openpolicyagent.org/docs/policy-language</a:t>
            </a:r>
          </a:p>
          <a:p>
            <a:r>
              <a:rPr lang="pt-PT" dirty="0"/>
              <a:t>A página não ficou acessível nesta edição. A definição acrescentada é uma síntese geral, não uma citação verificada da página.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Compare frequência, custo e qualidade da evidência. Reforce que a automação não elimina governança: exceções e aprovações continuam existindo, mas ficam rastreáveis.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12 min</a:t>
            </a:r>
          </a:p>
          <a:p>
            <a:endParaRPr/>
          </a:p>
          <a:p>
            <a:r>
              <a:t>Mostre o fluxo no diagrama: a aplicação envia input, o OPA avalia contra políticas e dados e devolve a decisão. Vantagens: atualizar política sem redeploy, fonte única de verdade, reutilização em CI, Kubernetes e APIs.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Conecte com os gates do módulo DevSecOps. Cada gate consome uma família de políticas e o Gatekeeper é a última barreira em runtime (tema da Aula 3).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Leia a regra em voz alta: 'negue com esta mensagem quando o usuário for root'. Diga que a Aula 2 destrincha a sintaxe; hoje o objetivo é ver que uma política cabe em poucas linhas e é testável.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>
            <a:endParaRPr/>
          </a:p>
          <a:p>
            <a:r>
              <a:t>Mostre que o mesmo motor (OPA) atende CI (Conftest), Kubernetes (Gatekeeper) e aplicações (API). Cite Kyverno e Sentinel como alternativas do ecossistema.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60 min</a:t>
            </a:r>
          </a:p>
          <a:p>
            <a:endParaRPr/>
          </a:p>
          <a:p>
            <a:r>
              <a:t>Confirme instalações antes de começar. Peça que prevejam a saída antes de cada comando. Circule entre os grupos e cuide para que as mensagens de deny sejam acionáveis.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>
            <a:endParaRPr/>
          </a:p>
          <a:p>
            <a:r>
              <a:t>Retome a enquete inicial: política no papel vs. política executável. Antecipe a Aula 2: dominar a sintaxe Rego para escrever regras reais.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Encerre lembrando a atividade do LMS e a instalação de OPA/Conftest para quem ainda não concluiu.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000" y="2743500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560000"/>
            <a:ext cx="24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>
                <a:solidFill>
                  <a:srgbClr val="A6F750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8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Segoe UI Semibold"/>
              </a:rPr>
              <a:t>AULA 01  ·  Sexta, 16/10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60000"/>
            <a:ext cx="660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81C23"/>
                </a:solidFill>
                <a:latin typeface="Segoe UI Semibold"/>
              </a:rPr>
              <a:t>Policy as Code e Compliance Automatizado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Segoe UI Light"/>
              </a:rPr>
              <a:t>Como transformar regras de segurança em código versionável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Segoe UI"/>
              </a:rPr>
              <a:t>Módulo · CY-SE-013 - Supply Chain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466148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00" y="1556148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1856148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6F750"/>
                </a:solidFill>
                <a:latin typeface="Segoe UI Semibold"/>
              </a:rPr>
              <a:t>Sex 16/10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00" y="2056148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DF8"/>
                </a:solidFill>
                <a:latin typeface="Segoe UI"/>
              </a:rPr>
              <a:t>Policy as Code e Compliance Automatizado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1900" y="1556148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1856148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19/10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1900" y="2056148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Linguagem Rego e Escrita de Políticas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2100" y="1556148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1856148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20/10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2100" y="2056148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Enforcement: OPA Gatekeeper e Admission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00" y="2711932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011932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23/10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00" y="3211932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SBOM: Fundamentos, SPDX e CycloneDX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1900" y="2711932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011932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26/10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211932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Análise de SBOM e Gestão de Dependências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2100" y="2711932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011932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27/10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211932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Supply Chain Security: Ataques e Frameworks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867716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167716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30/10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367716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Integridade e Procedência de Artefatos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867716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167716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03/11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367716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Compliance Contínuo, Auditoria e Projeto Final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867716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167716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06/11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367716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Segoe UI Semibold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Segoe UI Semibold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00" y="2446148"/>
            <a:ext cx="2839028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Câmera ligada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+ mão levantada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6F750"/>
                </a:solidFill>
                <a:latin typeface="Segoe UI Semibold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273500"/>
            <a:ext cx="2839028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81C23"/>
                </a:solidFill>
                <a:latin typeface="Segoe UI Semibold"/>
              </a:rPr>
              <a:t>INTERVALO ·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ONDE ESTAMOS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A cadeia de suprimentos de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1976089"/>
            <a:ext cx="4394712" cy="2317469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upply-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036089"/>
            <a:ext cx="4274712" cy="21974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Segoe UI"/>
              </a:rPr>
              <a:t>Fonte: clavis.com.br — Ameaças à cadeia de software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76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76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Desenvolvimento: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código autoral, revisão, segredos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0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0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Dependências e build: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bibliotecas, imagens, pipeline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04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04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Distribuição e deploy: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registries, clusters, runtime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68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68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Este módulo: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política → inventário → integridade → compliance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PROBLEMA GERADOR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Regra no papel, risco em produção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 regra existe: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"nenhuma imagem roda como root"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 verificação: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checklist manual, uma vez por trimestre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O resultado: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17 imagens rodando como root em produção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O diagnóstico: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o problema não é a política, é como ela é verificada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Uma placa de 'use o cinto' sem sensor no banco: todo mundo conhece a regra, ninguém verifica. Policy as Code é o sensor que apita antes de o carro sair da garagem.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POLICY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Da regra escrita ao código executável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217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170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0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Política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00" y="2836148"/>
            <a:ext cx="1800150" cy="19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Requisito de segurança ou compliance em linguagem natural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018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518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618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6185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185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Código Rego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850" y="2836148"/>
            <a:ext cx="1800150" cy="19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Regra formal, versionada no Git e revisada por PR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4200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920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020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200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00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Gate no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000" y="2836148"/>
            <a:ext cx="1800150" cy="19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Avaliada automaticamente a cada commit, build e deploy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821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0321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1421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215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215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Evidência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2150" y="2836148"/>
            <a:ext cx="1800150" cy="19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Log do CI e decisão registrada — prova para auditoria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6</a:t>
            </a:r>
          </a:p>
        </p:txBody>
      </p:sp>
      <p:sp>
        <p:nvSpPr>
          <p:cNvPr id="32" name="Definição Rego título"/>
          <p:cNvSpPr txBox="1"/>
          <p:nvPr/>
        </p:nvSpPr>
        <p:spPr>
          <a:xfrm>
            <a:off x="310896" y="3840480"/>
            <a:ext cx="8522208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81C23"/>
                </a:solidFill>
                <a:latin typeface="Segoe UI Semibold"/>
              </a:rPr>
              <a:t>O que é Rego?</a:t>
            </a:r>
          </a:p>
        </p:txBody>
      </p:sp>
      <p:sp>
        <p:nvSpPr>
          <p:cNvPr id="33" name="Definição Rego texto"/>
          <p:cNvSpPr txBox="1"/>
          <p:nvPr/>
        </p:nvSpPr>
        <p:spPr>
          <a:xfrm>
            <a:off x="310896" y="4187952"/>
            <a:ext cx="852220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Rego é a linguagem declarativa de políticas do Open Policy Agent (OPA). Define regras sobre dados estruturados, como JSON, para produzir decisões de autorização e compliance.</a:t>
            </a:r>
          </a:p>
        </p:txBody>
      </p:sp>
      <p:sp>
        <p:nvSpPr>
          <p:cNvPr id="34" name="Documentação Rego hyperlink"/>
          <p:cNvSpPr txBox="1"/>
          <p:nvPr/>
        </p:nvSpPr>
        <p:spPr>
          <a:xfrm>
            <a:off x="310896" y="4608576"/>
            <a:ext cx="8522208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2371FF"/>
                </a:solidFill>
                <a:latin typeface="Segoe UI"/>
              </a:rPr>
              <a:t>https://www.openpolicyagent.org/docs/policy-language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MUDANÇA DE PARADIGMA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Compliance manual vs. Policy as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Segoe UI Semibold"/>
              </a:rPr>
              <a:t>Compliance manual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2445817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700" y="2206148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Checklist em PDF ou Confluence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065155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700" y="2825486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Auditoria trimestral por humano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3684493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700" y="3444824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Evidência em planilha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303831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700" y="4064162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Feedback semanas depois do deploy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20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20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520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Segoe UI Semibold"/>
              </a:rPr>
              <a:t>Policy as Code</a:t>
            </a:r>
          </a:p>
        </p:txBody>
      </p:sp>
      <p:sp>
        <p:nvSpPr>
          <p:cNvPr id="20" name="Oval 19"/>
          <p:cNvSpPr/>
          <p:nvPr/>
        </p:nvSpPr>
        <p:spPr>
          <a:xfrm>
            <a:off x="4852000" y="2445817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2000" y="2206148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Regra em arquivo .rego versionado</a:t>
            </a:r>
          </a:p>
        </p:txBody>
      </p:sp>
      <p:sp>
        <p:nvSpPr>
          <p:cNvPr id="22" name="Oval 21"/>
          <p:cNvSpPr/>
          <p:nvPr/>
        </p:nvSpPr>
        <p:spPr>
          <a:xfrm>
            <a:off x="4852000" y="3065155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2000" y="2825486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Avaliação automática por commit</a:t>
            </a:r>
          </a:p>
        </p:txBody>
      </p:sp>
      <p:sp>
        <p:nvSpPr>
          <p:cNvPr id="24" name="Oval 23"/>
          <p:cNvSpPr/>
          <p:nvPr/>
        </p:nvSpPr>
        <p:spPr>
          <a:xfrm>
            <a:off x="4852000" y="3684493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2000" y="3444824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Evidência em código + logs do CI</a:t>
            </a:r>
          </a:p>
        </p:txBody>
      </p:sp>
      <p:sp>
        <p:nvSpPr>
          <p:cNvPr id="26" name="Oval 25"/>
          <p:cNvSpPr/>
          <p:nvPr/>
        </p:nvSpPr>
        <p:spPr>
          <a:xfrm>
            <a:off x="4852000" y="4303831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2000" y="4064162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Feedback em segundos, no PR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PRINCÍPIO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Decoupling: a aplicação pergunta, o OPA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287832"/>
            <a:ext cx="4394712" cy="169398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sacoplamento-o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347832"/>
            <a:ext cx="4274712" cy="15739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Segoe UI"/>
              </a:rPr>
              <a:t>Fonte: Material do aluno (figura criada por IA)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76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76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Input: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JSON que descreve o evento avaliado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0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0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Data: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contexto externo, ex.: registries aprovados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04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04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Política: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regras Rego mantidas pelo time de segurança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68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68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Decisão: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allow / deny com mensagens explicativas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SECURITY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Onde a política atua no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217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170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0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Commit / 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00" y="2836148"/>
            <a:ext cx="1800150" cy="10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Secrets, licenças — pre-commit e Conftest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018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518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618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6185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185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850" y="2836148"/>
            <a:ext cx="1800150" cy="10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6A707D"/>
                </a:solidFill>
                <a:latin typeface="Segoe UI"/>
              </a:rPr>
              <a:t>Dockerfile</a:t>
            </a:r>
            <a:r>
              <a:rPr sz="1100" b="0" i="0" dirty="0">
                <a:solidFill>
                  <a:srgbClr val="6A707D"/>
                </a:solidFill>
                <a:latin typeface="Segoe UI"/>
              </a:rPr>
              <a:t>, </a:t>
            </a:r>
            <a:r>
              <a:rPr sz="1100" b="0" i="0" dirty="0" err="1">
                <a:solidFill>
                  <a:srgbClr val="6A707D"/>
                </a:solidFill>
                <a:latin typeface="Segoe UI"/>
              </a:rPr>
              <a:t>IaC</a:t>
            </a:r>
            <a:r>
              <a:rPr sz="1100" b="0" i="0" dirty="0">
                <a:solidFill>
                  <a:srgbClr val="6A707D"/>
                </a:solidFill>
                <a:latin typeface="Segoe UI"/>
              </a:rPr>
              <a:t>, </a:t>
            </a:r>
            <a:r>
              <a:rPr sz="1100" b="0" i="0" dirty="0" err="1">
                <a:solidFill>
                  <a:srgbClr val="6A707D"/>
                </a:solidFill>
                <a:latin typeface="Segoe UI"/>
              </a:rPr>
              <a:t>dependências</a:t>
            </a:r>
            <a:r>
              <a:rPr sz="1100" b="0" i="0" dirty="0">
                <a:solidFill>
                  <a:srgbClr val="6A707D"/>
                </a:solidFill>
                <a:latin typeface="Segoe UI"/>
              </a:rPr>
              <a:t> — </a:t>
            </a:r>
            <a:r>
              <a:rPr sz="1100" b="0" i="0" dirty="0" err="1">
                <a:solidFill>
                  <a:srgbClr val="6A707D"/>
                </a:solidFill>
                <a:latin typeface="Segoe UI"/>
              </a:rPr>
              <a:t>Conftest</a:t>
            </a:r>
            <a:r>
              <a:rPr sz="1100" b="0" i="0" dirty="0">
                <a:solidFill>
                  <a:srgbClr val="6A707D"/>
                </a:solidFill>
                <a:latin typeface="Segoe UI"/>
              </a:rPr>
              <a:t> no CI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4200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920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020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200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00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Artefato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000" y="2836148"/>
            <a:ext cx="1800150" cy="10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SBOM, assinatura, atestações — Conftest + Cosign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821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0321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1421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215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215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2150" y="2836148"/>
            <a:ext cx="1800150" cy="10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Configuração de runtime — OPA Gatekeeper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Pense em aeroporto: check-in, raio-x, portão e porta do avião. Cada gate verifica algo diferente e ninguém embarca pulando etapas.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PRIMEIRO CONTATO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Uma política Rego em 8 linhas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Em vez de um documento dizendo 'imagens não podem rodar como root':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rego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package docker.security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deny[msg] {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input.config.User == "root"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msg := "Imagem não pode executar como root."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deny[msg] {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not input.config.User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msg := "Defina um usuário não-privilegiado."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DECIFRANDO O REGO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Lendo a política linha por linha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Relembrando o exemplo anterior: cada linha do Rego é uma frase quase em português.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rego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package docker.security</a:t>
            </a:r>
            <a:r>
              <a:rPr sz="1100" b="0" i="0">
                <a:solidFill>
                  <a:srgbClr val="181C23"/>
                </a:solidFill>
                <a:latin typeface="Consolas"/>
              </a:rPr>
              <a:t>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"gaveta" onde moram as regras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deny[msg] {</a:t>
            </a:r>
            <a:r>
              <a:rPr sz="1100" b="0" i="0">
                <a:solidFill>
                  <a:srgbClr val="181C23"/>
                </a:solidFill>
                <a:latin typeface="Consolas"/>
              </a:rPr>
              <a:t>        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"bloqueie se..."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input.config.User == "root",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msg := "Não pode rodar como root."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}</a:t>
            </a:r>
            <a:r>
              <a:rPr sz="1100" b="0" i="0">
                <a:solidFill>
                  <a:srgbClr val="181C23"/>
                </a:solidFill>
                <a:latin typeface="Consolas"/>
              </a:rPr>
              <a:t>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fim da regra: tudo dentro tem de ser verdade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not input.config.User</a:t>
            </a:r>
            <a:r>
              <a:rPr sz="1100" b="0" i="0">
                <a:solidFill>
                  <a:srgbClr val="181C23"/>
                </a:solidFill>
                <a:latin typeface="Consolas"/>
              </a:rPr>
              <a:t>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"not" = nega a condição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DECIFRANDO O REGO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As peças que você vai usar toda hora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Um mini dicionário: com estas 6 peças você já lê 90% de qualquer política Rego.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rego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A6F750"/>
                </a:solidFill>
                <a:latin typeface="Consolas"/>
              </a:rPr>
              <a:t>package pacote.nome</a:t>
            </a:r>
            <a:r>
              <a:rPr sz="1050" b="0" i="0">
                <a:solidFill>
                  <a:srgbClr val="181C23"/>
                </a:solidFill>
                <a:latin typeface="Consolas"/>
              </a:rPr>
              <a:t>     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nomeia o arquivo de regras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A6F750"/>
                </a:solidFill>
                <a:latin typeface="Consolas"/>
              </a:rPr>
              <a:t>import rego.v1</a:t>
            </a:r>
            <a:r>
              <a:rPr sz="1050" b="0" i="0">
                <a:solidFill>
                  <a:srgbClr val="181C23"/>
                </a:solidFill>
                <a:latin typeface="Consolas"/>
              </a:rPr>
              <a:t>          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ativa a sintaxe mais nova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A6F750"/>
                </a:solidFill>
                <a:latin typeface="Consolas"/>
              </a:rPr>
              <a:t>input.algo.campo</a:t>
            </a:r>
            <a:r>
              <a:rPr sz="1050" b="0" i="0">
                <a:solidFill>
                  <a:srgbClr val="181C23"/>
                </a:solidFill>
                <a:latin typeface="Consolas"/>
              </a:rPr>
              <a:t>       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le um valor do JSON de entrada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A6F750"/>
                </a:solidFill>
                <a:latin typeface="Consolas"/>
              </a:rPr>
              <a:t>some item in lista</a:t>
            </a:r>
            <a:r>
              <a:rPr sz="1050" b="0" i="0">
                <a:solidFill>
                  <a:srgbClr val="181C23"/>
                </a:solidFill>
                <a:latin typeface="Consolas"/>
              </a:rPr>
              <a:t>     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"para cada item da lista"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A6F750"/>
                </a:solidFill>
                <a:latin typeface="Consolas"/>
              </a:rPr>
              <a:t>not condicao</a:t>
            </a:r>
            <a:r>
              <a:rPr sz="1050" b="0" i="0">
                <a:solidFill>
                  <a:srgbClr val="181C23"/>
                </a:solidFill>
                <a:latin typeface="Consolas"/>
              </a:rPr>
              <a:t>            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"se NAO for verdade que..."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A6F750"/>
                </a:solidFill>
                <a:latin typeface="Consolas"/>
              </a:rPr>
              <a:t>sprintf("erro: %v", [x])</a:t>
            </a:r>
            <a:r>
              <a:rPr sz="1050" b="0" i="0">
                <a:solidFill>
                  <a:srgbClr val="181C23"/>
                </a:solidFill>
                <a:latin typeface="Consolas"/>
              </a:rPr>
              <a:t>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monta uma mensagem com variavel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DECIFRANDO O REGO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Política vs. teste: dois arquivos, dois papéis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security.rego define a regra; security_test.rego garante que ela continua funcionando.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rego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A707D"/>
                </a:solidFill>
                <a:latin typeface="Consolas"/>
              </a:rPr>
              <a:t># security.rego</a:t>
            </a:r>
            <a:r>
              <a:rPr sz="1000" b="0" i="0">
                <a:solidFill>
                  <a:srgbClr val="181C23"/>
                </a:solidFill>
                <a:latin typeface="Consolas"/>
              </a:rPr>
              <a:t>  </a:t>
            </a:r>
            <a:r>
              <a:rPr sz="1000" b="0" i="0">
                <a:solidFill>
                  <a:srgbClr val="FFFDF8"/>
                </a:solidFill>
                <a:latin typeface="Consolas"/>
              </a:rPr>
              <a:t>-&gt;  DEFINE a politica (producao)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deny contains msg if {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input.config.User == "root"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msg := "Nao pode rodar como root."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A707D"/>
                </a:solidFill>
                <a:latin typeface="Consolas"/>
              </a:rPr>
              <a:t># security_test.rego</a:t>
            </a:r>
            <a:r>
              <a:rPr sz="1000" b="0" i="0">
                <a:solidFill>
                  <a:srgbClr val="181C23"/>
                </a:solidFill>
                <a:latin typeface="Consolas"/>
              </a:rPr>
              <a:t>  </a:t>
            </a:r>
            <a:r>
              <a:rPr sz="1000" b="0" i="0">
                <a:solidFill>
                  <a:srgbClr val="FFFDF8"/>
                </a:solidFill>
                <a:latin typeface="Consolas"/>
              </a:rPr>
              <a:t>-&gt;  TESTA a politica (garantia)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test_deny_root_user if {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deny["Nao pode rodar como root."]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      with input as {"config": {"User": "root"}}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opa test policies/ -v</a:t>
            </a:r>
            <a:r>
              <a:rPr sz="1100" b="0" i="0">
                <a:solidFill>
                  <a:srgbClr val="181C23"/>
                </a:solidFill>
                <a:latin typeface="Consolas"/>
              </a:rPr>
              <a:t>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roda todos os testes de uma vez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DECIFRANDO O REGO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O "input" muda de forma dependendo de quem chama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security.rego e dockerfile.rego parecem iguais, mas recebem o input em formatos diferentes.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rego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A707D"/>
                </a:solidFill>
                <a:latin typeface="Consolas"/>
              </a:rPr>
              <a:t># opa eval  -&gt;  voce cria o input a mao (objeto)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FDF8"/>
                </a:solidFill>
                <a:latin typeface="Consolas"/>
              </a:rPr>
              <a:t>{"config": {"User": "root"}}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A6F750"/>
                </a:solidFill>
                <a:latin typeface="Consolas"/>
              </a:rPr>
              <a:t>input.config.User == "root"</a:t>
            </a:r>
            <a:r>
              <a:rPr sz="1050" b="0" i="0">
                <a:solidFill>
                  <a:srgbClr val="181C23"/>
                </a:solidFill>
                <a:latin typeface="Consolas"/>
              </a:rPr>
              <a:t>   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acesso direto por campo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A707D"/>
                </a:solidFill>
                <a:latin typeface="Consolas"/>
              </a:rPr>
              <a:t># conftest  -&gt;  parser gera o input (lista!)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FDF8"/>
                </a:solidFill>
                <a:latin typeface="Consolas"/>
              </a:rPr>
              <a:t>[{"Cmd": "user", "Value": ["root"]}, ...]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A6F750"/>
                </a:solidFill>
                <a:latin typeface="Consolas"/>
              </a:rPr>
              <a:t>input[i].Cmd == "user"</a:t>
            </a:r>
            <a:r>
              <a:rPr sz="1050" b="0" i="0">
                <a:solidFill>
                  <a:srgbClr val="181C23"/>
                </a:solidFill>
                <a:latin typeface="Consolas"/>
              </a:rPr>
              <a:t>           </a:t>
            </a:r>
            <a:r>
              <a:rPr sz="900" b="0" i="0">
                <a:solidFill>
                  <a:srgbClr val="6A707D"/>
                </a:solidFill>
                <a:latin typeface="Consolas"/>
              </a:rPr>
              <a:t># precisa percorrer a lista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A6F750"/>
                </a:solidFill>
                <a:latin typeface="Consolas"/>
              </a:rPr>
              <a:t>input[i].Value[0] == "root"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A6F750"/>
                </a:solidFill>
                <a:latin typeface="Consolas"/>
              </a:rPr>
              <a:t>dica:</a:t>
            </a:r>
            <a:r>
              <a:rPr sz="1000" b="0" i="0">
                <a:solidFill>
                  <a:srgbClr val="FFFDF8"/>
                </a:solidFill>
                <a:latin typeface="Consolas"/>
              </a:rPr>
              <a:t> objeto -&gt; ponto (.campo);  lista -&gt; indice ([i] ou [_])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FERRAMENTA DO DIA A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Conftest: OPA aplicado a arquivos reais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O Conftest valida Dockerfiles, manifests Kubernetes, Terraform, JSON e YAML no pipeline: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conftest test Dockerfile --policy ./policies/docker/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conftest test deployment.yaml --policy ./policies/kubernetes/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conftest test sbom.json --policy ./policies/sbom/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Saída típica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FDF8"/>
                </a:solidFill>
                <a:latin typeface="Consolas"/>
              </a:rPr>
              <a:t>&gt; FAIL - Dockerfile - Imagem não pode executar como root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FDF8"/>
                </a:solidFill>
                <a:latin typeface="Consolas"/>
              </a:rPr>
              <a:t>&gt; FAIL - Dockerfile - Base 'ubuntu:latest' não está na allowlist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FDF8"/>
                </a:solidFill>
                <a:latin typeface="Consolas"/>
              </a:rPr>
              <a:t>&gt; WARN - Dockerfile - Considere usar imagem distroless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FDF8"/>
                </a:solidFill>
                <a:latin typeface="Consolas"/>
              </a:rPr>
              <a:t>&gt; 2 tests, 0 passed, 1 warning, 2 failures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Laboratório: primeira política e validação do ambiente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61700" y="178788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00" y="178788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" y="174614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Instalar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OPA e Conftest; validar com opa version e conftest --version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700" y="219961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1700" y="224135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00" y="224135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" y="219961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Escrever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policies/docker/security.rego com dois deny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700" y="265308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1700" y="269482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00" y="269482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00" y="265308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Avaliar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opa eval com input root → violação; UID 1001 → vazio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10655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61700" y="314829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00" y="314829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" y="310655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Validar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Dockerfile real com conftest test Dockerfile --policy policies/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700" y="356002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1700" y="360176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00" y="360176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" y="356002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Refletir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como isso vira gate obrigatório em cada push?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1700" y="4163500"/>
            <a:ext cx="8520600" cy="62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11700" y="4163500"/>
            <a:ext cx="70000" cy="6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1700" y="42335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✅ ENTREGÁVEL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700" y="4453500"/>
            <a:ext cx="81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181C23"/>
                </a:solidFill>
                <a:latin typeface="Segoe UI"/>
              </a:rPr>
              <a:t>Política Rego, dois inputs JSON, Dockerfile de teste e as saídas dos comandos. Runbook: labs/Aula_01_Runbook.md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Policy as Code: políticas versionadas, testadas e executadas automaticamente a cada mudança.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Decoupling: a aplicação pergunta, o OPA decide — uma política vale para CI, Kubernetes e APIs.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Compliance contínuo substitui o checklist trimestral por evidência viva no pipeline.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Conftest leva o OPA para Dockerfiles, manifests e SBOMs no CI.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Policy as Code e Compliance Automatizado |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b="14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2000" y="987004"/>
            <a:ext cx="3800000" cy="2569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1750"/>
            <a:ext cx="9144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0" i="0">
                <a:solidFill>
                  <a:srgbClr val="181C23"/>
                </a:solidFill>
                <a:latin typeface="Segoe UI Semibold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71750"/>
            <a:ext cx="9144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6A707D"/>
                </a:solidFill>
                <a:latin typeface="Segoe UI Light"/>
              </a:rPr>
              <a:t>Próxima aula: Linguagem Rego e Escrita de Políticas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000" y="4025287"/>
            <a:ext cx="1000000" cy="618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03500"/>
            <a:ext cx="9144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A707D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2351</Words>
  <Application>Microsoft Office PowerPoint</Application>
  <PresentationFormat>On-screen Show (16:9)</PresentationFormat>
  <Paragraphs>317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Segoe UI Semibold</vt:lpstr>
      <vt:lpstr>Ubuntu Light</vt:lpstr>
      <vt:lpstr>Ubuntu</vt:lpstr>
      <vt:lpstr>Ubuntu Medium</vt:lpstr>
      <vt:lpstr>Lato</vt:lpstr>
      <vt:lpstr>Consolas</vt:lpstr>
      <vt:lpstr>Segoe UI Light</vt:lpstr>
      <vt:lpstr>Arial</vt:lpstr>
      <vt:lpstr>Segoe UI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B IT PES PLT)</cp:lastModifiedBy>
  <cp:revision>1</cp:revision>
  <dcterms:modified xsi:type="dcterms:W3CDTF">2026-10-12T16:11:05Z</dcterms:modified>
</cp:coreProperties>
</file>