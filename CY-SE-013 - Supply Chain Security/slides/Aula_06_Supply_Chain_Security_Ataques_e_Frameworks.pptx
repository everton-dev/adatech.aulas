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9"/>
  </p:notesMasterIdLst>
  <p:sldIdLst>
    <p:sldId id="256" r:id="rId2"/>
    <p:sldId id="257" r:id="rId3"/>
    <p:sldId id="258" r:id="rId4"/>
    <p:sldId id="273" r:id="rId5"/>
    <p:sldId id="259" r:id="rId6"/>
    <p:sldId id="260" r:id="rId7"/>
    <p:sldId id="261" r:id="rId8"/>
    <p:sldId id="262" r:id="rId9"/>
    <p:sldId id="263" r:id="rId10"/>
    <p:sldId id="269" r:id="rId11"/>
    <p:sldId id="270" r:id="rId12"/>
    <p:sldId id="271" r:id="rId13"/>
    <p:sldId id="272" r:id="rId14"/>
    <p:sldId id="265" r:id="rId15"/>
    <p:sldId id="266" r:id="rId16"/>
    <p:sldId id="267" r:id="rId17"/>
    <p:sldId id="268" r:id="rId1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Lato" panose="020F0502020204030203" pitchFamily="34" charset="0"/>
      <p:regular r:id="rId24"/>
      <p:bold r:id="rId25"/>
      <p:italic r:id="rId26"/>
      <p:boldItalic r:id="rId27"/>
    </p:embeddedFont>
    <p:embeddedFont>
      <p:font typeface="Segoe UI" panose="020B0502040204020203" pitchFamily="34" charset="0"/>
      <p:regular r:id="rId28"/>
      <p:bold r:id="rId29"/>
      <p:italic r:id="rId30"/>
      <p:boldItalic r:id="rId31"/>
    </p:embeddedFont>
    <p:embeddedFont>
      <p:font typeface="Segoe UI Light" panose="020B0502040204020203" pitchFamily="34" charset="0"/>
      <p:regular r:id="rId32"/>
      <p:italic r:id="rId33"/>
    </p:embeddedFont>
    <p:embeddedFont>
      <p:font typeface="Segoe UI Semibold" panose="020B0702040204020203" pitchFamily="34" charset="0"/>
      <p:bold r:id="rId34"/>
      <p:boldItalic r:id="rId35"/>
    </p:embeddedFont>
    <p:embeddedFont>
      <p:font typeface="Ubuntu" panose="020B0504030602030204" pitchFamily="34" charset="0"/>
      <p:regular r:id="rId36"/>
      <p:bold r:id="rId37"/>
      <p:italic r:id="rId38"/>
      <p:boldItalic r:id="rId39"/>
    </p:embeddedFont>
    <p:embeddedFont>
      <p:font typeface="Ubuntu Light" panose="020B0304030602030204" pitchFamily="34" charset="0"/>
      <p:regular r:id="rId40"/>
      <p:bold r:id="rId41"/>
      <p:italic r:id="rId42"/>
      <p:boldItalic r:id="rId43"/>
    </p:embeddedFont>
    <p:embeddedFont>
      <p:font typeface="Ubuntu Medium" panose="020B0604030602030204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9952" autoAdjust="0"/>
  </p:normalViewPr>
  <p:slideViewPr>
    <p:cSldViewPr snapToGrid="0">
      <p:cViewPr varScale="1">
        <p:scale>
          <a:sx n="128" d="100"/>
          <a:sy n="128" d="100"/>
        </p:scale>
        <p:origin x="90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font" Target="fonts/font23.fntdata"/><Relationship Id="rId47" Type="http://schemas.openxmlformats.org/officeDocument/2006/relationships/font" Target="fonts/font2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46" Type="http://schemas.openxmlformats.org/officeDocument/2006/relationships/font" Target="fonts/font2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font" Target="fonts/font2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font" Target="fonts/font21.fntdata"/><Relationship Id="rId45" Type="http://schemas.openxmlformats.org/officeDocument/2006/relationships/font" Target="fonts/font2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schemas.openxmlformats.org/officeDocument/2006/relationships/font" Target="fonts/font2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font" Target="fonts/font2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06: Supply Chain Security: Ataques e Frameworks.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Use o modelo SLSA de três fases. Cada fase tem uma fronteira de confiança; sem isolamento, um comprometimento intermediário chega à produção sem rastro.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12 min</a:t>
            </a:r>
          </a:p>
          <a:p>
            <a:endParaRPr/>
          </a:p>
          <a:p>
            <a:r>
              <a:t>Para cada vetor, peça a mitigação: lockfile com hash, scope privado + registry autenticado, ignore-scripts, build efêmero com atestação, chave de cache com hash do lockfile.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15 min</a:t>
            </a:r>
          </a:p>
          <a:p>
            <a:endParaRPr/>
          </a:p>
          <a:p>
            <a:r>
              <a:t>Extraia a lição defensiva de cada caso: build reprodutível e atestação (SolarWinds), hash de scripts de bootstrap (Codecov), 2FA e assinaturas (ua-parser-js), build do Git e não do tarball (XZ). Cite Kaseya e NotPetya como ataques em cascata.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12 min</a:t>
            </a:r>
          </a:p>
          <a:p>
            <a:endParaRPr/>
          </a:p>
          <a:p>
            <a:r>
              <a:t>SLSA (lê-se 'salsa', OpenSSF) é incremental. Mapa de ameaças: dependência maliciosa → materials no L1; build poisoning → ambiente efêmero no L2; falsificação → chave isolada no L3.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SSDF organiza controles existentes em uma estrutura auditável; é a base do mapeamento de compliance da Aula 8.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>
            <a:endParaRPr/>
          </a:p>
          <a:p>
            <a:r>
              <a:t>Aprofundar os quatro vetores do slide anterior: para cada um, explicar o ataque concreto (o que um pacote malicioso faz) antes de mostrar a defesa. Reforçar que dependency confusion é o mais sutil: o pacote público pode nem ser malicioso de propósito, só ter o mesmo nome.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 min</a:t>
            </a:r>
          </a:p>
          <a:p>
            <a:endParaRPr/>
          </a:p>
          <a:p>
            <a:r>
              <a:t>Explique cada linha e o vetor que fecha, incluindo as duas novas: save-exact trava a versão exata do pacote; npm audit signatures confere a assinatura Sigstore (detalhado no próximo slide).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Enfatize que o pipeline também é superfície de ataque: uma Action sem persist-credentials: false pode vazar o token do repositório. Compare fixar por tag (mutável, '@v4') com fixar por SHA (imutável).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4 min</a:t>
            </a:r>
          </a:p>
          <a:p>
            <a:endParaRPr/>
          </a:p>
          <a:p>
            <a:r>
              <a:t>Mesmo racional do npm, em outro ecossistema: hash do conteúdo em vez de número de versão. docker buildx imagetools inspect mostra o digest atual antes de colar no Dockerfile.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ML-BOM (CycloneDX) inventaria modelos, datasets e parâmetros. Não prometa que SBOM detecta poisoning — ele dá rastreabilidade; a detecção exige validação comportamental.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70 min</a:t>
            </a:r>
          </a:p>
          <a:p>
            <a:endParaRPr/>
          </a:p>
          <a:p>
            <a:r>
              <a:t>Metade discussão, metade técnica. Exija uma evidência por mitigação: hash, assinatura e isolamento respondem a perguntas diferentes.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Pergunta: qual elo tem mais privilégio no seu pipeline? Ponte: Aula 7 prova integridade e origem com Cosign e Sigstore.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Cosign e um registry local (docker run registry:2) prontos para 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06  ·  Terça, 27/10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Supply Chain Security: Ataques e Frameworks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um atacante compromete seu produto sem tocar no seu código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19/10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A6F750"/>
                </a:solidFill>
                <a:latin typeface="Segoe UI Semibold"/>
              </a:rPr>
              <a:t>Ter </a:t>
            </a:r>
            <a:r>
              <a:rPr lang="pt-PT" sz="1000" dirty="0">
                <a:solidFill>
                  <a:srgbClr val="A6F750"/>
                </a:solidFill>
                <a:latin typeface="Segoe UI Semibold"/>
              </a:rPr>
              <a:t>30</a:t>
            </a:r>
            <a:r>
              <a:rPr sz="1000" b="0" i="0" dirty="0">
                <a:solidFill>
                  <a:srgbClr val="A6F750"/>
                </a:solidFill>
                <a:latin typeface="Segoe UI Semibold"/>
              </a:rPr>
              <a:t>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2371FF"/>
                </a:solidFill>
                <a:latin typeface="Segoe UI Semibold"/>
              </a:rPr>
              <a:t>Sex </a:t>
            </a:r>
            <a:r>
              <a:rPr lang="pt-PT" sz="1000" dirty="0">
                <a:solidFill>
                  <a:srgbClr val="2371FF"/>
                </a:solidFill>
                <a:latin typeface="Segoe UI Semibold"/>
              </a:rPr>
              <a:t>03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2371FF"/>
                </a:solidFill>
                <a:latin typeface="Segoe UI Semibold"/>
              </a:rPr>
              <a:t>Ter 0</a:t>
            </a:r>
            <a:r>
              <a:rPr lang="pt-PT" sz="1000" b="0" i="0" dirty="0">
                <a:solidFill>
                  <a:srgbClr val="2371FF"/>
                </a:solidFill>
                <a:latin typeface="Segoe UI Semibold"/>
              </a:rPr>
              <a:t>4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361167"/>
            <a:ext cx="2839028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 dirty="0">
                <a:solidFill>
                  <a:srgbClr val="181C23"/>
                </a:solidFill>
                <a:latin typeface="Segoe UI Semibold"/>
              </a:rPr>
              <a:t>INTERVALO · 1</a:t>
            </a:r>
            <a:r>
              <a:rPr lang="pt-PT" sz="1200" dirty="0">
                <a:solidFill>
                  <a:srgbClr val="181C23"/>
                </a:solidFill>
                <a:latin typeface="Segoe UI Semibold"/>
              </a:rPr>
              <a:t>6</a:t>
            </a:r>
            <a:r>
              <a:rPr lang="pt-PT" sz="1200" b="0" i="0" dirty="0">
                <a:solidFill>
                  <a:srgbClr val="181C23"/>
                </a:solidFill>
                <a:latin typeface="Segoe UI Semibold"/>
              </a:rPr>
              <a:t>h30</a:t>
            </a:r>
            <a:r>
              <a:rPr sz="1200" b="0" i="0" dirty="0">
                <a:solidFill>
                  <a:srgbClr val="181C23"/>
                </a:solidFill>
                <a:latin typeface="Segoe UI Semibold"/>
              </a:rPr>
              <a:t>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1300" b="0" i="0">
                <a:solidFill>
                  <a:srgbClr val="2371FF"/>
                </a:solidFill>
                <a:latin typeface="Segoe UI Semibold"/>
              </a:rPr>
              <a:t>ICE 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0" i="0">
                <a:solidFill>
                  <a:srgbClr val="181C23"/>
                </a:solidFill>
                <a:latin typeface="Segoe UI Semibold"/>
              </a:rPr>
              <a:t>Vamos nos conhecer!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45736" y="1866147"/>
            <a:ext cx="1975104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45736" y="1866147"/>
            <a:ext cx="1975104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DF8"/>
                </a:solidFill>
                <a:latin typeface="Segoe UI Semibold"/>
              </a:rPr>
              <a:t>Profundidade técnica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699" y="2246147"/>
            <a:ext cx="4206240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393192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Quando você projeta o seu futuro e a sua trajetória profissional, o que brilha mais forte no seu horizonte: o desafio de desbravar a profundidade técnica de uma área, ou a missão de inspirar, liderar e multiplicar o potencial de outras pessoas?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5736" y="4069080"/>
            <a:ext cx="1975104" cy="713232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45736" y="4333363"/>
            <a:ext cx="1975104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pt-PT" sz="1200" b="0" i="0">
                <a:solidFill>
                  <a:srgbClr val="181C23"/>
                </a:solidFill>
                <a:latin typeface="Segoe UI Semibold"/>
              </a:rPr>
              <a:t>Aprofundar em</a:t>
            </a:r>
            <a:r>
              <a:rPr sz="1200" b="0" i="0">
                <a:solidFill>
                  <a:srgbClr val="181C23"/>
                </a:solidFill>
                <a:latin typeface="Segoe UI Semibold"/>
              </a:rPr>
              <a:t> uma área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  <p:sp>
        <p:nvSpPr>
          <p:cNvPr id="32" name="Rounded Rectangle 5"/>
          <p:cNvSpPr/>
          <p:nvPr/>
        </p:nvSpPr>
        <p:spPr>
          <a:xfrm>
            <a:off x="6858000" y="1866147"/>
            <a:ext cx="1975104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6"/>
          <p:cNvSpPr txBox="1"/>
          <p:nvPr/>
        </p:nvSpPr>
        <p:spPr>
          <a:xfrm>
            <a:off x="6858000" y="1866147"/>
            <a:ext cx="1975104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DF8"/>
                </a:solidFill>
                <a:latin typeface="Segoe UI Semibold"/>
              </a:rPr>
              <a:t>Liderar e inspirar</a:t>
            </a:r>
          </a:p>
        </p:txBody>
      </p:sp>
      <p:sp>
        <p:nvSpPr>
          <p:cNvPr id="34" name="Rounded Rectangle 9"/>
          <p:cNvSpPr/>
          <p:nvPr/>
        </p:nvSpPr>
        <p:spPr>
          <a:xfrm>
            <a:off x="6858000" y="4069080"/>
            <a:ext cx="1975104" cy="713232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0"/>
          <p:cNvSpPr txBox="1"/>
          <p:nvPr/>
        </p:nvSpPr>
        <p:spPr>
          <a:xfrm>
            <a:off x="6858000" y="4069080"/>
            <a:ext cx="1975104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Inspirar e multiplicar pessoas</a:t>
            </a:r>
          </a:p>
        </p:txBody>
      </p:sp>
      <p:pic>
        <p:nvPicPr>
          <p:cNvPr id="36" name="Picture 35" descr="Pessoa com laptop em uma colina ao nascer do sol, representando a profundidade técnica"/>
          <p:cNvPicPr>
            <a:picLocks noChangeAspect="1"/>
          </p:cNvPicPr>
          <p:nvPr/>
        </p:nvPicPr>
        <p:blipFill>
          <a:blip r:embed="rId4"/>
          <a:srcRect l="7368" r="7368"/>
          <a:stretch>
            <a:fillRect/>
          </a:stretch>
        </p:blipFill>
        <p:spPr>
          <a:xfrm>
            <a:off x="4745736" y="2246147"/>
            <a:ext cx="1975104" cy="1737360"/>
          </a:xfrm>
          <a:prstGeom prst="rect">
            <a:avLst/>
          </a:prstGeom>
        </p:spPr>
      </p:pic>
      <p:pic>
        <p:nvPicPr>
          <p:cNvPr id="37" name="Picture 36" descr="Mentor guiando um grupo sorridente rumo ao horizonte, representando liderança e inspiração"/>
          <p:cNvPicPr>
            <a:picLocks noChangeAspect="1"/>
          </p:cNvPicPr>
          <p:nvPr/>
        </p:nvPicPr>
        <p:blipFill>
          <a:blip r:embed="rId5"/>
          <a:srcRect l="7368" r="7368"/>
          <a:stretch>
            <a:fillRect/>
          </a:stretch>
        </p:blipFill>
        <p:spPr>
          <a:xfrm>
            <a:off x="6858000" y="2246147"/>
            <a:ext cx="1975104" cy="1737360"/>
          </a:xfrm>
          <a:prstGeom prst="rect">
            <a:avLst/>
          </a:prstGeom>
        </p:spPr>
      </p:pic>
      <p:sp>
        <p:nvSpPr>
          <p:cNvPr id="38" name="Rounded Rectangle 5"/>
          <p:cNvSpPr/>
          <p:nvPr/>
        </p:nvSpPr>
        <p:spPr>
          <a:xfrm>
            <a:off x="311699" y="1866147"/>
            <a:ext cx="4206240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6"/>
          <p:cNvSpPr txBox="1"/>
          <p:nvPr/>
        </p:nvSpPr>
        <p:spPr>
          <a:xfrm>
            <a:off x="311699" y="1866147"/>
            <a:ext cx="420624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Uma pergunta para cada aluno</a:t>
            </a:r>
          </a:p>
        </p:txBody>
      </p:sp>
      <p:sp>
        <p:nvSpPr>
          <p:cNvPr id="40" name="Rounded Rectangle 9"/>
          <p:cNvSpPr/>
          <p:nvPr/>
        </p:nvSpPr>
        <p:spPr>
          <a:xfrm>
            <a:off x="457200" y="4273499"/>
            <a:ext cx="3931920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10"/>
          <p:cNvSpPr txBox="1"/>
          <p:nvPr/>
        </p:nvSpPr>
        <p:spPr>
          <a:xfrm>
            <a:off x="457200" y="4273499"/>
            <a:ext cx="3931920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Cada um responde, um a um!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MODELO DE AMEAÇA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Três fases de ataque, um risco escondido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51700" y="1976089"/>
            <a:ext cx="4394712" cy="2317469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upply-ch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036089"/>
            <a:ext cx="4274712" cy="21974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1700" y="4553500"/>
            <a:ext cx="4274712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i="1">
                <a:solidFill>
                  <a:srgbClr val="6A707D"/>
                </a:solidFill>
                <a:latin typeface="Segoe UI"/>
              </a:rPr>
              <a:t>Fonte: clavis.com.br — Ameaças à cadeia de software</a:t>
            </a:r>
          </a:p>
        </p:txBody>
      </p:sp>
      <p:sp>
        <p:nvSpPr>
          <p:cNvPr id="9" name="Oval 8"/>
          <p:cNvSpPr/>
          <p:nvPr/>
        </p:nvSpPr>
        <p:spPr>
          <a:xfrm>
            <a:off x="4886412" y="176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86412" y="176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6412" y="174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Origem: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um commit malicioso, senha vazada ou branch sem revisão abrem a porta.</a:t>
            </a:r>
          </a:p>
        </p:txBody>
      </p:sp>
      <p:sp>
        <p:nvSpPr>
          <p:cNvPr id="12" name="Oval 11"/>
          <p:cNvSpPr/>
          <p:nvPr/>
        </p:nvSpPr>
        <p:spPr>
          <a:xfrm>
            <a:off x="4886412" y="240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86412" y="240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6412" y="238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Build: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typosquatting, dependency confusion ou build poisoning disfarçados.</a:t>
            </a:r>
          </a:p>
        </p:txBody>
      </p:sp>
      <p:sp>
        <p:nvSpPr>
          <p:cNvPr id="15" name="Oval 14"/>
          <p:cNvSpPr/>
          <p:nvPr/>
        </p:nvSpPr>
        <p:spPr>
          <a:xfrm>
            <a:off x="4886412" y="304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86412" y="304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6412" y="302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Distribuição: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artefato trocado, downgrade forçado, chave roubada ou mirror falso.</a:t>
            </a:r>
          </a:p>
        </p:txBody>
      </p:sp>
      <p:sp>
        <p:nvSpPr>
          <p:cNvPr id="18" name="Oval 17"/>
          <p:cNvSpPr/>
          <p:nvPr/>
        </p:nvSpPr>
        <p:spPr>
          <a:xfrm>
            <a:off x="4886412" y="368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86412" y="368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6412" y="3666148"/>
            <a:ext cx="3525888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Confiança transitiva: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você herda a confiança de TUDO que construiu o pacote.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5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FASE DE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Vetores que exploram dependências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Typosquatting: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nome parecido engana no install (reqests em vez de requests).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173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17361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4361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Dependency confusion: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pacote público imita o nome interno com versão maior e vence.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571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57108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54108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Pacote malicioso: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script postinstall rouba variáveis de ambiente ao instalar.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968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296855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93855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Build poisoning: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plugin do CI comprometido injeta código durante a compilação.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366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336602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33602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Cache envenenado: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chave previsível e permissão fraca deixam plantar um artefato falso.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Dependency confusion é como um entregador que, vendo dois 'João Silva' no prédio, entrega para o que gritar mais alto — o instalador pega a versão 'mais nova', mesmo sendo do atacante.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6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ESTUDOS DE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Quatro ataques, quatro lições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SolarWinds / SUNBURST (2020):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update oficial saiu contaminado e assinado — 18 mil vítimas.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Codecov (2021):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script de CI alterado vazou segredos de milhares de empresas por 73 dias.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ua-parser-js (2021):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conta npm roubada infectou 8 milhões de downloads por semana.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XZ Utils (2024):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2 anos construindo confiança até plantar um backdoor escondido no sshd.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XZ Utils é o 'funcionário exemplar' que passa dois anos ganhando confiança para, um dia, deixar a porta dos fundos aberta — e só foi pego porque alguém notou 500 ms a mais no login.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7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FRAMEWORK DE MATURIDADE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SLSA — Build track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L1 · Provenance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O build gera um "recibo" de como foi feito — mas esse recibo ainda não tem firma reconhecida.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L2 · Assinada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Um serviço de build confiável assina esse recibo — como um cartório, comprova quem emitiu.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L3 · Não falsificável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Cada build roda isolado, numa "sala trancada": não dá pra forjar o recibo de outro artefato.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L4 · Reprodutível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Nível máximo (rascunho da spec): dois builds independentes geram o artefato idêntico, bit a bit.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📖 GLOSSÁRIO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SLSA — Supply-chain Levels for Software Artifacts: a "régua" que mede, em níveis, o quanto dá pra confiar em como um software foi construído.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8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NIST SP 800-218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SSDF: quatro grupos de práticas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PO — Prepare the Organization: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PO.5.1 — separar bem os ambientes de dev, teste e produção, pra ninguém mexer direto onde não deve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PS — Protect the Software: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PS.2.1 e PS.3.1 — assinar cada versão publicada e garantir que ela chegue intacta, sem alterações no caminho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PW — Produce Well-Secured Software: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PW.4.4 e PW.4.1 — rodar análise estática no código e revisar toda biblioteca de terceiros antes de usar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RV — Respond to Vulnerabilities: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RV.1.3 — cruzar o SBOM com bancos de vulnerabilidades (CVEs) pra saber na hora se algo que você usa foi afetado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39853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3985300" cy="5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1">
                <a:solidFill>
                  <a:srgbClr val="181C23"/>
                </a:solidFill>
                <a:latin typeface="Segoe UI"/>
              </a:rPr>
              <a:t>SLSA é a nota do teste de resistência do cofre; SSDF é o manual de boas práticas da equipe que cuida do banco. Um mede o artefato, o outro organiza o processo.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7000" y="3973500"/>
            <a:ext cx="39853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📖 GLOSSÁRIO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47000" y="4223500"/>
            <a:ext cx="3985300" cy="5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371FF"/>
                </a:solidFill>
                <a:latin typeface="Segoe UI Semibold"/>
              </a:rPr>
              <a:t>NIST SP 800-218 — </a:t>
            </a:r>
            <a:r>
              <a:rPr sz="900" b="0" i="0">
                <a:solidFill>
                  <a:srgbClr val="181C23"/>
                </a:solidFill>
                <a:latin typeface="Segoe UI"/>
              </a:rPr>
              <a:t>documento oficial que define o SSDF (boas práticas de dev seguro).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371FF"/>
                </a:solidFill>
                <a:latin typeface="Segoe UI Semibold"/>
              </a:rPr>
              <a:t>SBOM — </a:t>
            </a:r>
            <a:r>
              <a:rPr sz="900" b="0" i="0">
                <a:solidFill>
                  <a:srgbClr val="181C23"/>
                </a:solidFill>
                <a:latin typeface="Segoe UI"/>
              </a:rPr>
              <a:t>a "lista de ingredientes" do seu software.</a:t>
            </a:r>
          </a:p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2371FF"/>
                </a:solidFill>
                <a:latin typeface="Segoe UI Semibold"/>
              </a:rPr>
              <a:t>CVE — </a:t>
            </a:r>
            <a:r>
              <a:rPr sz="900" b="0" i="0">
                <a:solidFill>
                  <a:srgbClr val="181C23"/>
                </a:solidFill>
                <a:latin typeface="Segoe UI"/>
              </a:rPr>
              <a:t>identificador de uma vulnerabilidade já catalogada.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9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Os quatro vetores, em detalhe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Cada vetor ataca uma etapa diferente do npm install — veja o ataque e a defesa de cada um.</a:t>
            </a:r>
          </a:p>
        </p:txBody>
      </p:sp>
      <p:sp>
        <p:nvSpPr>
          <p:cNvPr id="7" name="Oval 6"/>
          <p:cNvSpPr/>
          <p:nvPr/>
        </p:nvSpPr>
        <p:spPr>
          <a:xfrm>
            <a:off x="311700" y="215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700" y="215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700" y="2126148"/>
            <a:ext cx="8020600" cy="47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Scripts maliciosos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hooks preinstall/postinstall executam código ao instalar; ignore-scripts=true bloqueia isso.</a:t>
            </a:r>
          </a:p>
        </p:txBody>
      </p:sp>
      <p:sp>
        <p:nvSpPr>
          <p:cNvPr id="10" name="Oval 9"/>
          <p:cNvSpPr/>
          <p:nvPr/>
        </p:nvSpPr>
        <p:spPr>
          <a:xfrm>
            <a:off x="311700" y="26354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1700" y="26354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700" y="2605486"/>
            <a:ext cx="8020600" cy="47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Lockfile drift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npm install pode resolver versões diferentes a cada vez; npm ci trava exatamente o que está no lockfile.</a:t>
            </a:r>
          </a:p>
        </p:txBody>
      </p:sp>
      <p:sp>
        <p:nvSpPr>
          <p:cNvPr id="13" name="Oval 12"/>
          <p:cNvSpPr/>
          <p:nvPr/>
        </p:nvSpPr>
        <p:spPr>
          <a:xfrm>
            <a:off x="311700" y="3114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1700" y="3114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700" y="3084824"/>
            <a:ext cx="8020600" cy="47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Vulnerabilidades conhecidas (CVE)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npm audit --audit-level=high barra o pipeline se achar uma falha pública catalogada.</a:t>
            </a:r>
          </a:p>
        </p:txBody>
      </p:sp>
      <p:sp>
        <p:nvSpPr>
          <p:cNvPr id="16" name="Oval 15"/>
          <p:cNvSpPr/>
          <p:nvPr/>
        </p:nvSpPr>
        <p:spPr>
          <a:xfrm>
            <a:off x="311700" y="35941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1700" y="35941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700" y="3564162"/>
            <a:ext cx="8020600" cy="47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Dependency confusion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um pacote público pode usar o mesmo nome do seu pacote interno; @empresa:registry=... fixa a origem certa.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npm — Node Package Manager — gerenciador de pacotes do Node.js   ·   CVE — Common Vulnerabilities and Exposures — catálogo público de vulnerabilidades conhecidas   ·   CI — Continuous Integration — testes automáticos a cada push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10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npm: lockfile, scripts, assinaturas e registry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Mesmo arquivo, quatro cadeados: scripts maliciosos, lockfile, CVEs e dependency confusion.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1965218"/>
            <a:ext cx="5806440" cy="229828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1965218"/>
            <a:ext cx="580644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04521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04521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04521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1965218"/>
            <a:ext cx="580644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325218"/>
            <a:ext cx="5486400" cy="18857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6A707D"/>
                </a:solidFill>
                <a:latin typeface="Consolas"/>
              </a:rPr>
              <a:t># .</a:t>
            </a:r>
            <a:r>
              <a:rPr sz="1000" b="0" i="0" u="none" dirty="0" err="1">
                <a:solidFill>
                  <a:srgbClr val="6A707D"/>
                </a:solidFill>
                <a:latin typeface="Consolas"/>
              </a:rPr>
              <a:t>npmrc</a:t>
            </a:r>
            <a:endParaRPr sz="1000" b="0" i="0" u="none" dirty="0">
              <a:solidFill>
                <a:srgbClr val="6A707D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package-lock=true</a:t>
            </a: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ignore-scripts=true          # 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bloqueia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postinstall</a:t>
            </a:r>
            <a:endParaRPr sz="1000" b="0" i="0" u="none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audit-level=high</a:t>
            </a: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save-exact=true</a:t>
            </a: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@empresa:registry=https://nexus.empresa.com.br/repository/npm-internal/</a:t>
            </a: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6A707D"/>
                </a:solidFill>
                <a:latin typeface="Consolas"/>
              </a:rPr>
              <a:t># CI</a:t>
            </a:r>
          </a:p>
          <a:p>
            <a:pPr algn="l">
              <a:lnSpc>
                <a:spcPct val="112000"/>
              </a:lnSpc>
            </a:pPr>
            <a:r>
              <a:rPr sz="1000" b="0" i="0" u="none" dirty="0">
                <a:solidFill>
                  <a:srgbClr val="A6F750"/>
                </a:solidFill>
                <a:latin typeface="Consolas"/>
              </a:rPr>
              <a:t>git diff --exit-code package-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lock.json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  # 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lockfile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imutável</a:t>
            </a:r>
            <a:endParaRPr sz="1000" b="0" i="0" u="none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npm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ci --ignore-scripts</a:t>
            </a:r>
          </a:p>
          <a:p>
            <a:pPr algn="l">
              <a:lnSpc>
                <a:spcPct val="112000"/>
              </a:lnSpc>
            </a:pP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npm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audit signatures                  # </a:t>
            </a: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Sigstore</a:t>
            </a:r>
            <a:endParaRPr sz="1000" b="0" i="0" u="none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1000" b="0" i="0" u="none" dirty="0" err="1">
                <a:solidFill>
                  <a:srgbClr val="A6F750"/>
                </a:solidFill>
                <a:latin typeface="Consolas"/>
              </a:rPr>
              <a:t>npm</a:t>
            </a:r>
            <a:r>
              <a:rPr sz="1000" b="0" i="0" u="none" dirty="0">
                <a:solidFill>
                  <a:srgbClr val="A6F750"/>
                </a:solidFill>
                <a:latin typeface="Consolas"/>
              </a:rPr>
              <a:t> audit --audit-level=high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323500"/>
            <a:ext cx="8520600" cy="46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700" y="440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593500"/>
            <a:ext cx="8120600" cy="1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npm — Node Package Manager — gerenciador de pacotes do Node.js   ·   CI — Continuous Integration — testes automáticos a cada push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11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  <p:pic>
        <p:nvPicPr>
          <p:cNvPr id="20" name="Picture 19" descr="Ilustração de um pacote npm protegido por quatro cadeados: scripts, lockfile, CVEs e registry"/>
          <p:cNvPicPr>
            <a:picLocks noChangeAspect="1"/>
          </p:cNvPicPr>
          <p:nvPr/>
        </p:nvPicPr>
        <p:blipFill>
          <a:blip r:embed="rId4"/>
          <a:srcRect l="5133" r="5133"/>
          <a:stretch>
            <a:fillRect/>
          </a:stretch>
        </p:blipFill>
        <p:spPr>
          <a:xfrm>
            <a:off x="6255299" y="1965218"/>
            <a:ext cx="2576999" cy="2298282"/>
          </a:xfrm>
          <a:prstGeom prst="roundRect">
            <a:avLst>
              <a:gd name="adj" fmla="val 3000"/>
            </a:avLst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CI/CD: travando o workflow que empacota tudo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Mesmo com o pacote limpo, um workflow maldotado pode vazar credenciais ou rodar código sem revisão: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1965218"/>
            <a:ext cx="5806440" cy="216828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1965218"/>
            <a:ext cx="580644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04521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04521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04521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1965218"/>
            <a:ext cx="580644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325218"/>
            <a:ext cx="5486400" cy="1575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PT" sz="1000" b="0" i="0" u="none">
                <a:solidFill>
                  <a:srgbClr val="6A707D"/>
                </a:solidFill>
                <a:latin typeface="Consolas"/>
              </a:rPr>
              <a:t># build-</a:t>
            </a:r>
            <a:r>
              <a:rPr lang="pt-PT" sz="1000" b="0" i="0" u="none" err="1">
                <a:solidFill>
                  <a:srgbClr val="6A707D"/>
                </a:solidFill>
                <a:latin typeface="Consolas"/>
              </a:rPr>
              <a:t>hardened.yml</a:t>
            </a:r>
            <a:endParaRPr sz="1100" b="0" i="0" u="none" dirty="0">
              <a:solidFill>
                <a:srgbClr val="6A707D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permissions:</a:t>
            </a: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 contents: read</a:t>
            </a: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 id-token: write          # OIDC: token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temporário</a:t>
            </a: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,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sem</a:t>
            </a: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secret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fixo</a:t>
            </a:r>
            <a:endParaRPr sz="1100" b="0" i="0" u="none" dirty="0">
              <a:solidFill>
                <a:srgbClr val="A6F750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sz="600" b="0" i="0" u="none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- uses: actions/checkout@b4ffde65f46336ab88eb53be808477a3936bae11 # v4.1.1</a:t>
            </a: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 with:</a:t>
            </a:r>
          </a:p>
          <a:p>
            <a:pPr algn="l">
              <a:lnSpc>
                <a:spcPct val="112000"/>
              </a:lnSpc>
            </a:pP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   persist-credentials: false   # token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não</a:t>
            </a: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sobrevive</a:t>
            </a: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</a:t>
            </a:r>
            <a:r>
              <a:rPr lang="en-US" sz="1000" b="0" i="0" u="none" err="1">
                <a:solidFill>
                  <a:srgbClr val="A6F750"/>
                </a:solidFill>
                <a:latin typeface="Consolas"/>
              </a:rPr>
              <a:t>após</a:t>
            </a:r>
            <a:r>
              <a:rPr lang="en-US" sz="1000" b="0" i="0" u="none">
                <a:solidFill>
                  <a:srgbClr val="A6F750"/>
                </a:solidFill>
                <a:latin typeface="Consolas"/>
              </a:rPr>
              <a:t> o job</a:t>
            </a:r>
          </a:p>
          <a:p>
            <a:pPr algn="l">
              <a:lnSpc>
                <a:spcPct val="112000"/>
              </a:lnSpc>
            </a:pPr>
            <a:r>
              <a:rPr sz="600" b="0" i="0" u="none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lang="pt-PT" sz="1000" b="0" i="0" u="none">
                <a:solidFill>
                  <a:srgbClr val="A6F750"/>
                </a:solidFill>
                <a:latin typeface="Consolas"/>
              </a:rPr>
              <a:t>- run: </a:t>
            </a:r>
            <a:r>
              <a:rPr lang="pt-PT" sz="1000" b="0" i="0" u="none" err="1">
                <a:solidFill>
                  <a:srgbClr val="A6F750"/>
                </a:solidFill>
                <a:latin typeface="Consolas"/>
              </a:rPr>
              <a:t>npm</a:t>
            </a:r>
            <a:r>
              <a:rPr lang="pt-PT" sz="1000" b="0" i="0" u="none">
                <a:solidFill>
                  <a:srgbClr val="A6F750"/>
                </a:solidFill>
                <a:latin typeface="Consolas"/>
              </a:rPr>
              <a:t> audit signatures      # </a:t>
            </a:r>
            <a:r>
              <a:rPr lang="pt-PT" sz="1000" b="0" i="0" u="none" err="1">
                <a:solidFill>
                  <a:srgbClr val="A6F750"/>
                </a:solidFill>
                <a:latin typeface="Consolas"/>
              </a:rPr>
              <a:t>confere</a:t>
            </a:r>
            <a:r>
              <a:rPr lang="pt-PT" sz="1000" b="0" i="0" u="none">
                <a:solidFill>
                  <a:srgbClr val="A6F750"/>
                </a:solidFill>
                <a:latin typeface="Consolas"/>
              </a:rPr>
              <a:t> a </a:t>
            </a:r>
            <a:r>
              <a:rPr lang="pt-PT" sz="1000" b="0" i="0" u="none" err="1">
                <a:solidFill>
                  <a:srgbClr val="A6F750"/>
                </a:solidFill>
                <a:latin typeface="Consolas"/>
              </a:rPr>
              <a:t>assinatura</a:t>
            </a:r>
            <a:r>
              <a:rPr lang="pt-PT" sz="1000" b="0" i="0" u="none">
                <a:solidFill>
                  <a:srgbClr val="A6F750"/>
                </a:solidFill>
                <a:latin typeface="Consolas"/>
              </a:rPr>
              <a:t> </a:t>
            </a:r>
            <a:r>
              <a:rPr lang="pt-PT" sz="1000" b="0" i="0" u="none" err="1">
                <a:solidFill>
                  <a:srgbClr val="A6F750"/>
                </a:solidFill>
                <a:latin typeface="Consolas"/>
              </a:rPr>
              <a:t>Sigstore</a:t>
            </a:r>
            <a:r>
              <a:rPr lang="pt-PT" sz="1000" b="0" i="0" u="none">
                <a:solidFill>
                  <a:srgbClr val="A6F750"/>
                </a:solidFill>
                <a:latin typeface="Consolas"/>
              </a:rPr>
              <a:t> do </a:t>
            </a:r>
            <a:r>
              <a:rPr lang="pt-PT" sz="1000" b="0" i="0" u="none" err="1">
                <a:solidFill>
                  <a:srgbClr val="A6F750"/>
                </a:solidFill>
                <a:latin typeface="Consolas"/>
              </a:rPr>
              <a:t>pacote</a:t>
            </a:r>
            <a:endParaRPr sz="1100" b="0" i="0" u="none" dirty="0">
              <a:solidFill>
                <a:srgbClr val="A6F750"/>
              </a:solidFill>
              <a:latin typeface="Consola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11700" y="4193500"/>
            <a:ext cx="8520600" cy="59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700" y="427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463500"/>
            <a:ext cx="81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OIDC — credencial temporária emitida só para aquele job, sem senha fixa no repositório   ·   SHA — identificador único e imutável de uma versão; travar por SHA evita que a tag mude depois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12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  <p:pic>
        <p:nvPicPr>
          <p:cNvPr id="20" name="Picture 19" descr="Ilustração de um pipeline de CI/CD protegido por escudo e cadeado, com token temporário"/>
          <p:cNvPicPr>
            <a:picLocks noChangeAspect="1"/>
          </p:cNvPicPr>
          <p:nvPr/>
        </p:nvPicPr>
        <p:blipFill>
          <a:blip r:embed="rId4"/>
          <a:srcRect l="2443" r="2443"/>
          <a:stretch>
            <a:fillRect/>
          </a:stretch>
        </p:blipFill>
        <p:spPr>
          <a:xfrm>
            <a:off x="6255299" y="1965218"/>
            <a:ext cx="2576999" cy="2168281"/>
          </a:xfrm>
          <a:prstGeom prst="roundRect">
            <a:avLst>
              <a:gd name="adj" fmla="val 3000"/>
            </a:avLst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u="none">
                <a:solidFill>
                  <a:srgbClr val="2371FF"/>
                </a:solidFill>
                <a:latin typeface="Segoe UI Semibold"/>
              </a:rPr>
              <a:t>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 u="none">
                <a:solidFill>
                  <a:srgbClr val="181C23"/>
                </a:solidFill>
                <a:latin typeface="Segoe UI Semibold"/>
              </a:rPr>
              <a:t>O mesmo cadeado, em Python e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6A707D"/>
                </a:solidFill>
                <a:latin typeface="Segoe UI"/>
              </a:rPr>
              <a:t>O princípio se repete fora do npm: trave pelo conteúdo exato, não pela versão ou pelo nome.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5806440" cy="178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580644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580644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 u="none">
                <a:solidFill>
                  <a:srgbClr val="6A707D"/>
                </a:solidFill>
                <a:latin typeface="Consolas"/>
              </a:rPr>
              <a:t>bash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5440680" cy="837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lang="pt-PT" sz="700" b="0" i="0" u="none" dirty="0">
                <a:solidFill>
                  <a:srgbClr val="6A707D"/>
                </a:solidFill>
                <a:latin typeface="Consolas"/>
              </a:rPr>
              <a:t># </a:t>
            </a:r>
            <a:r>
              <a:rPr lang="pt-PT" sz="700" b="0" i="0" u="none" dirty="0" err="1">
                <a:solidFill>
                  <a:srgbClr val="6A707D"/>
                </a:solidFill>
                <a:latin typeface="Consolas"/>
              </a:rPr>
              <a:t>Python</a:t>
            </a:r>
            <a:r>
              <a:rPr lang="pt-PT" sz="700" b="0" i="0" u="none" dirty="0">
                <a:solidFill>
                  <a:srgbClr val="6A707D"/>
                </a:solidFill>
                <a:latin typeface="Consolas"/>
              </a:rPr>
              <a:t> — </a:t>
            </a:r>
            <a:r>
              <a:rPr lang="pt-PT" sz="700" b="0" i="0" u="none" dirty="0" err="1">
                <a:solidFill>
                  <a:srgbClr val="6A707D"/>
                </a:solidFill>
                <a:latin typeface="Consolas"/>
              </a:rPr>
              <a:t>hash</a:t>
            </a:r>
            <a:r>
              <a:rPr lang="pt-PT" sz="700" b="0" i="0" u="none" dirty="0">
                <a:solidFill>
                  <a:srgbClr val="6A707D"/>
                </a:solidFill>
                <a:latin typeface="Consolas"/>
              </a:rPr>
              <a:t> de cada dependência, não só o número da versão</a:t>
            </a:r>
            <a:endParaRPr sz="700" b="0" i="0" u="none" dirty="0">
              <a:solidFill>
                <a:srgbClr val="6A707D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lang="en-US" sz="700" b="0" i="0" u="none" dirty="0">
                <a:solidFill>
                  <a:srgbClr val="A6F750"/>
                </a:solidFill>
                <a:latin typeface="Consolas"/>
              </a:rPr>
              <a:t>pip-compile --generate-hashes -o requirements.txt requirements.in</a:t>
            </a:r>
          </a:p>
          <a:p>
            <a:pPr algn="l">
              <a:lnSpc>
                <a:spcPct val="112000"/>
              </a:lnSpc>
            </a:pPr>
            <a:r>
              <a:rPr lang="en-US" sz="700" b="0" i="0" u="none" dirty="0">
                <a:solidFill>
                  <a:srgbClr val="A6F750"/>
                </a:solidFill>
                <a:latin typeface="Consolas"/>
              </a:rPr>
              <a:t>pip install --require-hashes -r requirements.txt</a:t>
            </a:r>
          </a:p>
          <a:p>
            <a:pPr algn="l">
              <a:lnSpc>
                <a:spcPct val="112000"/>
              </a:lnSpc>
            </a:pPr>
            <a:r>
              <a:rPr sz="700" b="0" i="0" u="none" dirty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lang="pt-PT" sz="700" b="0" i="0" u="none" dirty="0">
                <a:solidFill>
                  <a:srgbClr val="6A707D"/>
                </a:solidFill>
                <a:latin typeface="Consolas"/>
              </a:rPr>
              <a:t># Docker — imagem-base pelo </a:t>
            </a:r>
            <a:r>
              <a:rPr lang="pt-PT" sz="700" b="0" i="0" u="none" dirty="0" err="1">
                <a:solidFill>
                  <a:srgbClr val="6A707D"/>
                </a:solidFill>
                <a:latin typeface="Consolas"/>
              </a:rPr>
              <a:t>digest</a:t>
            </a:r>
            <a:r>
              <a:rPr lang="pt-PT" sz="700" b="0" i="0" u="none" dirty="0">
                <a:solidFill>
                  <a:srgbClr val="6A707D"/>
                </a:solidFill>
                <a:latin typeface="Consolas"/>
              </a:rPr>
              <a:t>, não pela </a:t>
            </a:r>
            <a:r>
              <a:rPr lang="pt-PT" sz="700" b="0" i="0" u="none" dirty="0" err="1">
                <a:solidFill>
                  <a:srgbClr val="6A707D"/>
                </a:solidFill>
                <a:latin typeface="Consolas"/>
              </a:rPr>
              <a:t>tag</a:t>
            </a:r>
            <a:endParaRPr lang="pt-PT" sz="700" b="0" i="0" u="none" dirty="0">
              <a:solidFill>
                <a:srgbClr val="6A707D"/>
              </a:solidFill>
              <a:latin typeface="Consolas"/>
            </a:endParaRPr>
          </a:p>
          <a:p>
            <a:pPr algn="l">
              <a:lnSpc>
                <a:spcPct val="112000"/>
              </a:lnSpc>
            </a:pPr>
            <a:r>
              <a:rPr lang="pt-PT" sz="700" b="0" i="0" u="none" dirty="0" err="1">
                <a:solidFill>
                  <a:srgbClr val="A6F750"/>
                </a:solidFill>
                <a:latin typeface="Consolas"/>
              </a:rPr>
              <a:t>docker</a:t>
            </a:r>
            <a:r>
              <a:rPr lang="pt-PT" sz="700" b="0" i="0" u="none" dirty="0">
                <a:solidFill>
                  <a:srgbClr val="A6F750"/>
                </a:solidFill>
                <a:latin typeface="Consolas"/>
              </a:rPr>
              <a:t> </a:t>
            </a:r>
            <a:r>
              <a:rPr lang="pt-PT" sz="700" b="0" i="0" u="none" dirty="0" err="1">
                <a:solidFill>
                  <a:srgbClr val="A6F750"/>
                </a:solidFill>
                <a:latin typeface="Consolas"/>
              </a:rPr>
              <a:t>buildx</a:t>
            </a:r>
            <a:r>
              <a:rPr lang="pt-PT" sz="700" b="0" i="0" u="none" dirty="0">
                <a:solidFill>
                  <a:srgbClr val="A6F750"/>
                </a:solidFill>
                <a:latin typeface="Consolas"/>
              </a:rPr>
              <a:t> </a:t>
            </a:r>
            <a:r>
              <a:rPr lang="pt-PT" sz="700" b="0" i="0" u="none" dirty="0" err="1">
                <a:solidFill>
                  <a:srgbClr val="A6F750"/>
                </a:solidFill>
                <a:latin typeface="Consolas"/>
              </a:rPr>
              <a:t>imagetools</a:t>
            </a:r>
            <a:r>
              <a:rPr lang="pt-PT" sz="700" b="0" i="0" u="none" dirty="0">
                <a:solidFill>
                  <a:srgbClr val="A6F750"/>
                </a:solidFill>
                <a:latin typeface="Consolas"/>
              </a:rPr>
              <a:t> </a:t>
            </a:r>
            <a:r>
              <a:rPr lang="pt-PT" sz="700" b="0" i="0" u="none" dirty="0" err="1">
                <a:solidFill>
                  <a:srgbClr val="A6F750"/>
                </a:solidFill>
                <a:latin typeface="Consolas"/>
              </a:rPr>
              <a:t>inspect</a:t>
            </a:r>
            <a:r>
              <a:rPr lang="pt-PT" sz="700" b="0" i="0" u="none" dirty="0">
                <a:solidFill>
                  <a:srgbClr val="A6F750"/>
                </a:solidFill>
                <a:latin typeface="Consolas"/>
              </a:rPr>
              <a:t> node:20-bookworm-slim</a:t>
            </a:r>
          </a:p>
          <a:p>
            <a:pPr algn="l">
              <a:lnSpc>
                <a:spcPct val="112000"/>
              </a:lnSpc>
            </a:pPr>
            <a:r>
              <a:rPr lang="pt-PT" sz="700" b="0" i="0" u="none" dirty="0">
                <a:solidFill>
                  <a:srgbClr val="A6F750"/>
                </a:solidFill>
                <a:latin typeface="Consolas"/>
              </a:rPr>
              <a:t>FROM node:20-bookworm-slim@sha256:2cf067cfed83d5ea958367df9f966191a942351a2df77d6f0193e162b5febfc0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4063500"/>
            <a:ext cx="8520600" cy="72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700" y="414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700" y="4333500"/>
            <a:ext cx="8120600" cy="3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digest — impressão digital do conteúdo exato de uma imagem — muda se um único byte mudar   ·   tag — apelido de uma imagem (ex: 20-bookworm-slim); pode ser republicado apontando para outro conteúdo   ·   hash — valor calculado a partir do conteúdo de um arquivo; --require-hashes só instala se bater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 u="none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 u="none">
                <a:solidFill>
                  <a:srgbClr val="2371FF"/>
                </a:solidFill>
                <a:latin typeface="Segoe UI Semibold"/>
              </a:rPr>
              <a:t>13</a:t>
            </a:r>
            <a:endParaRPr sz="800" b="0" i="0" u="none">
              <a:solidFill>
                <a:srgbClr val="2371FF"/>
              </a:solidFill>
              <a:latin typeface="Segoe UI Semibold"/>
            </a:endParaRPr>
          </a:p>
        </p:txBody>
      </p:sp>
      <p:pic>
        <p:nvPicPr>
          <p:cNvPr id="20" name="Imagem Python e Docker" descr="Ilustração de um cadeado selando um contêiner, ligado a pacotes Python e Docker por um hash"/>
          <p:cNvPicPr>
            <a:picLocks noChangeAspect="1"/>
          </p:cNvPicPr>
          <p:nvPr/>
        </p:nvPicPr>
        <p:blipFill>
          <a:blip r:embed="rId4"/>
          <a:srcRect l="1940" r="1940"/>
          <a:stretch>
            <a:fillRect/>
          </a:stretch>
        </p:blipFill>
        <p:spPr>
          <a:xfrm>
            <a:off x="6255298" y="2126148"/>
            <a:ext cx="2577000" cy="1787352"/>
          </a:xfrm>
          <a:prstGeom prst="roundRect">
            <a:avLst>
              <a:gd name="adj" fmla="val 3000"/>
            </a:avLst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FRONTEIRA NOVA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Riscos emergentes em cadeias de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14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1700" y="1746148"/>
            <a:ext cx="8020600" cy="40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Model poisoning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dados de treino manipulados ensinam o modelo a errar de propósito; conferir origem, hash e observar o drift pega isso cedo.</a:t>
            </a:r>
          </a:p>
        </p:txBody>
      </p:sp>
      <p:sp>
        <p:nvSpPr>
          <p:cNvPr id="27" name="Oval 26"/>
          <p:cNvSpPr/>
          <p:nvPr/>
        </p:nvSpPr>
        <p:spPr>
          <a:xfrm>
            <a:off x="311700" y="2183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1700" y="218361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700" y="2153618"/>
            <a:ext cx="8020600" cy="40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Dataset envenenado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dataset de terceiros pode vir comprometido; um SBOM do dataset com hash mostra se algo mudou.</a:t>
            </a:r>
          </a:p>
        </p:txBody>
      </p:sp>
      <p:sp>
        <p:nvSpPr>
          <p:cNvPr id="30" name="Oval 29"/>
          <p:cNvSpPr/>
          <p:nvPr/>
        </p:nvSpPr>
        <p:spPr>
          <a:xfrm>
            <a:off x="311700" y="2591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259108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700" y="2561088"/>
            <a:ext cx="8020600" cy="40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Backdoor em modelo pré-treinado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modelo baixado pronto pode esconder um gatilho malicioso; hash dos pesos e atestação de procedência evitam a armadilha.</a:t>
            </a:r>
          </a:p>
        </p:txBody>
      </p:sp>
      <p:sp>
        <p:nvSpPr>
          <p:cNvPr id="33" name="Oval 32"/>
          <p:cNvSpPr/>
          <p:nvPr/>
        </p:nvSpPr>
        <p:spPr>
          <a:xfrm>
            <a:off x="311700" y="2998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11700" y="299855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700" y="2968558"/>
            <a:ext cx="8020600" cy="40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Dependência de API de modelo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modelo de terceiro pode mudar de comportamento sem aviso; versionamento, SLA e um fallback protegem o pipeline.</a:t>
            </a:r>
          </a:p>
        </p:txBody>
      </p:sp>
      <p:sp>
        <p:nvSpPr>
          <p:cNvPr id="36" name="Oval 35"/>
          <p:cNvSpPr/>
          <p:nvPr/>
        </p:nvSpPr>
        <p:spPr>
          <a:xfrm>
            <a:off x="311700" y="3406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11700" y="340602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 u="none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700" y="3376028"/>
            <a:ext cx="8020600" cy="40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 u="none">
                <a:solidFill>
                  <a:srgbClr val="181C23"/>
                </a:solidFill>
                <a:latin typeface="Segoe UI Semibold"/>
              </a:rPr>
              <a:t>Licenças em embeddings — </a:t>
            </a:r>
            <a:r>
              <a:rPr sz="1300" b="0" i="0" u="none">
                <a:solidFill>
                  <a:srgbClr val="6A707D"/>
                </a:solidFill>
                <a:latin typeface="Segoe UI"/>
              </a:rPr>
              <a:t>modelo também tem licença de uso; inventário no ML-BOM evita dor de cabeça jurídica depois.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1700" y="3933500"/>
            <a:ext cx="8520600" cy="85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11700" y="4013500"/>
            <a:ext cx="81206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2371FF"/>
                </a:solidFill>
                <a:latin typeface="Segoe UI Semibold"/>
              </a:rPr>
              <a:t>GLOSSÁRIO 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1700" y="4203500"/>
            <a:ext cx="81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 u="none">
                <a:solidFill>
                  <a:srgbClr val="6A707D"/>
                </a:solidFill>
                <a:latin typeface="Segoe UI"/>
              </a:rPr>
              <a:t>SBOM — lista de componentes de um software   ·   ML-BOM — inventário de modelos e dados de IA usados   ·   API — porta de entrada para usar outro serviço   ·   SLA — contrato que garante disponibilidade do serviço   ·   hash — "impressão digital" do arquivo; muda se ele for alterado   ·   drift — quando o modelo muda de comportamento aos poucos, sozinho   ·   atestação de procedência — prova verificável de como algo foi criado   ·   fallback — plano B se o serviço principal falhar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0" dirty="0" err="1">
                <a:solidFill>
                  <a:srgbClr val="181C23"/>
                </a:solidFill>
                <a:latin typeface="Segoe UI Semibold"/>
              </a:rPr>
              <a:t>Laboratório</a:t>
            </a:r>
            <a:r>
              <a:rPr sz="2200" b="0" i="0" dirty="0">
                <a:solidFill>
                  <a:srgbClr val="181C23"/>
                </a:solidFill>
                <a:latin typeface="Segoe UI Semibold"/>
              </a:rPr>
              <a:t>: hardening de </a:t>
            </a:r>
            <a:r>
              <a:rPr sz="2200" b="0" i="0" dirty="0" err="1">
                <a:solidFill>
                  <a:srgbClr val="181C23"/>
                </a:solidFill>
                <a:latin typeface="Segoe UI Semibold"/>
              </a:rPr>
              <a:t>dependências</a:t>
            </a:r>
            <a:r>
              <a:rPr sz="2200" b="0" i="0" dirty="0">
                <a:solidFill>
                  <a:srgbClr val="181C23"/>
                </a:solidFill>
                <a:latin typeface="Segoe UI Semibold"/>
              </a:rPr>
              <a:t> </a:t>
            </a:r>
            <a:r>
              <a:rPr sz="2200" b="0" i="0" dirty="0" err="1">
                <a:solidFill>
                  <a:srgbClr val="181C23"/>
                </a:solidFill>
                <a:latin typeface="Segoe UI Semibold"/>
              </a:rPr>
              <a:t>em</a:t>
            </a:r>
            <a:r>
              <a:rPr sz="2200" b="0" i="0" dirty="0">
                <a:solidFill>
                  <a:srgbClr val="181C23"/>
                </a:solidFill>
                <a:latin typeface="Segoe UI Semibold"/>
              </a:rPr>
              <a:t> um pipeline Node.js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Mapear: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fases source/build/distribution e posicionar os vetores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Casos: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SolarWinds, Codecov, ua-parser-js, XZ — vetor, impacto, controle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Configurar: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.npmrc com ignore-scripts, save-exact e registry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Verificar: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npm ci --ignore-scripts, npm audit signatures, npm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Mapear: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cada controle a um nível SLSA e a uma prática SSDF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Mapa de ameaças, .npmrc e workflow endurecidos, matriz SLSA/SSDF. Runbook: labs/Aula_06_Runbook.md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15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A cadeia tem três fases (origem, build, distribuição) e cada uma tem vetores e controles próprios.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Typosquatting, dependency confusion e build poisoning exploram confiança transitiva.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SLSA mede garantias de procedência (L1→L4); SSDF organiza práticas (PO, PS, PW, RV).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Hardening prático: lockfile com hash, scripts bloqueados, assinaturas verificadas, registry autenticado.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Supply Chain Security: Ataques e Frameworks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931944"/>
            <a:ext cx="500000" cy="12311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lang="pt-PT" sz="800" b="0" i="0">
                <a:solidFill>
                  <a:srgbClr val="2371FF"/>
                </a:solidFill>
                <a:latin typeface="Segoe UI Semibold"/>
              </a:rPr>
              <a:t>16</a:t>
            </a:r>
            <a:endParaRPr sz="800" b="0" i="0">
              <a:solidFill>
                <a:srgbClr val="2371FF"/>
              </a:solidFill>
              <a:latin typeface="Segoe UI Semibold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7" y="0"/>
            <a:ext cx="9013365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Integridade e Procedência de Artefatos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390</TotalTime>
  <Words>2807</Words>
  <Application>Microsoft Office PowerPoint</Application>
  <PresentationFormat>On-screen Show (16:9)</PresentationFormat>
  <Paragraphs>308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Ubuntu Medium</vt:lpstr>
      <vt:lpstr>Segoe UI Semibold</vt:lpstr>
      <vt:lpstr>Ubuntu Light</vt:lpstr>
      <vt:lpstr>Segoe UI Light</vt:lpstr>
      <vt:lpstr>Ubuntu</vt:lpstr>
      <vt:lpstr>Consolas</vt:lpstr>
      <vt:lpstr>Segoe UI</vt:lpstr>
      <vt:lpstr>Arial</vt:lpstr>
      <vt:lpstr>Lato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Benedicto, Everton Jose (SI B IT PES PLT)</cp:lastModifiedBy>
  <cp:revision>8</cp:revision>
  <dcterms:modified xsi:type="dcterms:W3CDTF">2026-10-29T18:55:10Z</dcterms:modified>
</cp:coreProperties>
</file>