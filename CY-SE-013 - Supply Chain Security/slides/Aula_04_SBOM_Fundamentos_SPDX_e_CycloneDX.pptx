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13"/>
    <p:sldId id="267" r:id="rId14"/>
    <p:sldId id="268" r:id="rId15"/>
    <p:sldId id="269" r:id="rId16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8"/>
      <p:bold r:id="rId19"/>
      <p:italic r:id="rId20"/>
      <p:boldItalic r:id="rId21"/>
    </p:embeddedFont>
    <p:embeddedFont>
      <p:font typeface="Lato" panose="020F0502020204030203" pitchFamily="34" charset="0"/>
      <p:regular r:id="rId22"/>
      <p:bold r:id="rId23"/>
      <p:italic r:id="rId24"/>
      <p:boldItalic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  <p:embeddedFont>
      <p:font typeface="Segoe UI Light" panose="020B0502040204020203" pitchFamily="34" charset="0"/>
      <p:regular r:id="rId30"/>
      <p:italic r:id="rId31"/>
    </p:embeddedFont>
    <p:embeddedFont>
      <p:font typeface="Segoe UI Semibold" panose="020B0702040204020203" pitchFamily="34" charset="0"/>
      <p:bold r:id="rId32"/>
      <p:boldItalic r:id="rId33"/>
    </p:embeddedFont>
    <p:embeddedFont>
      <p:font typeface="Ubuntu" panose="020B0504030602030204" pitchFamily="34" charset="0"/>
      <p:regular r:id="rId34"/>
      <p:bold r:id="rId35"/>
      <p:italic r:id="rId36"/>
      <p:boldItalic r:id="rId37"/>
    </p:embeddedFont>
    <p:embeddedFont>
      <p:font typeface="Ubuntu Light" panose="020B0304030602030204" pitchFamily="34" charset="0"/>
      <p:regular r:id="rId38"/>
      <p:bold r:id="rId39"/>
      <p:italic r:id="rId40"/>
      <p:boldItalic r:id="rId41"/>
    </p:embeddedFont>
    <p:embeddedFont>
      <p:font typeface="Ubuntu Medium" panose="020B0604030602030204" pitchFamily="34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47" autoAdjust="0"/>
  </p:normalViewPr>
  <p:slideViewPr>
    <p:cSldViewPr snapToGrid="0">
      <p:cViewPr varScale="1">
        <p:scale>
          <a:sx n="140" d="100"/>
          <a:sy n="140" d="100"/>
        </p:scale>
        <p:origin x="77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9" Type="http://schemas.openxmlformats.org/officeDocument/2006/relationships/font" Target="fonts/font22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42" Type="http://schemas.openxmlformats.org/officeDocument/2006/relationships/font" Target="fonts/font25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font" Target="fonts/font21.fntdata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41" Type="http://schemas.openxmlformats.org/officeDocument/2006/relationships/font" Target="fonts/font2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font" Target="fonts/font20.fntdata"/><Relationship Id="rId40" Type="http://schemas.openxmlformats.org/officeDocument/2006/relationships/font" Target="fonts/font23.fntdata"/><Relationship Id="rId45" Type="http://schemas.openxmlformats.org/officeDocument/2006/relationships/font" Target="fonts/font2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font" Target="fonts/font19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4" Type="http://schemas.openxmlformats.org/officeDocument/2006/relationships/font" Target="fonts/font2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font" Target="fonts/font18.fntdata"/><Relationship Id="rId43" Type="http://schemas.openxmlformats.org/officeDocument/2006/relationships/font" Target="fonts/font26.fntdata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Abertura da Aula 04: SBOM: Fundamentos, SPDX e CycloneDX.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Use a pergunta 'como sua equipe responderia hoje a uma nova CVE?' como gancho. Tempo de resposta é proporcional à qualidade do inventário.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Mostre que o SBOM nasce no build e é consumido até a operação. OWASP A03 — Software Supply Chain Failures — é o tema central desta e das próximas duas aulas.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Cite os motores regulatórios: Executive Order 14028 (EUA) e o EU Cyber Resilience Act. Além de compliance, há valor operacional direto.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Não é escolha binária: muitas organizações geram nos dois. SPDX para o jurídico, CycloneDX para a operação de segurança.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PURL é a chave que plataformas usam para consultar OSV, NVD e GitHub Advisory. Sem PURL, não há correlação automática.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Cite cdxgen (OWASP) e microsoft/sbom-tool como alternativas. Mostre o jq como forma rápida de inspecionar antes de ir para uma plataforma.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O SBOM precisa acompanhar o release: mesmo commit, mesma imagem. Na Aula 7 ele será anexado à imagem como atestação assinada.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Fecha o ciclo com as Aulas 1–3: a mesma linguagem valida Dockerfile, Kubernetes e SBOM. Mencione AIBOM/ML-BOM: modelos e datasets também entram no inventário (CycloneDX 1.5).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75 min</a:t>
            </a:r>
          </a:p>
          <a:p>
            <a:endParaRPr/>
          </a:p>
          <a:p>
            <a:r>
              <a:t>Diferenças de contagem entre formatos e ferramentas são normais — discuta, não trate como erro. Guarde os SBOMs: a Aula 5 os ingere no Dependency-Track.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5 min</a:t>
            </a:r>
          </a:p>
          <a:p>
            <a:endParaRPr/>
          </a:p>
          <a:p>
            <a:r>
              <a:t>Pergunta de fechamento: SBOM é inventário ou scanner? Inventário. A correlação com risco é a próxima aula.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Peça Docker Compose funcionando para subir o Dependency-Track na próxima aula.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 idx="2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sor">
  <p:cSld name="CUSTOM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2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Limpo">
  <p:cSld name="CUSTOM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fismo ADA">
  <p:cSld name="CUSTOM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erramento" type="blank">
  <p:cSld name="BLANK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BF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CycloneDX/specification" TargetMode="External"/><Relationship Id="rId5" Type="http://schemas.openxmlformats.org/officeDocument/2006/relationships/image" Target="../media/image7.svg"/><Relationship Id="rId4" Type="http://schemas.openxmlformats.org/officeDocument/2006/relationships/hyperlink" Target="https://spdx.dev/use/specifications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i="0">
                <a:solidFill>
                  <a:srgbClr val="A6F750"/>
                </a:solidFill>
                <a:latin typeface="Segoe UI Light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371FF"/>
                </a:solidFill>
                <a:latin typeface="Segoe UI Semibold"/>
              </a:rPr>
              <a:t>AULA 04  ·  Sexta, 23/10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181C23"/>
                </a:solidFill>
                <a:latin typeface="Segoe UI Semibold"/>
              </a:rPr>
              <a:t>SBOM: Fundamentos, SPDX e CycloneDX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6A707D"/>
                </a:solidFill>
                <a:latin typeface="Segoe UI Light"/>
              </a:rPr>
              <a:t>Você sabe exatamente quais componentes compõem seu software?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A6F750"/>
                </a:solidFill>
                <a:latin typeface="Segoe UI"/>
              </a:rPr>
              <a:t>Módulo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16/10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19/10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20/10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11700" y="2621932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6F750"/>
                </a:solidFill>
                <a:latin typeface="Segoe UI Semibold"/>
              </a:rPr>
              <a:t>Sex 23/10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DF8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26/10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30/10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03/11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0" i="0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00" y="4273500"/>
            <a:ext cx="2839028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81C23"/>
                </a:solidFill>
                <a:latin typeface="Segoe UI Semibold"/>
              </a:rPr>
              <a:t>INTERVALO · 15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PROBLEMA GERADOR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Dezembro de 2021: "nós usamos Log4j?"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A pergunta: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em quais aplicações? em quais versões? (CVE-2021-44228, Log4j 2.0-beta9 a 2.14.1, CVSS 10.0, RCE remoto)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Sem inventário: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dias de grep em repositórios, pipelines e imagens — sem contar dependências transitivas invisíveis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Com SBOM: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resposta em segundos — basta consultar o inventário (SPDX/CycloneDX) por nome e versão da biblioteca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Custo da lentidão: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incidentes, exposição prolongada a exploração ativa e remediação emergencial fora da esteira de deploy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SBOM é a lista de ingredientes do rótulo. Quando sai um recall de um ingrediente, quem tem rótulo sabe na hora quais produtos tirar da prateleira — sem rótulo, é preciso abrir pacote por pacote.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ONDE O SBOM VIVE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O inventário acompanha cada elo da cadeia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1700" y="1976089"/>
            <a:ext cx="3966748" cy="2097469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upply-ch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036089"/>
            <a:ext cx="3846748" cy="19774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1700" y="4333500"/>
            <a:ext cx="3966748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1">
                <a:solidFill>
                  <a:srgbClr val="6A707D"/>
                </a:solidFill>
                <a:latin typeface="Segoe UI"/>
              </a:rPr>
              <a:t>Fonte: clavis.com.br — Ameaças à cadeia de software</a:t>
            </a:r>
          </a:p>
        </p:txBody>
      </p:sp>
      <p:sp>
        <p:nvSpPr>
          <p:cNvPr id="9" name="Oval 8"/>
          <p:cNvSpPr/>
          <p:nvPr/>
        </p:nvSpPr>
        <p:spPr>
          <a:xfrm>
            <a:off x="4886412" y="176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6412" y="176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6412" y="174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Dependências: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typosquatting, CVEs e pacotes maliciosos → SCA + SBOM na checagem</a:t>
            </a:r>
          </a:p>
        </p:txBody>
      </p:sp>
      <p:sp>
        <p:nvSpPr>
          <p:cNvPr id="12" name="Oval 11"/>
          <p:cNvSpPr/>
          <p:nvPr/>
        </p:nvSpPr>
        <p:spPr>
          <a:xfrm>
            <a:off x="4886412" y="240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86412" y="240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6412" y="238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Build: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SBOM gerado junto com o artefato na esteira de CI/CD (ex.: Syft)</a:t>
            </a:r>
          </a:p>
        </p:txBody>
      </p:sp>
      <p:sp>
        <p:nvSpPr>
          <p:cNvPr id="15" name="Oval 14"/>
          <p:cNvSpPr/>
          <p:nvPr/>
        </p:nvSpPr>
        <p:spPr>
          <a:xfrm>
            <a:off x="4886412" y="304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86412" y="304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6412" y="302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Armazenamento: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SBOM anexado à imagem no registry como attestation assinada</a:t>
            </a:r>
          </a:p>
        </p:txBody>
      </p:sp>
      <p:sp>
        <p:nvSpPr>
          <p:cNvPr id="18" name="Oval 17"/>
          <p:cNvSpPr/>
          <p:nvPr/>
        </p:nvSpPr>
        <p:spPr>
          <a:xfrm>
            <a:off x="4886412" y="368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86412" y="368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6412" y="366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Operação: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novas CVEs cruzadas com SBOM continuamente por scanners (Trivy, Dependency-Track)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1700" y="4563500"/>
            <a:ext cx="8520600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>
                <a:solidFill>
                  <a:srgbClr val="6A707D"/>
                </a:solidFill>
                <a:latin typeface="Segoe UI Semibold"/>
              </a:rPr>
              <a:t>Glossário: </a:t>
            </a:r>
            <a:r>
              <a:rPr sz="800" b="0">
                <a:solidFill>
                  <a:srgbClr val="6A707D"/>
                </a:solidFill>
                <a:latin typeface="Segoe UI"/>
              </a:rPr>
              <a:t>SBOM = Software Bill of Materials · SCA = Software Composition Analysis · CVE = Common Vulnerabilities and Exposures · CI/CD = Continuous Integration/Continuous Delivery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DEFINIÇÃO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Os 7 elementos mínimos (NTIA)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4860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486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4860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Fornecedor: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quem criou ou distribui o componente (ex.: Apache Software Foundation, um mantenedor individual)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172330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17233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122800"/>
            <a:ext cx="8020600" cy="4365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dirty="0">
                <a:solidFill>
                  <a:srgbClr val="181C23"/>
                </a:solidFill>
                <a:latin typeface="Segoe UI Semibold"/>
              </a:rPr>
              <a:t>Nome e </a:t>
            </a:r>
            <a:r>
              <a:rPr sz="1400" b="0" i="0" dirty="0" err="1">
                <a:solidFill>
                  <a:srgbClr val="181C23"/>
                </a:solidFill>
                <a:latin typeface="Segoe UI Semibold"/>
              </a:rPr>
              <a:t>versão</a:t>
            </a:r>
            <a:r>
              <a:rPr sz="1400" b="0" i="0" dirty="0">
                <a:solidFill>
                  <a:srgbClr val="181C23"/>
                </a:solidFill>
                <a:latin typeface="Segoe UI Semibold"/>
              </a:rPr>
              <a:t>: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identificação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exata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do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componente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e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sua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versão</a:t>
            </a:r>
            <a:r>
              <a:rPr lang="pt-PT" sz="1400" b="0" i="0" dirty="0">
                <a:solidFill>
                  <a:srgbClr val="6A707D"/>
                </a:solidFill>
                <a:latin typeface="Segoe UI"/>
              </a:rPr>
              <a:t> (ex.: PURL, CPE ou SWID)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—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sem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isso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não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dá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para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cruzar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com </a:t>
            </a:r>
            <a:r>
              <a:rPr sz="1400" b="0" i="0" dirty="0" err="1">
                <a:solidFill>
                  <a:srgbClr val="6A707D"/>
                </a:solidFill>
                <a:latin typeface="Segoe UI"/>
              </a:rPr>
              <a:t>uma</a:t>
            </a:r>
            <a:r>
              <a:rPr sz="1400" b="0" i="0" dirty="0">
                <a:solidFill>
                  <a:srgbClr val="6A707D"/>
                </a:solidFill>
                <a:latin typeface="Segoe UI"/>
              </a:rPr>
              <a:t> CVE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569800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5698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539800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Identificador único: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formato padronizado e não-ambíguo para buscas automatizadas em bancos de vulnerabilidades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2967270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296727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2937270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Relações de dependência: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quem depende de quem na árvore — inclui dependências transitivas, não só as diretas</a:t>
            </a:r>
          </a:p>
        </p:txBody>
      </p:sp>
      <p:sp>
        <p:nvSpPr>
          <p:cNvPr id="18" name="Oval 17"/>
          <p:cNvSpPr/>
          <p:nvPr/>
        </p:nvSpPr>
        <p:spPr>
          <a:xfrm>
            <a:off x="311700" y="3364740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1700" y="336474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00" y="3334740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Autor e timestamp: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quem gerou o SBOM (pessoa, ferramenta ou organização) e quando foi gerado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793500"/>
            <a:ext cx="8520600" cy="86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793500"/>
            <a:ext cx="70000" cy="8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1700" y="388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700" y="413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É uma nota fiscal do software: cada item, sua origem (fornecedor), seu código de barras (identificador único) e a data da emissão (autor e timestamp).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dirty="0">
                <a:solidFill>
                  <a:srgbClr val="6A707D"/>
                </a:solidFill>
                <a:latin typeface="Segoe UI"/>
              </a:rPr>
              <a:t>Ada · CY-SE-013 - Supply Chain Security · SBOM: </a:t>
            </a:r>
            <a:r>
              <a:rPr sz="800" b="0" i="0" dirty="0" err="1">
                <a:solidFill>
                  <a:srgbClr val="6A707D"/>
                </a:solidFill>
                <a:latin typeface="Segoe UI"/>
              </a:rPr>
              <a:t>Fundamentos</a:t>
            </a:r>
            <a:r>
              <a:rPr sz="800" b="0" i="0" dirty="0">
                <a:solidFill>
                  <a:srgbClr val="6A707D"/>
                </a:solidFill>
                <a:latin typeface="Segoe UI"/>
              </a:rPr>
              <a:t>, SPDX e </a:t>
            </a:r>
            <a:r>
              <a:rPr sz="800" b="0" i="0" dirty="0" err="1">
                <a:solidFill>
                  <a:srgbClr val="6A707D"/>
                </a:solidFill>
                <a:latin typeface="Segoe UI"/>
              </a:rPr>
              <a:t>CycloneDX</a:t>
            </a:r>
            <a:r>
              <a:rPr sz="800" b="0" i="0" dirty="0">
                <a:solidFill>
                  <a:srgbClr val="6A707D"/>
                </a:solidFill>
                <a:latin typeface="Segoe UI"/>
              </a:rPr>
              <a:t> | Everton J Benedicto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1700" y="4700796"/>
            <a:ext cx="85206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dirty="0" err="1">
                <a:solidFill>
                  <a:srgbClr val="6A707D"/>
                </a:solidFill>
                <a:latin typeface="Segoe UI Semibold"/>
              </a:rPr>
              <a:t>Glossário</a:t>
            </a:r>
            <a:r>
              <a:rPr sz="700" b="0" dirty="0">
                <a:solidFill>
                  <a:srgbClr val="6A707D"/>
                </a:solidFill>
                <a:latin typeface="Segoe UI Semibold"/>
              </a:rPr>
              <a:t>: </a:t>
            </a:r>
            <a:r>
              <a:rPr sz="700" b="0" dirty="0">
                <a:solidFill>
                  <a:srgbClr val="6A707D"/>
                </a:solidFill>
                <a:latin typeface="Segoe UI"/>
              </a:rPr>
              <a:t>NTIA = National Telecommunications and Information Administration · SBOM = Software Bill of Materials · PURL = Package URL · CPE = Common Platform Enumeration · SWID = Software Identification Tag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DOIS FORMATOS ABERTOS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SPDX vs. CycloneDX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686148"/>
            <a:ext cx="4130300" cy="2818014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68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38426"/>
            <a:ext cx="38303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dirty="0">
                <a:solidFill>
                  <a:srgbClr val="FFFDF8"/>
                </a:solidFill>
                <a:latin typeface="Segoe UI Semibold"/>
              </a:rPr>
              <a:t>SPDX — Linux Foundation</a:t>
            </a:r>
          </a:p>
        </p:txBody>
      </p:sp>
      <p:sp>
        <p:nvSpPr>
          <p:cNvPr id="9" name="Oval 8"/>
          <p:cNvSpPr/>
          <p:nvPr/>
        </p:nvSpPr>
        <p:spPr>
          <a:xfrm>
            <a:off x="461700" y="2385817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700" y="2146148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Criado em 2010 pela Linux Foundation · formalizado na norma ISO/IEC 5962:2021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3005155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700" y="2765486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Foco original: rastrear licenças de software livre e viabilizar compliance legal/jurídico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362449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700" y="3384824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Serializado em JSON, YAML, RDF/XML ou no formato texto tag-value original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4134162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700" y="4004162"/>
            <a:ext cx="356030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Padrão de referência em auditorias jurídicas e devido diligência (M&amp;A)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2000" y="1686148"/>
            <a:ext cx="4130300" cy="2818014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02000" y="168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52000" y="1686148"/>
            <a:ext cx="383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dirty="0" err="1">
                <a:solidFill>
                  <a:srgbClr val="181C23"/>
                </a:solidFill>
                <a:latin typeface="Segoe UI Semibold"/>
              </a:rPr>
              <a:t>CycloneDX</a:t>
            </a:r>
            <a:r>
              <a:rPr sz="1400" b="0" i="0" dirty="0">
                <a:solidFill>
                  <a:srgbClr val="181C23"/>
                </a:solidFill>
                <a:latin typeface="Segoe UI Semibold"/>
              </a:rPr>
              <a:t> — OWASP</a:t>
            </a:r>
          </a:p>
        </p:txBody>
      </p:sp>
      <p:sp>
        <p:nvSpPr>
          <p:cNvPr id="20" name="Oval 19"/>
          <p:cNvSpPr/>
          <p:nvPr/>
        </p:nvSpPr>
        <p:spPr>
          <a:xfrm>
            <a:off x="4852000" y="2385817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2000" y="2146148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Criado em 2017 pela OWASP · hoje mantido também pela Ecma International (TC54)</a:t>
            </a:r>
          </a:p>
        </p:txBody>
      </p:sp>
      <p:sp>
        <p:nvSpPr>
          <p:cNvPr id="22" name="Oval 21"/>
          <p:cNvSpPr/>
          <p:nvPr/>
        </p:nvSpPr>
        <p:spPr>
          <a:xfrm>
            <a:off x="4852000" y="3005155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22000" y="2765486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Foco original: segurança da cadeia de suprimentos e Software Composition Analysis (SCA)</a:t>
            </a:r>
          </a:p>
        </p:txBody>
      </p:sp>
      <p:sp>
        <p:nvSpPr>
          <p:cNvPr id="24" name="Oval 23"/>
          <p:cNvSpPr/>
          <p:nvPr/>
        </p:nvSpPr>
        <p:spPr>
          <a:xfrm>
            <a:off x="4852000" y="362449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2000" y="3384824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Serializado em JSON, XML ou Protocol Buffers (Protobuf), mais compacto para CI/CD</a:t>
            </a:r>
          </a:p>
        </p:txBody>
      </p:sp>
      <p:sp>
        <p:nvSpPr>
          <p:cNvPr id="26" name="Oval 25"/>
          <p:cNvSpPr/>
          <p:nvPr/>
        </p:nvSpPr>
        <p:spPr>
          <a:xfrm>
            <a:off x="4852000" y="4134162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22000" y="4004162"/>
            <a:ext cx="356030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Suporta VEX nativo, ML-BOM e atestações assinadas (attestations)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2012" y="4514162"/>
            <a:ext cx="868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 dirty="0" err="1">
                <a:solidFill>
                  <a:srgbClr val="6A707D"/>
                </a:solidFill>
                <a:latin typeface="Segoe UI Semibold"/>
              </a:rPr>
              <a:t>Glossário</a:t>
            </a:r>
            <a:r>
              <a:rPr sz="700" b="1" dirty="0">
                <a:solidFill>
                  <a:srgbClr val="6A707D"/>
                </a:solidFill>
                <a:latin typeface="Segoe UI Semibold"/>
              </a:rPr>
              <a:t>: </a:t>
            </a:r>
            <a:r>
              <a:rPr sz="700" b="0" dirty="0">
                <a:solidFill>
                  <a:srgbClr val="6A707D"/>
                </a:solidFill>
                <a:latin typeface="Segoe UI"/>
              </a:rPr>
              <a:t>SPDX = Software Package Data Exchange · ISO = International Organization for Standardization · IEC = International Electrotechnical Commission · RDF = Resource Description Framework · OWASP = Open Web Application Security Project · ECMA = </a:t>
            </a:r>
            <a:r>
              <a:rPr sz="700" b="0" dirty="0" err="1">
                <a:solidFill>
                  <a:srgbClr val="6A707D"/>
                </a:solidFill>
                <a:latin typeface="Segoe UI"/>
              </a:rPr>
              <a:t>Ecma</a:t>
            </a:r>
            <a:r>
              <a:rPr sz="700" b="0" dirty="0">
                <a:solidFill>
                  <a:srgbClr val="6A707D"/>
                </a:solidFill>
                <a:latin typeface="Segoe UI"/>
              </a:rPr>
              <a:t> International · SCA = Software Composition Analysis · VEX = Vulnerability </a:t>
            </a:r>
            <a:r>
              <a:rPr lang="pt-PT" sz="700" b="0" dirty="0">
                <a:solidFill>
                  <a:srgbClr val="6A707D"/>
                </a:solidFill>
                <a:latin typeface="Segoe UI"/>
              </a:rPr>
              <a:t>Ex</a:t>
            </a:r>
            <a:r>
              <a:rPr sz="700" b="0" dirty="0" err="1">
                <a:solidFill>
                  <a:srgbClr val="6A707D"/>
                </a:solidFill>
                <a:latin typeface="Segoe UI"/>
              </a:rPr>
              <a:t>ploitability</a:t>
            </a:r>
            <a:r>
              <a:rPr sz="700" b="0" dirty="0">
                <a:solidFill>
                  <a:srgbClr val="6A707D"/>
                </a:solidFill>
                <a:latin typeface="Segoe UI"/>
              </a:rPr>
              <a:t> </a:t>
            </a:r>
            <a:r>
              <a:rPr sz="700" b="0" dirty="0" err="1">
                <a:solidFill>
                  <a:srgbClr val="6A707D"/>
                </a:solidFill>
                <a:latin typeface="Segoe UI"/>
              </a:rPr>
              <a:t>eXchange</a:t>
            </a:r>
            <a:r>
              <a:rPr sz="700" b="0" dirty="0">
                <a:solidFill>
                  <a:srgbClr val="6A707D"/>
                </a:solidFill>
                <a:latin typeface="Segoe UI"/>
              </a:rPr>
              <a:t> · ML-BOM = Machine Learning Bill of Materials</a:t>
            </a:r>
          </a:p>
        </p:txBody>
      </p:sp>
      <p:pic>
        <p:nvPicPr>
          <p:cNvPr id="33" name="Graphic 32" descr="Download from cloud with solid fill">
            <a:hlinkClick r:id="rId4"/>
            <a:extLst>
              <a:ext uri="{FF2B5EF4-FFF2-40B4-BE49-F238E27FC236}">
                <a16:creationId xmlns:a16="http://schemas.microsoft.com/office/drawing/2014/main" id="{5EAE13E6-4857-8530-FAC7-5A6BB3DFB0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6556" y="1738426"/>
            <a:ext cx="215444" cy="215444"/>
          </a:xfrm>
          <a:prstGeom prst="rect">
            <a:avLst/>
          </a:prstGeom>
        </p:spPr>
      </p:pic>
      <p:pic>
        <p:nvPicPr>
          <p:cNvPr id="35" name="Graphic 34" descr="Download from cloud with solid fill">
            <a:hlinkClick r:id="rId6"/>
            <a:extLst>
              <a:ext uri="{FF2B5EF4-FFF2-40B4-BE49-F238E27FC236}">
                <a16:creationId xmlns:a16="http://schemas.microsoft.com/office/drawing/2014/main" id="{4B421907-20D5-D78D-DB72-1E1C1527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66856" y="1739261"/>
            <a:ext cx="215444" cy="2154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IDENTIFICADOR UNIVERSAL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PURL: o ponto de correlação com CVEs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pkg:&lt;type&gt;/&lt;namespace&gt;/&lt;name&gt;@&lt;version&gt; — o mesmo em SPDX e CycloneDX: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pkg:npm/express@4.19.2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pkg:pypi/django@5.0.6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pkg:maven/org.apache.logging.log4j/log4j-core@2.17.1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pkg:docker/nginx@1.27.0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pkg:golang/github.com/gin-gonic/gin@v1.10.0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Trecho CycloneDX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{ "type": "library", "name": "express", "version": "4.19.2",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"purl": "pkg:npm/express@4.19.2",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"licenses": [{"license": {"id": "MIT"}}],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"hashes": [{"alg": "SHA-256", "content": "a1b2c3..."}] 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FERRAMENTAS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Gerando SBOM com Syft e Trivy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Syft detecta npm, pip, maven, go, apk, deb, rpm… automaticamente: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Syft — imagem Docker, nos dois formatos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syft nginx:1.27.0 -o cyclonedx-json=nginx.cdx.json -o spdx-json=nginx.spdx.json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Syft — diretório local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syft dir:./minha-app -o spdx-json &gt; app.spdx.json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Trivy — SBOM e vulnerabilidades em um passo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trivy image --format cyclonedx --output nginx.cdx.json nginx:1.27.0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A707D"/>
                </a:solidFill>
                <a:latin typeface="Consolas"/>
              </a:rPr>
              <a:t># Inspecionar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jq '.components | length' nginx.cdx.json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jq -r '.components[].licenses[]?.license.id' nginx.cdx.json | sort -u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SBOM como artefato obrigatório do release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Gerado no build e versionado junto com a imagem: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- name: Build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run: docker build -t minha-api:${{ github.sha }} .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- name: SBOM (CycloneDX)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uses: anchore/sbom-action@v0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with: { image: minha-api:${{ github.sha }}, format: cyclonedx-json, output-file: sbom.cdx.json 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- name: SBOM (SPDX)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uses: anchore/sbom-action@v0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with: { image: minha-api:${{ github.sha }}, format: spdx-json, output-file: sbom.spdx.json 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- uses: actions/upload-artifact@v4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with: { name: sboms, path: sbom.*.json 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CONECTANDO COM POLICY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Política Rego sobre o próprio SBOM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Validar o inventário antes de aceitar o artefato: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876" y="2411084"/>
            <a:ext cx="8120600" cy="2335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package main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forbidden := {"GPL-3.0-only", "AGPL-3.0-only"}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c :=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input.components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[_]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lic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 :=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c.licenses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[_].license.id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forbidden[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lic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]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msg :=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sprintf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("'%v' com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licença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não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permitida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: %v.", [c.name,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lic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])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c :=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input.components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[_]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not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c.purl</a:t>
            </a:r>
            <a:endParaRPr sz="800" b="0" i="0" dirty="0">
              <a:solidFill>
                <a:srgbClr val="A6F75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    msg :=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sprintf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("'%v' </a:t>
            </a:r>
            <a:r>
              <a:rPr sz="800" b="0" i="0" dirty="0" err="1">
                <a:solidFill>
                  <a:srgbClr val="A6F750"/>
                </a:solidFill>
                <a:latin typeface="Consolas"/>
              </a:rPr>
              <a:t>sem</a:t>
            </a:r>
            <a:r>
              <a:rPr sz="800" b="0" i="0" dirty="0">
                <a:solidFill>
                  <a:srgbClr val="A6F750"/>
                </a:solidFill>
                <a:latin typeface="Consolas"/>
              </a:rPr>
              <a:t> PURL.", [c.name])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800" b="0" i="0" dirty="0">
                <a:solidFill>
                  <a:srgbClr val="6A707D"/>
                </a:solidFill>
                <a:latin typeface="Consolas"/>
              </a:rPr>
              <a:t># </a:t>
            </a:r>
            <a:r>
              <a:rPr sz="800" b="0" i="0" dirty="0" err="1">
                <a:solidFill>
                  <a:srgbClr val="6A707D"/>
                </a:solidFill>
                <a:latin typeface="Consolas"/>
              </a:rPr>
              <a:t>conftest</a:t>
            </a:r>
            <a:r>
              <a:rPr sz="800" b="0" i="0" dirty="0">
                <a:solidFill>
                  <a:srgbClr val="6A707D"/>
                </a:solidFill>
                <a:latin typeface="Consolas"/>
              </a:rPr>
              <a:t> test </a:t>
            </a:r>
            <a:r>
              <a:rPr sz="800" b="0" i="0" dirty="0" err="1">
                <a:solidFill>
                  <a:srgbClr val="6A707D"/>
                </a:solidFill>
                <a:latin typeface="Consolas"/>
              </a:rPr>
              <a:t>sbom.cdx.json</a:t>
            </a:r>
            <a:r>
              <a:rPr sz="800" b="0" i="0" dirty="0">
                <a:solidFill>
                  <a:srgbClr val="6A707D"/>
                </a:solidFill>
                <a:latin typeface="Consolas"/>
              </a:rPr>
              <a:t> --policy policies/</a:t>
            </a:r>
            <a:r>
              <a:rPr sz="800" b="0" i="0" dirty="0" err="1">
                <a:solidFill>
                  <a:srgbClr val="6A707D"/>
                </a:solidFill>
                <a:latin typeface="Consolas"/>
              </a:rPr>
              <a:t>sbom</a:t>
            </a:r>
            <a:r>
              <a:rPr sz="800" b="0" i="0" dirty="0">
                <a:solidFill>
                  <a:srgbClr val="6A707D"/>
                </a:solidFill>
                <a:latin typeface="Consolas"/>
              </a:rPr>
              <a:t>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DEMONSTRAÇÃO EM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Demonstração: do Build à Política Rego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94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202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61700" y="206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206788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202614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Build da imagem: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docker build gera a imagem da Azure Function (.NET 10, isolated worker) com Newtonsoft.Json 12.0.1 adicionado de propósito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42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00" y="247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00" y="247135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42961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SBOM com Syft: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duas saídas da mesma imagem — CycloneDX e SPDX — inspecionadas e comparadas com jq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83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00" y="287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00" y="287482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83308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SBOM + scan com Trivy: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novo CycloneDX, agora com o array vulnerabilities populado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23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61700" y="327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00" y="327829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23655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Política de licença (reaproveitada):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o mesmo sbom.rego da Aula 04 roda limpo — base Microsoft, sem GPL-3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64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1700" y="368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00" y="368176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64002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Política de vulnerabilidade (nova):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vuln.rego lê input.vulnerabilities e BLOQUEIA CVE-2024-21907 em Newtonsoft.Json 12.0.1 (severidade HIGH)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03498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1700" y="4103498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1700" y="4173498"/>
            <a:ext cx="81206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🎯 PONTO-CHAVE DA 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393498"/>
            <a:ext cx="8120600" cy="342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 dirty="0">
                <a:solidFill>
                  <a:srgbClr val="181C23"/>
                </a:solidFill>
                <a:latin typeface="Segoe UI"/>
              </a:rPr>
              <a:t>A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política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de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licença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passa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(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imagem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Microsoft,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sem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GPL-3) — mas a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política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de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vulnerabilidade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falha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de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propósito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: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adicionamos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Newtonsoft.Json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12.0.1 (CVE-2024-21907)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só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para o gate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pegar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.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Mesmo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pipeline,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achado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diferente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do Lab 04 (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que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falhava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por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 </a:t>
            </a:r>
            <a:r>
              <a:rPr sz="1100" b="0" i="1" dirty="0" err="1">
                <a:solidFill>
                  <a:srgbClr val="181C23"/>
                </a:solidFill>
                <a:latin typeface="Segoe UI"/>
              </a:rPr>
              <a:t>licença</a:t>
            </a:r>
            <a:r>
              <a:rPr sz="1100" b="0" i="1" dirty="0">
                <a:solidFill>
                  <a:srgbClr val="181C23"/>
                </a:solidFill>
                <a:latin typeface="Segoe UI"/>
              </a:rPr>
              <a:t>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Laboratório: gerar e analisar SBOMs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Gerar: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nginx.cdx.json e nginx.spdx.json com Syft; repetir com Trivy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Inspecionar: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contar componentes, listar versões e licenças com jq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Comparar: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campos de um componente em SPDX vs. CycloneDX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Validar: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política Rego de licença + PURL via Conftest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Automatizar: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Makefile com sbom-cdx, sbom-spdx e policy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181C23"/>
                </a:solidFill>
                <a:latin typeface="Segoe UI"/>
              </a:rPr>
              <a:t>Dois SBOMs, consultas jq e política de validação com resultado. Runbook: labs/Aula_04_Runbook.md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SBOM é o inventário legível por máquina: fornecedor, versão, PURL, relações, autor, timestamp.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SPDX (ISO, licenças) e CycloneDX (OWASP, segurança, VEX, ML-BOM) são complementares.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Syft e Trivy geram SBOM no build; o artefato acompanha o release.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Policy as Code valida o SBOM: licenças proibidas e componentes sem PURL.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SBOM: Fundamentos, SPDX e CycloneDX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>
                <a:solidFill>
                  <a:srgbClr val="181C23"/>
                </a:solidFill>
                <a:latin typeface="Segoe UI Semibold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6A707D"/>
                </a:solidFill>
                <a:latin typeface="Segoe UI Light"/>
              </a:rPr>
              <a:t>Próxima aula: Análise de SBOM e Gestão de Dependências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2447</Words>
  <Application>Microsoft Office PowerPoint</Application>
  <PresentationFormat>On-screen Show (16:9)</PresentationFormat>
  <Paragraphs>282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Segoe UI Semibold</vt:lpstr>
      <vt:lpstr>Lato</vt:lpstr>
      <vt:lpstr>Ubuntu Medium</vt:lpstr>
      <vt:lpstr>Segoe UI Light</vt:lpstr>
      <vt:lpstr>Consolas</vt:lpstr>
      <vt:lpstr>Segoe UI</vt:lpstr>
      <vt:lpstr>Ubuntu Light</vt:lpstr>
      <vt:lpstr>Ubuntu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Benedicto, Everton Jose (SI B IT PES PLT)</cp:lastModifiedBy>
  <cp:revision>7</cp:revision>
  <dcterms:modified xsi:type="dcterms:W3CDTF">2026-10-22T20:33:42Z</dcterms:modified>
</cp:coreProperties>
</file>