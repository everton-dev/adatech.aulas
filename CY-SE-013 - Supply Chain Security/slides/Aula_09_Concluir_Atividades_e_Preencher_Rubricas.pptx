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4" r:id="rId4"/>
  </p:sldMasterIdLst>
  <p:notesMasterIdLst>
    <p:notesMasterId r:id="rId5"/>
  </p:notesMasterIdLst>
  <p:sldIdLst>
    <p:sldId id="256" r:id="rId11"/>
    <p:sldId id="257" r:id="rId10"/>
    <p:sldId id="258" r:id="rId9"/>
    <p:sldId id="259" r:id="rId8"/>
    <p:sldId id="260" r:id="rId7"/>
    <p:sldId id="261" r:id="rId6"/>
    <p:sldId id="262" r:id="rId30"/>
    <p:sldId id="263" r:id="rId31"/>
    <p:sldId id="264" r:id="rId32"/>
    <p:sldId id="265" r:id="rId33"/>
  </p:sldIdLst>
  <p:sldSz cy="5143500" cx="9144000"/>
  <p:notesSz cx="6858000" cy="9144000"/>
  <p:embeddedFontLst>
    <p:embeddedFont>
      <p:font typeface="Ubuntu Light"/>
      <p:regular r:id="rId12"/>
      <p:bold r:id="rId13"/>
      <p:italic r:id="rId14"/>
      <p:boldItalic r:id="rId15"/>
    </p:embeddedFont>
    <p:embeddedFont>
      <p:font typeface="Ubuntu"/>
      <p:regular r:id="rId16"/>
      <p:bold r:id="rId17"/>
      <p:italic r:id="rId18"/>
      <p:boldItalic r:id="rId19"/>
    </p:embeddedFont>
    <p:embeddedFont>
      <p:font typeface="Ubuntu Medium"/>
      <p:regular r:id="rId20"/>
      <p:bold r:id="rId21"/>
      <p:italic r:id="rId22"/>
      <p:boldItalic r:id="rId23"/>
    </p:embeddedFont>
    <p:embeddedFont>
      <p:font typeface="Lato"/>
      <p:regular r:id="rId24"/>
      <p:bold r:id="rId25"/>
      <p:italic r:id="rId26"/>
      <p:boldItalic r:id="rId27"/>
    </p:embeddedFont>
    <p:embeddedFont>
      <p:font typeface="Fira Code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6.xml"/><Relationship Id="rId7" Type="http://schemas.openxmlformats.org/officeDocument/2006/relationships/slide" Target="slides/slide5.xml"/><Relationship Id="rId8" Type="http://schemas.openxmlformats.org/officeDocument/2006/relationships/slide" Target="slides/slide4.xml"/><Relationship Id="rId9" Type="http://schemas.openxmlformats.org/officeDocument/2006/relationships/slide" Target="slides/slide3.xml"/><Relationship Id="rId10" Type="http://schemas.openxmlformats.org/officeDocument/2006/relationships/slide" Target="slides/slide2.xml"/><Relationship Id="rId11" Type="http://schemas.openxmlformats.org/officeDocument/2006/relationships/slide" Target="slides/slide1.xml"/><Relationship Id="rId12" Type="http://schemas.openxmlformats.org/officeDocument/2006/relationships/font" Target="fonts/UbuntuLight-regular.fntdata"/><Relationship Id="rId13" Type="http://schemas.openxmlformats.org/officeDocument/2006/relationships/font" Target="fonts/UbuntuLight-bold.fntdata"/><Relationship Id="rId14" Type="http://schemas.openxmlformats.org/officeDocument/2006/relationships/font" Target="fonts/UbuntuLight-italic.fntdata"/><Relationship Id="rId15" Type="http://schemas.openxmlformats.org/officeDocument/2006/relationships/font" Target="fonts/UbuntuLight-boldItalic.fntdata"/><Relationship Id="rId16" Type="http://schemas.openxmlformats.org/officeDocument/2006/relationships/font" Target="fonts/Ubuntu-regular.fntdata"/><Relationship Id="rId17" Type="http://schemas.openxmlformats.org/officeDocument/2006/relationships/font" Target="fonts/Ubuntu-bold.fntdata"/><Relationship Id="rId18" Type="http://schemas.openxmlformats.org/officeDocument/2006/relationships/font" Target="fonts/Ubuntu-italic.fntdata"/><Relationship Id="rId19" Type="http://schemas.openxmlformats.org/officeDocument/2006/relationships/font" Target="fonts/Ubuntu-boldItalic.fntdata"/><Relationship Id="rId20" Type="http://schemas.openxmlformats.org/officeDocument/2006/relationships/font" Target="fonts/UbuntuMedium-regular.fntdata"/><Relationship Id="rId21" Type="http://schemas.openxmlformats.org/officeDocument/2006/relationships/font" Target="fonts/UbuntuMedium-bold.fntdata"/><Relationship Id="rId22" Type="http://schemas.openxmlformats.org/officeDocument/2006/relationships/font" Target="fonts/UbuntuMedium-italic.fntdata"/><Relationship Id="rId23" Type="http://schemas.openxmlformats.org/officeDocument/2006/relationships/font" Target="fonts/UbuntuMedium-boldItalic.fntdata"/><Relationship Id="rId24" Type="http://schemas.openxmlformats.org/officeDocument/2006/relationships/font" Target="fonts/Lato-regular.fntdata"/><Relationship Id="rId25" Type="http://schemas.openxmlformats.org/officeDocument/2006/relationships/font" Target="fonts/Lato-bold.fntdata"/><Relationship Id="rId26" Type="http://schemas.openxmlformats.org/officeDocument/2006/relationships/font" Target="fonts/Lato-italic.fntdata"/><Relationship Id="rId27" Type="http://schemas.openxmlformats.org/officeDocument/2006/relationships/font" Target="fonts/Lato-boldItalic.fntdata"/><Relationship Id="rId28" Type="http://schemas.openxmlformats.org/officeDocument/2006/relationships/font" Target="fonts/FiraCode-regular.fntdata"/><Relationship Id="rId29" Type="http://schemas.openxmlformats.org/officeDocument/2006/relationships/font" Target="fonts/FiraCode-bold.fntdata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Abertura da Aula 09: Concluir Atividades e Preencher Rubricas. Apresente o tema, a pergunta geradora e situe a aula na progressão do módulo. Confirme que os laboratórios da aula anterior foram concluídos.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Mostre onde estamos no cronograma (card escuro). Lembre os próximos encontros e, na Aula 7, avise que não há aula em 02/11 (Finados). O último encontro, 06/11, é dedicado às apresentações e rubricas.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2 min</a:t>
            </a:r>
          </a:p>
          <a:p/>
          <a:p>
            <a:r>
              <a:t>Relembre os combinados da turma rapidamente: câmeras ligadas, pontualidade, participação e mão levantada para dúvidas. Informe o horário do intervalo de 15 minutos.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8 min</a:t>
            </a:r>
          </a:p>
          <a:p/>
          <a:p>
            <a:r>
              <a:t>Defina a ordem das apresentações e o tempo. Lembre que a banca pode pedir qualquer evidência do pipeline.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Peça que cada grupo diga, em uma frase, qual controle de cada camada implementou no projeto.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 min</a:t>
            </a:r>
          </a:p>
          <a:p/>
          <a:p>
            <a:r>
              <a:t>Use como quiz rápido antes das apresentações. Ótimo termômetro para as rubricas.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15 min</a:t>
            </a:r>
          </a:p>
          <a:p/>
          <a:p>
            <a:r>
              <a:t>Reserve tempo real para o preenchimento. Fique disponível para dúvidas individuais.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105 min</a:t>
            </a:r>
          </a:p>
          <a:p/>
          <a:p>
            <a:r>
              <a:t>Mantenha o tempo com rigor. Anote evidências apresentadas para fundamentar a nota.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9 min</a:t>
            </a:r>
          </a:p>
          <a:p/>
          <a:p>
            <a:r>
              <a:t>Agradeça a participação e indique caminhos de aprofundamento: OpenSSF, SLSA, Sigstore, CycloneDX.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Tempo sugerido: 3 min</a:t>
            </a:r>
          </a:p>
          <a:p/>
          <a:p>
            <a:r>
              <a:t>Encerramento. Deixe contatos e materiais de referência.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title"/>
          </p:nvPr>
        </p:nvSpPr>
        <p:spPr>
          <a:xfrm>
            <a:off x="691650" y="2017200"/>
            <a:ext cx="3370500" cy="45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Ubuntu Light"/>
              <a:buNone/>
              <a:defRPr sz="2200">
                <a:latin typeface="Ubuntu Light"/>
                <a:ea typeface="Ubuntu Light"/>
                <a:cs typeface="Ubuntu Light"/>
                <a:sym typeface="Ubuntu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title"/>
          </p:nvPr>
        </p:nvSpPr>
        <p:spPr>
          <a:xfrm>
            <a:off x="691650" y="2582150"/>
            <a:ext cx="3370500" cy="57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Ubuntu Medium"/>
              <a:buNone/>
              <a:defRPr>
                <a:latin typeface="Ubuntu Medium"/>
                <a:ea typeface="Ubuntu Medium"/>
                <a:cs typeface="Ubuntu Medium"/>
                <a:sym typeface="Ubuntu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9225" y="-18825"/>
            <a:ext cx="198350" cy="520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sor">
  <p:cSld name="CUSTOM_2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 title="BG colorido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3997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683025" y="2071050"/>
            <a:ext cx="3921300" cy="10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2600"/>
              <a:buFont typeface="Ubuntu"/>
              <a:buNone/>
              <a:defRPr sz="2600">
                <a:solidFill>
                  <a:srgbClr val="181C23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/>
        </p:txBody>
      </p:sp>
      <p:pic>
        <p:nvPicPr>
          <p:cNvPr id="17" name="Google Shape;17;p3" title="Ad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8399" y="4348525"/>
            <a:ext cx="737449" cy="45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3131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371FF"/>
              </a:buClr>
              <a:buSzPts val="2200"/>
              <a:buFont typeface="Ubuntu"/>
              <a:buNone/>
              <a:defRPr sz="2200">
                <a:solidFill>
                  <a:srgbClr val="2371FF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511075"/>
            <a:ext cx="8520600" cy="30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8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●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○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400"/>
              <a:buFont typeface="Lato"/>
              <a:buChar char="■"/>
              <a:defRPr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4"/>
          <p:cNvSpPr txBox="1"/>
          <p:nvPr>
            <p:ph idx="2" type="subTitle"/>
          </p:nvPr>
        </p:nvSpPr>
        <p:spPr>
          <a:xfrm>
            <a:off x="311700" y="720025"/>
            <a:ext cx="5698800" cy="3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81C23"/>
              </a:buClr>
              <a:buSzPts val="1200"/>
              <a:buFont typeface="Lato"/>
              <a:buNone/>
              <a:defRPr sz="1200">
                <a:solidFill>
                  <a:srgbClr val="181C23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yout Limpo">
  <p:cSld name="CUSTOM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fismo ADA">
  <p:cSld name="CUSTOM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25;p6" title="verde.png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6076250" y="2628925"/>
            <a:ext cx="4844777" cy="3275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erramento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7" title="Ada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050" y="1994575"/>
            <a:ext cx="1867250" cy="115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7"/>
          <p:cNvSpPr txBox="1"/>
          <p:nvPr/>
        </p:nvSpPr>
        <p:spPr>
          <a:xfrm>
            <a:off x="778150" y="2431300"/>
            <a:ext cx="2731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181C23"/>
                </a:solidFill>
                <a:latin typeface="Ubuntu Light"/>
                <a:ea typeface="Ubuntu Light"/>
                <a:cs typeface="Ubuntu Light"/>
                <a:sym typeface="Ubuntu Light"/>
              </a:rPr>
              <a:t>print("thank you")</a:t>
            </a:r>
            <a:endParaRPr sz="1700">
              <a:solidFill>
                <a:srgbClr val="181C23"/>
              </a:solidFill>
              <a:latin typeface="Ubuntu Light"/>
              <a:ea typeface="Ubuntu Light"/>
              <a:cs typeface="Ubuntu Light"/>
              <a:sym typeface="Ubuntu Light"/>
            </a:endParaRPr>
          </a:p>
        </p:txBody>
      </p:sp>
      <p:pic>
        <p:nvPicPr>
          <p:cNvPr id="29" name="Google Shape;29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3507151" y="4767018"/>
            <a:ext cx="5641001" cy="380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BF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4000" y="2743500"/>
            <a:ext cx="3400000" cy="22990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0000" y="560000"/>
            <a:ext cx="24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 i="0">
                <a:solidFill>
                  <a:srgbClr val="A6F750"/>
                </a:solidFill>
                <a:latin typeface="Segoe UI Light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0000" y="2380000"/>
            <a:ext cx="6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371FF"/>
                </a:solidFill>
                <a:latin typeface="Segoe UI Semibold"/>
              </a:rPr>
              <a:t>AULA 09  ·  Sexta, 06/11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000" y="2660000"/>
            <a:ext cx="6600000" cy="11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 i="0">
                <a:solidFill>
                  <a:srgbClr val="181C23"/>
                </a:solidFill>
                <a:latin typeface="Segoe UI Semibold"/>
              </a:rPr>
              <a:t>Concluir Atividades e Preencher Rubricas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000" y="3720000"/>
            <a:ext cx="660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A707D"/>
                </a:solidFill>
                <a:latin typeface="Segoe UI Light"/>
              </a:rPr>
              <a:t>Encerramento do módulo, apresentações finais e avaliação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00" y="4041644"/>
            <a:ext cx="1200000" cy="74185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0000" y="4350000"/>
            <a:ext cx="4600000" cy="300000"/>
          </a:xfrm>
          <a:prstGeom prst="roundRect">
            <a:avLst>
              <a:gd name="adj" fmla="val 50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0000" y="4350000"/>
            <a:ext cx="46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A6F750"/>
                </a:solidFill>
                <a:latin typeface="Segoe UI"/>
              </a:rPr>
              <a:t>Módulo · CY-SE-013 - Supply Chain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" y="4720000"/>
            <a:ext cx="460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181C23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66148"/>
            <a:ext cx="8520600" cy="5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Cronograma das Aulas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311700" y="127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117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16/10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Policy as Code e Compliance Automatizado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19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19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19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19/10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519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Linguagem Rego e Escrita de Políticas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2100" y="1466148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42100" y="1556148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2100" y="1856148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20/10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00" y="2056148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Enforcement: OPA Gatekeeper e Admission Control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17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23/10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SBOM: Fundamentos, SPDX e CycloneDX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019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19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9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Seg 26/10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19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Análise de SBOM e Gestão de Dependências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92100" y="2621932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2100" y="2711932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2100" y="3011932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27/10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00" y="3211932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Supply Chain Security: Ataques e Frameworks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17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Sex 30/10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Integridade e Procedência de Artefatos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019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519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519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2371FF"/>
                </a:solidFill>
                <a:latin typeface="Segoe UI Semibold"/>
              </a:rPr>
              <a:t>Ter 03/11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519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81C23"/>
                </a:solidFill>
                <a:latin typeface="Segoe UI"/>
              </a:rPr>
              <a:t>Compliance Contínuo, Auditoria e Projeto Final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92100" y="3777716"/>
            <a:ext cx="2740200" cy="1005784"/>
          </a:xfrm>
          <a:prstGeom prst="roundRect">
            <a:avLst>
              <a:gd name="adj" fmla="val 6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092100" y="3777716"/>
            <a:ext cx="70000" cy="1005784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2100" y="3867716"/>
            <a:ext cx="2440200" cy="3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A6F750"/>
                </a:solidFill>
                <a:latin typeface="Segoe UI Semibold"/>
              </a:rPr>
              <a:t>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2100" y="4167716"/>
            <a:ext cx="24402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A6F750"/>
                </a:solidFill>
                <a:latin typeface="Segoe UI Semibold"/>
              </a:rPr>
              <a:t>Sex 06/11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2100" y="4367716"/>
            <a:ext cx="2440200" cy="375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FFFDF8"/>
                </a:solidFill>
                <a:latin typeface="Segoe UI"/>
              </a:rPr>
              <a:t>Concluir atividades e preencher rubricas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000" y="1016148"/>
            <a:ext cx="3000000" cy="20285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1700" y="766148"/>
            <a:ext cx="85206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A6F750"/>
                </a:solidFill>
                <a:latin typeface="Segoe UI Semibold"/>
              </a:rPr>
              <a:t>COMBINADO DA TURMA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1700" y="1016148"/>
            <a:ext cx="8520600" cy="7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0" i="0">
                <a:solidFill>
                  <a:srgbClr val="181C23"/>
                </a:solidFill>
                <a:latin typeface="Segoe UI Semibold"/>
              </a:rPr>
              <a:t>Por favor!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1700" y="1866148"/>
            <a:ext cx="3139028" cy="30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866148"/>
            <a:ext cx="3139028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Bora participar!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1700" y="2246148"/>
            <a:ext cx="3139028" cy="2537352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ECED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00" y="2446148"/>
            <a:ext cx="2839028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Câmera ligada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181C23"/>
                </a:solidFill>
                <a:latin typeface="Segoe UI Semibold"/>
              </a:rPr>
              <a:t>+ mão levantada</a:t>
            </a:r>
          </a:p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A6F750"/>
                </a:solidFill>
                <a:latin typeface="Segoe UI Semibold"/>
              </a:rPr>
              <a:t>= aula top!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00" y="4273500"/>
            <a:ext cx="2839028" cy="36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00" y="4273500"/>
            <a:ext cx="2839028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181C23"/>
                </a:solidFill>
                <a:latin typeface="Segoe UI Semibold"/>
              </a:rPr>
              <a:t>INTERVALO · 15 min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10728" y="1866148"/>
            <a:ext cx="5121572" cy="300000"/>
          </a:xfrm>
          <a:prstGeom prst="roundRect">
            <a:avLst>
              <a:gd name="adj" fmla="val 10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10728" y="1866148"/>
            <a:ext cx="5121572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FFFDF8"/>
                </a:solidFill>
                <a:latin typeface="Segoe UI Semibold"/>
              </a:rPr>
              <a:t>Combinados da nossa aula</a:t>
            </a:r>
          </a:p>
        </p:txBody>
      </p:sp>
      <p:sp>
        <p:nvSpPr>
          <p:cNvPr id="14" name="Oval 13"/>
          <p:cNvSpPr/>
          <p:nvPr/>
        </p:nvSpPr>
        <p:spPr>
          <a:xfrm>
            <a:off x="3710728" y="239788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728" y="239788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0728" y="226614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Câmeras ligadas.</a:t>
            </a:r>
          </a:p>
        </p:txBody>
      </p:sp>
      <p:sp>
        <p:nvSpPr>
          <p:cNvPr id="17" name="Oval 16"/>
          <p:cNvSpPr/>
          <p:nvPr/>
        </p:nvSpPr>
        <p:spPr>
          <a:xfrm>
            <a:off x="3710728" y="290135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10728" y="290135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30728" y="276961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Entrem no horário: início e intervalo.</a:t>
            </a:r>
          </a:p>
        </p:txBody>
      </p:sp>
      <p:sp>
        <p:nvSpPr>
          <p:cNvPr id="20" name="Oval 19"/>
          <p:cNvSpPr/>
          <p:nvPr/>
        </p:nvSpPr>
        <p:spPr>
          <a:xfrm>
            <a:off x="3710728" y="340482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10728" y="340482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30728" y="327308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Participem da aula.</a:t>
            </a:r>
          </a:p>
        </p:txBody>
      </p:sp>
      <p:sp>
        <p:nvSpPr>
          <p:cNvPr id="23" name="Oval 22"/>
          <p:cNvSpPr/>
          <p:nvPr/>
        </p:nvSpPr>
        <p:spPr>
          <a:xfrm>
            <a:off x="3710728" y="390829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10728" y="390829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0728" y="377655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Tirem dúvidas.</a:t>
            </a:r>
          </a:p>
        </p:txBody>
      </p:sp>
      <p:sp>
        <p:nvSpPr>
          <p:cNvPr id="26" name="Oval 25"/>
          <p:cNvSpPr/>
          <p:nvPr/>
        </p:nvSpPr>
        <p:spPr>
          <a:xfrm>
            <a:off x="3710728" y="4411763"/>
            <a:ext cx="240000" cy="24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10728" y="4411763"/>
            <a:ext cx="240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181C23"/>
                </a:solidFill>
                <a:latin typeface="Segoe UI Semibold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30728" y="4280028"/>
            <a:ext cx="4701572" cy="50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181C23"/>
                </a:solidFill>
                <a:latin typeface="Segoe UI"/>
              </a:rPr>
              <a:t>Levantem a mão para tirar dúvidas.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Objetivos do último encontro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Apresentações: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projeto final em 15 minutos por grupo, com banca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Concluir atividades: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exercícios pendentes do LMS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Revisão geral: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amarrar política, inventário, cadeia e compliance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Preencher rubricas: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avaliação do aprendizado e feedback do módulo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É a auditoria final do módulo: em vez de contar o que aprendeu, você mostra a evidência — o pipeline rodando e o gate bloqueando.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 progressão do módulo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217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17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17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Política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7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OPA, Rego, Conftest, Gatekeeper — Aulas 1 a 3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018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518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618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618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618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Inventário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18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SBOM, SPDX/CycloneDX, Dependency-Track — Aulas 4 e 5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44200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9200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200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200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00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Cadeia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00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Ameaças, SLSA, SSDF, Cosign, Sigstore — Aulas 6 e 7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682150" y="2196148"/>
            <a:ext cx="260000" cy="220000"/>
          </a:xfrm>
          <a:prstGeom prst="rightArrow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032150" y="1926148"/>
            <a:ext cx="1800150" cy="760000"/>
          </a:xfrm>
          <a:prstGeom prst="roundRect">
            <a:avLst>
              <a:gd name="adj" fmla="val 12000"/>
            </a:avLst>
          </a:prstGeom>
          <a:solidFill>
            <a:srgbClr val="181C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42150" y="2036148"/>
            <a:ext cx="260000" cy="260000"/>
          </a:xfrm>
          <a:prstGeom prst="ellipse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42150" y="2036148"/>
            <a:ext cx="260000" cy="2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81C23"/>
                </a:solidFill>
                <a:latin typeface="Segoe UI Semibol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42150" y="2326148"/>
            <a:ext cx="158015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FFDF8"/>
                </a:solidFill>
                <a:latin typeface="Segoe UI Semibold"/>
              </a:rPr>
              <a:t>Compliance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32150" y="2836148"/>
            <a:ext cx="1800150" cy="1947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6A707D"/>
                </a:solidFill>
                <a:latin typeface="Segoe UI"/>
              </a:rPr>
              <a:t>Evidência contínua, auditoria, KPIs — Aula 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REVISÃO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Perguntas que vocês agora sabem responder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Como transformar uma regra em código?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Rego + OPA + gate no pipeline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38361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38361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35361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Como impor no cluster?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Gatekeeper: Template, Constraint, dryrun → deny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99108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99108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96108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O que tem dentro do software?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SBOM com PURL, correlacionado no Dependency-Track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59855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59855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56855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Como o atacante entra sem tocar no código?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Dependências, build, distribuição — SLSA e SSDF</a:t>
            </a:r>
          </a:p>
        </p:txBody>
      </p:sp>
      <p:sp>
        <p:nvSpPr>
          <p:cNvPr id="18" name="Oval 17"/>
          <p:cNvSpPr/>
          <p:nvPr/>
        </p:nvSpPr>
        <p:spPr>
          <a:xfrm>
            <a:off x="311700" y="420602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700" y="420602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1700" y="4176028"/>
            <a:ext cx="8020600" cy="607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Como provar que é autêntico?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Cosign, Sigstore, atestações; e verificação no consumo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AVALIAÇÃO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Como preencher as rubricas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11700" y="1776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1700" y="1776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1700" y="1746148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Autoavaliação: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reflita sobre o que consegue fazer hoje que não conseguia</a:t>
            </a:r>
          </a:p>
        </p:txBody>
      </p:sp>
      <p:sp>
        <p:nvSpPr>
          <p:cNvPr id="9" name="Oval 8"/>
          <p:cNvSpPr/>
          <p:nvPr/>
        </p:nvSpPr>
        <p:spPr>
          <a:xfrm>
            <a:off x="311700" y="2272986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1700" y="2272986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1700" y="2242986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Critérios: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cada rubrica avalia uma competência específica do módulo</a:t>
            </a:r>
          </a:p>
        </p:txBody>
      </p:sp>
      <p:sp>
        <p:nvSpPr>
          <p:cNvPr id="12" name="Oval 11"/>
          <p:cNvSpPr/>
          <p:nvPr/>
        </p:nvSpPr>
        <p:spPr>
          <a:xfrm>
            <a:off x="311700" y="2769824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1700" y="2769824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1700" y="2739824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Honestidade: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avalie com sinceridade para evoluir de verdade</a:t>
            </a:r>
          </a:p>
        </p:txBody>
      </p:sp>
      <p:sp>
        <p:nvSpPr>
          <p:cNvPr id="15" name="Oval 14"/>
          <p:cNvSpPr/>
          <p:nvPr/>
        </p:nvSpPr>
        <p:spPr>
          <a:xfrm>
            <a:off x="311700" y="3266662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1700" y="3266662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00" y="3236662"/>
            <a:ext cx="8020600" cy="4968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181C23"/>
                </a:solidFill>
                <a:latin typeface="Segoe UI Semibold"/>
              </a:rPr>
              <a:t>Feedback: </a:t>
            </a:r>
            <a:r>
              <a:rPr sz="1400" b="0" i="0">
                <a:solidFill>
                  <a:srgbClr val="6A707D"/>
                </a:solidFill>
                <a:latin typeface="Segoe UI"/>
              </a:rPr>
              <a:t>o que funcionou e o que mudar no módulo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883500"/>
            <a:ext cx="8520600" cy="90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11700" y="3883500"/>
            <a:ext cx="70000" cy="90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1700" y="3973500"/>
            <a:ext cx="81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💡 ANALOGIA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1700" y="4223500"/>
            <a:ext cx="81206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 i="1">
                <a:solidFill>
                  <a:srgbClr val="181C23"/>
                </a:solidFill>
                <a:latin typeface="Segoe UI"/>
              </a:rPr>
              <a:t>A rubrica é o SBOM do seu aprendizado: lista o que você tem, em que versão, e onde ainda há 'CVE' para corrigir.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BANCA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Apresentações do projeto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1700" y="178788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00" y="178788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700" y="174614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Contexto: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aplicação e riscos — 2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1700" y="219961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1700" y="224135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00" y="224135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1700" y="219961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Demo: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pipeline do commit ao deploy — 3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1700" y="265308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61700" y="269482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700" y="269482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700" y="265308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Ataque: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imagem não assinada bloqueada — 3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1700" y="310655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1700" y="314829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00" y="314829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1700" y="310655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Evidência + framework: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pedidos pela banca — 5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1700" y="3560028"/>
            <a:ext cx="8520600" cy="36347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1700" y="3601763"/>
            <a:ext cx="280000" cy="28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00" y="3601763"/>
            <a:ext cx="280000" cy="28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DF8"/>
                </a:solidFill>
                <a:latin typeface="Segoe UI Semibold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1700" y="3560028"/>
            <a:ext cx="7780600" cy="3634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181C23"/>
                </a:solidFill>
                <a:latin typeface="Segoe UI Semibold"/>
              </a:rPr>
              <a:t>Perguntas: </a:t>
            </a:r>
            <a:r>
              <a:rPr sz="1300" b="0" i="0">
                <a:solidFill>
                  <a:srgbClr val="6A707D"/>
                </a:solidFill>
                <a:latin typeface="Segoe UI"/>
              </a:rPr>
              <a:t>2 min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1700" y="4163500"/>
            <a:ext cx="8520600" cy="620000"/>
          </a:xfrm>
          <a:prstGeom prst="roundRect">
            <a:avLst>
              <a:gd name="adj" fmla="val 6000"/>
            </a:avLst>
          </a:prstGeom>
          <a:solidFill>
            <a:srgbClr val="DAF9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11700" y="4163500"/>
            <a:ext cx="70000" cy="62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700" y="4233500"/>
            <a:ext cx="81206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✅ ENTREGÁVEL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700" y="4453500"/>
            <a:ext cx="81206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1">
                <a:solidFill>
                  <a:srgbClr val="181C23"/>
                </a:solidFill>
                <a:latin typeface="Segoe UI"/>
              </a:rPr>
              <a:t>Repositório, README com mapeamento de frameworks, evidências e apresentação. Rubrica: 0–100 pontos.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1700" y="796148"/>
            <a:ext cx="85206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371FF"/>
                </a:solidFill>
                <a:latin typeface="Segoe UI Semibold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00" y="1056148"/>
            <a:ext cx="8520600" cy="5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181C23"/>
                </a:solidFill>
                <a:latin typeface="Segoe UI Semibold"/>
              </a:rPr>
              <a:t>Recapitulando a Aula</a:t>
            </a:r>
          </a:p>
        </p:txBody>
      </p:sp>
      <p:sp>
        <p:nvSpPr>
          <p:cNvPr id="5" name="Rectangle 4"/>
          <p:cNvSpPr/>
          <p:nvPr/>
        </p:nvSpPr>
        <p:spPr>
          <a:xfrm>
            <a:off x="311700" y="1616148"/>
            <a:ext cx="900000" cy="55000"/>
          </a:xfrm>
          <a:prstGeom prst="rect">
            <a:avLst/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11700" y="17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1700" y="17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1700" y="18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700" y="18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700" y="17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Política → inventário → cadeia → compliance: uma camada de governança sobre o pipeline DevSecOps.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1700" y="24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1700" y="24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91700" y="25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700" y="25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700" y="24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Controles viram código, código vira gate, gate vira evidência.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11700" y="31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11700" y="31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91700" y="32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1700" y="32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1700" y="31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As rubricas registram o aprendizado e orientam os próximos passos.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1700" y="3846148"/>
            <a:ext cx="8520600" cy="570000"/>
          </a:xfrm>
          <a:prstGeom prst="roundRect">
            <a:avLst>
              <a:gd name="adj" fmla="val 8000"/>
            </a:avLst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11700" y="3846148"/>
            <a:ext cx="70000" cy="570000"/>
          </a:xfrm>
          <a:prstGeom prst="roundRect">
            <a:avLst>
              <a:gd name="adj" fmla="val 50000"/>
            </a:avLst>
          </a:prstGeom>
          <a:solidFill>
            <a:srgbClr val="A6F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1700" y="3981148"/>
            <a:ext cx="300000" cy="300000"/>
          </a:xfrm>
          <a:prstGeom prst="ellipse">
            <a:avLst/>
          </a:prstGeom>
          <a:solidFill>
            <a:srgbClr val="237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700" y="3981148"/>
            <a:ext cx="300000" cy="3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DF8"/>
                </a:solidFill>
                <a:latin typeface="Segoe UI Semibold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700" y="3846148"/>
            <a:ext cx="7680600" cy="57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181C23"/>
                </a:solidFill>
                <a:latin typeface="Segoe UI"/>
              </a:rPr>
              <a:t>Parabéns! Você concluiu o módulo CY-SE-013 — Supply Chain Security! 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1700" y="4843500"/>
            <a:ext cx="8520600" cy="6000"/>
          </a:xfrm>
          <a:prstGeom prst="rect">
            <a:avLst/>
          </a:prstGeom>
          <a:solidFill>
            <a:srgbClr val="ECED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11700" y="4883500"/>
            <a:ext cx="79206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6A707D"/>
                </a:solidFill>
                <a:latin typeface="Segoe UI"/>
              </a:rPr>
              <a:t>Ada · CY-SE-013 - Supply Chain Security · Concluir Atividades e Preencher Rubricas | Everton J Benedicto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2300" y="4883500"/>
            <a:ext cx="500000" cy="22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2371FF"/>
                </a:solidFill>
                <a:latin typeface="Segoe UI Semi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16148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000" y="987004"/>
            <a:ext cx="3800000" cy="256949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871750"/>
            <a:ext cx="9144000" cy="8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>
                <a:solidFill>
                  <a:srgbClr val="181C23"/>
                </a:solidFill>
                <a:latin typeface="Segoe UI Semibold"/>
              </a:rPr>
              <a:t>Parabéns e 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71750"/>
            <a:ext cx="9144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1">
                <a:solidFill>
                  <a:srgbClr val="6A707D"/>
                </a:solidFill>
                <a:latin typeface="Segoe UI Light"/>
              </a:rPr>
              <a:t>Módulo concluído — continuem verificando a cadeia.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2000" y="4025287"/>
            <a:ext cx="1000000" cy="6182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4803500"/>
            <a:ext cx="9144000" cy="2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6A707D"/>
                </a:solidFill>
                <a:latin typeface="Segoe UI Semibold"/>
              </a:rPr>
              <a:t>Prof.: Everton J Benedicto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181C23"/>
      </a:dk1>
      <a:lt1>
        <a:srgbClr val="FFFDF8"/>
      </a:lt1>
      <a:dk2>
        <a:srgbClr val="2371FF"/>
      </a:dk2>
      <a:lt2>
        <a:srgbClr val="50E550"/>
      </a:lt2>
      <a:accent1>
        <a:srgbClr val="DAF9DA"/>
      </a:accent1>
      <a:accent2>
        <a:srgbClr val="2371FF"/>
      </a:accent2>
      <a:accent3>
        <a:srgbClr val="DAF9DA"/>
      </a:accent3>
      <a:accent4>
        <a:srgbClr val="ECEDF3"/>
      </a:accent4>
      <a:accent5>
        <a:srgbClr val="C4D2F8"/>
      </a:accent5>
      <a:accent6>
        <a:srgbClr val="9DF09D"/>
      </a:accent6>
      <a:hlink>
        <a:srgbClr val="2371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