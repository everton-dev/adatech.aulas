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11"/>
    <p:sldId id="257" r:id="rId10"/>
    <p:sldId id="258" r:id="rId9"/>
    <p:sldId id="259" r:id="rId8"/>
    <p:sldId id="260" r:id="rId7"/>
    <p:sldId id="261" r:id="rId6"/>
    <p:sldId id="266" r:id="rId34"/>
    <p:sldId id="262" r:id="rId30"/>
    <p:sldId id="263" r:id="rId31"/>
    <p:sldId id="264" r:id="rId32"/>
    <p:sldId id="265" r:id="rId33"/>
  </p:sldIdLst>
  <p:sldSz cy="5143500" cx="9144000"/>
  <p:notesSz cx="6858000" cy="9144000"/>
  <p:embeddedFontLst>
    <p:embeddedFont>
      <p:font typeface="Ubuntu Light"/>
      <p:regular r:id="rId12"/>
      <p:bold r:id="rId13"/>
      <p:italic r:id="rId14"/>
      <p:boldItalic r:id="rId15"/>
    </p:embeddedFont>
    <p:embeddedFont>
      <p:font typeface="Ubuntu"/>
      <p:regular r:id="rId16"/>
      <p:bold r:id="rId17"/>
      <p:italic r:id="rId18"/>
      <p:boldItalic r:id="rId19"/>
    </p:embeddedFont>
    <p:embeddedFont>
      <p:font typeface="Ubuntu Medium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  <p:embeddedFont>
      <p:font typeface="Fira Code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font" Target="fonts/UbuntuLight-regular.fntdata"/><Relationship Id="rId13" Type="http://schemas.openxmlformats.org/officeDocument/2006/relationships/font" Target="fonts/UbuntuLight-bold.fntdata"/><Relationship Id="rId14" Type="http://schemas.openxmlformats.org/officeDocument/2006/relationships/font" Target="fonts/UbuntuLight-italic.fntdata"/><Relationship Id="rId15" Type="http://schemas.openxmlformats.org/officeDocument/2006/relationships/font" Target="fonts/UbuntuLight-boldItalic.fntdata"/><Relationship Id="rId16" Type="http://schemas.openxmlformats.org/officeDocument/2006/relationships/font" Target="fonts/Ubuntu-regular.fntdata"/><Relationship Id="rId17" Type="http://schemas.openxmlformats.org/officeDocument/2006/relationships/font" Target="fonts/Ubuntu-bold.fntdata"/><Relationship Id="rId18" Type="http://schemas.openxmlformats.org/officeDocument/2006/relationships/font" Target="fonts/Ubuntu-italic.fntdata"/><Relationship Id="rId19" Type="http://schemas.openxmlformats.org/officeDocument/2006/relationships/font" Target="fonts/Ubuntu-boldItalic.fntdata"/><Relationship Id="rId20" Type="http://schemas.openxmlformats.org/officeDocument/2006/relationships/font" Target="fonts/UbuntuMedium-regular.fntdata"/><Relationship Id="rId21" Type="http://schemas.openxmlformats.org/officeDocument/2006/relationships/font" Target="fonts/UbuntuMedium-bold.fntdata"/><Relationship Id="rId22" Type="http://schemas.openxmlformats.org/officeDocument/2006/relationships/font" Target="fonts/UbuntuMedium-italic.fntdata"/><Relationship Id="rId23" Type="http://schemas.openxmlformats.org/officeDocument/2006/relationships/font" Target="fonts/UbuntuMedium-boldItalic.fntdata"/><Relationship Id="rId24" Type="http://schemas.openxmlformats.org/officeDocument/2006/relationships/font" Target="fonts/Lato-regular.fntdata"/><Relationship Id="rId25" Type="http://schemas.openxmlformats.org/officeDocument/2006/relationships/font" Target="fonts/Lato-bold.fntdata"/><Relationship Id="rId26" Type="http://schemas.openxmlformats.org/officeDocument/2006/relationships/font" Target="fonts/Lato-italic.fntdata"/><Relationship Id="rId27" Type="http://schemas.openxmlformats.org/officeDocument/2006/relationships/font" Target="fonts/Lato-boldItalic.fntdata"/><Relationship Id="rId28" Type="http://schemas.openxmlformats.org/officeDocument/2006/relationships/font" Target="fonts/FiraCode-regular.fntdata"/><Relationship Id="rId29" Type="http://schemas.openxmlformats.org/officeDocument/2006/relationships/font" Target="fonts/FiraCode-bold.fntdata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/>
          <a:p>
            <a:r>
              <a:t>Abertura da Aula 09: Concluir Atividades e Preencher Rubricas.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/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/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/>
          <a:p>
            <a:r>
              <a:t>Defina a ordem das apresentações e o tempo. Lembre que a banca pode pedir qualquer evidência do pipeline.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Peça que cada grupo diga, em uma frase, qual controle de cada camada implementou no projeto.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Use como quiz rápido antes das apresentações. Ótimo termômetro para as rubricas.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15 min</a:t>
            </a:r>
          </a:p>
          <a:p/>
          <a:p>
            <a:r>
              <a:t>Reserve tempo real para o preenchimento. Fique disponível para dúvidas individuais.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105 min</a:t>
            </a:r>
          </a:p>
          <a:p/>
          <a:p>
            <a:r>
              <a:t>Mantenha o tempo com rigor. Anote evidências apresentadas para fundamentar a nota.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9 min</a:t>
            </a:r>
          </a:p>
          <a:p/>
          <a:p>
            <a:r>
              <a:t>Agradeça a participação e indique caminhos de aprofundamento: OpenSSF, SLSA, Sigstore, CycloneDX.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/>
          <a:p>
            <a:r>
              <a:t>Encerramento. Deixe contatos e materiais de referência.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a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2" type="title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sor">
  <p:cSld name="CUSTOM_2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/>
          <p:nvPr>
            <p:ph idx="2" type="subTitle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yout Limpo">
  <p:cSld name="CUSTOM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fismo ADA">
  <p:cSld name="CUSTOM_1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erramento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BF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09  ·  Sexta, 06/11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Concluir Atividades e Preencher Rubricas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Encerramento do módulo, apresentações finais e avaliação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519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03/11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Objetivos do último encontro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Apresentações: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projeto final em 15 minutos por grupo, com banca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Concluir atividades: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exercícios pendentes do LMS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Revisão geral: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amarrar política, inventário, cadeia e compliance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Preencher rubricas: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avaliação do aprendizado e feedback do módulo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É a auditoria final do módulo: em vez de contar o que aprendeu, você mostra a evidência — o pipeline rodando e o gate bloqueando.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REVISÃO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A progressão do módulo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Política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OPA, Rego, Conftest, Gatekeeper — Aulas 1 a 3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Inventário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SBOM, SPDX/CycloneDX, Dependency-Track — Aulas 4 e 5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Cadeia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Ameaças, SLSA, SSDF, Cosign, Sigstore — Aulas 6 e 7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Evidência contínua, auditoria, KPIs — Aula 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REVISÃO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Perguntas que vocês agora sabem responder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607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Como transformar uma regra em código?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Rego + OPA + gate no pipeline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38361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700" y="238361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353618"/>
            <a:ext cx="8020600" cy="607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Como impor no cluster?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Gatekeeper: Template, Constraint, dryrun → deny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99108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700" y="299108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961088"/>
            <a:ext cx="8020600" cy="607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O que tem dentro do software?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SBOM com PURL, correlacionado no Dependency-Track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59855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700" y="359855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568558"/>
            <a:ext cx="8020600" cy="607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Como o atacante entra sem tocar no código?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Dependências, build, distribuição — SLSA e SSDF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4206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1700" y="420602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4176028"/>
            <a:ext cx="8020600" cy="607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Como provar que é autêntico?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Cosign, Sigstore, atestações; e verificação no consumo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PROJETO FINAL DO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Raio-X da Cadeia de Suprimentos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Política: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1 regra Rego testada com opa eval — Aulas 1 a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Inventário: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SBOM com Syft + 1 vulnerabilidade real com Trivy — Aulas 4 e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Cadeia: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assinar com Cosign keyless, ligado a um ataque real — Aulas 6 e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Compliance: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meia página: que evidência eu teria se fosse atacado? — Aula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Apresentação: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5 minutos mostrando o antes e depois do bloqueio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Pasta com Dockerfile, policy Rego, SBOM, print do Trivy e assinatura Cosign. Avaliação: checklist binário de 5 itens, sem rubrica de 0-100.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AVALIAÇÃO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Como preencher as rubricas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Autoavaliação: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reflita sobre o que consegue fazer hoje que não conseguia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Critérios: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cada rubrica avalia uma competência específica do módulo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Honestidade: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avalie com sinceridade para evoluir de verdade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Feedback: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o que funcionou e o que mudar no módulo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A rubrica é o SBOM do seu aprendizado: lista o que você tem, em que versão, e onde ainda há 'CVE' para corrigir.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BANCA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Apresentações do projeto 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Contexto: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aplicação e riscos — 2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Demo: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pipeline do commit ao deploy — 3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Ataque: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imagem não assinada bloqueada — 3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Evidência + framework: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pedidos pela banca — 5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Perguntas: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2 min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Repositório, README com mapeamento de frameworks, evidências e apresentação. Rubrica: 0–100 pontos.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Política → inventário → cadeia → compliance: uma camada de governança sobre o pipeline DevSecOps.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Controles viram código, código vira gate, gate vira evidência.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As rubricas registram o aprendizado e orientam os próximos passos.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Parabéns! Você concluiu o módulo CY-SE-013 — Supply Chain Security! 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Concluir Atividades e Preencher Rubricas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Parabéns e 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Módulo concluído — continuem verificando a cadeia.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