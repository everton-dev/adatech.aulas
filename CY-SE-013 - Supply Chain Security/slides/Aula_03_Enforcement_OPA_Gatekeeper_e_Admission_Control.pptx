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4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17"/>
      <p:bold r:id="rId18"/>
      <p:italic r:id="rId19"/>
      <p:boldItalic r:id="rId20"/>
    </p:embeddedFont>
    <p:embeddedFont>
      <p:font typeface="Lato" panose="020F0502020204030203" pitchFamily="34" charset="0"/>
      <p:regular r:id="rId21"/>
      <p:bold r:id="rId22"/>
      <p:italic r:id="rId23"/>
      <p:boldItalic r:id="rId24"/>
    </p:embeddedFont>
    <p:embeddedFont>
      <p:font typeface="Segoe UI" panose="020B0502040204020203" pitchFamily="34" charset="0"/>
      <p:regular r:id="rId25"/>
      <p:bold r:id="rId26"/>
      <p:italic r:id="rId27"/>
      <p:boldItalic r:id="rId28"/>
    </p:embeddedFont>
    <p:embeddedFont>
      <p:font typeface="Segoe UI Light" panose="020B0502040204020203" pitchFamily="34" charset="0"/>
      <p:regular r:id="rId29"/>
      <p:italic r:id="rId30"/>
    </p:embeddedFont>
    <p:embeddedFont>
      <p:font typeface="Segoe UI Semibold" panose="020B0702040204020203" pitchFamily="34" charset="0"/>
      <p:bold r:id="rId31"/>
      <p:boldItalic r:id="rId32"/>
    </p:embeddedFont>
    <p:embeddedFont>
      <p:font typeface="Ubuntu" panose="020B0504030602030204" pitchFamily="34" charset="0"/>
      <p:regular r:id="rId33"/>
      <p:bold r:id="rId34"/>
      <p:italic r:id="rId35"/>
      <p:boldItalic r:id="rId36"/>
    </p:embeddedFont>
    <p:embeddedFont>
      <p:font typeface="Ubuntu Light" panose="020B0304030602030204" pitchFamily="34" charset="0"/>
      <p:regular r:id="rId37"/>
      <p:bold r:id="rId38"/>
      <p:italic r:id="rId39"/>
      <p:boldItalic r:id="rId40"/>
    </p:embeddedFont>
    <p:embeddedFont>
      <p:font typeface="Ubuntu Medium" panose="020B0604030602030204" pitchFamily="34" charset="0"/>
      <p:regular r:id="rId41"/>
      <p:bold r:id="rId42"/>
      <p:italic r:id="rId43"/>
      <p:boldItalic r:id="rId4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041" autoAdjust="0"/>
  </p:normalViewPr>
  <p:slideViewPr>
    <p:cSldViewPr snapToGrid="0">
      <p:cViewPr varScale="1">
        <p:scale>
          <a:sx n="129" d="100"/>
          <a:sy n="129" d="100"/>
        </p:scale>
        <p:origin x="144" y="18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9" Type="http://schemas.openxmlformats.org/officeDocument/2006/relationships/font" Target="fonts/font23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34" Type="http://schemas.openxmlformats.org/officeDocument/2006/relationships/font" Target="fonts/font18.fntdata"/><Relationship Id="rId42" Type="http://schemas.openxmlformats.org/officeDocument/2006/relationships/font" Target="fonts/font26.fntdata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33" Type="http://schemas.openxmlformats.org/officeDocument/2006/relationships/font" Target="fonts/font17.fntdata"/><Relationship Id="rId38" Type="http://schemas.openxmlformats.org/officeDocument/2006/relationships/font" Target="fonts/font22.fntdata"/><Relationship Id="rId46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font" Target="fonts/font13.fntdata"/><Relationship Id="rId41" Type="http://schemas.openxmlformats.org/officeDocument/2006/relationships/font" Target="fonts/font2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32" Type="http://schemas.openxmlformats.org/officeDocument/2006/relationships/font" Target="fonts/font16.fntdata"/><Relationship Id="rId37" Type="http://schemas.openxmlformats.org/officeDocument/2006/relationships/font" Target="fonts/font21.fntdata"/><Relationship Id="rId40" Type="http://schemas.openxmlformats.org/officeDocument/2006/relationships/font" Target="fonts/font24.fntdata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font" Target="fonts/font12.fntdata"/><Relationship Id="rId36" Type="http://schemas.openxmlformats.org/officeDocument/2006/relationships/font" Target="fonts/font20.fntdata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31" Type="http://schemas.openxmlformats.org/officeDocument/2006/relationships/font" Target="fonts/font15.fntdata"/><Relationship Id="rId44" Type="http://schemas.openxmlformats.org/officeDocument/2006/relationships/font" Target="fonts/font2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font" Target="fonts/font14.fntdata"/><Relationship Id="rId35" Type="http://schemas.openxmlformats.org/officeDocument/2006/relationships/font" Target="fonts/font19.fntdata"/><Relationship Id="rId43" Type="http://schemas.openxmlformats.org/officeDocument/2006/relationships/font" Target="fonts/font27.fntdata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263407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3 min</a:t>
            </a:r>
          </a:p>
          <a:p>
            <a:endParaRPr/>
          </a:p>
          <a:p>
            <a:r>
              <a:t>Abertura da Aula 03: Enforcement: OPA Gatekeeper e Admission Control. Apresente o tema, a pergunta geradora e situe a aula na progressão do módulo. Confirme que os laboratórios da aula anterior foram concluídos.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2 min</a:t>
            </a:r>
          </a:p>
          <a:p>
            <a:endParaRPr/>
          </a:p>
          <a:p>
            <a:r>
              <a:t>Mostre onde estamos no cronograma (card escuro). Lembre os próximos encontros e, na Aula 7, avise que não há aula em 02/11 (Finados). O último encontro, 06/11, é dedicado às apresentações e rubricas.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2 min</a:t>
            </a:r>
          </a:p>
          <a:p>
            <a:endParaRPr/>
          </a:p>
          <a:p>
            <a:r>
              <a:t>Relembre os combinados da turma rapidamente: câmeras ligadas, pontualidade, participação e mão levantada para dúvidas. Informe o horário do intervalo de 15 minutos.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8 min</a:t>
            </a:r>
          </a:p>
          <a:p>
            <a:endParaRPr/>
          </a:p>
          <a:p>
            <a:r>
              <a:t>Pergunte: um desenvolvedor consegue contornar o CI e aplicar direto no cluster? Essa possibilidade justifica a segunda barreira em runtime.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10 min</a:t>
            </a:r>
          </a:p>
          <a:p>
            <a:endParaRPr/>
          </a:p>
          <a:p>
            <a:r>
              <a:t>Boa prática é combinar os dois: feedback rápido no CI e garantia no cluster. Não são alternativas, são camadas.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10 min</a:t>
            </a:r>
          </a:p>
          <a:p>
            <a:endParaRPr/>
          </a:p>
          <a:p>
            <a:r>
              <a:t>Ressalte que o recurso só é gravado depois da admissão. A resposta do webhook volta como erro do kubectl, com a mensagem da política.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10 min</a:t>
            </a:r>
          </a:p>
          <a:p>
            <a:endParaRPr/>
          </a:p>
          <a:p>
            <a:r>
              <a:t>Relacione com o diagrama de desacoplamento da Aula 1: a 'aplicação' agora é o API Server. Template é reutilizável; Constraint é a instância.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10 min</a:t>
            </a:r>
          </a:p>
          <a:p>
            <a:endParaRPr/>
          </a:p>
          <a:p>
            <a:r>
              <a:t>Aponte input.review.object: é o recurso sendo criado. A regra se chama violation, não deny — convenção do Gatekeeper.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10 min</a:t>
            </a:r>
          </a:p>
          <a:p>
            <a:endParaRPr/>
          </a:p>
          <a:p>
            <a:r>
              <a:t>Mostre os três pontos de controle: enforcementAction, match e parameters. Exceção via parâmetro é a mais auditável porque fica explícita no recurso.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10 min</a:t>
            </a:r>
          </a:p>
          <a:p>
            <a:endParaRPr/>
          </a:p>
          <a:p>
            <a:r>
              <a:t>Explique por que começar em dryrun: medir impacto, comunicar times, dar prazo. Audit pega recursos criados antes da política ou via bypass.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8 min</a:t>
            </a:r>
          </a:p>
          <a:p>
            <a:endParaRPr/>
          </a:p>
          <a:p>
            <a:r>
              <a:t>Chame atenção para a action fixada por SHA de commit, não por tag — isso é supply chain security do próprio pipeline (tema da Aula 6). Métricas Prometheus do Gatekeeper alimentam dashboards.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70 min</a:t>
            </a:r>
          </a:p>
          <a:p>
            <a:endParaRPr/>
          </a:p>
          <a:p>
            <a:r>
              <a:t>Verifique kind/kubectl antes. Peça que prevejam a decisão para o Pod sem securityContext e observem a mensagem do webhook.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6 min</a:t>
            </a:r>
          </a:p>
          <a:p>
            <a:endParaRPr/>
          </a:p>
          <a:p>
            <a:r>
              <a:t>Pergunta de fechamento: CI substitui admission? Resposta esperada: não, são camadas. Ponte para SBOM.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3 min</a:t>
            </a:r>
          </a:p>
          <a:p>
            <a:endParaRPr/>
          </a:p>
          <a:p>
            <a:r>
              <a:t>Peça Syft, Trivy e jq instalados para a próxima aula.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a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 title="Ada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722050" y="1994575"/>
            <a:ext cx="1867250" cy="11543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title"/>
          </p:nvPr>
        </p:nvSpPr>
        <p:spPr>
          <a:xfrm>
            <a:off x="691650" y="2017200"/>
            <a:ext cx="3370500" cy="45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200"/>
              <a:buFont typeface="Ubuntu Light"/>
              <a:buNone/>
              <a:defRPr sz="2200">
                <a:latin typeface="Ubuntu Light"/>
                <a:ea typeface="Ubuntu Light"/>
                <a:cs typeface="Ubuntu Light"/>
                <a:sym typeface="Ubuntu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 idx="2"/>
          </p:nvPr>
        </p:nvSpPr>
        <p:spPr>
          <a:xfrm>
            <a:off x="691650" y="2582150"/>
            <a:ext cx="3370500" cy="57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Font typeface="Ubuntu Medium"/>
              <a:buNone/>
              <a:defRPr>
                <a:latin typeface="Ubuntu Medium"/>
                <a:ea typeface="Ubuntu Medium"/>
                <a:cs typeface="Ubuntu Medium"/>
                <a:sym typeface="Ubuntu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3" name="Google Shape;13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949225" y="-18825"/>
            <a:ext cx="198350" cy="52082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visor">
  <p:cSld name="CUSTOM_2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3" title="BG colorido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"/>
          <p:cNvSpPr txBox="1">
            <a:spLocks noGrp="1"/>
          </p:cNvSpPr>
          <p:nvPr>
            <p:ph type="title"/>
          </p:nvPr>
        </p:nvSpPr>
        <p:spPr>
          <a:xfrm>
            <a:off x="683025" y="2071050"/>
            <a:ext cx="3921300" cy="10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endParaRPr/>
          </a:p>
        </p:txBody>
      </p:sp>
      <p:pic>
        <p:nvPicPr>
          <p:cNvPr id="17" name="Google Shape;17;p3" title="Ada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78399" y="4348525"/>
            <a:ext cx="737449" cy="455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 txBox="1">
            <a:spLocks noGrp="1"/>
          </p:cNvSpPr>
          <p:nvPr>
            <p:ph type="title"/>
          </p:nvPr>
        </p:nvSpPr>
        <p:spPr>
          <a:xfrm>
            <a:off x="311700" y="3131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2371FF"/>
              </a:buClr>
              <a:buSzPts val="2200"/>
              <a:buFont typeface="Ubuntu"/>
              <a:buNone/>
              <a:defRPr sz="2200">
                <a:solidFill>
                  <a:srgbClr val="2371FF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body" idx="1"/>
          </p:nvPr>
        </p:nvSpPr>
        <p:spPr>
          <a:xfrm>
            <a:off x="311700" y="1511075"/>
            <a:ext cx="8520600" cy="305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800"/>
              <a:buFont typeface="Lato"/>
              <a:buChar char="●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○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■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●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○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■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●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○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■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ubTitle" idx="2"/>
          </p:nvPr>
        </p:nvSpPr>
        <p:spPr>
          <a:xfrm>
            <a:off x="311700" y="720025"/>
            <a:ext cx="5698800" cy="33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200"/>
              <a:buFont typeface="Lato"/>
              <a:buNone/>
              <a:defRPr sz="1200"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yout Limpo">
  <p:cSld name="CUSTOM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afismo ADA">
  <p:cSld name="CUSTOM_1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Google Shape;25;p6" title="verde.png"/>
          <p:cNvPicPr preferRelativeResize="0"/>
          <p:nvPr/>
        </p:nvPicPr>
        <p:blipFill>
          <a:blip r:embed="rId2">
            <a:alphaModFix amt="40000"/>
          </a:blip>
          <a:stretch>
            <a:fillRect/>
          </a:stretch>
        </p:blipFill>
        <p:spPr>
          <a:xfrm>
            <a:off x="6076250" y="2628925"/>
            <a:ext cx="4844777" cy="32759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erramento" type="blank">
  <p:cSld name="BLANK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7" title="Ada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722050" y="1994575"/>
            <a:ext cx="1867250" cy="1154351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7"/>
          <p:cNvSpPr txBox="1"/>
          <p:nvPr/>
        </p:nvSpPr>
        <p:spPr>
          <a:xfrm>
            <a:off x="778150" y="2431300"/>
            <a:ext cx="2731200" cy="38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>
                <a:solidFill>
                  <a:srgbClr val="181C23"/>
                </a:solidFill>
                <a:latin typeface="Ubuntu Light"/>
                <a:ea typeface="Ubuntu Light"/>
                <a:cs typeface="Ubuntu Light"/>
                <a:sym typeface="Ubuntu Light"/>
              </a:rPr>
              <a:t>print("thank you")</a:t>
            </a:r>
            <a:endParaRPr sz="1700">
              <a:solidFill>
                <a:srgbClr val="181C23"/>
              </a:solidFill>
              <a:latin typeface="Ubuntu Light"/>
              <a:ea typeface="Ubuntu Light"/>
              <a:cs typeface="Ubuntu Light"/>
              <a:sym typeface="Ubuntu Light"/>
            </a:endParaRPr>
          </a:p>
        </p:txBody>
      </p:sp>
      <p:pic>
        <p:nvPicPr>
          <p:cNvPr id="29" name="Google Shape;29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 flipH="1">
            <a:off x="3507151" y="4767018"/>
            <a:ext cx="5641001" cy="380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FFFBF0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715" b="715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4000" y="2743500"/>
            <a:ext cx="3400000" cy="229901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0000" y="560000"/>
            <a:ext cx="2400000" cy="1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0" b="1" i="0">
                <a:solidFill>
                  <a:srgbClr val="A6F750"/>
                </a:solidFill>
                <a:latin typeface="Segoe UI Light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0000" y="2380000"/>
            <a:ext cx="60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2371FF"/>
                </a:solidFill>
                <a:latin typeface="Segoe UI Semibold"/>
              </a:rPr>
              <a:t>AULA 03  ·  Terça, 20/10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0000" y="2660000"/>
            <a:ext cx="6600000" cy="11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 i="0">
                <a:solidFill>
                  <a:srgbClr val="181C23"/>
                </a:solidFill>
                <a:latin typeface="Segoe UI Semibold"/>
              </a:rPr>
              <a:t>Enforcement: OPA Gatekeeper e Admission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0000" y="3720000"/>
            <a:ext cx="6600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1">
                <a:solidFill>
                  <a:srgbClr val="6A707D"/>
                </a:solidFill>
                <a:latin typeface="Segoe UI Light"/>
              </a:rPr>
              <a:t>Como impor políticas de forma centralizada em um cluster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4000" y="4041644"/>
            <a:ext cx="1200000" cy="74185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0000" y="4350000"/>
            <a:ext cx="4600000" cy="300000"/>
          </a:xfrm>
          <a:prstGeom prst="roundRect">
            <a:avLst>
              <a:gd name="adj" fmla="val 50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0000" y="4350000"/>
            <a:ext cx="46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A6F750"/>
                </a:solidFill>
                <a:latin typeface="Segoe UI"/>
              </a:rPr>
              <a:t>Módulo · CY-SE-013 - Supply Chain Security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000" y="4720000"/>
            <a:ext cx="460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181C23"/>
                </a:solidFill>
                <a:latin typeface="Segoe UI Semibold"/>
              </a:rPr>
              <a:t>Prof.: Everton J Benedicto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715" b="715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66148"/>
            <a:ext cx="8520600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Cronograma das Aulas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311700" y="127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11700" y="1466148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61700" y="1556148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00" y="1856148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Sex 16/10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00" y="2056148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Policy as Code e Compliance Automatizado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1900" y="1466148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51900" y="1556148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51900" y="1856148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Seg 19/10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1900" y="2056148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Linguagem Rego e Escrita de Políticas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2100" y="1466148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092100" y="1466148"/>
            <a:ext cx="70000" cy="1005784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42100" y="1556148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2100" y="1856148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A6F750"/>
                </a:solidFill>
                <a:latin typeface="Segoe UI Semibold"/>
              </a:rPr>
              <a:t>Ter 20/10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2100" y="2056148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DF8"/>
                </a:solidFill>
                <a:latin typeface="Segoe UI"/>
              </a:rPr>
              <a:t>Enforcement: OPA Gatekeeper e Admission Control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1700" y="2621932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61700" y="2711932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00" y="3011932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Sex 23/10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00" y="3211932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SBOM: Fundamentos, SPDX e CycloneDX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1900" y="2621932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351900" y="2711932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1900" y="3011932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Seg 26/10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51900" y="3211932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Análise de SBOM e Gestão de Dependências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92100" y="2621932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242100" y="2711932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2100" y="3011932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Ter 27/10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42100" y="3211932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Supply Chain Security: Ataques e Frameworks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1700" y="3777716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61700" y="3867716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00" y="4167716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Sex 30/10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700" y="4367716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Integridade e Procedência de Artefatos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01900" y="3777716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351900" y="3867716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51900" y="4167716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Ter 03/11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1900" y="4367716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Compliance Contínuo, Auditoria e Projeto Final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92100" y="3777716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242100" y="3867716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42100" y="4167716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Sex 06/11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2100" y="4367716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Concluir atividades e preencher rubricas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Enforcement: OPA Gatekeeper e Admission Control | Everton J Benedicto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715" b="715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4000" y="1016148"/>
            <a:ext cx="3000000" cy="20285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11700" y="766148"/>
            <a:ext cx="85206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A6F750"/>
                </a:solidFill>
                <a:latin typeface="Segoe UI Semibold"/>
              </a:rPr>
              <a:t>COMBINADO DA TURMA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1700" y="1016148"/>
            <a:ext cx="85206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600" b="0" i="0">
                <a:solidFill>
                  <a:srgbClr val="181C23"/>
                </a:solidFill>
                <a:latin typeface="Segoe UI Semibold"/>
              </a:rPr>
              <a:t>Por favor!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1700" y="1866148"/>
            <a:ext cx="3139028" cy="300000"/>
          </a:xfrm>
          <a:prstGeom prst="roundRect">
            <a:avLst>
              <a:gd name="adj" fmla="val 12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11700" y="1866148"/>
            <a:ext cx="3139028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>
                <a:solidFill>
                  <a:srgbClr val="FFFDF8"/>
                </a:solidFill>
                <a:latin typeface="Segoe UI Semibold"/>
              </a:rPr>
              <a:t>Bora participar!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1700" y="2246148"/>
            <a:ext cx="3139028" cy="2537352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1700" y="2446148"/>
            <a:ext cx="2839028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81C23"/>
                </a:solidFill>
                <a:latin typeface="Segoe UI Semibold"/>
              </a:rPr>
              <a:t>Câmera ligada</a:t>
            </a:r>
          </a:p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81C23"/>
                </a:solidFill>
                <a:latin typeface="Segoe UI Semibold"/>
              </a:rPr>
              <a:t>+ mão levantada</a:t>
            </a:r>
          </a:p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A6F750"/>
                </a:solidFill>
                <a:latin typeface="Segoe UI Semibold"/>
              </a:rPr>
              <a:t>= aula top!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00" y="4273500"/>
            <a:ext cx="2839028" cy="36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1700" y="4273500"/>
            <a:ext cx="2839028" cy="3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 i="0">
                <a:solidFill>
                  <a:srgbClr val="181C23"/>
                </a:solidFill>
                <a:latin typeface="Segoe UI Semibold"/>
              </a:rPr>
              <a:t>INTERVALO · 15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10728" y="1866148"/>
            <a:ext cx="5121572" cy="300000"/>
          </a:xfrm>
          <a:prstGeom prst="roundRect">
            <a:avLst>
              <a:gd name="adj" fmla="val 10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10728" y="1866148"/>
            <a:ext cx="5121572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>
                <a:solidFill>
                  <a:srgbClr val="FFFDF8"/>
                </a:solidFill>
                <a:latin typeface="Segoe UI Semibold"/>
              </a:rPr>
              <a:t>Combinados da nossa aula</a:t>
            </a:r>
          </a:p>
        </p:txBody>
      </p:sp>
      <p:sp>
        <p:nvSpPr>
          <p:cNvPr id="14" name="Oval 13"/>
          <p:cNvSpPr/>
          <p:nvPr/>
        </p:nvSpPr>
        <p:spPr>
          <a:xfrm>
            <a:off x="3710728" y="239788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710728" y="2397883"/>
            <a:ext cx="24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181C23"/>
                </a:solidFill>
                <a:latin typeface="Segoe UI Semibold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30728" y="2266148"/>
            <a:ext cx="4701572" cy="50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181C23"/>
                </a:solidFill>
                <a:latin typeface="Segoe UI"/>
              </a:rPr>
              <a:t>Câmeras ligadas.</a:t>
            </a:r>
          </a:p>
        </p:txBody>
      </p:sp>
      <p:sp>
        <p:nvSpPr>
          <p:cNvPr id="17" name="Oval 16"/>
          <p:cNvSpPr/>
          <p:nvPr/>
        </p:nvSpPr>
        <p:spPr>
          <a:xfrm>
            <a:off x="3710728" y="290135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710728" y="2901353"/>
            <a:ext cx="24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181C23"/>
                </a:solidFill>
                <a:latin typeface="Segoe UI Semibol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30728" y="2769618"/>
            <a:ext cx="4701572" cy="50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181C23"/>
                </a:solidFill>
                <a:latin typeface="Segoe UI"/>
              </a:rPr>
              <a:t>Entrem no horário: início e intervalo.</a:t>
            </a:r>
          </a:p>
        </p:txBody>
      </p:sp>
      <p:sp>
        <p:nvSpPr>
          <p:cNvPr id="20" name="Oval 19"/>
          <p:cNvSpPr/>
          <p:nvPr/>
        </p:nvSpPr>
        <p:spPr>
          <a:xfrm>
            <a:off x="3710728" y="340482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710728" y="3404823"/>
            <a:ext cx="24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181C23"/>
                </a:solidFill>
                <a:latin typeface="Segoe UI Semibol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30728" y="3273088"/>
            <a:ext cx="4701572" cy="50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181C23"/>
                </a:solidFill>
                <a:latin typeface="Segoe UI"/>
              </a:rPr>
              <a:t>Participem da aula.</a:t>
            </a:r>
          </a:p>
        </p:txBody>
      </p:sp>
      <p:sp>
        <p:nvSpPr>
          <p:cNvPr id="23" name="Oval 22"/>
          <p:cNvSpPr/>
          <p:nvPr/>
        </p:nvSpPr>
        <p:spPr>
          <a:xfrm>
            <a:off x="3710728" y="390829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710728" y="3908293"/>
            <a:ext cx="24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181C23"/>
                </a:solidFill>
                <a:latin typeface="Segoe UI Semibold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30728" y="3776558"/>
            <a:ext cx="4701572" cy="50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181C23"/>
                </a:solidFill>
                <a:latin typeface="Segoe UI"/>
              </a:rPr>
              <a:t>Tirem dúvidas.</a:t>
            </a:r>
          </a:p>
        </p:txBody>
      </p:sp>
      <p:sp>
        <p:nvSpPr>
          <p:cNvPr id="26" name="Oval 25"/>
          <p:cNvSpPr/>
          <p:nvPr/>
        </p:nvSpPr>
        <p:spPr>
          <a:xfrm>
            <a:off x="3710728" y="441176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710728" y="4411763"/>
            <a:ext cx="24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181C23"/>
                </a:solidFill>
                <a:latin typeface="Segoe UI Semibold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30728" y="4280028"/>
            <a:ext cx="4701572" cy="50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181C23"/>
                </a:solidFill>
                <a:latin typeface="Segoe UI"/>
              </a:rPr>
              <a:t>Levantem a mão para tirar dúvidas.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Enforcement: OPA Gatekeeper e Admission Control | Everton J Benedicto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715" b="715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PROBLEMA GERADOR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Política decorativa vs. enforcement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311700" y="1776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11700" y="177614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1700" y="1746148"/>
            <a:ext cx="5950000" cy="4968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Relatório: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política que só gera visibilidade — ninguém é obrigado a agir.</a:t>
            </a:r>
          </a:p>
        </p:txBody>
      </p:sp>
      <p:sp>
        <p:nvSpPr>
          <p:cNvPr id="9" name="Oval 8"/>
          <p:cNvSpPr/>
          <p:nvPr/>
        </p:nvSpPr>
        <p:spPr>
          <a:xfrm>
            <a:off x="311700" y="2272986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11700" y="2272986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1700" y="2242986"/>
            <a:ext cx="5950000" cy="4968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Enforcement: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política que muda o resultado da operação — aprova ou bloqueia de fato.</a:t>
            </a:r>
          </a:p>
        </p:txBody>
      </p:sp>
      <p:sp>
        <p:nvSpPr>
          <p:cNvPr id="12" name="Oval 11"/>
          <p:cNvSpPr/>
          <p:nvPr/>
        </p:nvSpPr>
        <p:spPr>
          <a:xfrm>
            <a:off x="311700" y="2769824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11700" y="2769824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700" y="2739824"/>
            <a:ext cx="5950000" cy="4968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Gate obrigatório: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build inseguro não progride, manifest é rejeitado — falha interrompe o pipeline.</a:t>
            </a:r>
          </a:p>
        </p:txBody>
      </p:sp>
      <p:sp>
        <p:nvSpPr>
          <p:cNvPr id="15" name="Oval 14"/>
          <p:cNvSpPr/>
          <p:nvPr/>
        </p:nvSpPr>
        <p:spPr>
          <a:xfrm>
            <a:off x="311700" y="3266662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11700" y="3266662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700" y="3236662"/>
            <a:ext cx="5950000" cy="4968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Exceções: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documentadas, aprovadas e auditáveis — nunca bypass silencioso.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1700" y="3883500"/>
            <a:ext cx="8520600" cy="900000"/>
          </a:xfrm>
          <a:prstGeom prst="roundRect">
            <a:avLst>
              <a:gd name="adj" fmla="val 6000"/>
            </a:avLst>
          </a:prstGeom>
          <a:solidFill>
            <a:srgbClr val="DAF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311700" y="3883500"/>
            <a:ext cx="70000" cy="90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11700" y="3973500"/>
            <a:ext cx="81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💡 ANALOGIA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1700" y="4223500"/>
            <a:ext cx="81206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1">
                <a:solidFill>
                  <a:srgbClr val="181C23"/>
                </a:solidFill>
                <a:latin typeface="Segoe UI"/>
              </a:rPr>
              <a:t>Um radar que só fotografa não reduz velocidade. O que muda o comportamento é a multa chegando em casa — e, melhor ainda, a lombada antes da escola.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Enforcement: OPA Gatekeeper e Admission Control | Everton J Benedicto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4</a:t>
            </a:r>
          </a:p>
        </p:txBody>
      </p:sp>
      <p:pic>
        <p:nvPicPr>
          <p:cNvPr id="25" name="Picture 24" descr="analogy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2300" y="1680000"/>
            <a:ext cx="1850000" cy="210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715" b="715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DOIS MUNDOS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Enforcement em CI/CD vs. em runtime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11700" y="1746148"/>
            <a:ext cx="3970300" cy="3037352"/>
          </a:xfrm>
          <a:prstGeom prst="roundRect">
            <a:avLst>
              <a:gd name="adj" fmla="val 4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11700" y="1746148"/>
            <a:ext cx="3970300" cy="320000"/>
          </a:xfrm>
          <a:prstGeom prst="roundRect">
            <a:avLst>
              <a:gd name="adj" fmla="val 4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1700" y="1746148"/>
            <a:ext cx="3670300" cy="3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FFFDF8"/>
                </a:solidFill>
                <a:latin typeface="Segoe UI Semibold"/>
              </a:rPr>
              <a:t>CI/CD — primeira linha</a:t>
            </a:r>
          </a:p>
        </p:txBody>
      </p:sp>
      <p:sp>
        <p:nvSpPr>
          <p:cNvPr id="9" name="Oval 8"/>
          <p:cNvSpPr/>
          <p:nvPr/>
        </p:nvSpPr>
        <p:spPr>
          <a:xfrm>
            <a:off x="461700" y="2445817"/>
            <a:ext cx="140000" cy="14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700" y="2206148"/>
            <a:ext cx="3400300" cy="619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Antes do merge ou deploy, ainda no código</a:t>
            </a:r>
          </a:p>
        </p:txBody>
      </p:sp>
      <p:sp>
        <p:nvSpPr>
          <p:cNvPr id="11" name="Oval 10"/>
          <p:cNvSpPr/>
          <p:nvPr/>
        </p:nvSpPr>
        <p:spPr>
          <a:xfrm>
            <a:off x="461700" y="3065155"/>
            <a:ext cx="140000" cy="14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700" y="2825486"/>
            <a:ext cx="3400300" cy="619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Conftest / OPA CLI, direto no pipeline</a:t>
            </a:r>
          </a:p>
        </p:txBody>
      </p:sp>
      <p:sp>
        <p:nvSpPr>
          <p:cNvPr id="13" name="Oval 12"/>
          <p:cNvSpPr/>
          <p:nvPr/>
        </p:nvSpPr>
        <p:spPr>
          <a:xfrm>
            <a:off x="461700" y="3684493"/>
            <a:ext cx="140000" cy="14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700" y="3444824"/>
            <a:ext cx="3400300" cy="619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Bloqueia PR, build ou deploy automaticamente</a:t>
            </a:r>
          </a:p>
        </p:txBody>
      </p:sp>
      <p:sp>
        <p:nvSpPr>
          <p:cNvPr id="15" name="Oval 14"/>
          <p:cNvSpPr/>
          <p:nvPr/>
        </p:nvSpPr>
        <p:spPr>
          <a:xfrm>
            <a:off x="461700" y="4303831"/>
            <a:ext cx="140000" cy="14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1700" y="4064162"/>
            <a:ext cx="3400300" cy="619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Dev corrige no mesmo PR, sem reabrir ciclo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62000" y="1746148"/>
            <a:ext cx="3970300" cy="3037352"/>
          </a:xfrm>
          <a:prstGeom prst="roundRect">
            <a:avLst>
              <a:gd name="adj" fmla="val 4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862000" y="1746148"/>
            <a:ext cx="3970300" cy="320000"/>
          </a:xfrm>
          <a:prstGeom prst="roundRect">
            <a:avLst>
              <a:gd name="adj" fmla="val 4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12000" y="1746148"/>
            <a:ext cx="3670300" cy="3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181C23"/>
                </a:solidFill>
                <a:latin typeface="Segoe UI Semibold"/>
              </a:rPr>
              <a:t>Runtime — última barreira</a:t>
            </a:r>
          </a:p>
        </p:txBody>
      </p:sp>
      <p:sp>
        <p:nvSpPr>
          <p:cNvPr id="20" name="Oval 19"/>
          <p:cNvSpPr/>
          <p:nvPr/>
        </p:nvSpPr>
        <p:spPr>
          <a:xfrm>
            <a:off x="5012000" y="2445817"/>
            <a:ext cx="140000" cy="1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282000" y="2206148"/>
            <a:ext cx="3400300" cy="619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Quando o recurso é criado ou alterado no cluster</a:t>
            </a:r>
          </a:p>
        </p:txBody>
      </p:sp>
      <p:sp>
        <p:nvSpPr>
          <p:cNvPr id="22" name="Oval 21"/>
          <p:cNvSpPr/>
          <p:nvPr/>
        </p:nvSpPr>
        <p:spPr>
          <a:xfrm>
            <a:off x="5012000" y="3065155"/>
            <a:ext cx="140000" cy="1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82000" y="2825486"/>
            <a:ext cx="3400300" cy="619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OPA Gatekeeper / Kyverno, admission controller</a:t>
            </a:r>
          </a:p>
        </p:txBody>
      </p:sp>
      <p:sp>
        <p:nvSpPr>
          <p:cNvPr id="24" name="Oval 23"/>
          <p:cNvSpPr/>
          <p:nvPr/>
        </p:nvSpPr>
        <p:spPr>
          <a:xfrm>
            <a:off x="5012000" y="3684493"/>
            <a:ext cx="140000" cy="1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282000" y="3444824"/>
            <a:ext cx="3400300" cy="619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Bloqueia criação ou atualização no cluster</a:t>
            </a:r>
          </a:p>
        </p:txBody>
      </p:sp>
      <p:sp>
        <p:nvSpPr>
          <p:cNvPr id="26" name="Oval 25"/>
          <p:cNvSpPr/>
          <p:nvPr/>
        </p:nvSpPr>
        <p:spPr>
          <a:xfrm>
            <a:off x="5012000" y="4303831"/>
            <a:ext cx="140000" cy="1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282000" y="4064162"/>
            <a:ext cx="3400300" cy="619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Protege contra bypass, mesmo fora do CI/CD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Enforcement: OPA Gatekeeper e Admission Control | Everton J Benedicto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5</a:t>
            </a:r>
          </a:p>
        </p:txBody>
      </p:sp>
      <p:pic>
        <p:nvPicPr>
          <p:cNvPr id="31" name="Picture 30" descr="connector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1251" y="2468436"/>
            <a:ext cx="541498" cy="195283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715" b="715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ADMISSION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PT" sz="2600" b="0" i="0">
                <a:solidFill>
                  <a:srgbClr val="181C23"/>
                </a:solidFill>
                <a:latin typeface="Segoe UI Semibold"/>
              </a:rPr>
              <a:t>Do kubectl apply ao etcd: controles de admissão</a:t>
            </a:r>
            <a:endParaRPr sz="2600" b="0" i="0">
              <a:solidFill>
                <a:srgbClr val="181C23"/>
              </a:solidFill>
              <a:latin typeface="Segoe UI Semibold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Enforcement: OPA Gatekeeper e Admission Control | Everton J Benedicto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6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10896" y="1847088"/>
            <a:ext cx="1938528" cy="521207"/>
          </a:xfrm>
          <a:prstGeom prst="roundRect">
            <a:avLst>
              <a:gd name="adj" fmla="val 8000"/>
            </a:avLst>
          </a:prstGeom>
          <a:solidFill>
            <a:srgbClr val="23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>
            <a:spLocks/>
          </p:cNvSpPr>
          <p:nvPr/>
        </p:nvSpPr>
        <p:spPr>
          <a:xfrm>
            <a:off x="411480" y="1947672"/>
            <a:ext cx="274320" cy="274320"/>
          </a:xfrm>
          <a:prstGeom prst="ellipse">
            <a:avLst/>
          </a:prstGeom>
          <a:solidFill>
            <a:srgbClr val="A6F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pt-PT" sz="1100" b="1">
                <a:solidFill>
                  <a:srgbClr val="181C23"/>
                </a:solidFill>
                <a:latin typeface="Segoe UI Semibold"/>
              </a:rPr>
              <a:t>1</a:t>
            </a:r>
          </a:p>
        </p:txBody>
      </p:sp>
      <p:sp>
        <p:nvSpPr>
          <p:cNvPr id="34" name="TextBox 33"/>
          <p:cNvSpPr txBox="1">
            <a:spLocks/>
          </p:cNvSpPr>
          <p:nvPr/>
        </p:nvSpPr>
        <p:spPr>
          <a:xfrm>
            <a:off x="758952" y="1911095"/>
            <a:ext cx="1408176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PT" sz="1150" b="1">
                <a:solidFill>
                  <a:srgbClr val="FFFDF8"/>
                </a:solidFill>
                <a:latin typeface="Segoe UI Semibold"/>
              </a:rPr>
              <a:t>kubectl apply</a:t>
            </a:r>
          </a:p>
        </p:txBody>
      </p:sp>
      <p:sp>
        <p:nvSpPr>
          <p:cNvPr id="35" name="Step 1 detail"/>
          <p:cNvSpPr txBox="1"/>
          <p:nvPr/>
        </p:nvSpPr>
        <p:spPr>
          <a:xfrm>
            <a:off x="310896" y="2450592"/>
            <a:ext cx="1938528" cy="146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PT" sz="950" b="0">
                <a:solidFill>
                  <a:srgbClr val="6A707D"/>
                </a:solidFill>
                <a:latin typeface="Segoe UI"/>
              </a:rPr>
              <a:t>Usuário envia o manifest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523744" y="1847088"/>
            <a:ext cx="1938528" cy="521207"/>
          </a:xfrm>
          <a:prstGeom prst="roundRect">
            <a:avLst>
              <a:gd name="adj" fmla="val 8000"/>
            </a:avLst>
          </a:prstGeom>
          <a:solidFill>
            <a:srgbClr val="181C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37" name="Oval 36"/>
          <p:cNvSpPr>
            <a:spLocks/>
          </p:cNvSpPr>
          <p:nvPr/>
        </p:nvSpPr>
        <p:spPr>
          <a:xfrm>
            <a:off x="2624327" y="1947672"/>
            <a:ext cx="274320" cy="274320"/>
          </a:xfrm>
          <a:prstGeom prst="ellipse">
            <a:avLst/>
          </a:prstGeom>
          <a:solidFill>
            <a:srgbClr val="A6F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pt-PT" sz="1100" b="1">
                <a:solidFill>
                  <a:srgbClr val="181C23"/>
                </a:solidFill>
                <a:latin typeface="Segoe UI Semibold"/>
              </a:rPr>
              <a:t>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71800" y="2005489"/>
            <a:ext cx="1408176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PT" sz="1150" b="1">
                <a:solidFill>
                  <a:srgbClr val="FFFDF8"/>
                </a:solidFill>
                <a:latin typeface="Segoe UI Semibold"/>
              </a:rPr>
              <a:t>API Server</a:t>
            </a:r>
          </a:p>
        </p:txBody>
      </p:sp>
      <p:sp>
        <p:nvSpPr>
          <p:cNvPr id="39" name="Step 2 detail"/>
          <p:cNvSpPr txBox="1">
            <a:spLocks/>
          </p:cNvSpPr>
          <p:nvPr/>
        </p:nvSpPr>
        <p:spPr>
          <a:xfrm>
            <a:off x="2523744" y="2450592"/>
            <a:ext cx="1938528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PT" sz="950" b="0">
                <a:solidFill>
                  <a:srgbClr val="6A707D"/>
                </a:solidFill>
                <a:latin typeface="Segoe UI"/>
              </a:rPr>
              <a:t>Autentica, autoriza e valida sintaxe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736592" y="1847088"/>
            <a:ext cx="1938528" cy="521207"/>
          </a:xfrm>
          <a:prstGeom prst="roundRect">
            <a:avLst>
              <a:gd name="adj" fmla="val 8000"/>
            </a:avLst>
          </a:prstGeom>
          <a:solidFill>
            <a:srgbClr val="23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41" name="Oval 40"/>
          <p:cNvSpPr>
            <a:spLocks/>
          </p:cNvSpPr>
          <p:nvPr/>
        </p:nvSpPr>
        <p:spPr>
          <a:xfrm>
            <a:off x="4837176" y="1947672"/>
            <a:ext cx="274320" cy="274320"/>
          </a:xfrm>
          <a:prstGeom prst="ellipse">
            <a:avLst/>
          </a:prstGeom>
          <a:solidFill>
            <a:srgbClr val="A6F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pt-PT" sz="1100" b="1">
                <a:solidFill>
                  <a:srgbClr val="181C23"/>
                </a:solidFill>
                <a:latin typeface="Segoe UI Semibold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84648" y="1911095"/>
            <a:ext cx="1408176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PT" sz="1150" b="1">
                <a:solidFill>
                  <a:srgbClr val="FFFDF8"/>
                </a:solidFill>
                <a:latin typeface="Segoe UI Semibold"/>
              </a:rPr>
              <a:t>Webhook Gatekeeper</a:t>
            </a:r>
          </a:p>
        </p:txBody>
      </p:sp>
      <p:sp>
        <p:nvSpPr>
          <p:cNvPr id="43" name="Step 3 detail"/>
          <p:cNvSpPr txBox="1"/>
          <p:nvPr/>
        </p:nvSpPr>
        <p:spPr>
          <a:xfrm>
            <a:off x="4736592" y="2450592"/>
            <a:ext cx="1938528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A707D"/>
                </a:solidFill>
                <a:latin typeface="Segoe UI"/>
              </a:rPr>
              <a:t>Avalia todas as Constraints aplicáveis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949440" y="1847088"/>
            <a:ext cx="1938528" cy="521207"/>
          </a:xfrm>
          <a:prstGeom prst="roundRect">
            <a:avLst>
              <a:gd name="adj" fmla="val 8000"/>
            </a:avLst>
          </a:prstGeom>
          <a:solidFill>
            <a:srgbClr val="181C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7050024" y="1947672"/>
            <a:ext cx="274320" cy="274320"/>
          </a:xfrm>
          <a:prstGeom prst="ellipse">
            <a:avLst/>
          </a:prstGeom>
          <a:solidFill>
            <a:srgbClr val="A6F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181C23"/>
                </a:solidFill>
                <a:latin typeface="Segoe UI Semibold"/>
              </a:rP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97496" y="1911095"/>
            <a:ext cx="1408176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DF8"/>
                </a:solidFill>
                <a:latin typeface="Segoe UI Semibold"/>
              </a:rPr>
              <a:t>Admitido / Negado</a:t>
            </a:r>
          </a:p>
        </p:txBody>
      </p:sp>
      <p:sp>
        <p:nvSpPr>
          <p:cNvPr id="47" name="Step 4 detail"/>
          <p:cNvSpPr txBox="1"/>
          <p:nvPr/>
        </p:nvSpPr>
        <p:spPr>
          <a:xfrm>
            <a:off x="6949440" y="2450592"/>
            <a:ext cx="1938528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A707D"/>
                </a:solidFill>
                <a:latin typeface="Segoe UI"/>
              </a:rPr>
              <a:t>deny rejeita; permitido persiste no etcd</a:t>
            </a:r>
          </a:p>
        </p:txBody>
      </p:sp>
      <p:sp>
        <p:nvSpPr>
          <p:cNvPr id="48" name="Right Arrow 47"/>
          <p:cNvSpPr/>
          <p:nvPr/>
        </p:nvSpPr>
        <p:spPr>
          <a:xfrm>
            <a:off x="2295144" y="2011680"/>
            <a:ext cx="164592" cy="164592"/>
          </a:xfrm>
          <a:prstGeom prst="rightArrow">
            <a:avLst/>
          </a:prstGeom>
          <a:solidFill>
            <a:srgbClr val="A6F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ight Arrow 48"/>
          <p:cNvSpPr/>
          <p:nvPr/>
        </p:nvSpPr>
        <p:spPr>
          <a:xfrm>
            <a:off x="4507992" y="2011680"/>
            <a:ext cx="164592" cy="164592"/>
          </a:xfrm>
          <a:prstGeom prst="rightArrow">
            <a:avLst/>
          </a:prstGeom>
          <a:solidFill>
            <a:srgbClr val="A6F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ight Arrow 49"/>
          <p:cNvSpPr/>
          <p:nvPr/>
        </p:nvSpPr>
        <p:spPr>
          <a:xfrm>
            <a:off x="6720840" y="2011680"/>
            <a:ext cx="164592" cy="164592"/>
          </a:xfrm>
          <a:prstGeom prst="rightArrow">
            <a:avLst/>
          </a:prstGeom>
          <a:solidFill>
            <a:srgbClr val="A6F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" y="3026664"/>
            <a:ext cx="4279392" cy="1594445"/>
          </a:xfrm>
          <a:prstGeom prst="rect">
            <a:avLst/>
          </a:prstGeom>
          <a:ln w="9525">
            <a:solidFill>
              <a:srgbClr val="ECEDF3"/>
            </a:solidFill>
          </a:ln>
        </p:spPr>
      </p:pic>
      <p:sp>
        <p:nvSpPr>
          <p:cNvPr id="52" name="Diagram caption"/>
          <p:cNvSpPr txBox="1"/>
          <p:nvPr/>
        </p:nvSpPr>
        <p:spPr>
          <a:xfrm>
            <a:off x="310896" y="4645152"/>
            <a:ext cx="427939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A707D"/>
                </a:solidFill>
                <a:latin typeface="Segoe UI"/>
              </a:rPr>
              <a:t>Fluxo da Kubernetes API e seus admission webhooks.</a:t>
            </a:r>
          </a:p>
        </p:txBody>
      </p:sp>
      <p:sp>
        <p:nvSpPr>
          <p:cNvPr id="53" name="Oval 52"/>
          <p:cNvSpPr/>
          <p:nvPr/>
        </p:nvSpPr>
        <p:spPr>
          <a:xfrm>
            <a:off x="4791456" y="3026664"/>
            <a:ext cx="265176" cy="265176"/>
          </a:xfrm>
          <a:prstGeom prst="ellipse">
            <a:avLst/>
          </a:prstGeom>
          <a:solidFill>
            <a:srgbClr val="A6F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181C23"/>
                </a:solidFill>
                <a:latin typeface="Segoe UI Semibold"/>
              </a:rPr>
              <a:t>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148072" y="3017520"/>
            <a:ext cx="175564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371FF"/>
                </a:solidFill>
                <a:latin typeface="Segoe UI Semibold"/>
              </a:rPr>
              <a:t>Mutating admission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91456" y="3401568"/>
            <a:ext cx="2048256" cy="12252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A707D"/>
                </a:solidFill>
                <a:latin typeface="Segoe UI"/>
              </a:rPr>
              <a:t>Ocorre primeiro e pode alterar o manifesto — por exemplo, adicionando labels ou tolerations.</a:t>
            </a:r>
          </a:p>
        </p:txBody>
      </p:sp>
      <p:sp>
        <p:nvSpPr>
          <p:cNvPr id="56" name="Oval 55"/>
          <p:cNvSpPr/>
          <p:nvPr/>
        </p:nvSpPr>
        <p:spPr>
          <a:xfrm>
            <a:off x="6995160" y="3026664"/>
            <a:ext cx="265176" cy="265176"/>
          </a:xfrm>
          <a:prstGeom prst="ellipse">
            <a:avLst/>
          </a:prstGeom>
          <a:solidFill>
            <a:srgbClr val="A6F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181C23"/>
                </a:solidFill>
                <a:latin typeface="Segoe UI Semibold"/>
              </a:rPr>
              <a:t>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51776" y="3017520"/>
            <a:ext cx="175564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371FF"/>
                </a:solidFill>
                <a:latin typeface="Segoe UI Semibold"/>
              </a:rPr>
              <a:t>Validating admission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95160" y="3401568"/>
            <a:ext cx="2048256" cy="12252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A707D"/>
                </a:solidFill>
                <a:latin typeface="Segoe UI"/>
              </a:rPr>
              <a:t>Após validar o esquema, aplica segurança e conformidade. Violações, como executar como root, são rejeitadas antes do etcd.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715" b="715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O MOTOR POR TRÁS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3847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00" b="0" i="0" dirty="0">
                <a:solidFill>
                  <a:srgbClr val="181C23"/>
                </a:solidFill>
                <a:latin typeface="Segoe UI Semibold"/>
              </a:rPr>
              <a:t>Gatekeeper = OPA</a:t>
            </a:r>
            <a:r>
              <a:rPr lang="pt-PT" sz="2500" b="0" i="0" dirty="0">
                <a:solidFill>
                  <a:srgbClr val="181C23"/>
                </a:solidFill>
                <a:latin typeface="Segoe UI Semibold"/>
              </a:rPr>
              <a:t> (Open </a:t>
            </a:r>
            <a:r>
              <a:rPr lang="pt-PT" sz="2500" b="0" i="0" dirty="0" err="1">
                <a:solidFill>
                  <a:srgbClr val="181C23"/>
                </a:solidFill>
                <a:latin typeface="Segoe UI Semibold"/>
              </a:rPr>
              <a:t>Policy</a:t>
            </a:r>
            <a:r>
              <a:rPr lang="pt-PT" sz="2500" b="0" i="0" dirty="0">
                <a:solidFill>
                  <a:srgbClr val="181C23"/>
                </a:solidFill>
                <a:latin typeface="Segoe UI Semibold"/>
              </a:rPr>
              <a:t> </a:t>
            </a:r>
            <a:r>
              <a:rPr lang="pt-PT" sz="2500" b="0" i="0" dirty="0" err="1">
                <a:solidFill>
                  <a:srgbClr val="181C23"/>
                </a:solidFill>
                <a:latin typeface="Segoe UI Semibold"/>
              </a:rPr>
              <a:t>Agent</a:t>
            </a:r>
            <a:r>
              <a:rPr lang="pt-PT" sz="2500" b="0" i="0" dirty="0">
                <a:solidFill>
                  <a:srgbClr val="181C23"/>
                </a:solidFill>
                <a:latin typeface="Segoe UI Semibold"/>
              </a:rPr>
              <a:t>)</a:t>
            </a:r>
            <a:r>
              <a:rPr sz="2500" b="0" i="0" dirty="0">
                <a:solidFill>
                  <a:srgbClr val="181C23"/>
                </a:solidFill>
                <a:latin typeface="Segoe UI Semibold"/>
              </a:rPr>
              <a:t> </a:t>
            </a:r>
            <a:r>
              <a:rPr sz="2500" b="0" i="0" dirty="0" err="1">
                <a:solidFill>
                  <a:srgbClr val="181C23"/>
                </a:solidFill>
                <a:latin typeface="Segoe UI Semibold"/>
              </a:rPr>
              <a:t>dentro</a:t>
            </a:r>
            <a:r>
              <a:rPr sz="2500" b="0" i="0" dirty="0">
                <a:solidFill>
                  <a:srgbClr val="181C23"/>
                </a:solidFill>
                <a:latin typeface="Segoe UI Semibold"/>
              </a:rPr>
              <a:t> do cluster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51700" y="2287832"/>
            <a:ext cx="4394712" cy="1693983"/>
          </a:xfrm>
          <a:prstGeom prst="roundRect">
            <a:avLst>
              <a:gd name="adj" fmla="val 4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desacoplamento-op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700" y="2347832"/>
            <a:ext cx="4274712" cy="157398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11700" y="4553500"/>
            <a:ext cx="4274712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1">
                <a:solidFill>
                  <a:srgbClr val="6A707D"/>
                </a:solidFill>
                <a:latin typeface="Segoe UI"/>
              </a:rPr>
              <a:t>Fonte: Material do aluno (figura criada por IA)</a:t>
            </a:r>
          </a:p>
        </p:txBody>
      </p:sp>
      <p:sp>
        <p:nvSpPr>
          <p:cNvPr id="9" name="Oval 8"/>
          <p:cNvSpPr/>
          <p:nvPr/>
        </p:nvSpPr>
        <p:spPr>
          <a:xfrm>
            <a:off x="4886412" y="176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6412" y="176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181C23"/>
                </a:solidFill>
                <a:latin typeface="Segoe UI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6412" y="1746148"/>
            <a:ext cx="3525888" cy="6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Mesmo OPA: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input agora é o AdmissionReview do Kubernetes</a:t>
            </a:r>
          </a:p>
        </p:txBody>
      </p:sp>
      <p:sp>
        <p:nvSpPr>
          <p:cNvPr id="12" name="Oval 11"/>
          <p:cNvSpPr/>
          <p:nvPr/>
        </p:nvSpPr>
        <p:spPr>
          <a:xfrm>
            <a:off x="4886412" y="240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86412" y="240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181C23"/>
                </a:solidFill>
                <a:latin typeface="Segoe UI Semibol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6412" y="2503464"/>
            <a:ext cx="3525888" cy="40536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 dirty="0">
                <a:solidFill>
                  <a:srgbClr val="181C23"/>
                </a:solidFill>
                <a:latin typeface="Segoe UI Semibold"/>
              </a:rPr>
              <a:t>CRDs</a:t>
            </a:r>
            <a:r>
              <a:rPr lang="pt-PT" sz="1300" b="0" i="0" dirty="0">
                <a:solidFill>
                  <a:srgbClr val="181C23"/>
                </a:solidFill>
                <a:latin typeface="Segoe UI Semibold"/>
              </a:rPr>
              <a:t> (</a:t>
            </a:r>
            <a:r>
              <a:rPr lang="pt-PT" sz="1300" b="0" i="0" dirty="0" err="1">
                <a:solidFill>
                  <a:srgbClr val="181C23"/>
                </a:solidFill>
                <a:latin typeface="Segoe UI Semibold"/>
              </a:rPr>
              <a:t>Custom</a:t>
            </a:r>
            <a:r>
              <a:rPr lang="pt-PT" sz="1300" b="0" i="0" dirty="0">
                <a:solidFill>
                  <a:srgbClr val="181C23"/>
                </a:solidFill>
                <a:latin typeface="Segoe UI Semibold"/>
              </a:rPr>
              <a:t> </a:t>
            </a:r>
            <a:r>
              <a:rPr lang="pt-PT" sz="1300" b="0" i="0" dirty="0" err="1">
                <a:solidFill>
                  <a:srgbClr val="181C23"/>
                </a:solidFill>
                <a:latin typeface="Segoe UI Semibold"/>
              </a:rPr>
              <a:t>Resource</a:t>
            </a:r>
            <a:r>
              <a:rPr lang="pt-PT" sz="1300" b="0" i="0" dirty="0">
                <a:solidFill>
                  <a:srgbClr val="181C23"/>
                </a:solidFill>
                <a:latin typeface="Segoe UI Semibold"/>
              </a:rPr>
              <a:t> </a:t>
            </a:r>
            <a:r>
              <a:rPr lang="pt-PT" sz="1300" b="0" i="0" dirty="0" err="1">
                <a:solidFill>
                  <a:srgbClr val="181C23"/>
                </a:solidFill>
                <a:latin typeface="Segoe UI Semibold"/>
              </a:rPr>
              <a:t>Definitions</a:t>
            </a:r>
            <a:r>
              <a:rPr lang="pt-PT" sz="1300" b="0" i="0" dirty="0">
                <a:solidFill>
                  <a:srgbClr val="181C23"/>
                </a:solidFill>
                <a:latin typeface="Segoe UI Semibold"/>
              </a:rPr>
              <a:t>)</a:t>
            </a:r>
            <a:r>
              <a:rPr sz="1300" b="0" i="0" dirty="0">
                <a:solidFill>
                  <a:srgbClr val="181C23"/>
                </a:solidFill>
                <a:latin typeface="Segoe UI Semibold"/>
              </a:rPr>
              <a:t>: </a:t>
            </a:r>
            <a:r>
              <a:rPr sz="1300" b="0" i="0" dirty="0" err="1">
                <a:solidFill>
                  <a:srgbClr val="6A707D"/>
                </a:solidFill>
                <a:latin typeface="Segoe UI"/>
              </a:rPr>
              <a:t>políticas</a:t>
            </a:r>
            <a:r>
              <a:rPr sz="1300" b="0" i="0" dirty="0">
                <a:solidFill>
                  <a:srgbClr val="6A707D"/>
                </a:solidFill>
                <a:latin typeface="Segoe UI"/>
              </a:rPr>
              <a:t> </a:t>
            </a:r>
            <a:r>
              <a:rPr sz="1300" b="0" i="0" dirty="0" err="1">
                <a:solidFill>
                  <a:srgbClr val="6A707D"/>
                </a:solidFill>
                <a:latin typeface="Segoe UI"/>
              </a:rPr>
              <a:t>viram</a:t>
            </a:r>
            <a:r>
              <a:rPr sz="1300" b="0" i="0" dirty="0">
                <a:solidFill>
                  <a:srgbClr val="6A707D"/>
                </a:solidFill>
                <a:latin typeface="Segoe UI"/>
              </a:rPr>
              <a:t> </a:t>
            </a:r>
            <a:r>
              <a:rPr sz="1300" b="0" i="0" dirty="0" err="1">
                <a:solidFill>
                  <a:srgbClr val="6A707D"/>
                </a:solidFill>
                <a:latin typeface="Segoe UI"/>
              </a:rPr>
              <a:t>recursos</a:t>
            </a:r>
            <a:r>
              <a:rPr sz="1300" b="0" i="0" dirty="0">
                <a:solidFill>
                  <a:srgbClr val="6A707D"/>
                </a:solidFill>
                <a:latin typeface="Segoe UI"/>
              </a:rPr>
              <a:t> </a:t>
            </a:r>
            <a:r>
              <a:rPr sz="1300" b="0" i="0" dirty="0" err="1">
                <a:solidFill>
                  <a:srgbClr val="6A707D"/>
                </a:solidFill>
                <a:latin typeface="Segoe UI"/>
              </a:rPr>
              <a:t>versionáveis</a:t>
            </a:r>
            <a:r>
              <a:rPr sz="1300" b="0" i="0" dirty="0">
                <a:solidFill>
                  <a:srgbClr val="6A707D"/>
                </a:solidFill>
                <a:latin typeface="Segoe UI"/>
              </a:rPr>
              <a:t> do cluster</a:t>
            </a:r>
          </a:p>
        </p:txBody>
      </p:sp>
      <p:sp>
        <p:nvSpPr>
          <p:cNvPr id="15" name="Oval 14"/>
          <p:cNvSpPr/>
          <p:nvPr/>
        </p:nvSpPr>
        <p:spPr>
          <a:xfrm>
            <a:off x="4886412" y="304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86412" y="304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181C23"/>
                </a:solidFill>
                <a:latin typeface="Segoe UI Semi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6412" y="3026148"/>
            <a:ext cx="3525888" cy="6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ConstraintTemplate: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define a política Rego e seus parâmetros</a:t>
            </a:r>
          </a:p>
        </p:txBody>
      </p:sp>
      <p:sp>
        <p:nvSpPr>
          <p:cNvPr id="18" name="Oval 17"/>
          <p:cNvSpPr/>
          <p:nvPr/>
        </p:nvSpPr>
        <p:spPr>
          <a:xfrm>
            <a:off x="4886412" y="368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86412" y="368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181C23"/>
                </a:solidFill>
                <a:latin typeface="Segoe UI Semibold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6412" y="3666148"/>
            <a:ext cx="3525888" cy="6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Constraint: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instancia com escopo, parâmetros e ação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Enforcement: OPA Gatekeeper e Admission Control | Everton J Benedicto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715" b="715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CONSTRAINTTEMPLATE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 dirty="0">
                <a:solidFill>
                  <a:srgbClr val="181C23"/>
                </a:solidFill>
                <a:latin typeface="Segoe UI Semibold"/>
              </a:rPr>
              <a:t>Rego </a:t>
            </a:r>
            <a:r>
              <a:rPr sz="2600" b="0" i="0" dirty="0" err="1">
                <a:solidFill>
                  <a:srgbClr val="181C23"/>
                </a:solidFill>
                <a:latin typeface="Segoe UI Semibold"/>
              </a:rPr>
              <a:t>dentro</a:t>
            </a:r>
            <a:r>
              <a:rPr sz="2600" b="0" i="0" dirty="0">
                <a:solidFill>
                  <a:srgbClr val="181C23"/>
                </a:solidFill>
                <a:latin typeface="Segoe UI Semibold"/>
              </a:rPr>
              <a:t> de um CRD</a:t>
            </a:r>
            <a:r>
              <a:rPr lang="pt-PT" sz="2600" b="0" i="0" dirty="0">
                <a:solidFill>
                  <a:srgbClr val="181C23"/>
                </a:solidFill>
                <a:latin typeface="Segoe UI Semibold"/>
              </a:rPr>
              <a:t> (</a:t>
            </a:r>
            <a:r>
              <a:rPr lang="pt-PT" sz="2600" b="0" i="0" dirty="0" err="1">
                <a:solidFill>
                  <a:srgbClr val="181C23"/>
                </a:solidFill>
                <a:latin typeface="Segoe UI Semibold"/>
              </a:rPr>
              <a:t>Custom</a:t>
            </a:r>
            <a:r>
              <a:rPr lang="pt-PT" sz="2600" b="0" i="0" dirty="0">
                <a:solidFill>
                  <a:srgbClr val="181C23"/>
                </a:solidFill>
                <a:latin typeface="Segoe UI Semibold"/>
              </a:rPr>
              <a:t> </a:t>
            </a:r>
            <a:r>
              <a:rPr lang="pt-PT" sz="2600" b="0" i="0" dirty="0" err="1">
                <a:solidFill>
                  <a:srgbClr val="181C23"/>
                </a:solidFill>
                <a:latin typeface="Segoe UI Semibold"/>
              </a:rPr>
              <a:t>Resource</a:t>
            </a:r>
            <a:r>
              <a:rPr lang="pt-PT" sz="2600" b="0" i="0" dirty="0">
                <a:solidFill>
                  <a:srgbClr val="181C23"/>
                </a:solidFill>
                <a:latin typeface="Segoe UI Semibold"/>
              </a:rPr>
              <a:t> </a:t>
            </a:r>
            <a:r>
              <a:rPr lang="pt-PT" sz="2600" b="0" i="0" dirty="0" err="1">
                <a:solidFill>
                  <a:srgbClr val="181C23"/>
                </a:solidFill>
                <a:latin typeface="Segoe UI Semibold"/>
              </a:rPr>
              <a:t>Definitions</a:t>
            </a:r>
            <a:r>
              <a:rPr lang="pt-PT" sz="2600" b="0" i="0" dirty="0">
                <a:solidFill>
                  <a:srgbClr val="181C23"/>
                </a:solidFill>
                <a:latin typeface="Segoe UI Semibold"/>
              </a:rPr>
              <a:t>)</a:t>
            </a:r>
            <a:endParaRPr sz="2600" b="0" i="0" dirty="0">
              <a:solidFill>
                <a:srgbClr val="181C23"/>
              </a:solidFill>
              <a:latin typeface="Segoe UI Semibold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11700" y="1746148"/>
            <a:ext cx="85206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A707D"/>
                </a:solidFill>
                <a:latin typeface="Segoe UI"/>
              </a:rPr>
              <a:t>Define o tipo K8sPSPRunAsNonRoot e a regra violation: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1700" y="2126148"/>
            <a:ext cx="8520600" cy="2657352"/>
          </a:xfrm>
          <a:prstGeom prst="roundRect">
            <a:avLst>
              <a:gd name="adj" fmla="val 3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11700" y="2126148"/>
            <a:ext cx="8520600" cy="260000"/>
          </a:xfrm>
          <a:prstGeom prst="roundRect">
            <a:avLst>
              <a:gd name="adj" fmla="val 3000"/>
            </a:avLst>
          </a:prstGeom>
          <a:solidFill>
            <a:srgbClr val="2A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61700" y="2206148"/>
            <a:ext cx="100000" cy="100000"/>
          </a:xfrm>
          <a:prstGeom prst="ellipse">
            <a:avLst/>
          </a:prstGeom>
          <a:solidFill>
            <a:srgbClr val="FF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1700" y="2206148"/>
            <a:ext cx="100000" cy="10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61700" y="2206148"/>
            <a:ext cx="100000" cy="1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1700" y="2126148"/>
            <a:ext cx="85206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6A707D"/>
                </a:solidFill>
                <a:latin typeface="Consolas"/>
              </a:rPr>
              <a:t>yaml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700" y="2486148"/>
            <a:ext cx="8120600" cy="219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 dirty="0" err="1">
                <a:solidFill>
                  <a:srgbClr val="A6F750"/>
                </a:solidFill>
                <a:latin typeface="Consolas"/>
              </a:rPr>
              <a:t>apiVersion</a:t>
            </a:r>
            <a:r>
              <a:rPr sz="900" b="0" i="0" dirty="0">
                <a:solidFill>
                  <a:srgbClr val="A6F750"/>
                </a:solidFill>
                <a:latin typeface="Consolas"/>
              </a:rPr>
              <a:t>: </a:t>
            </a:r>
            <a:r>
              <a:rPr sz="900" b="0" i="0" dirty="0">
                <a:solidFill>
                  <a:srgbClr val="00B0F0"/>
                </a:solidFill>
                <a:latin typeface="Consolas"/>
              </a:rPr>
              <a:t>templates.gatekeeper.sh/v1</a:t>
            </a:r>
          </a:p>
          <a:p>
            <a:pPr algn="l">
              <a:lnSpc>
                <a:spcPct val="112000"/>
              </a:lnSpc>
            </a:pPr>
            <a:r>
              <a:rPr sz="900" b="0" i="0" dirty="0">
                <a:solidFill>
                  <a:srgbClr val="A6F750"/>
                </a:solidFill>
                <a:latin typeface="Consolas"/>
              </a:rPr>
              <a:t>kind: </a:t>
            </a:r>
            <a:r>
              <a:rPr sz="900" b="0" i="0" dirty="0" err="1">
                <a:solidFill>
                  <a:srgbClr val="00B0F0"/>
                </a:solidFill>
                <a:latin typeface="Consolas"/>
              </a:rPr>
              <a:t>ConstraintTemplate</a:t>
            </a:r>
            <a:endParaRPr sz="900" b="0" i="0" dirty="0">
              <a:solidFill>
                <a:srgbClr val="00B0F0"/>
              </a:solidFill>
              <a:latin typeface="Consolas"/>
            </a:endParaRPr>
          </a:p>
          <a:p>
            <a:pPr algn="l">
              <a:lnSpc>
                <a:spcPct val="112000"/>
              </a:lnSpc>
            </a:pPr>
            <a:r>
              <a:rPr sz="900" b="0" i="0" dirty="0">
                <a:solidFill>
                  <a:srgbClr val="A6F750"/>
                </a:solidFill>
                <a:latin typeface="Consolas"/>
              </a:rPr>
              <a:t>metadata: { name: </a:t>
            </a:r>
            <a:r>
              <a:rPr sz="900" b="0" i="0" dirty="0">
                <a:solidFill>
                  <a:srgbClr val="00B0F0"/>
                </a:solidFill>
                <a:latin typeface="Consolas"/>
              </a:rPr>
              <a:t>k8spsprunasnonroot</a:t>
            </a:r>
            <a:r>
              <a:rPr sz="900" b="0" i="0" dirty="0">
                <a:solidFill>
                  <a:srgbClr val="A6F750"/>
                </a:solidFill>
                <a:latin typeface="Consolas"/>
              </a:rPr>
              <a:t> }</a:t>
            </a:r>
          </a:p>
          <a:p>
            <a:pPr algn="l">
              <a:lnSpc>
                <a:spcPct val="112000"/>
              </a:lnSpc>
            </a:pPr>
            <a:r>
              <a:rPr sz="900" b="0" i="0" dirty="0">
                <a:solidFill>
                  <a:srgbClr val="A6F750"/>
                </a:solidFill>
                <a:latin typeface="Consolas"/>
              </a:rPr>
              <a:t>spec:</a:t>
            </a:r>
          </a:p>
          <a:p>
            <a:pPr algn="l">
              <a:lnSpc>
                <a:spcPct val="112000"/>
              </a:lnSpc>
            </a:pPr>
            <a:r>
              <a:rPr sz="900" b="0" i="0" dirty="0">
                <a:solidFill>
                  <a:srgbClr val="A6F750"/>
                </a:solidFill>
                <a:latin typeface="Consolas"/>
              </a:rPr>
              <a:t>  </a:t>
            </a:r>
            <a:r>
              <a:rPr sz="900" b="0" i="0" dirty="0" err="1">
                <a:solidFill>
                  <a:srgbClr val="A6F750"/>
                </a:solidFill>
                <a:latin typeface="Consolas"/>
              </a:rPr>
              <a:t>crd</a:t>
            </a:r>
            <a:r>
              <a:rPr sz="900" b="0" i="0" dirty="0">
                <a:solidFill>
                  <a:srgbClr val="A6F750"/>
                </a:solidFill>
                <a:latin typeface="Consolas"/>
              </a:rPr>
              <a:t>: { spec: { names: { kind: </a:t>
            </a:r>
            <a:r>
              <a:rPr sz="900" b="0" i="0" dirty="0">
                <a:solidFill>
                  <a:srgbClr val="00B0F0"/>
                </a:solidFill>
                <a:latin typeface="Consolas"/>
              </a:rPr>
              <a:t>K8sPSPRunAsNonRoot</a:t>
            </a:r>
            <a:r>
              <a:rPr sz="900" b="0" i="0" dirty="0">
                <a:solidFill>
                  <a:srgbClr val="A6F750"/>
                </a:solidFill>
                <a:latin typeface="Consolas"/>
              </a:rPr>
              <a:t> } } }</a:t>
            </a:r>
          </a:p>
          <a:p>
            <a:pPr algn="l">
              <a:lnSpc>
                <a:spcPct val="112000"/>
              </a:lnSpc>
            </a:pPr>
            <a:r>
              <a:rPr sz="900" b="0" i="0" dirty="0">
                <a:solidFill>
                  <a:srgbClr val="A6F750"/>
                </a:solidFill>
                <a:latin typeface="Consolas"/>
              </a:rPr>
              <a:t>  targets:</a:t>
            </a:r>
          </a:p>
          <a:p>
            <a:pPr algn="l">
              <a:lnSpc>
                <a:spcPct val="112000"/>
              </a:lnSpc>
            </a:pPr>
            <a:r>
              <a:rPr sz="900" b="0" i="0" dirty="0">
                <a:solidFill>
                  <a:srgbClr val="A6F750"/>
                </a:solidFill>
                <a:latin typeface="Consolas"/>
              </a:rPr>
              <a:t>    - target: </a:t>
            </a:r>
            <a:r>
              <a:rPr sz="900" b="0" i="0" dirty="0">
                <a:solidFill>
                  <a:srgbClr val="00B0F0"/>
                </a:solidFill>
                <a:latin typeface="Consolas"/>
              </a:rPr>
              <a:t>admission.k8s.gatekeeper.sh</a:t>
            </a:r>
          </a:p>
          <a:p>
            <a:pPr algn="l">
              <a:lnSpc>
                <a:spcPct val="112000"/>
              </a:lnSpc>
            </a:pPr>
            <a:r>
              <a:rPr sz="900" b="0" i="0" dirty="0">
                <a:solidFill>
                  <a:srgbClr val="A6F750"/>
                </a:solidFill>
                <a:latin typeface="Consolas"/>
              </a:rPr>
              <a:t>      </a:t>
            </a:r>
            <a:r>
              <a:rPr sz="900" b="0" i="0" dirty="0" err="1">
                <a:solidFill>
                  <a:srgbClr val="A6F750"/>
                </a:solidFill>
                <a:latin typeface="Consolas"/>
              </a:rPr>
              <a:t>rego</a:t>
            </a:r>
            <a:r>
              <a:rPr sz="900" b="0" i="0" dirty="0">
                <a:solidFill>
                  <a:srgbClr val="A6F750"/>
                </a:solidFill>
                <a:latin typeface="Consolas"/>
              </a:rPr>
              <a:t>: |</a:t>
            </a:r>
          </a:p>
          <a:p>
            <a:pPr algn="l">
              <a:lnSpc>
                <a:spcPct val="112000"/>
              </a:lnSpc>
            </a:pPr>
            <a:r>
              <a:rPr sz="900" b="0" i="0" dirty="0">
                <a:solidFill>
                  <a:srgbClr val="A6F750"/>
                </a:solidFill>
                <a:latin typeface="Consolas"/>
              </a:rPr>
              <a:t>        </a:t>
            </a:r>
            <a:r>
              <a:rPr sz="900" b="0" i="0" dirty="0">
                <a:solidFill>
                  <a:srgbClr val="00B0F0"/>
                </a:solidFill>
                <a:latin typeface="Consolas"/>
              </a:rPr>
              <a:t>package k8spsprunasnonroot</a:t>
            </a:r>
          </a:p>
          <a:p>
            <a:pPr algn="l">
              <a:lnSpc>
                <a:spcPct val="112000"/>
              </a:lnSpc>
            </a:pPr>
            <a:r>
              <a:rPr sz="900" b="0" i="0" dirty="0">
                <a:solidFill>
                  <a:srgbClr val="00B0F0"/>
                </a:solidFill>
                <a:latin typeface="Consolas"/>
              </a:rPr>
              <a:t>        violation[{"msg": msg}] {</a:t>
            </a:r>
          </a:p>
          <a:p>
            <a:pPr algn="l">
              <a:lnSpc>
                <a:spcPct val="112000"/>
              </a:lnSpc>
            </a:pPr>
            <a:r>
              <a:rPr sz="900" b="0" i="0" dirty="0">
                <a:solidFill>
                  <a:srgbClr val="00B0F0"/>
                </a:solidFill>
                <a:latin typeface="Consolas"/>
              </a:rPr>
              <a:t>            c := </a:t>
            </a:r>
            <a:r>
              <a:rPr sz="900" b="0" i="0" dirty="0" err="1">
                <a:solidFill>
                  <a:srgbClr val="00B0F0"/>
                </a:solidFill>
                <a:latin typeface="Consolas"/>
              </a:rPr>
              <a:t>input.review.object.spec.containers</a:t>
            </a:r>
            <a:r>
              <a:rPr sz="900" b="0" i="0" dirty="0">
                <a:solidFill>
                  <a:srgbClr val="00B0F0"/>
                </a:solidFill>
                <a:latin typeface="Consolas"/>
              </a:rPr>
              <a:t>[_]</a:t>
            </a:r>
          </a:p>
          <a:p>
            <a:pPr algn="l">
              <a:lnSpc>
                <a:spcPct val="112000"/>
              </a:lnSpc>
            </a:pPr>
            <a:r>
              <a:rPr sz="900" b="0" i="0" dirty="0">
                <a:solidFill>
                  <a:srgbClr val="00B0F0"/>
                </a:solidFill>
                <a:latin typeface="Consolas"/>
              </a:rPr>
              <a:t>            not </a:t>
            </a:r>
            <a:r>
              <a:rPr sz="900" b="0" i="0" dirty="0" err="1">
                <a:solidFill>
                  <a:srgbClr val="00B0F0"/>
                </a:solidFill>
                <a:latin typeface="Consolas"/>
              </a:rPr>
              <a:t>c.securityContext.runAsNonRoot</a:t>
            </a:r>
            <a:endParaRPr sz="900" b="0" i="0" dirty="0">
              <a:solidFill>
                <a:srgbClr val="00B0F0"/>
              </a:solidFill>
              <a:latin typeface="Consolas"/>
            </a:endParaRPr>
          </a:p>
          <a:p>
            <a:pPr algn="l">
              <a:lnSpc>
                <a:spcPct val="112000"/>
              </a:lnSpc>
            </a:pPr>
            <a:r>
              <a:rPr sz="900" b="0" i="0" dirty="0">
                <a:solidFill>
                  <a:srgbClr val="00B0F0"/>
                </a:solidFill>
                <a:latin typeface="Consolas"/>
              </a:rPr>
              <a:t>            msg := </a:t>
            </a:r>
            <a:r>
              <a:rPr sz="900" b="0" i="0" dirty="0" err="1">
                <a:solidFill>
                  <a:srgbClr val="00B0F0"/>
                </a:solidFill>
                <a:latin typeface="Consolas"/>
              </a:rPr>
              <a:t>sprintf</a:t>
            </a:r>
            <a:r>
              <a:rPr sz="900" b="0" i="0" dirty="0">
                <a:solidFill>
                  <a:srgbClr val="00B0F0"/>
                </a:solidFill>
                <a:latin typeface="Consolas"/>
              </a:rPr>
              <a:t>("'%v' </a:t>
            </a:r>
            <a:r>
              <a:rPr sz="900" b="0" i="0" dirty="0" err="1">
                <a:solidFill>
                  <a:srgbClr val="00B0F0"/>
                </a:solidFill>
                <a:latin typeface="Consolas"/>
              </a:rPr>
              <a:t>deve</a:t>
            </a:r>
            <a:r>
              <a:rPr sz="900" b="0" i="0" dirty="0">
                <a:solidFill>
                  <a:srgbClr val="00B0F0"/>
                </a:solidFill>
                <a:latin typeface="Consolas"/>
              </a:rPr>
              <a:t> </a:t>
            </a:r>
            <a:r>
              <a:rPr sz="900" b="0" i="0" dirty="0" err="1">
                <a:solidFill>
                  <a:srgbClr val="00B0F0"/>
                </a:solidFill>
                <a:latin typeface="Consolas"/>
              </a:rPr>
              <a:t>declarar</a:t>
            </a:r>
            <a:r>
              <a:rPr sz="900" b="0" i="0" dirty="0">
                <a:solidFill>
                  <a:srgbClr val="00B0F0"/>
                </a:solidFill>
                <a:latin typeface="Consolas"/>
              </a:rPr>
              <a:t> </a:t>
            </a:r>
            <a:r>
              <a:rPr sz="900" b="0" i="0" dirty="0" err="1">
                <a:solidFill>
                  <a:srgbClr val="00B0F0"/>
                </a:solidFill>
                <a:latin typeface="Consolas"/>
              </a:rPr>
              <a:t>runAsNonRoot</a:t>
            </a:r>
            <a:r>
              <a:rPr sz="900" b="0" i="0" dirty="0">
                <a:solidFill>
                  <a:srgbClr val="00B0F0"/>
                </a:solidFill>
                <a:latin typeface="Consolas"/>
              </a:rPr>
              <a:t>.", [c.name])</a:t>
            </a:r>
          </a:p>
          <a:p>
            <a:pPr algn="l">
              <a:lnSpc>
                <a:spcPct val="112000"/>
              </a:lnSpc>
            </a:pPr>
            <a:r>
              <a:rPr sz="900" b="0" i="0" dirty="0">
                <a:solidFill>
                  <a:srgbClr val="00B0F0"/>
                </a:solidFill>
                <a:latin typeface="Consolas"/>
              </a:rPr>
              <a:t>        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Enforcement: OPA Gatekeeper e Admission Control | Everton J Benedicto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715" b="715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CONSTRAINT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Escopo, parâmetros e 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11700" y="1746148"/>
            <a:ext cx="85206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A707D"/>
                </a:solidFill>
                <a:latin typeface="Segoe UI"/>
              </a:rPr>
              <a:t>Aplica o template a Pods de produção e staging, bloqueando: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1700" y="2126148"/>
            <a:ext cx="8520600" cy="2657352"/>
          </a:xfrm>
          <a:prstGeom prst="roundRect">
            <a:avLst>
              <a:gd name="adj" fmla="val 3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11700" y="2126148"/>
            <a:ext cx="8520600" cy="260000"/>
          </a:xfrm>
          <a:prstGeom prst="roundRect">
            <a:avLst>
              <a:gd name="adj" fmla="val 3000"/>
            </a:avLst>
          </a:prstGeom>
          <a:solidFill>
            <a:srgbClr val="2A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61700" y="2206148"/>
            <a:ext cx="100000" cy="100000"/>
          </a:xfrm>
          <a:prstGeom prst="ellipse">
            <a:avLst/>
          </a:prstGeom>
          <a:solidFill>
            <a:srgbClr val="FF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1700" y="2206148"/>
            <a:ext cx="100000" cy="10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61700" y="2206148"/>
            <a:ext cx="100000" cy="1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1700" y="2126148"/>
            <a:ext cx="85206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6A707D"/>
                </a:solidFill>
                <a:latin typeface="Consolas"/>
              </a:rPr>
              <a:t>yaml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700" y="2486148"/>
            <a:ext cx="8120600" cy="20745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 dirty="0" err="1">
                <a:solidFill>
                  <a:srgbClr val="A6F750"/>
                </a:solidFill>
                <a:latin typeface="Consolas"/>
              </a:rPr>
              <a:t>apiVersion</a:t>
            </a:r>
            <a:r>
              <a:rPr sz="1100" b="0" i="0" dirty="0">
                <a:solidFill>
                  <a:srgbClr val="A6F750"/>
                </a:solidFill>
                <a:latin typeface="Consolas"/>
              </a:rPr>
              <a:t>: </a:t>
            </a:r>
            <a:r>
              <a:rPr sz="1100" b="0" i="0" dirty="0">
                <a:solidFill>
                  <a:srgbClr val="00B0F0"/>
                </a:solidFill>
                <a:latin typeface="Consolas"/>
              </a:rPr>
              <a:t>constraints.gatekeeper.sh/v1beta1</a:t>
            </a:r>
          </a:p>
          <a:p>
            <a:pPr algn="l">
              <a:lnSpc>
                <a:spcPct val="112000"/>
              </a:lnSpc>
            </a:pPr>
            <a:r>
              <a:rPr sz="1100" b="0" i="0" dirty="0">
                <a:solidFill>
                  <a:srgbClr val="A6F750"/>
                </a:solidFill>
                <a:latin typeface="Consolas"/>
              </a:rPr>
              <a:t>kind: </a:t>
            </a:r>
            <a:r>
              <a:rPr sz="1100" b="0" i="0" dirty="0">
                <a:solidFill>
                  <a:srgbClr val="00B0F0"/>
                </a:solidFill>
                <a:latin typeface="Consolas"/>
              </a:rPr>
              <a:t>K8sPSPRunAsNonRoot</a:t>
            </a:r>
          </a:p>
          <a:p>
            <a:pPr algn="l">
              <a:lnSpc>
                <a:spcPct val="112000"/>
              </a:lnSpc>
            </a:pPr>
            <a:r>
              <a:rPr sz="1100" b="0" i="0" dirty="0">
                <a:solidFill>
                  <a:srgbClr val="A6F750"/>
                </a:solidFill>
                <a:latin typeface="Consolas"/>
              </a:rPr>
              <a:t>metadata: { name: </a:t>
            </a:r>
            <a:r>
              <a:rPr sz="1100" b="0" i="0" dirty="0">
                <a:solidFill>
                  <a:srgbClr val="00B0F0"/>
                </a:solidFill>
                <a:latin typeface="Consolas"/>
              </a:rPr>
              <a:t>pods-must-run-as-non-root</a:t>
            </a:r>
            <a:r>
              <a:rPr sz="1100" b="0" i="0" dirty="0">
                <a:solidFill>
                  <a:srgbClr val="A6F750"/>
                </a:solidFill>
                <a:latin typeface="Consolas"/>
              </a:rPr>
              <a:t> }</a:t>
            </a:r>
          </a:p>
          <a:p>
            <a:pPr algn="l">
              <a:lnSpc>
                <a:spcPct val="112000"/>
              </a:lnSpc>
            </a:pPr>
            <a:r>
              <a:rPr sz="1100" b="0" i="0" dirty="0">
                <a:solidFill>
                  <a:srgbClr val="A6F750"/>
                </a:solidFill>
                <a:latin typeface="Consolas"/>
              </a:rPr>
              <a:t>spec:</a:t>
            </a:r>
          </a:p>
          <a:p>
            <a:pPr algn="l">
              <a:lnSpc>
                <a:spcPct val="112000"/>
              </a:lnSpc>
            </a:pPr>
            <a:r>
              <a:rPr sz="1100" b="0" i="0" dirty="0">
                <a:solidFill>
                  <a:srgbClr val="A6F750"/>
                </a:solidFill>
                <a:latin typeface="Consolas"/>
              </a:rPr>
              <a:t>  </a:t>
            </a:r>
            <a:r>
              <a:rPr sz="1100" b="0" i="0" dirty="0" err="1">
                <a:solidFill>
                  <a:srgbClr val="A6F750"/>
                </a:solidFill>
                <a:latin typeface="Consolas"/>
              </a:rPr>
              <a:t>enforcementAction</a:t>
            </a:r>
            <a:r>
              <a:rPr sz="1100" b="0" i="0" dirty="0">
                <a:solidFill>
                  <a:srgbClr val="A6F750"/>
                </a:solidFill>
                <a:latin typeface="Consolas"/>
              </a:rPr>
              <a:t>: </a:t>
            </a:r>
            <a:r>
              <a:rPr sz="1100" b="0" i="0" dirty="0">
                <a:solidFill>
                  <a:srgbClr val="00B0F0"/>
                </a:solidFill>
                <a:latin typeface="Consolas"/>
              </a:rPr>
              <a:t>deny</a:t>
            </a:r>
            <a:r>
              <a:rPr sz="1100" b="0" i="0" dirty="0">
                <a:solidFill>
                  <a:srgbClr val="A6F750"/>
                </a:solidFill>
                <a:latin typeface="Consolas"/>
              </a:rPr>
              <a:t>      # </a:t>
            </a:r>
            <a:r>
              <a:rPr sz="1100" b="0" i="0" dirty="0" err="1">
                <a:solidFill>
                  <a:srgbClr val="A6F750"/>
                </a:solidFill>
                <a:latin typeface="Consolas"/>
              </a:rPr>
              <a:t>dryrun</a:t>
            </a:r>
            <a:r>
              <a:rPr sz="1100" b="0" i="0" dirty="0">
                <a:solidFill>
                  <a:srgbClr val="A6F750"/>
                </a:solidFill>
                <a:latin typeface="Consolas"/>
              </a:rPr>
              <a:t> | warn | deny</a:t>
            </a:r>
          </a:p>
          <a:p>
            <a:pPr algn="l">
              <a:lnSpc>
                <a:spcPct val="112000"/>
              </a:lnSpc>
            </a:pPr>
            <a:r>
              <a:rPr sz="1100" b="0" i="0" dirty="0">
                <a:solidFill>
                  <a:srgbClr val="A6F750"/>
                </a:solidFill>
                <a:latin typeface="Consolas"/>
              </a:rPr>
              <a:t>  match:</a:t>
            </a:r>
          </a:p>
          <a:p>
            <a:pPr algn="l">
              <a:lnSpc>
                <a:spcPct val="112000"/>
              </a:lnSpc>
            </a:pPr>
            <a:r>
              <a:rPr sz="1100" b="0" i="0" dirty="0">
                <a:solidFill>
                  <a:srgbClr val="A6F750"/>
                </a:solidFill>
                <a:latin typeface="Consolas"/>
              </a:rPr>
              <a:t>    kinds: [{ </a:t>
            </a:r>
            <a:r>
              <a:rPr sz="1100" b="0" i="0" dirty="0" err="1">
                <a:solidFill>
                  <a:srgbClr val="A6F750"/>
                </a:solidFill>
                <a:latin typeface="Consolas"/>
              </a:rPr>
              <a:t>apiGroups</a:t>
            </a:r>
            <a:r>
              <a:rPr sz="1100" b="0" i="0" dirty="0">
                <a:solidFill>
                  <a:srgbClr val="A6F750"/>
                </a:solidFill>
                <a:latin typeface="Consolas"/>
              </a:rPr>
              <a:t>: </a:t>
            </a:r>
            <a:r>
              <a:rPr sz="1100" b="0" i="0" dirty="0">
                <a:solidFill>
                  <a:srgbClr val="00B0F0"/>
                </a:solidFill>
                <a:latin typeface="Consolas"/>
              </a:rPr>
              <a:t>[""]</a:t>
            </a:r>
            <a:r>
              <a:rPr sz="1100" b="0" i="0" dirty="0">
                <a:solidFill>
                  <a:srgbClr val="A6F750"/>
                </a:solidFill>
                <a:latin typeface="Consolas"/>
              </a:rPr>
              <a:t>, kinds: </a:t>
            </a:r>
            <a:r>
              <a:rPr sz="1100" b="0" i="0" dirty="0">
                <a:solidFill>
                  <a:srgbClr val="00B0F0"/>
                </a:solidFill>
                <a:latin typeface="Consolas"/>
              </a:rPr>
              <a:t>["Pod"] </a:t>
            </a:r>
            <a:r>
              <a:rPr sz="1100" b="0" i="0" dirty="0">
                <a:solidFill>
                  <a:srgbClr val="A6F750"/>
                </a:solidFill>
                <a:latin typeface="Consolas"/>
              </a:rPr>
              <a:t>}]</a:t>
            </a:r>
          </a:p>
          <a:p>
            <a:pPr algn="l">
              <a:lnSpc>
                <a:spcPct val="112000"/>
              </a:lnSpc>
            </a:pPr>
            <a:r>
              <a:rPr sz="1100" b="0" i="0" dirty="0">
                <a:solidFill>
                  <a:srgbClr val="A6F750"/>
                </a:solidFill>
                <a:latin typeface="Consolas"/>
              </a:rPr>
              <a:t>    namespaces: [production, staging]</a:t>
            </a:r>
          </a:p>
          <a:p>
            <a:pPr algn="l">
              <a:lnSpc>
                <a:spcPct val="112000"/>
              </a:lnSpc>
            </a:pPr>
            <a:r>
              <a:rPr sz="1100" b="0" i="0" dirty="0">
                <a:solidFill>
                  <a:srgbClr val="A6F750"/>
                </a:solidFill>
                <a:latin typeface="Consolas"/>
              </a:rPr>
              <a:t>    </a:t>
            </a:r>
            <a:r>
              <a:rPr sz="1100" b="0" i="0" dirty="0" err="1">
                <a:solidFill>
                  <a:srgbClr val="A6F750"/>
                </a:solidFill>
                <a:latin typeface="Consolas"/>
              </a:rPr>
              <a:t>excludedNamespaces</a:t>
            </a:r>
            <a:r>
              <a:rPr sz="1100" b="0" i="0" dirty="0">
                <a:solidFill>
                  <a:srgbClr val="A6F750"/>
                </a:solidFill>
                <a:latin typeface="Consolas"/>
              </a:rPr>
              <a:t>: </a:t>
            </a:r>
            <a:r>
              <a:rPr sz="1100" b="0" i="0" dirty="0">
                <a:solidFill>
                  <a:srgbClr val="00B0F0"/>
                </a:solidFill>
                <a:latin typeface="Consolas"/>
              </a:rPr>
              <a:t>[</a:t>
            </a:r>
            <a:r>
              <a:rPr sz="1100" b="0" i="0" dirty="0" err="1">
                <a:solidFill>
                  <a:srgbClr val="00B0F0"/>
                </a:solidFill>
                <a:latin typeface="Consolas"/>
              </a:rPr>
              <a:t>kube</a:t>
            </a:r>
            <a:r>
              <a:rPr sz="1100" b="0" i="0" dirty="0">
                <a:solidFill>
                  <a:srgbClr val="00B0F0"/>
                </a:solidFill>
                <a:latin typeface="Consolas"/>
              </a:rPr>
              <a:t>-system, gatekeeper-system]</a:t>
            </a:r>
          </a:p>
          <a:p>
            <a:pPr algn="l">
              <a:lnSpc>
                <a:spcPct val="112000"/>
              </a:lnSpc>
            </a:pPr>
            <a:r>
              <a:rPr sz="1100" b="0" i="0" dirty="0">
                <a:solidFill>
                  <a:srgbClr val="A6F750"/>
                </a:solidFill>
                <a:latin typeface="Consolas"/>
              </a:rPr>
              <a:t>  parameters:</a:t>
            </a:r>
          </a:p>
          <a:p>
            <a:pPr algn="l">
              <a:lnSpc>
                <a:spcPct val="112000"/>
              </a:lnSpc>
            </a:pPr>
            <a:r>
              <a:rPr sz="1100" b="0" i="0" dirty="0">
                <a:solidFill>
                  <a:srgbClr val="A6F750"/>
                </a:solidFill>
                <a:latin typeface="Consolas"/>
              </a:rPr>
              <a:t>    </a:t>
            </a:r>
            <a:r>
              <a:rPr sz="1100" b="0" i="0" dirty="0" err="1">
                <a:solidFill>
                  <a:srgbClr val="A6F750"/>
                </a:solidFill>
                <a:latin typeface="Consolas"/>
              </a:rPr>
              <a:t>exemptImages</a:t>
            </a:r>
            <a:r>
              <a:rPr sz="1100" b="0" i="0" dirty="0">
                <a:solidFill>
                  <a:srgbClr val="A6F750"/>
                </a:solidFill>
                <a:latin typeface="Consolas"/>
              </a:rPr>
              <a:t>: </a:t>
            </a:r>
            <a:r>
              <a:rPr sz="1100" b="0" i="0" dirty="0">
                <a:solidFill>
                  <a:srgbClr val="00B0F0"/>
                </a:solidFill>
                <a:latin typeface="Consolas"/>
              </a:rPr>
              <a:t>["gcr.io/google-containers/pause"]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Enforcement: OPA Gatekeeper e Admission Control | Everton J Benedicto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715" b="715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ROLLOUT SEGURO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dryrun → warn → deny → audit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11700" y="1926148"/>
            <a:ext cx="1800150" cy="760000"/>
          </a:xfrm>
          <a:prstGeom prst="roundRect">
            <a:avLst>
              <a:gd name="adj" fmla="val 12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421700" y="203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21700" y="203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181C23"/>
                </a:solidFill>
                <a:latin typeface="Segoe UI S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1700" y="2326148"/>
            <a:ext cx="158015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FFDF8"/>
                </a:solidFill>
                <a:latin typeface="Segoe UI Semibold"/>
              </a:rPr>
              <a:t>dryrun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1700" y="2836148"/>
            <a:ext cx="1800150" cy="104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A707D"/>
                </a:solidFill>
                <a:latin typeface="Segoe UI"/>
              </a:rPr>
              <a:t>Avalia e registra em status, sem bloquear. 2 a 4 semanas.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201850" y="2196148"/>
            <a:ext cx="260000" cy="220000"/>
          </a:xfrm>
          <a:prstGeom prst="rightArrow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551850" y="1926148"/>
            <a:ext cx="1800150" cy="760000"/>
          </a:xfrm>
          <a:prstGeom prst="roundRect">
            <a:avLst>
              <a:gd name="adj" fmla="val 12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2661850" y="203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661850" y="203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181C23"/>
                </a:solidFill>
                <a:latin typeface="Segoe UI Semibol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61850" y="2326148"/>
            <a:ext cx="158015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FFDF8"/>
                </a:solidFill>
                <a:latin typeface="Segoe UI Semibold"/>
              </a:rPr>
              <a:t>warn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51850" y="2836148"/>
            <a:ext cx="1800150" cy="104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A707D"/>
                </a:solidFill>
                <a:latin typeface="Segoe UI"/>
              </a:rPr>
              <a:t>Permite, mas avisa o cliente. Onboarding gradual.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442000" y="2196148"/>
            <a:ext cx="260000" cy="220000"/>
          </a:xfrm>
          <a:prstGeom prst="rightArrow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792000" y="1926148"/>
            <a:ext cx="1800150" cy="760000"/>
          </a:xfrm>
          <a:prstGeom prst="roundRect">
            <a:avLst>
              <a:gd name="adj" fmla="val 12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4902000" y="203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02000" y="203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181C23"/>
                </a:solidFill>
                <a:latin typeface="Segoe UI Semibol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02000" y="2326148"/>
            <a:ext cx="158015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FFDF8"/>
                </a:solidFill>
                <a:latin typeface="Segoe UI Semibold"/>
              </a:rPr>
              <a:t>deny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92000" y="2836148"/>
            <a:ext cx="1800150" cy="104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A707D"/>
                </a:solidFill>
                <a:latin typeface="Segoe UI"/>
              </a:rPr>
              <a:t>Rejeita o recurso. Só após cobrir exceções.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682150" y="2196148"/>
            <a:ext cx="260000" cy="220000"/>
          </a:xfrm>
          <a:prstGeom prst="rightArrow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7032150" y="1926148"/>
            <a:ext cx="1800150" cy="760000"/>
          </a:xfrm>
          <a:prstGeom prst="roundRect">
            <a:avLst>
              <a:gd name="adj" fmla="val 12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7142150" y="203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142150" y="203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181C23"/>
                </a:solidFill>
                <a:latin typeface="Segoe UI Semibol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42150" y="2326148"/>
            <a:ext cx="158015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FFDF8"/>
                </a:solidFill>
                <a:latin typeface="Segoe UI Semibold"/>
              </a:rPr>
              <a:t>audit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32150" y="2836148"/>
            <a:ext cx="1800150" cy="104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A707D"/>
                </a:solidFill>
                <a:latin typeface="Segoe UI"/>
              </a:rPr>
              <a:t>Varre recursos existentes periodicamente: status.violations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11700" y="3883500"/>
            <a:ext cx="8520600" cy="900000"/>
          </a:xfrm>
          <a:prstGeom prst="roundRect">
            <a:avLst>
              <a:gd name="adj" fmla="val 6000"/>
            </a:avLst>
          </a:prstGeom>
          <a:solidFill>
            <a:srgbClr val="DAF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311700" y="3883500"/>
            <a:ext cx="70000" cy="90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11700" y="3973500"/>
            <a:ext cx="81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💡 ANALOGIA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1700" y="4223500"/>
            <a:ext cx="81206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1">
                <a:solidFill>
                  <a:srgbClr val="181C23"/>
                </a:solidFill>
                <a:latin typeface="Segoe UI"/>
              </a:rPr>
              <a:t>Como mudar o limite de velocidade de uma rua: primeiro placa educativa, depois aviso, depois multa — e o radar fixo continua medindo quem já estava lá.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Enforcement: OPA Gatekeeper e Admission Control | Everton J Benedicto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715" b="715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Gate obrigatório no GitHub Actions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11700" y="1746148"/>
            <a:ext cx="85206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A707D"/>
                </a:solidFill>
                <a:latin typeface="Segoe UI"/>
              </a:rPr>
              <a:t>Conftest + opa test rodando em todo pull request: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1700" y="2126148"/>
            <a:ext cx="8520600" cy="2657352"/>
          </a:xfrm>
          <a:prstGeom prst="roundRect">
            <a:avLst>
              <a:gd name="adj" fmla="val 3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11700" y="2126148"/>
            <a:ext cx="8520600" cy="260000"/>
          </a:xfrm>
          <a:prstGeom prst="roundRect">
            <a:avLst>
              <a:gd name="adj" fmla="val 3000"/>
            </a:avLst>
          </a:prstGeom>
          <a:solidFill>
            <a:srgbClr val="2A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61700" y="2206148"/>
            <a:ext cx="100000" cy="100000"/>
          </a:xfrm>
          <a:prstGeom prst="ellipse">
            <a:avLst/>
          </a:prstGeom>
          <a:solidFill>
            <a:srgbClr val="FF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1700" y="2206148"/>
            <a:ext cx="100000" cy="10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61700" y="2206148"/>
            <a:ext cx="100000" cy="1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1700" y="2126148"/>
            <a:ext cx="85206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6A707D"/>
                </a:solidFill>
                <a:latin typeface="Consolas"/>
              </a:rPr>
              <a:t>yaml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700" y="2486148"/>
            <a:ext cx="8120600" cy="22304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 dirty="0">
                <a:solidFill>
                  <a:srgbClr val="A6F750"/>
                </a:solidFill>
                <a:latin typeface="Consolas"/>
              </a:rPr>
              <a:t>name: </a:t>
            </a:r>
            <a:r>
              <a:rPr sz="1000" b="0" i="0" dirty="0">
                <a:solidFill>
                  <a:srgbClr val="00B0F0"/>
                </a:solidFill>
                <a:latin typeface="Consolas"/>
              </a:rPr>
              <a:t>Policy Gate</a:t>
            </a:r>
          </a:p>
          <a:p>
            <a:pPr algn="l">
              <a:lnSpc>
                <a:spcPct val="112000"/>
              </a:lnSpc>
            </a:pPr>
            <a:r>
              <a:rPr sz="1000" b="0" i="0" dirty="0">
                <a:solidFill>
                  <a:srgbClr val="A6F750"/>
                </a:solidFill>
                <a:latin typeface="Consolas"/>
              </a:rPr>
              <a:t>on: { </a:t>
            </a:r>
            <a:r>
              <a:rPr sz="1000" b="0" i="0" dirty="0" err="1">
                <a:solidFill>
                  <a:srgbClr val="A6F750"/>
                </a:solidFill>
                <a:latin typeface="Consolas"/>
              </a:rPr>
              <a:t>pull_request</a:t>
            </a:r>
            <a:r>
              <a:rPr sz="1000" b="0" i="0" dirty="0">
                <a:solidFill>
                  <a:srgbClr val="A6F750"/>
                </a:solidFill>
                <a:latin typeface="Consolas"/>
              </a:rPr>
              <a:t>: { branches: [</a:t>
            </a:r>
            <a:r>
              <a:rPr sz="1000" b="0" i="0" dirty="0">
                <a:solidFill>
                  <a:srgbClr val="00B0F0"/>
                </a:solidFill>
                <a:latin typeface="Consolas"/>
              </a:rPr>
              <a:t>main</a:t>
            </a:r>
            <a:r>
              <a:rPr sz="1000" b="0" i="0" dirty="0">
                <a:solidFill>
                  <a:srgbClr val="A6F750"/>
                </a:solidFill>
                <a:latin typeface="Consolas"/>
              </a:rPr>
              <a:t>] } }</a:t>
            </a:r>
          </a:p>
          <a:p>
            <a:pPr algn="l">
              <a:lnSpc>
                <a:spcPct val="112000"/>
              </a:lnSpc>
            </a:pPr>
            <a:r>
              <a:rPr sz="1000" b="0" i="0" dirty="0">
                <a:solidFill>
                  <a:srgbClr val="A6F750"/>
                </a:solidFill>
                <a:latin typeface="Consolas"/>
              </a:rPr>
              <a:t>jobs:</a:t>
            </a:r>
          </a:p>
          <a:p>
            <a:pPr algn="l">
              <a:lnSpc>
                <a:spcPct val="112000"/>
              </a:lnSpc>
            </a:pPr>
            <a:r>
              <a:rPr sz="1000" b="0" i="0" dirty="0">
                <a:solidFill>
                  <a:srgbClr val="A6F750"/>
                </a:solidFill>
                <a:latin typeface="Consolas"/>
              </a:rPr>
              <a:t>  policy-check:</a:t>
            </a:r>
          </a:p>
          <a:p>
            <a:pPr algn="l">
              <a:lnSpc>
                <a:spcPct val="112000"/>
              </a:lnSpc>
            </a:pPr>
            <a:r>
              <a:rPr sz="1000" b="0" i="0" dirty="0">
                <a:solidFill>
                  <a:srgbClr val="A6F750"/>
                </a:solidFill>
                <a:latin typeface="Consolas"/>
              </a:rPr>
              <a:t>    runs-on: </a:t>
            </a:r>
            <a:r>
              <a:rPr sz="1000" b="0" i="0" dirty="0">
                <a:solidFill>
                  <a:srgbClr val="00B0F0"/>
                </a:solidFill>
                <a:latin typeface="Consolas"/>
              </a:rPr>
              <a:t>ubuntu-latest</a:t>
            </a:r>
          </a:p>
          <a:p>
            <a:pPr algn="l">
              <a:lnSpc>
                <a:spcPct val="112000"/>
              </a:lnSpc>
            </a:pPr>
            <a:r>
              <a:rPr sz="1000" b="0" i="0" dirty="0">
                <a:solidFill>
                  <a:srgbClr val="A6F750"/>
                </a:solidFill>
                <a:latin typeface="Consolas"/>
              </a:rPr>
              <a:t>    steps:</a:t>
            </a:r>
          </a:p>
          <a:p>
            <a:pPr algn="l">
              <a:lnSpc>
                <a:spcPct val="112000"/>
              </a:lnSpc>
            </a:pPr>
            <a:r>
              <a:rPr sz="1000" b="0" i="0" dirty="0">
                <a:solidFill>
                  <a:srgbClr val="A6F750"/>
                </a:solidFill>
                <a:latin typeface="Consolas"/>
              </a:rPr>
              <a:t>      - uses: </a:t>
            </a:r>
            <a:r>
              <a:rPr sz="1000" b="0" i="0" dirty="0">
                <a:solidFill>
                  <a:srgbClr val="00B0F0"/>
                </a:solidFill>
                <a:latin typeface="Consolas"/>
              </a:rPr>
              <a:t>actions/checkout@b4ffde65f46336ab88eb53be808477a3936bae11</a:t>
            </a:r>
          </a:p>
          <a:p>
            <a:pPr algn="l">
              <a:lnSpc>
                <a:spcPct val="112000"/>
              </a:lnSpc>
            </a:pPr>
            <a:r>
              <a:rPr sz="1000" b="0" i="0" dirty="0">
                <a:solidFill>
                  <a:srgbClr val="A6F750"/>
                </a:solidFill>
                <a:latin typeface="Consolas"/>
              </a:rPr>
              <a:t>      - name: </a:t>
            </a:r>
            <a:r>
              <a:rPr sz="1000" b="0" i="0" dirty="0" err="1">
                <a:solidFill>
                  <a:srgbClr val="00B0F0"/>
                </a:solidFill>
                <a:latin typeface="Consolas"/>
              </a:rPr>
              <a:t>Conftest</a:t>
            </a:r>
            <a:r>
              <a:rPr sz="1000" b="0" i="0" dirty="0">
                <a:solidFill>
                  <a:srgbClr val="00B0F0"/>
                </a:solidFill>
                <a:latin typeface="Consolas"/>
              </a:rPr>
              <a:t> </a:t>
            </a:r>
            <a:r>
              <a:rPr sz="1000" b="0" i="0" dirty="0" err="1">
                <a:solidFill>
                  <a:srgbClr val="00B0F0"/>
                </a:solidFill>
                <a:latin typeface="Consolas"/>
              </a:rPr>
              <a:t>em</a:t>
            </a:r>
            <a:r>
              <a:rPr sz="1000" b="0" i="0" dirty="0">
                <a:solidFill>
                  <a:srgbClr val="00B0F0"/>
                </a:solidFill>
                <a:latin typeface="Consolas"/>
              </a:rPr>
              <a:t> </a:t>
            </a:r>
            <a:r>
              <a:rPr sz="1000" b="0" i="0" dirty="0" err="1">
                <a:solidFill>
                  <a:srgbClr val="00B0F0"/>
                </a:solidFill>
                <a:latin typeface="Consolas"/>
              </a:rPr>
              <a:t>Dockerfiles</a:t>
            </a:r>
            <a:endParaRPr sz="1000" b="0" i="0" dirty="0">
              <a:solidFill>
                <a:srgbClr val="00B0F0"/>
              </a:solidFill>
              <a:latin typeface="Consolas"/>
            </a:endParaRPr>
          </a:p>
          <a:p>
            <a:pPr algn="l">
              <a:lnSpc>
                <a:spcPct val="112000"/>
              </a:lnSpc>
            </a:pPr>
            <a:r>
              <a:rPr sz="1000" b="0" i="0" dirty="0">
                <a:solidFill>
                  <a:srgbClr val="A6F750"/>
                </a:solidFill>
                <a:latin typeface="Consolas"/>
              </a:rPr>
              <a:t>        run: </a:t>
            </a:r>
            <a:r>
              <a:rPr sz="1000" b="0" i="0" dirty="0" err="1">
                <a:solidFill>
                  <a:srgbClr val="00B0F0"/>
                </a:solidFill>
                <a:latin typeface="Consolas"/>
              </a:rPr>
              <a:t>conftest</a:t>
            </a:r>
            <a:r>
              <a:rPr sz="1000" b="0" i="0" dirty="0">
                <a:solidFill>
                  <a:srgbClr val="00B0F0"/>
                </a:solidFill>
                <a:latin typeface="Consolas"/>
              </a:rPr>
              <a:t> test </a:t>
            </a:r>
            <a:r>
              <a:rPr sz="1000" b="0" i="0" dirty="0" err="1">
                <a:solidFill>
                  <a:srgbClr val="00B0F0"/>
                </a:solidFill>
                <a:latin typeface="Consolas"/>
              </a:rPr>
              <a:t>Dockerfile</a:t>
            </a:r>
            <a:r>
              <a:rPr sz="1000" b="0" i="0" dirty="0">
                <a:solidFill>
                  <a:srgbClr val="00B0F0"/>
                </a:solidFill>
                <a:latin typeface="Consolas"/>
              </a:rPr>
              <a:t> --policy policies/docker/</a:t>
            </a:r>
          </a:p>
          <a:p>
            <a:pPr algn="l">
              <a:lnSpc>
                <a:spcPct val="112000"/>
              </a:lnSpc>
            </a:pPr>
            <a:r>
              <a:rPr sz="1000" b="0" i="0" dirty="0">
                <a:solidFill>
                  <a:srgbClr val="A6F750"/>
                </a:solidFill>
                <a:latin typeface="Consolas"/>
              </a:rPr>
              <a:t>      - name: </a:t>
            </a:r>
            <a:r>
              <a:rPr sz="1000" b="0" i="0" dirty="0" err="1">
                <a:solidFill>
                  <a:srgbClr val="00B0F0"/>
                </a:solidFill>
                <a:latin typeface="Consolas"/>
              </a:rPr>
              <a:t>Conftest</a:t>
            </a:r>
            <a:r>
              <a:rPr sz="1000" b="0" i="0" dirty="0">
                <a:solidFill>
                  <a:srgbClr val="00B0F0"/>
                </a:solidFill>
                <a:latin typeface="Consolas"/>
              </a:rPr>
              <a:t> </a:t>
            </a:r>
            <a:r>
              <a:rPr sz="1000" b="0" i="0" dirty="0" err="1">
                <a:solidFill>
                  <a:srgbClr val="00B0F0"/>
                </a:solidFill>
                <a:latin typeface="Consolas"/>
              </a:rPr>
              <a:t>em</a:t>
            </a:r>
            <a:r>
              <a:rPr sz="1000" b="0" i="0" dirty="0">
                <a:solidFill>
                  <a:srgbClr val="00B0F0"/>
                </a:solidFill>
                <a:latin typeface="Consolas"/>
              </a:rPr>
              <a:t> manifests</a:t>
            </a:r>
          </a:p>
          <a:p>
            <a:pPr algn="l">
              <a:lnSpc>
                <a:spcPct val="112000"/>
              </a:lnSpc>
            </a:pPr>
            <a:r>
              <a:rPr sz="1000" b="0" i="0" dirty="0">
                <a:solidFill>
                  <a:srgbClr val="A6F750"/>
                </a:solidFill>
                <a:latin typeface="Consolas"/>
              </a:rPr>
              <a:t>        run: </a:t>
            </a:r>
            <a:r>
              <a:rPr sz="1000" b="0" i="0" dirty="0" err="1">
                <a:solidFill>
                  <a:srgbClr val="00B0F0"/>
                </a:solidFill>
                <a:latin typeface="Consolas"/>
              </a:rPr>
              <a:t>conftest</a:t>
            </a:r>
            <a:r>
              <a:rPr sz="1000" b="0" i="0" dirty="0">
                <a:solidFill>
                  <a:srgbClr val="00B0F0"/>
                </a:solidFill>
                <a:latin typeface="Consolas"/>
              </a:rPr>
              <a:t> test k8s/*.</a:t>
            </a:r>
            <a:r>
              <a:rPr sz="1000" b="0" i="0" dirty="0" err="1">
                <a:solidFill>
                  <a:srgbClr val="00B0F0"/>
                </a:solidFill>
                <a:latin typeface="Consolas"/>
              </a:rPr>
              <a:t>yaml</a:t>
            </a:r>
            <a:r>
              <a:rPr sz="1000" b="0" i="0" dirty="0">
                <a:solidFill>
                  <a:srgbClr val="00B0F0"/>
                </a:solidFill>
                <a:latin typeface="Consolas"/>
              </a:rPr>
              <a:t> --policy policies/</a:t>
            </a:r>
            <a:r>
              <a:rPr sz="1000" b="0" i="0" dirty="0" err="1">
                <a:solidFill>
                  <a:srgbClr val="00B0F0"/>
                </a:solidFill>
                <a:latin typeface="Consolas"/>
              </a:rPr>
              <a:t>kubernetes</a:t>
            </a:r>
            <a:r>
              <a:rPr sz="1000" b="0" i="0" dirty="0">
                <a:solidFill>
                  <a:srgbClr val="00B0F0"/>
                </a:solidFill>
                <a:latin typeface="Consolas"/>
              </a:rPr>
              <a:t>/</a:t>
            </a:r>
          </a:p>
          <a:p>
            <a:pPr algn="l">
              <a:lnSpc>
                <a:spcPct val="112000"/>
              </a:lnSpc>
            </a:pPr>
            <a:r>
              <a:rPr sz="1000" b="0" i="0" dirty="0">
                <a:solidFill>
                  <a:srgbClr val="A6F750"/>
                </a:solidFill>
                <a:latin typeface="Consolas"/>
              </a:rPr>
              <a:t>      - name: </a:t>
            </a:r>
            <a:r>
              <a:rPr sz="1000" b="0" i="0" dirty="0">
                <a:solidFill>
                  <a:srgbClr val="00B0F0"/>
                </a:solidFill>
                <a:latin typeface="Consolas"/>
              </a:rPr>
              <a:t>Testes das </a:t>
            </a:r>
            <a:r>
              <a:rPr sz="1000" b="0" i="0" dirty="0" err="1">
                <a:solidFill>
                  <a:srgbClr val="00B0F0"/>
                </a:solidFill>
                <a:latin typeface="Consolas"/>
              </a:rPr>
              <a:t>políticas</a:t>
            </a:r>
            <a:endParaRPr sz="1000" b="0" i="0" dirty="0">
              <a:solidFill>
                <a:srgbClr val="00B0F0"/>
              </a:solidFill>
              <a:latin typeface="Consolas"/>
            </a:endParaRPr>
          </a:p>
          <a:p>
            <a:pPr algn="l">
              <a:lnSpc>
                <a:spcPct val="112000"/>
              </a:lnSpc>
            </a:pPr>
            <a:r>
              <a:rPr sz="1000" b="0" i="0" dirty="0">
                <a:solidFill>
                  <a:srgbClr val="A6F750"/>
                </a:solidFill>
                <a:latin typeface="Consolas"/>
              </a:rPr>
              <a:t>        run: </a:t>
            </a:r>
            <a:r>
              <a:rPr sz="1000" b="0" i="0" dirty="0" err="1">
                <a:solidFill>
                  <a:srgbClr val="00B0F0"/>
                </a:solidFill>
                <a:latin typeface="Consolas"/>
              </a:rPr>
              <a:t>opa</a:t>
            </a:r>
            <a:r>
              <a:rPr sz="1000" b="0" i="0" dirty="0">
                <a:solidFill>
                  <a:srgbClr val="00B0F0"/>
                </a:solidFill>
                <a:latin typeface="Consolas"/>
              </a:rPr>
              <a:t> test policies/ -v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Enforcement: OPA Gatekeeper e Admission Control | Everton J Benedicto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715" b="715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MÃO NA MASSA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Laboratório: do Conftest ao Gatekeeper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11700" y="174614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461700" y="178788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1700" y="1787883"/>
            <a:ext cx="28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1700" y="1746148"/>
            <a:ext cx="7780600" cy="36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Cluster: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kind create cluster --name policy-lab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1700" y="219961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61700" y="224135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1700" y="2241353"/>
            <a:ext cx="28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1700" y="2199618"/>
            <a:ext cx="7780600" cy="36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Instalar: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Gatekeeper e aguardar pods em gatekeeper-system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1700" y="265308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461700" y="269482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1700" y="2694823"/>
            <a:ext cx="28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700" y="2653088"/>
            <a:ext cx="7780600" cy="36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Aplicar: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ConstraintTemplate + Constraint (dryrun → deny)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1700" y="310655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461700" y="314829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1700" y="3148293"/>
            <a:ext cx="28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700" y="3106558"/>
            <a:ext cx="7780600" cy="36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Testar: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Pod sem securityContext → Forbidden; corrigir → criado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1700" y="356002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61700" y="360176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61700" y="3601763"/>
            <a:ext cx="28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700" y="3560028"/>
            <a:ext cx="7780600" cy="36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Inspecionar: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kubectl get constraint ... -o yaml → status.violations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1700" y="4163500"/>
            <a:ext cx="8520600" cy="620000"/>
          </a:xfrm>
          <a:prstGeom prst="roundRect">
            <a:avLst>
              <a:gd name="adj" fmla="val 6000"/>
            </a:avLst>
          </a:prstGeom>
          <a:solidFill>
            <a:srgbClr val="DAF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11700" y="4163500"/>
            <a:ext cx="70000" cy="62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11700" y="4233500"/>
            <a:ext cx="81206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✅ ENTREGÁVEL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1700" y="4453500"/>
            <a:ext cx="81206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1">
                <a:solidFill>
                  <a:srgbClr val="181C23"/>
                </a:solidFill>
                <a:latin typeface="Segoe UI"/>
              </a:rPr>
              <a:t>Template, Constraint, manifests inseguro/seguro e a mensagem de bloqueio capturada. Runbook: labs/Aula_03_Runbook.md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Enforcement: OPA Gatekeeper e Admission Control | Everton J Benedicto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715" b="715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RESUMO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Recapitulando a Aula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11700" y="1746148"/>
            <a:ext cx="8520600" cy="57000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11700" y="1746148"/>
            <a:ext cx="70000" cy="57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491700" y="1881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91700" y="188114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DF8"/>
                </a:solidFill>
                <a:latin typeface="Segoe UI Semibol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700" y="1746148"/>
            <a:ext cx="7680600" cy="57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"/>
              </a:rPr>
              <a:t>Enforcement transforma política em gate: CI/CD dá feedback cedo, Gatekeeper garante no cluster.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1700" y="2446148"/>
            <a:ext cx="8520600" cy="57000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11700" y="2446148"/>
            <a:ext cx="70000" cy="57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491700" y="2581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1700" y="258114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DF8"/>
                </a:solidFill>
                <a:latin typeface="Segoe UI Semibold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1700" y="2446148"/>
            <a:ext cx="7680600" cy="57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"/>
              </a:rPr>
              <a:t>ConstraintTemplate define a regra; Constraint define escopo, parâmetros e ação.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1700" y="3146148"/>
            <a:ext cx="8520600" cy="57000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11700" y="3146148"/>
            <a:ext cx="70000" cy="57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491700" y="3281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1700" y="328114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DF8"/>
                </a:solidFill>
                <a:latin typeface="Segoe UI Semibold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1700" y="3146148"/>
            <a:ext cx="7680600" cy="57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"/>
              </a:rPr>
              <a:t>Rollout gradual: dryrun → warn → deny, com exceções documentadas.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1700" y="3846148"/>
            <a:ext cx="8520600" cy="57000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311700" y="3846148"/>
            <a:ext cx="70000" cy="57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91700" y="3981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91700" y="398114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DF8"/>
                </a:solidFill>
                <a:latin typeface="Segoe UI Semibold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1700" y="3846148"/>
            <a:ext cx="7680600" cy="57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"/>
              </a:rPr>
              <a:t>Audit contínuo encontra recursos não-conformes já existentes.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Enforcement: OPA Gatekeeper e Admission Control | Everton J Benedicto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715" b="715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2000" y="987004"/>
            <a:ext cx="3800000" cy="256949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1871750"/>
            <a:ext cx="914400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400" b="0" i="0">
                <a:solidFill>
                  <a:srgbClr val="181C23"/>
                </a:solidFill>
                <a:latin typeface="Segoe UI Semibold"/>
              </a:rPr>
              <a:t>Obrigado!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671750"/>
            <a:ext cx="9144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1">
                <a:solidFill>
                  <a:srgbClr val="6A707D"/>
                </a:solidFill>
                <a:latin typeface="Segoe UI Light"/>
              </a:rPr>
              <a:t>Próxima aula: SBOM — Fundamentos, SPDX e CycloneDX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2000" y="4025287"/>
            <a:ext cx="1000000" cy="6182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0" y="4803500"/>
            <a:ext cx="9144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6A707D"/>
                </a:solidFill>
                <a:latin typeface="Segoe UI Semibold"/>
              </a:rPr>
              <a:t>Prof.: Everton J Benedicto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181C23"/>
      </a:dk1>
      <a:lt1>
        <a:srgbClr val="FFFDF8"/>
      </a:lt1>
      <a:dk2>
        <a:srgbClr val="2371FF"/>
      </a:dk2>
      <a:lt2>
        <a:srgbClr val="50E550"/>
      </a:lt2>
      <a:accent1>
        <a:srgbClr val="DAF9DA"/>
      </a:accent1>
      <a:accent2>
        <a:srgbClr val="2371FF"/>
      </a:accent2>
      <a:accent3>
        <a:srgbClr val="DAF9DA"/>
      </a:accent3>
      <a:accent4>
        <a:srgbClr val="ECEDF3"/>
      </a:accent4>
      <a:accent5>
        <a:srgbClr val="C4D2F8"/>
      </a:accent5>
      <a:accent6>
        <a:srgbClr val="9DF09D"/>
      </a:accent6>
      <a:hlink>
        <a:srgbClr val="2371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d258917-277f-42cd-a3cd-14c4e9ee58bc}" enabled="1" method="Standard" siteId="{38ae3bcd-9579-4fd4-adda-b42e1495d55a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1824</Words>
  <Application>Microsoft Office PowerPoint</Application>
  <PresentationFormat>On-screen Show (16:9)</PresentationFormat>
  <Paragraphs>267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4" baseType="lpstr">
      <vt:lpstr>Arial</vt:lpstr>
      <vt:lpstr>Ubuntu Medium</vt:lpstr>
      <vt:lpstr>Segoe UI Semibold</vt:lpstr>
      <vt:lpstr>Ubuntu</vt:lpstr>
      <vt:lpstr>Segoe UI Light</vt:lpstr>
      <vt:lpstr>Lato</vt:lpstr>
      <vt:lpstr>Ubuntu Light</vt:lpstr>
      <vt:lpstr>Consolas</vt:lpstr>
      <vt:lpstr>Segoe UI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Benedicto, Everton Jose (SI B IT PES PLT)</cp:lastModifiedBy>
  <cp:revision>3</cp:revision>
  <dcterms:modified xsi:type="dcterms:W3CDTF">2026-10-20T21:42:22Z</dcterms:modified>
</cp:coreProperties>
</file>