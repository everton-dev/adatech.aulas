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11"/>
    <p:sldId id="257" r:id="rId10"/>
    <p:sldId id="258" r:id="rId9"/>
    <p:sldId id="259" r:id="rId8"/>
    <p:sldId id="260" r:id="rId7"/>
    <p:sldId id="261" r:id="rId6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</p:sldIdLst>
  <p:sldSz cy="5143500" cx="9144000"/>
  <p:notesSz cx="6858000" cy="9144000"/>
  <p:embeddedFontLst>
    <p:embeddedFont>
      <p:font typeface="Ubuntu Light"/>
      <p:regular r:id="rId12"/>
      <p:bold r:id="rId13"/>
      <p:italic r:id="rId14"/>
      <p:boldItalic r:id="rId15"/>
    </p:embeddedFont>
    <p:embeddedFont>
      <p:font typeface="Ubuntu"/>
      <p:regular r:id="rId16"/>
      <p:bold r:id="rId17"/>
      <p:italic r:id="rId18"/>
      <p:boldItalic r:id="rId19"/>
    </p:embeddedFont>
    <p:embeddedFont>
      <p:font typeface="Ubuntu Medium"/>
      <p:regular r:id="rId20"/>
      <p:bold r:id="rId21"/>
      <p:italic r:id="rId22"/>
      <p:boldItalic r:id="rId23"/>
    </p:embeddedFont>
    <p:embeddedFont>
      <p:font typeface="Lato"/>
      <p:regular r:id="rId24"/>
      <p:bold r:id="rId25"/>
      <p:italic r:id="rId26"/>
      <p:boldItalic r:id="rId27"/>
    </p:embeddedFont>
    <p:embeddedFont>
      <p:font typeface="Fira Code"/>
      <p:regular r:id="rId28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font" Target="fonts/UbuntuLight-regular.fntdata"/><Relationship Id="rId13" Type="http://schemas.openxmlformats.org/officeDocument/2006/relationships/font" Target="fonts/UbuntuLight-bold.fntdata"/><Relationship Id="rId14" Type="http://schemas.openxmlformats.org/officeDocument/2006/relationships/font" Target="fonts/UbuntuLight-italic.fntdata"/><Relationship Id="rId15" Type="http://schemas.openxmlformats.org/officeDocument/2006/relationships/font" Target="fonts/UbuntuLight-boldItalic.fntdata"/><Relationship Id="rId16" Type="http://schemas.openxmlformats.org/officeDocument/2006/relationships/font" Target="fonts/Ubuntu-regular.fntdata"/><Relationship Id="rId17" Type="http://schemas.openxmlformats.org/officeDocument/2006/relationships/font" Target="fonts/Ubuntu-bold.fntdata"/><Relationship Id="rId18" Type="http://schemas.openxmlformats.org/officeDocument/2006/relationships/font" Target="fonts/Ubuntu-italic.fntdata"/><Relationship Id="rId19" Type="http://schemas.openxmlformats.org/officeDocument/2006/relationships/font" Target="fonts/Ubuntu-boldItalic.fntdata"/><Relationship Id="rId20" Type="http://schemas.openxmlformats.org/officeDocument/2006/relationships/font" Target="fonts/UbuntuMedium-regular.fntdata"/><Relationship Id="rId21" Type="http://schemas.openxmlformats.org/officeDocument/2006/relationships/font" Target="fonts/UbuntuMedium-bold.fntdata"/><Relationship Id="rId22" Type="http://schemas.openxmlformats.org/officeDocument/2006/relationships/font" Target="fonts/UbuntuMedium-italic.fntdata"/><Relationship Id="rId23" Type="http://schemas.openxmlformats.org/officeDocument/2006/relationships/font" Target="fonts/UbuntuMedium-boldItalic.fntdata"/><Relationship Id="rId24" Type="http://schemas.openxmlformats.org/officeDocument/2006/relationships/font" Target="fonts/Lato-regular.fntdata"/><Relationship Id="rId25" Type="http://schemas.openxmlformats.org/officeDocument/2006/relationships/font" Target="fonts/Lato-bold.fntdata"/><Relationship Id="rId26" Type="http://schemas.openxmlformats.org/officeDocument/2006/relationships/font" Target="fonts/Lato-italic.fntdata"/><Relationship Id="rId27" Type="http://schemas.openxmlformats.org/officeDocument/2006/relationships/font" Target="fonts/Lato-boldItalic.fntdata"/><Relationship Id="rId28" Type="http://schemas.openxmlformats.org/officeDocument/2006/relationships/font" Target="fonts/FiraCode-regular.fntdata"/><Relationship Id="rId29" Type="http://schemas.openxmlformats.org/officeDocument/2006/relationships/font" Target="fonts/FiraCode-bold.fntdata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/>
          <a:p>
            <a:r>
              <a:t>Abertura da Aula 03: Enforcement: OPA Gatekeeper e Admission Control.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/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/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/>
          <a:p>
            <a:r>
              <a:t>Pergunte: um desenvolvedor consegue contornar o CI e aplicar direto no cluster? Essa possibilidade justifica a segunda barreira em runtime.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Boa prática é combinar os dois: feedback rápido no CI e garantia no cluster. Não são alternativas, são camadas.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Ressalte que o recurso só é gravado depois da admissão. A resposta do webhook volta como erro do kubectl, com a mensagem da política.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Relacione com o diagrama de desacoplamento da Aula 1: a 'aplicação' agora é o API Server. Template é reutilizável; Constraint é a instância.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Aponte input.review.object: é o recurso sendo criado. A regra se chama violation, não deny — convenção do Gatekeeper.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Mostre os três pontos de controle: enforcementAction, match e parameters. Exceção via parâmetro é a mais auditável porque fica explícita no recurso.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Explique por que começar em dryrun: medir impacto, comunicar times, dar prazo. Audit pega recursos criados antes da política ou via bypass.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/>
          <a:p>
            <a:r>
              <a:t>Chame atenção para a action fixada por SHA de commit, não por tag — isso é supply chain security do próprio pipeline (tema da Aula 6). Métricas Prometheus do Gatekeeper alimentam dashboards.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70 min</a:t>
            </a:r>
          </a:p>
          <a:p/>
          <a:p>
            <a:r>
              <a:t>Verifique kind/kubectl antes. Peça que prevejam a decisão para o Pod sem securityContext e observem a mensagem do webhook.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6 min</a:t>
            </a:r>
          </a:p>
          <a:p/>
          <a:p>
            <a:r>
              <a:t>Pergunta de fechamento: CI substitui admission? Resposta esperada: não, são camadas. Ponte para SBOM.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/>
          <a:p>
            <a:r>
              <a:t>Peça Syft, Trivy e jq instalados para a próxima aula.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a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2" type="title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sor">
  <p:cSld name="CUSTOM_2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/>
          <p:nvPr>
            <p:ph idx="2" type="subTitle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yout Limpo">
  <p:cSld name="CUSTOM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fismo ADA">
  <p:cSld name="CUSTOM_1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erramento" type="blank">
  <p:cSld name="BLANK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FFBF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0" b="1" i="0">
                <a:solidFill>
                  <a:srgbClr val="A6F750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371FF"/>
                </a:solidFill>
                <a:latin typeface="Segoe UI Semibold"/>
              </a:rPr>
              <a:t>AULA 03  ·  Terça, 20/10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181C23"/>
                </a:solidFill>
                <a:latin typeface="Segoe UI Semibold"/>
              </a:rPr>
              <a:t>Enforcement: OPA Gatekeeper e Admission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6A707D"/>
                </a:solidFill>
                <a:latin typeface="Segoe UI Light"/>
              </a:rPr>
              <a:t>Como impor políticas de forma centralizada em um cluster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6F750"/>
                </a:solidFill>
                <a:latin typeface="Segoe UI"/>
              </a:rPr>
              <a:t>Módulo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16/10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19/10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2100" y="1466148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6F750"/>
                </a:solidFill>
                <a:latin typeface="Segoe UI Semibold"/>
              </a:rPr>
              <a:t>Ter 20/10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DF8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23/10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26/10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011932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167716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30/10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167716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03/11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0" i="0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00" y="4273500"/>
            <a:ext cx="2839028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81C23"/>
                </a:solidFill>
                <a:latin typeface="Segoe UI Semibold"/>
              </a:rPr>
              <a:t>INTERVALO · 15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PROBLEMA GERADOR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Política decorativa vs. enforcement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Relatório: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política que só gera visibilidade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Enforcement: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política que muda o resultado da operação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Gate obrigatório: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build inseguro não progride, manifest é rejeitado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Exceções: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documentadas, aprovadas e auditáveis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Um radar que só fotografa não reduz velocidade. O que muda o comportamento é a multa chegando em casa — e, melhor ainda, a lombada antes da escola.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DOIS MUNDOS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Enforcement em CI/CD vs. em runtime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00" y="1746148"/>
            <a:ext cx="3830300" cy="3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DF8"/>
                </a:solidFill>
                <a:latin typeface="Segoe UI Semibold"/>
              </a:rPr>
              <a:t>CI/CD — primeira linha</a:t>
            </a:r>
          </a:p>
        </p:txBody>
      </p:sp>
      <p:sp>
        <p:nvSpPr>
          <p:cNvPr id="9" name="Oval 8"/>
          <p:cNvSpPr/>
          <p:nvPr/>
        </p:nvSpPr>
        <p:spPr>
          <a:xfrm>
            <a:off x="461700" y="2445817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700" y="2206148"/>
            <a:ext cx="3560300" cy="619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Antes do merge ou deploy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3065155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700" y="2825486"/>
            <a:ext cx="3560300" cy="619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Conftest / OPA CLI no pipeline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368449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700" y="3444824"/>
            <a:ext cx="3560300" cy="619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Bloqueia PR, build, deploy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4303831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700" y="4064162"/>
            <a:ext cx="3560300" cy="619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Dev corrige no mesmo PR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20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020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52000" y="1746148"/>
            <a:ext cx="3830300" cy="3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81C23"/>
                </a:solidFill>
                <a:latin typeface="Segoe UI Semibold"/>
              </a:rPr>
              <a:t>Runtime — última barreira</a:t>
            </a:r>
          </a:p>
        </p:txBody>
      </p:sp>
      <p:sp>
        <p:nvSpPr>
          <p:cNvPr id="20" name="Oval 19"/>
          <p:cNvSpPr/>
          <p:nvPr/>
        </p:nvSpPr>
        <p:spPr>
          <a:xfrm>
            <a:off x="4852000" y="2445817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2000" y="2206148"/>
            <a:ext cx="3560300" cy="619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Quando o recurso é criado no cluster</a:t>
            </a:r>
          </a:p>
        </p:txBody>
      </p:sp>
      <p:sp>
        <p:nvSpPr>
          <p:cNvPr id="22" name="Oval 21"/>
          <p:cNvSpPr/>
          <p:nvPr/>
        </p:nvSpPr>
        <p:spPr>
          <a:xfrm>
            <a:off x="4852000" y="3065155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2000" y="2825486"/>
            <a:ext cx="3560300" cy="619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OPA Gatekeeper / Kyverno</a:t>
            </a:r>
          </a:p>
        </p:txBody>
      </p:sp>
      <p:sp>
        <p:nvSpPr>
          <p:cNvPr id="24" name="Oval 23"/>
          <p:cNvSpPr/>
          <p:nvPr/>
        </p:nvSpPr>
        <p:spPr>
          <a:xfrm>
            <a:off x="4852000" y="368449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2000" y="3444824"/>
            <a:ext cx="3560300" cy="619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Bloqueia criação ou atualização</a:t>
            </a:r>
          </a:p>
        </p:txBody>
      </p:sp>
      <p:sp>
        <p:nvSpPr>
          <p:cNvPr id="26" name="Oval 25"/>
          <p:cNvSpPr/>
          <p:nvPr/>
        </p:nvSpPr>
        <p:spPr>
          <a:xfrm>
            <a:off x="4852000" y="4303831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2000" y="4064162"/>
            <a:ext cx="3560300" cy="619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Protege contra bypass do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ADMISSION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O caminho de um kubectl apply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kubectl apply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80015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Usuário envia o manifest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018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518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618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6185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5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API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850" y="2836148"/>
            <a:ext cx="180015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Autentica, autoriza e valida sintaxe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4200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920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020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0200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00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Webhook Gatekeeper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2000" y="2836148"/>
            <a:ext cx="180015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Avalia todas as Constraints aplicáveis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821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321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421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215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215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Admitido / Negado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2150" y="2836148"/>
            <a:ext cx="180015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deny rejeita; permitido persiste no etcd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O MOTOR POR 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Gatekeeper = OPA dentro do cluster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1700" y="2287832"/>
            <a:ext cx="4394712" cy="1693983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acoplamento-o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2347832"/>
            <a:ext cx="4274712" cy="1573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1700" y="4553500"/>
            <a:ext cx="4274712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6A707D"/>
                </a:solidFill>
                <a:latin typeface="Segoe UI"/>
              </a:rPr>
              <a:t>Fonte: Material do aluno (figura criada por IA)</a:t>
            </a:r>
          </a:p>
        </p:txBody>
      </p:sp>
      <p:sp>
        <p:nvSpPr>
          <p:cNvPr id="9" name="Oval 8"/>
          <p:cNvSpPr/>
          <p:nvPr/>
        </p:nvSpPr>
        <p:spPr>
          <a:xfrm>
            <a:off x="4886412" y="176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86412" y="176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6412" y="1746148"/>
            <a:ext cx="3525888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Mesmo OPA: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input agora é o AdmissionReview do Kubernetes</a:t>
            </a:r>
          </a:p>
        </p:txBody>
      </p:sp>
      <p:sp>
        <p:nvSpPr>
          <p:cNvPr id="12" name="Oval 11"/>
          <p:cNvSpPr/>
          <p:nvPr/>
        </p:nvSpPr>
        <p:spPr>
          <a:xfrm>
            <a:off x="4886412" y="240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6412" y="240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6412" y="2386148"/>
            <a:ext cx="3525888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CRDs: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políticas viram recursos versionáveis do cluster</a:t>
            </a:r>
          </a:p>
        </p:txBody>
      </p:sp>
      <p:sp>
        <p:nvSpPr>
          <p:cNvPr id="15" name="Oval 14"/>
          <p:cNvSpPr/>
          <p:nvPr/>
        </p:nvSpPr>
        <p:spPr>
          <a:xfrm>
            <a:off x="4886412" y="304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6412" y="304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6412" y="3026148"/>
            <a:ext cx="3525888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ConstraintTemplate: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define a política Rego e seus parâmetros</a:t>
            </a:r>
          </a:p>
        </p:txBody>
      </p:sp>
      <p:sp>
        <p:nvSpPr>
          <p:cNvPr id="18" name="Oval 17"/>
          <p:cNvSpPr/>
          <p:nvPr/>
        </p:nvSpPr>
        <p:spPr>
          <a:xfrm>
            <a:off x="4886412" y="368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6412" y="368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6412" y="3666148"/>
            <a:ext cx="3525888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Constraint: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instancia com escopo, parâmetros e 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CONSTRAINTTEMPLATE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Rego dentro de um CRD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Define o tipo K8sPSPRunAsNonRoot e a regra violation: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apiVersion: templates.gatekeeper.sh/v1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kind: ConstraintTemplate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metadata: { name: k8spsprunasnonroot }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spec: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crd: { spec: { names: { kind: K8sPSPRunAsNonRoot } } }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targets: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- target: admission.k8s.gatekeeper.sh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rego: |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package k8spsprunasnonroot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violation[{"msg": msg}] {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    c := input.review.object.spec.containers[_]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    not c.securityContext.runAsNonRoot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    msg := sprintf("'%v' deve declarar runAsNonRoot.", [c.name])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Escopo, parâmetros e 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Aplica o template a Pods de produção e staging, bloqueando: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apiVersion: constraints.gatekeeper.sh/v1beta1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kind: K8sPSPRunAsNonRoot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metadata: { name: pods-must-run-as-non-root }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spec: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enforcementAction: deny      # dryrun | warn | deny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match: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kinds: [{ apiGroups: [""], kinds: ["Pod"] }]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namespaces: [production, staging]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excludedNamespaces: [kube-system, gatekeeper-system]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parameters: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exemptImages: ["gcr.io/google-containers/pause"]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ROLLOUT SEGURO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dryrun → warn → deny → audit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dryrun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800150" cy="10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Avalia e registra em status, sem bloquear. 2 a 4 semanas.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018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518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618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6185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5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warn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850" y="2836148"/>
            <a:ext cx="1800150" cy="10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Permite, mas avisa o cliente. Onboarding gradual.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4200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920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020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0200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00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deny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2000" y="2836148"/>
            <a:ext cx="1800150" cy="10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Rejeita o recurso. Só após cobrir exceções.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821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321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421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215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215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2150" y="2836148"/>
            <a:ext cx="1800150" cy="10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Varre recursos existentes periodicamente: status.violations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Como mudar o limite de velocidade de uma rua: primeiro placa educativa, depois aviso, depois multa — e o radar fixo continua medindo quem já estava lá.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Gate obrigatório no GitHub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Conftest + opa test rodando em todo pull request: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name: Policy Gate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on: { pull_request: { branches: [main] } }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jobs: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policy-check: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runs-on: ubuntu-latest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steps: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- uses: actions/checkout@b4ffde65f46336ab88eb53be808477a3936bae11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- name: Conftest em Dockerfiles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run: conftest test Dockerfile --policy policies/docker/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- name: Conftest em manifests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run: conftest test k8s/*.yaml --policy policies/kubernetes/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- name: Testes das políticas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run: opa test policies/ -v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Laboratório: do Conftest ao Gatekeeper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Cluster: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kind create cluster --name policy-lab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Instalar: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Gatekeeper e aguardar pods em gatekeeper-system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Aplicar: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ConstraintTemplate + Constraint (dryrun → deny)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Testar: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Pod sem securityContext → Forbidden; corrigir → criado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Inspecionar: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kubectl get constraint ... -o yaml → status.violations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181C23"/>
                </a:solidFill>
                <a:latin typeface="Segoe UI"/>
              </a:rPr>
              <a:t>Template, Constraint, manifests inseguro/seguro e a mensagem de bloqueio capturada. Runbook: labs/Aula_03_Runbook.md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Enforcement transforma política em gate: CI/CD dá feedback cedo, Gatekeeper garante no cluster.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ConstraintTemplate define a regra; Constraint define escopo, parâmetros e 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Rollout gradual: dryrun → warn → deny, com exceções documentadas.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Audit contínuo encontra recursos não-conformes já existentes.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0" i="0">
                <a:solidFill>
                  <a:srgbClr val="181C23"/>
                </a:solidFill>
                <a:latin typeface="Segoe UI Semibold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6A707D"/>
                </a:solidFill>
                <a:latin typeface="Segoe UI Light"/>
              </a:rPr>
              <a:t>Próxima aula: SBOM — Fundamentos, SPDX e CycloneDX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