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7"/>
  </p:notesMasterIdLst>
  <p:sldIdLst>
    <p:sldId id="256" r:id="rId2"/>
    <p:sldId id="257" r:id="rId3"/>
    <p:sldId id="258" r:id="rId4"/>
    <p:sldId id="270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Lato" panose="020F0502020204030203" pitchFamily="34" charset="0"/>
      <p:regular r:id="rId22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  <p:embeddedFont>
      <p:font typeface="Segoe UI Light" panose="020B0502040204020203" pitchFamily="34" charset="0"/>
      <p:regular r:id="rId30"/>
      <p:italic r:id="rId31"/>
    </p:embeddedFont>
    <p:embeddedFont>
      <p:font typeface="Segoe UI Semibold" panose="020B0702040204020203" pitchFamily="34" charset="0"/>
      <p:bold r:id="rId32"/>
      <p:boldItalic r:id="rId33"/>
    </p:embeddedFont>
    <p:embeddedFont>
      <p:font typeface="Ubuntu" panose="020B0504030602030204" pitchFamily="34" charset="0"/>
      <p:regular r:id="rId34"/>
      <p:bold r:id="rId35"/>
      <p:italic r:id="rId36"/>
      <p:boldItalic r:id="rId37"/>
    </p:embeddedFont>
    <p:embeddedFont>
      <p:font typeface="Ubuntu Light" panose="020B0304030602030204" pitchFamily="34" charset="0"/>
      <p:regular r:id="rId38"/>
      <p:bold r:id="rId39"/>
      <p:italic r:id="rId40"/>
      <p:boldItalic r:id="rId41"/>
    </p:embeddedFont>
    <p:embeddedFont>
      <p:font typeface="Ubuntu Medium" panose="020B060403060203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41" autoAdjust="0"/>
  </p:normalViewPr>
  <p:slideViewPr>
    <p:cSldViewPr snapToGrid="0">
      <p:cViewPr varScale="1">
        <p:scale>
          <a:sx n="133" d="100"/>
          <a:sy n="133" d="100"/>
        </p:scale>
        <p:origin x="98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font" Target="fonts/font22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42" Type="http://schemas.openxmlformats.org/officeDocument/2006/relationships/font" Target="fonts/font25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font" Target="fonts/font21.fntdata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font" Target="fonts/font23.fntdata"/><Relationship Id="rId45" Type="http://schemas.openxmlformats.org/officeDocument/2006/relationships/font" Target="fonts/font2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4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43" Type="http://schemas.openxmlformats.org/officeDocument/2006/relationships/font" Target="fonts/font26.fntdata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661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03: Enforcement: OPA Gatekeeper e Admission Control.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Pergunte: um desenvolvedor consegue contornar o CI e aplicar direto no cluster? Essa possibilidade justifica a segunda barreira em runtime.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Boa prática é combinar os dois: feedback rápido no CI e garantia no cluster. Não são alternativas, são camadas.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Ressalte que o recurso só é gravado depois da admissão. A resposta do webhook volta como erro do kubectl, com a mensagem da política.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Relacione com o diagrama de desacoplamento da Aula 1: a 'aplicação' agora é o API Server. Template é reutilizável; Constraint é a instância.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Aponte input.review.object: é o recurso sendo criado. A regra se chama violation, não deny — convenção do Gatekeeper.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Mostre os três pontos de controle: enforcementAction, match e parameters. Exceção via parâmetro é a mais auditável porque fica explícita no recurso.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Explique por que começar em dryrun: medir impacto, comunicar times, dar prazo. Audit pega recursos criados antes da política ou via bypass.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Chame atenção para a action fixada por SHA de commit, não por tag — isso é supply chain security do próprio pipeline (tema da Aula 6). Métricas Prometheus do Gatekeeper alimentam dashboards.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70 min</a:t>
            </a:r>
          </a:p>
          <a:p>
            <a:endParaRPr/>
          </a:p>
          <a:p>
            <a:r>
              <a:t>Verifique kind/kubectl antes. Peça que prevejam a decisão para o Pod sem securityContext e observem a mensagem do webhook.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 min</a:t>
            </a:r>
          </a:p>
          <a:p>
            <a:endParaRPr/>
          </a:p>
          <a:p>
            <a:r>
              <a:t>Pergunta de fechamento: CI substitui admission? Resposta esperada: não, são camadas. Ponte para SBOM.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Syft, Trivy e jq instalados para 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03  ·  Terça, 20/10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Enforcement: OPA Gatekeeper e Admission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impor políticas de forma centralizada em um cluster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92100" y="1466148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Ter 20/10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2371FF"/>
                </a:solidFill>
                <a:latin typeface="Segoe UI Semibold"/>
              </a:rPr>
              <a:t>Ter 0</a:t>
            </a:r>
            <a:r>
              <a:rPr lang="pt-PT" sz="1000" b="0" i="0" dirty="0">
                <a:solidFill>
                  <a:srgbClr val="2371FF"/>
                </a:solidFill>
                <a:latin typeface="Segoe UI Semibold"/>
              </a:rPr>
              <a:t>4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t="300" b="11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68096"/>
            <a:ext cx="338328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>
                <a:solidFill>
                  <a:srgbClr val="2371FF"/>
                </a:solidFill>
                <a:latin typeface="Segoe UI Semibold"/>
              </a:rPr>
              <a:t>ICE BREAKER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713232" cy="32004"/>
          </a:xfrm>
          <a:prstGeom prst="rect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25296"/>
            <a:ext cx="345643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dirty="0" err="1">
                <a:solidFill>
                  <a:srgbClr val="181C23"/>
                </a:solidFill>
                <a:latin typeface="Segoe UI Semibold"/>
              </a:rPr>
              <a:t>Que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3600" b="1" dirty="0" err="1">
                <a:solidFill>
                  <a:srgbClr val="2371FF"/>
                </a:solidFill>
                <a:latin typeface="Segoe UI Semibold"/>
              </a:rPr>
              <a:t>filmes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
e/</a:t>
            </a:r>
            <a:r>
              <a:rPr sz="3600" b="1" dirty="0" err="1">
                <a:solidFill>
                  <a:srgbClr val="181C23"/>
                </a:solidFill>
                <a:latin typeface="Segoe UI Semibold"/>
              </a:rPr>
              <a:t>ou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3600" b="1" dirty="0" err="1">
                <a:solidFill>
                  <a:srgbClr val="A6F750"/>
                </a:solidFill>
                <a:latin typeface="Segoe UI Semibold"/>
              </a:rPr>
              <a:t>séries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
</a:t>
            </a:r>
            <a:r>
              <a:rPr sz="3600" b="1" dirty="0" err="1">
                <a:solidFill>
                  <a:srgbClr val="181C23"/>
                </a:solidFill>
                <a:latin typeface="Segoe UI Semibold"/>
              </a:rPr>
              <a:t>você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3600" b="1" dirty="0" err="1">
                <a:solidFill>
                  <a:srgbClr val="181C23"/>
                </a:solidFill>
                <a:latin typeface="Segoe UI Semibold"/>
              </a:rPr>
              <a:t>recomenda</a:t>
            </a:r>
            <a:r>
              <a:rPr sz="3600" b="1" dirty="0">
                <a:solidFill>
                  <a:srgbClr val="181C23"/>
                </a:solidFill>
                <a:latin typeface="Segoe UI Semibold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85032"/>
            <a:ext cx="340156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181C23"/>
                </a:solidFill>
                <a:latin typeface="Segoe UI"/>
              </a:rPr>
              <a:t>Compartilhe 1 título e diga por que vale assistir.</a:t>
            </a:r>
          </a:p>
          <a:p>
            <a:pPr algn="l"/>
            <a:r>
              <a:rPr sz="1100" b="1">
                <a:solidFill>
                  <a:srgbClr val="2371FF"/>
                </a:solidFill>
                <a:latin typeface="Segoe UI Semibold"/>
              </a:rPr>
              <a:t>Sem spoiler.</a:t>
            </a:r>
          </a:p>
        </p:txBody>
      </p:sp>
      <p:pic>
        <p:nvPicPr>
          <p:cNvPr id="7" name="Picture 6" descr="Profissionais de tecnologia assistindo a filmes e séries com pipoca, notebook e claque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1097280"/>
            <a:ext cx="4690872" cy="31272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096512" y="4297680"/>
            <a:ext cx="4690872" cy="50292"/>
          </a:xfrm>
          <a:prstGeom prst="rect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1699" y="4843499"/>
            <a:ext cx="8520599" cy="6000"/>
          </a:xfrm>
          <a:prstGeom prst="rect">
            <a:avLst/>
          </a:prstGeom>
          <a:solidFill>
            <a:srgbClr val="EC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699" y="4883500"/>
            <a:ext cx="7920599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2299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decorativa vs. enforcement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Relatório: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só gera visibilidade — ninguém é obrigado a agir.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Enforcement: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 que muda o resultado da operação — aprova ou bloqueia de fato.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Gate obrigatório: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build inseguro não progride, manifest é rejeitado — falha interrompe o pipeline.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59500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Exceções: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documentadas, aprovadas e auditáveis — nunca bypass silencioso.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Um radar que só fotografa não reduz velocidade. O que muda o comportamento é a multa chegando em casa — e, melhor ainda, a lombada antes da escola.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5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pic>
        <p:nvPicPr>
          <p:cNvPr id="25" name="Picture 24" descr="analogy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300" y="1680000"/>
            <a:ext cx="1850000" cy="21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DOIS MUNDOS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Enforcement em CI/CD vs. em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397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397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67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CI/CD — primeira linha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44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Antes do merge ou deploy, ainda no código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6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825486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Conftest / OPA CLI, direto no pipeline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8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444824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PR, build ou deploy automaticamente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3038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64162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Dev corrige no mesmo PR, sem reabrir ciclo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2000" y="1746148"/>
            <a:ext cx="397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62000" y="1746148"/>
            <a:ext cx="397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12000" y="1746148"/>
            <a:ext cx="367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Runtime — última barreira</a:t>
            </a:r>
          </a:p>
        </p:txBody>
      </p:sp>
      <p:sp>
        <p:nvSpPr>
          <p:cNvPr id="20" name="Oval 19"/>
          <p:cNvSpPr/>
          <p:nvPr/>
        </p:nvSpPr>
        <p:spPr>
          <a:xfrm>
            <a:off x="5012000" y="244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82000" y="2206148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Quando o recurso é criado ou alterado no cluster</a:t>
            </a:r>
          </a:p>
        </p:txBody>
      </p:sp>
      <p:sp>
        <p:nvSpPr>
          <p:cNvPr id="22" name="Oval 21"/>
          <p:cNvSpPr/>
          <p:nvPr/>
        </p:nvSpPr>
        <p:spPr>
          <a:xfrm>
            <a:off x="5012000" y="306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82000" y="2825486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OPA Gatekeeper / Kyverno, admission controller</a:t>
            </a:r>
          </a:p>
        </p:txBody>
      </p:sp>
      <p:sp>
        <p:nvSpPr>
          <p:cNvPr id="24" name="Oval 23"/>
          <p:cNvSpPr/>
          <p:nvPr/>
        </p:nvSpPr>
        <p:spPr>
          <a:xfrm>
            <a:off x="5012000" y="368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82000" y="3444824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Bloqueia criação ou atualização no cluster</a:t>
            </a:r>
          </a:p>
        </p:txBody>
      </p:sp>
      <p:sp>
        <p:nvSpPr>
          <p:cNvPr id="26" name="Oval 25"/>
          <p:cNvSpPr/>
          <p:nvPr/>
        </p:nvSpPr>
        <p:spPr>
          <a:xfrm>
            <a:off x="5012000" y="43038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82000" y="4064162"/>
            <a:ext cx="340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Protege contra bypass, mesmo fora do CI/CD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6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pic>
        <p:nvPicPr>
          <p:cNvPr id="31" name="Picture 30" descr="connector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1251" y="2468436"/>
            <a:ext cx="541498" cy="1952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ADMISSION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2600" b="0" i="0">
                <a:solidFill>
                  <a:srgbClr val="181C23"/>
                </a:solidFill>
                <a:latin typeface="Segoe UI Semibold"/>
              </a:rPr>
              <a:t>Do kubectl apply ao etcd: controles de admissão</a:t>
            </a:r>
            <a:endParaRPr sz="2600" b="0" i="0">
              <a:solidFill>
                <a:srgbClr val="181C23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7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10896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23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>
            <a:spLocks/>
          </p:cNvSpPr>
          <p:nvPr/>
        </p:nvSpPr>
        <p:spPr>
          <a:xfrm>
            <a:off x="411480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>
            <a:spLocks/>
          </p:cNvSpPr>
          <p:nvPr/>
        </p:nvSpPr>
        <p:spPr>
          <a:xfrm>
            <a:off x="758952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kubectl apply</a:t>
            </a:r>
          </a:p>
        </p:txBody>
      </p:sp>
      <p:sp>
        <p:nvSpPr>
          <p:cNvPr id="35" name="Step 1 detail"/>
          <p:cNvSpPr txBox="1"/>
          <p:nvPr/>
        </p:nvSpPr>
        <p:spPr>
          <a:xfrm>
            <a:off x="310896" y="2450592"/>
            <a:ext cx="1938528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950" b="0">
                <a:solidFill>
                  <a:srgbClr val="6A707D"/>
                </a:solidFill>
                <a:latin typeface="Segoe UI"/>
              </a:rPr>
              <a:t>Usuário envia o manifest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23744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7" name="Oval 36"/>
          <p:cNvSpPr>
            <a:spLocks/>
          </p:cNvSpPr>
          <p:nvPr/>
        </p:nvSpPr>
        <p:spPr>
          <a:xfrm>
            <a:off x="2624327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2005489"/>
            <a:ext cx="1408176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API Server</a:t>
            </a:r>
          </a:p>
        </p:txBody>
      </p:sp>
      <p:sp>
        <p:nvSpPr>
          <p:cNvPr id="39" name="Step 2 detail"/>
          <p:cNvSpPr txBox="1">
            <a:spLocks/>
          </p:cNvSpPr>
          <p:nvPr/>
        </p:nvSpPr>
        <p:spPr>
          <a:xfrm>
            <a:off x="2523744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950" b="0">
                <a:solidFill>
                  <a:srgbClr val="6A707D"/>
                </a:solidFill>
                <a:latin typeface="Segoe UI"/>
              </a:rPr>
              <a:t>Autentica, autoriza e valida sintaxe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36592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23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1" name="Oval 40"/>
          <p:cNvSpPr>
            <a:spLocks/>
          </p:cNvSpPr>
          <p:nvPr/>
        </p:nvSpPr>
        <p:spPr>
          <a:xfrm>
            <a:off x="4837176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pt-PT" sz="1100" b="1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84648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PT" sz="1150" b="1">
                <a:solidFill>
                  <a:srgbClr val="FFFDF8"/>
                </a:solidFill>
                <a:latin typeface="Segoe UI Semibold"/>
              </a:rPr>
              <a:t>Webhook Gatekeeper</a:t>
            </a:r>
          </a:p>
        </p:txBody>
      </p:sp>
      <p:sp>
        <p:nvSpPr>
          <p:cNvPr id="43" name="Step 3 detail"/>
          <p:cNvSpPr txBox="1"/>
          <p:nvPr/>
        </p:nvSpPr>
        <p:spPr>
          <a:xfrm>
            <a:off x="4736592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A707D"/>
                </a:solidFill>
                <a:latin typeface="Segoe UI"/>
              </a:rPr>
              <a:t>Avalia todas as Constraints aplicáveis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9440" y="1847088"/>
            <a:ext cx="1938528" cy="521207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050024" y="1947672"/>
            <a:ext cx="274320" cy="274320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7496" y="1911095"/>
            <a:ext cx="140817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DF8"/>
                </a:solidFill>
                <a:latin typeface="Segoe UI Semibold"/>
              </a:rPr>
              <a:t>Admitido / Negado</a:t>
            </a:r>
          </a:p>
        </p:txBody>
      </p:sp>
      <p:sp>
        <p:nvSpPr>
          <p:cNvPr id="47" name="Step 4 detail"/>
          <p:cNvSpPr txBox="1"/>
          <p:nvPr/>
        </p:nvSpPr>
        <p:spPr>
          <a:xfrm>
            <a:off x="6949440" y="2450592"/>
            <a:ext cx="1938528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A707D"/>
                </a:solidFill>
                <a:latin typeface="Segoe UI"/>
              </a:rPr>
              <a:t>deny rejeita; permitido persiste no etcd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2295144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ight Arrow 48"/>
          <p:cNvSpPr/>
          <p:nvPr/>
        </p:nvSpPr>
        <p:spPr>
          <a:xfrm>
            <a:off x="4507992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6720840" y="2011680"/>
            <a:ext cx="164592" cy="164592"/>
          </a:xfrm>
          <a:prstGeom prst="rightArrow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3026664"/>
            <a:ext cx="4279392" cy="1594445"/>
          </a:xfrm>
          <a:prstGeom prst="rect">
            <a:avLst/>
          </a:prstGeom>
          <a:ln w="9525">
            <a:solidFill>
              <a:srgbClr val="ECEDF3"/>
            </a:solidFill>
          </a:ln>
        </p:spPr>
      </p:pic>
      <p:sp>
        <p:nvSpPr>
          <p:cNvPr id="52" name="Diagram caption"/>
          <p:cNvSpPr txBox="1"/>
          <p:nvPr/>
        </p:nvSpPr>
        <p:spPr>
          <a:xfrm>
            <a:off x="310896" y="4645152"/>
            <a:ext cx="42793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A707D"/>
                </a:solidFill>
                <a:latin typeface="Segoe UI"/>
              </a:rPr>
              <a:t>Fluxo da Kubernetes API e seus admission webhooks.</a:t>
            </a:r>
          </a:p>
        </p:txBody>
      </p:sp>
      <p:sp>
        <p:nvSpPr>
          <p:cNvPr id="53" name="Oval 52"/>
          <p:cNvSpPr/>
          <p:nvPr/>
        </p:nvSpPr>
        <p:spPr>
          <a:xfrm>
            <a:off x="4791456" y="3026664"/>
            <a:ext cx="265176" cy="265176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8072" y="3017520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371FF"/>
                </a:solidFill>
                <a:latin typeface="Segoe UI Semibold"/>
              </a:rPr>
              <a:t>Mutating admission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6" y="3401568"/>
            <a:ext cx="2048256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707D"/>
                </a:solidFill>
                <a:latin typeface="Segoe UI"/>
              </a:rPr>
              <a:t>Ocorre primeiro e pode alterar o manifesto — por exemplo, adicionando labels ou tolerations.</a:t>
            </a:r>
          </a:p>
        </p:txBody>
      </p:sp>
      <p:sp>
        <p:nvSpPr>
          <p:cNvPr id="56" name="Oval 55"/>
          <p:cNvSpPr/>
          <p:nvPr/>
        </p:nvSpPr>
        <p:spPr>
          <a:xfrm>
            <a:off x="6995160" y="3026664"/>
            <a:ext cx="265176" cy="265176"/>
          </a:xfrm>
          <a:prstGeom prst="ellipse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1776" y="3017520"/>
            <a:ext cx="17556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371FF"/>
                </a:solidFill>
                <a:latin typeface="Segoe UI Semibold"/>
              </a:rPr>
              <a:t>Validating admission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3401568"/>
            <a:ext cx="2048256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A707D"/>
                </a:solidFill>
                <a:latin typeface="Segoe UI"/>
              </a:rPr>
              <a:t>Após validar o esquema, aplica segurança e conformidade. Violações, como executar como root, são rejeitadas antes do etcd.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 MOTOR POR 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0" i="0" dirty="0">
                <a:solidFill>
                  <a:srgbClr val="181C23"/>
                </a:solidFill>
                <a:latin typeface="Segoe UI Semibold"/>
              </a:rPr>
              <a:t>Gatekeeper = OPA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 (Open </a:t>
            </a:r>
            <a:r>
              <a:rPr lang="pt-PT" sz="2500" b="0" i="0" dirty="0" err="1">
                <a:solidFill>
                  <a:srgbClr val="181C23"/>
                </a:solidFill>
                <a:latin typeface="Segoe UI Semibold"/>
              </a:rPr>
              <a:t>Policy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500" b="0" i="0" dirty="0" err="1">
                <a:solidFill>
                  <a:srgbClr val="181C23"/>
                </a:solidFill>
                <a:latin typeface="Segoe UI Semibold"/>
              </a:rPr>
              <a:t>Agent</a:t>
            </a:r>
            <a:r>
              <a:rPr lang="pt-PT" sz="2500" b="0" i="0" dirty="0">
                <a:solidFill>
                  <a:srgbClr val="181C23"/>
                </a:solidFill>
                <a:latin typeface="Segoe UI Semibold"/>
              </a:rPr>
              <a:t>)</a:t>
            </a:r>
            <a:r>
              <a:rPr sz="25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2500" b="0" i="0" dirty="0" err="1">
                <a:solidFill>
                  <a:srgbClr val="181C23"/>
                </a:solidFill>
                <a:latin typeface="Segoe UI Semibold"/>
              </a:rPr>
              <a:t>dentro</a:t>
            </a:r>
            <a:r>
              <a:rPr sz="2500" b="0" i="0" dirty="0">
                <a:solidFill>
                  <a:srgbClr val="181C23"/>
                </a:solidFill>
                <a:latin typeface="Segoe UI Semibold"/>
              </a:rPr>
              <a:t> do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2287832"/>
            <a:ext cx="4394712" cy="1693983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sacoplamento-o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347832"/>
            <a:ext cx="4274712" cy="1573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Material do aluno (figura criada por IA)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Mesmo OPA: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input agora é o AdmissionReview do Kubernetes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503464"/>
            <a:ext cx="3525888" cy="4053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>
                <a:solidFill>
                  <a:srgbClr val="181C23"/>
                </a:solidFill>
                <a:latin typeface="Segoe UI Semibold"/>
              </a:rPr>
              <a:t>CRDs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(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Custom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Resource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1300" b="0" i="0" dirty="0" err="1">
                <a:solidFill>
                  <a:srgbClr val="181C23"/>
                </a:solidFill>
                <a:latin typeface="Segoe UI Semibold"/>
              </a:rPr>
              <a:t>Definitions</a:t>
            </a:r>
            <a:r>
              <a:rPr lang="pt-PT" sz="1300" b="0" i="0" dirty="0">
                <a:solidFill>
                  <a:srgbClr val="181C23"/>
                </a:solidFill>
                <a:latin typeface="Segoe UI Semibold"/>
              </a:rPr>
              <a:t>)</a:t>
            </a:r>
            <a:r>
              <a:rPr sz="13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políticas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viram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recursos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versionáveis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do cluster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ConstraintTemplate: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define a política Rego e seus parâmetros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Constraint: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instancia com escopo, parâmetros e 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8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dirty="0">
                <a:solidFill>
                  <a:srgbClr val="181C23"/>
                </a:solidFill>
                <a:latin typeface="Segoe UI Semibold"/>
              </a:rPr>
              <a:t>Rego </a:t>
            </a:r>
            <a:r>
              <a:rPr sz="2600" b="0" i="0" dirty="0" err="1">
                <a:solidFill>
                  <a:srgbClr val="181C23"/>
                </a:solidFill>
                <a:latin typeface="Segoe UI Semibold"/>
              </a:rPr>
              <a:t>dentro</a:t>
            </a:r>
            <a:r>
              <a:rPr sz="2600" b="0" i="0" dirty="0">
                <a:solidFill>
                  <a:srgbClr val="181C23"/>
                </a:solidFill>
                <a:latin typeface="Segoe UI Semibold"/>
              </a:rPr>
              <a:t> de um CRD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(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Custom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Resource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lang="pt-PT" sz="2600" b="0" i="0" dirty="0" err="1">
                <a:solidFill>
                  <a:srgbClr val="181C23"/>
                </a:solidFill>
                <a:latin typeface="Segoe UI Semibold"/>
              </a:rPr>
              <a:t>Definitions</a:t>
            </a:r>
            <a:r>
              <a:rPr lang="pt-PT" sz="2600" b="0" i="0" dirty="0">
                <a:solidFill>
                  <a:srgbClr val="181C23"/>
                </a:solidFill>
                <a:latin typeface="Segoe UI Semibold"/>
              </a:rPr>
              <a:t>)</a:t>
            </a:r>
            <a:endParaRPr sz="2600" b="0" i="0" dirty="0">
              <a:solidFill>
                <a:srgbClr val="181C23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Define o tipo K8sPSPRunAsNonRoot e a regra violation: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 dirty="0" err="1">
                <a:solidFill>
                  <a:srgbClr val="A6F750"/>
                </a:solidFill>
                <a:latin typeface="Consolas"/>
              </a:rPr>
              <a:t>apiVersion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templates.gatekeeper.sh/v1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kind: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ConstraintTemplate</a:t>
            </a:r>
            <a:endParaRPr sz="9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metadata: { name: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k8spsprunasnonroot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 }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</a:t>
            </a:r>
            <a:r>
              <a:rPr sz="900" b="0" i="0" dirty="0" err="1">
                <a:solidFill>
                  <a:srgbClr val="A6F750"/>
                </a:solidFill>
                <a:latin typeface="Consolas"/>
              </a:rPr>
              <a:t>crd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{ spec: { names: { kind: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K8sPSPRunAsNonRoot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 } } }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targets: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- target: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admission.k8s.gatekeeper.sh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  </a:t>
            </a:r>
            <a:r>
              <a:rPr sz="900" b="0" i="0" dirty="0" err="1">
                <a:solidFill>
                  <a:srgbClr val="A6F750"/>
                </a:solidFill>
                <a:latin typeface="Consolas"/>
              </a:rPr>
              <a:t>rego</a:t>
            </a:r>
            <a:r>
              <a:rPr sz="900" b="0" i="0" dirty="0">
                <a:solidFill>
                  <a:srgbClr val="A6F750"/>
                </a:solidFill>
                <a:latin typeface="Consolas"/>
              </a:rPr>
              <a:t>: |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A6F750"/>
                </a:solidFill>
                <a:latin typeface="Consolas"/>
              </a:rPr>
              <a:t>        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package k8spsprunasnonroot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violation[{"msg": msg}] {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c :=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input.review.object.spec.containers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not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c.securityContext.runAsNonRoot</a:t>
            </a:r>
            <a:endParaRPr sz="9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    msg :=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sprintf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("'%v'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deve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declarar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900" b="0" i="0" dirty="0" err="1">
                <a:solidFill>
                  <a:srgbClr val="00B0F0"/>
                </a:solidFill>
                <a:latin typeface="Consolas"/>
              </a:rPr>
              <a:t>runAsNonRoot</a:t>
            </a:r>
            <a:r>
              <a:rPr sz="900" b="0" i="0" dirty="0">
                <a:solidFill>
                  <a:srgbClr val="00B0F0"/>
                </a:solidFill>
                <a:latin typeface="Consolas"/>
              </a:rPr>
              <a:t>.", [c.name])</a:t>
            </a:r>
          </a:p>
          <a:p>
            <a:pPr algn="l">
              <a:lnSpc>
                <a:spcPct val="112000"/>
              </a:lnSpc>
            </a:pPr>
            <a:r>
              <a:rPr sz="900" b="0" i="0" dirty="0">
                <a:solidFill>
                  <a:srgbClr val="00B0F0"/>
                </a:solidFill>
                <a:latin typeface="Consolas"/>
              </a:rPr>
              <a:t>       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9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Escopo, parâmetros e 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Aplica o template a Pods de produção e staging, bloqueando: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074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 err="1">
                <a:solidFill>
                  <a:srgbClr val="A6F750"/>
                </a:solidFill>
                <a:latin typeface="Consolas"/>
              </a:rPr>
              <a:t>apiVersion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constraints.gatekeeper.sh/v1beta1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kind: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K8sPSPRunAsNonRoot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metadata: { name: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pods-must-run-as-non-root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}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spec: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enforcementAction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deny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     #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dryrun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 | warn | deny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match: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kinds: [{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apiGroups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[""]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, kinds: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["Pod"] 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}]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namespaces: [production, staging]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excludedNamespaces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</a:t>
            </a:r>
            <a:r>
              <a:rPr sz="1100" b="0" i="0" dirty="0" err="1">
                <a:solidFill>
                  <a:srgbClr val="00B0F0"/>
                </a:solidFill>
                <a:latin typeface="Consolas"/>
              </a:rPr>
              <a:t>kube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-system, gatekeeper-system]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parameters:</a:t>
            </a:r>
          </a:p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1100" b="0" i="0" dirty="0" err="1">
                <a:solidFill>
                  <a:srgbClr val="A6F750"/>
                </a:solidFill>
                <a:latin typeface="Consolas"/>
              </a:rPr>
              <a:t>exemptImages</a:t>
            </a:r>
            <a:r>
              <a:rPr sz="1100" b="0" i="0" dirty="0">
                <a:solidFill>
                  <a:srgbClr val="A6F750"/>
                </a:solidFill>
                <a:latin typeface="Consolas"/>
              </a:rPr>
              <a:t>: </a:t>
            </a:r>
            <a:r>
              <a:rPr sz="1100" b="0" i="0" dirty="0">
                <a:solidFill>
                  <a:srgbClr val="00B0F0"/>
                </a:solidFill>
                <a:latin typeface="Consolas"/>
              </a:rPr>
              <a:t>["gcr.io/google-containers/pause"]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10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ROLLOUT 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dryrun → warn → deny →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dryrun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Avalia e registra em status, sem bloquear. 2 a 4 semanas.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warn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Permite, mas avisa o cliente. Onboarding gradual.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Rejeita o recurso. Só após cobrir exceções.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Varre recursos existentes periodicamente: status.violations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Como mudar o limite de velocidade de uma rua: primeiro placa educativa, depois aviso, depois multa — e o radar fixo continua medindo quem já estava lá.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11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Gate obrigatório no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Conftest + opa test rodando em todo pull request: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2304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name: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Policy Gate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on: { </a:t>
            </a:r>
            <a:r>
              <a:rPr sz="1000" b="0" i="0" dirty="0" err="1">
                <a:solidFill>
                  <a:srgbClr val="A6F750"/>
                </a:solidFill>
                <a:latin typeface="Consolas"/>
              </a:rPr>
              <a:t>pull_request</a:t>
            </a:r>
            <a:r>
              <a:rPr sz="1000" b="0" i="0" dirty="0">
                <a:solidFill>
                  <a:srgbClr val="A6F750"/>
                </a:solidFill>
                <a:latin typeface="Consolas"/>
              </a:rPr>
              <a:t>: { branches: [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main</a:t>
            </a:r>
            <a:r>
              <a:rPr sz="1000" b="0" i="0" dirty="0">
                <a:solidFill>
                  <a:srgbClr val="A6F750"/>
                </a:solidFill>
                <a:latin typeface="Consolas"/>
              </a:rPr>
              <a:t>] } }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jobs: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policy-check: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runs-on: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ubuntu-latest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steps: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uses: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actions/checkout@b4ffde65f46336ab88eb53be808477a3936bae11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em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Dockerfiles</a:t>
            </a:r>
            <a:endParaRPr sz="10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Dockerfile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--policy policies/docker/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em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manifests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conftest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k8s/*.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yaml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--policy policies/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kubernetes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/</a:t>
            </a: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- name: 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Testes das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políticas</a:t>
            </a:r>
            <a:endParaRPr sz="1000" b="0" i="0" dirty="0">
              <a:solidFill>
                <a:srgbClr val="00B0F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dirty="0">
                <a:solidFill>
                  <a:srgbClr val="A6F750"/>
                </a:solidFill>
                <a:latin typeface="Consolas"/>
              </a:rPr>
              <a:t>        run: </a:t>
            </a:r>
            <a:r>
              <a:rPr sz="1000" b="0" i="0" dirty="0" err="1">
                <a:solidFill>
                  <a:srgbClr val="00B0F0"/>
                </a:solidFill>
                <a:latin typeface="Consolas"/>
              </a:rPr>
              <a:t>opa</a:t>
            </a:r>
            <a:r>
              <a:rPr sz="1000" b="0" i="0" dirty="0">
                <a:solidFill>
                  <a:srgbClr val="00B0F0"/>
                </a:solidFill>
                <a:latin typeface="Consolas"/>
              </a:rPr>
              <a:t> test policies/ -v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12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do Conftest ao Gatekeeper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Cluster: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kind create cluster --name policy-lab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Instalar: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Gatekeeper e aguardar pods em gatekeeper-system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Aplicar: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ConstraintTemplate + Constraint (dryrun → deny)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Testar: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Pod sem securityContext → Forbidden; corrigir → criado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Inspecionar: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kubectl get constraint ... -o yaml → status.violations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Template, Constraint, manifests inseguro/seguro e a mensagem de bloqueio capturada. Runbook: labs/Aula_03_Runbook.md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13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Enforcement transforma política em gate: CI/CD dá feedback cedo, Gatekeeper garante no cluster.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ConstraintTemplate define a regra; Constraint define escopo, parâmetros e 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Rollout gradual: dryrun → warn → deny, com exceções documentadas.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Audit contínuo encontra recursos não-conformes já existentes.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Enforcement: OPA Gatekeeper e Admission Control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14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5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SBOM — Fundamentos, SPDX e CycloneDX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1872</Words>
  <Application>Microsoft Office PowerPoint</Application>
  <PresentationFormat>On-screen Show (16:9)</PresentationFormat>
  <Paragraphs>273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Lato</vt:lpstr>
      <vt:lpstr>Segoe UI Light</vt:lpstr>
      <vt:lpstr>Ubuntu Light</vt:lpstr>
      <vt:lpstr>Consolas</vt:lpstr>
      <vt:lpstr>Segoe UI</vt:lpstr>
      <vt:lpstr>Arial</vt:lpstr>
      <vt:lpstr>Ubuntu</vt:lpstr>
      <vt:lpstr>Segoe UI Semibold</vt:lpstr>
      <vt:lpstr>Ubuntu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Benedicto, Everton Jose (SI B IT PES PLT)</dc:creator>
  <cp:lastModifiedBy>Benedicto, Everton Jose (SI B IT PES PLT)</cp:lastModifiedBy>
  <cp:revision>7</cp:revision>
  <dcterms:modified xsi:type="dcterms:W3CDTF">2026-10-21T21:10:47Z</dcterms:modified>
</cp:coreProperties>
</file>