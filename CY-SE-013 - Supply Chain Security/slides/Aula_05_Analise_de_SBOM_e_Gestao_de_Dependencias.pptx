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11"/>
    <p:sldId id="257" r:id="rId10"/>
    <p:sldId id="258" r:id="rId9"/>
    <p:sldId id="259" r:id="rId8"/>
    <p:sldId id="260" r:id="rId7"/>
    <p:sldId id="261" r:id="rId6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</p:sldIdLst>
  <p:sldSz cy="5143500" cx="9144000"/>
  <p:notesSz cx="6858000" cy="9144000"/>
  <p:embeddedFontLst>
    <p:embeddedFont>
      <p:font typeface="Ubuntu Light"/>
      <p:regular r:id="rId12"/>
      <p:bold r:id="rId13"/>
      <p:italic r:id="rId14"/>
      <p:boldItalic r:id="rId15"/>
    </p:embeddedFont>
    <p:embeddedFont>
      <p:font typeface="Ubuntu"/>
      <p:regular r:id="rId16"/>
      <p:bold r:id="rId17"/>
      <p:italic r:id="rId18"/>
      <p:boldItalic r:id="rId19"/>
    </p:embeddedFont>
    <p:embeddedFont>
      <p:font typeface="Ubuntu Medium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  <p:embeddedFont>
      <p:font typeface="Fira Code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font" Target="fonts/UbuntuLight-regular.fntdata"/><Relationship Id="rId13" Type="http://schemas.openxmlformats.org/officeDocument/2006/relationships/font" Target="fonts/UbuntuLight-bold.fntdata"/><Relationship Id="rId14" Type="http://schemas.openxmlformats.org/officeDocument/2006/relationships/font" Target="fonts/UbuntuLight-italic.fntdata"/><Relationship Id="rId15" Type="http://schemas.openxmlformats.org/officeDocument/2006/relationships/font" Target="fonts/UbuntuLight-boldItalic.fntdata"/><Relationship Id="rId16" Type="http://schemas.openxmlformats.org/officeDocument/2006/relationships/font" Target="fonts/Ubuntu-regular.fntdata"/><Relationship Id="rId17" Type="http://schemas.openxmlformats.org/officeDocument/2006/relationships/font" Target="fonts/Ubuntu-bold.fntdata"/><Relationship Id="rId18" Type="http://schemas.openxmlformats.org/officeDocument/2006/relationships/font" Target="fonts/Ubuntu-italic.fntdata"/><Relationship Id="rId19" Type="http://schemas.openxmlformats.org/officeDocument/2006/relationships/font" Target="fonts/Ubuntu-boldItalic.fntdata"/><Relationship Id="rId20" Type="http://schemas.openxmlformats.org/officeDocument/2006/relationships/font" Target="fonts/UbuntuMedium-regular.fntdata"/><Relationship Id="rId21" Type="http://schemas.openxmlformats.org/officeDocument/2006/relationships/font" Target="fonts/UbuntuMedium-bold.fntdata"/><Relationship Id="rId22" Type="http://schemas.openxmlformats.org/officeDocument/2006/relationships/font" Target="fonts/UbuntuMedium-italic.fntdata"/><Relationship Id="rId23" Type="http://schemas.openxmlformats.org/officeDocument/2006/relationships/font" Target="fonts/UbuntuMedium-boldItalic.fntdata"/><Relationship Id="rId24" Type="http://schemas.openxmlformats.org/officeDocument/2006/relationships/font" Target="fonts/Lato-regular.fntdata"/><Relationship Id="rId25" Type="http://schemas.openxmlformats.org/officeDocument/2006/relationships/font" Target="fonts/Lato-bold.fntdata"/><Relationship Id="rId26" Type="http://schemas.openxmlformats.org/officeDocument/2006/relationships/font" Target="fonts/Lato-italic.fntdata"/><Relationship Id="rId27" Type="http://schemas.openxmlformats.org/officeDocument/2006/relationships/font" Target="fonts/Lato-boldItalic.fntdata"/><Relationship Id="rId28" Type="http://schemas.openxmlformats.org/officeDocument/2006/relationships/font" Target="fonts/FiraCode-regular.fntdata"/><Relationship Id="rId29" Type="http://schemas.openxmlformats.org/officeDocument/2006/relationships/font" Target="fonts/FiraCode-bold.fntdata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Abertura da Aula 05: Análise de SBOM e Gestão de Dependências.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/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Retome o SBOM da Aula 4: gerar é metade. Hoje o valor surge quando uma plataforma correlaciona componentes com bases de vulnerabilidade e dispara correções.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 min</a:t>
            </a:r>
          </a:p>
          <a:p/>
          <a:p>
            <a:r>
              <a:t>Analogia para explicar: é o vigia do supermercado — você só entrega a lista de ingredientes de cada produto na entrada, e ele sozinho compara com a lista de recalls e aponta a prateleira perigosa, sem ninguém indo conferir produto por produto. Deixe claro o papel da ferramenta: ela detecta e avisa, não bloqueia nada sozinha. Quem decide bloquear o pipeline é a política (próximos slides) — o Dependency-Track é só o motor de busca de vulnerabilidades da organização.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Enfatize o ciclo: a saída (novo build) realimenta a entrada (novo SBOM). De esforço reativo para processo preventivo.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CVSS mede severidade técnica; EPSS mede probabilidade de exploração. Priorização boa combina os dois com contexto da aplicação.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Mostre o docker-compose (apiserver + frontend). Reforce: API key em secret do CI. DefectDojo consolida findings de várias ferramentas (SAST, DAST, SCA) em uma visão única.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/>
          <a:p>
            <a:r>
              <a:t>Policy no Dependency-Track = condição + ação. A cor de cada círculo já indica a severidade: vermelho = FAIL, âmbar = WARN. Discuta exceções com prazo: aceitar risco é decisão documentada, não ausência de decisão.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Leia o comando: lookup do projeto (UUID), lista de violações, filtro por FAIL, exit 1. É o mesmo padrão de gate das Aulas 1–3, agora alimentado pelo SBOM. A linha final em vermelho é o ponto de bloqueio.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/>
          <a:p>
            <a:r>
              <a:t>Apresente as duas ferramentas de forma leve antes da comparação técnica: ambas são bots de atualização automática de dependências, a diferença é o quanto cada uma permite configurar.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/>
          <a:p>
            <a:r>
              <a:t>Descobrir é metade; atualizar sem quebrar é a outra. Mostre o exemplo de automerge para patch/minor e aprovação manual para major. Os selos D/R no topo de cada card ajudam a identificar rapidamente qual ferramenta é qual.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/>
          <a:p>
            <a:r>
              <a:t>Leia a saída: pacote, versão vulnerável, identificador GHSA e a versão com correção (Fix). --strict transforma essa checagem num gate real de CI, igual ao exit 1 das Aulas 1–3.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/>
          <a:p>
            <a:r>
              <a:t>OWASP Top 10 for LLM recomenda tratar modelos como dependências: procedência, hash e licença no SBOM. Lockfiles com hash (poetry, pipenv) são preferíveis a requirements.txt solto. As cores seguem o padrão de risco já usado nas policies: vermelho = sem cobertura hoje, âmbar = precisa de SBOM estendido, verde = já coberto.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75 min</a:t>
            </a:r>
          </a:p>
          <a:p/>
          <a:p>
            <a:r>
              <a:t>O backend demora alguns minutos para inicializar — use o tempo para a discussão de policies. API key só em variável de ambiente.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/>
          <a:p>
            <a:r>
              <a:t>Pergunta: CVSS basta para priorizar? Não — EPSS e contexto. Ponte: Aula 6 olha a cadeia pelos olhos do atacante.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/>
          <a:p>
            <a:r>
              <a:t>Sugira a leitura prévia dos casos SolarWinds e XZ Utils no material.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a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2" type="title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sor">
  <p:cSld name="CUSTOM_2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/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/>
          <p:nvPr>
            <p:ph idx="2" type="subTitle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yout Limpo">
  <p:cSld name="CUSTOM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fismo ADA">
  <p:cSld name="CUSTOM_1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errament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BF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vd.nist.gov/" TargetMode="External"/><Relationship Id="rId4" Type="http://schemas.openxmlformats.org/officeDocument/2006/relationships/hyperlink" Target="https://osv.dev/" TargetMode="External"/><Relationship Id="rId5" Type="http://schemas.openxmlformats.org/officeDocument/2006/relationships/hyperlink" Target="https://github.com/advisories" TargetMode="External"/><Relationship Id="rId6" Type="http://schemas.openxmlformats.org/officeDocument/2006/relationships/hyperlink" Target="https://www.first.org/epss/" TargetMode="Externa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dependabot" TargetMode="External"/><Relationship Id="rId4" Type="http://schemas.openxmlformats.org/officeDocument/2006/relationships/hyperlink" Target="https://docs.renovatebot.com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 u="none">
                <a:solidFill>
                  <a:srgbClr val="A6F750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2371FF"/>
                </a:solidFill>
                <a:latin typeface="Segoe UI Semibold"/>
              </a:rPr>
              <a:t>AULA 05  ·  Segunda, 26/10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 u="none">
                <a:solidFill>
                  <a:srgbClr val="181C23"/>
                </a:solidFill>
                <a:latin typeface="Segoe UI Semibold"/>
              </a:rPr>
              <a:t>Análise de SBOM e Gestão de Dependências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 u="none">
                <a:solidFill>
                  <a:srgbClr val="6A707D"/>
                </a:solidFill>
                <a:latin typeface="Segoe UI Light"/>
              </a:rPr>
              <a:t>Como descobrir em minutos se você é afetado por uma nova CVE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 u="none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A6F750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FFFDF8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0" i="0" u="none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 u="none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 u="none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Log4Shell em segundos ou em dias?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130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07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720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2371FF"/>
                </a:solidFill>
                <a:latin typeface="Segoe UI Semibold"/>
              </a:rPr>
              <a:t>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00" y="1746148"/>
            <a:ext cx="351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 u="none">
                <a:solidFill>
                  <a:srgbClr val="FFFDF8"/>
                </a:solidFill>
                <a:latin typeface="Segoe UI Semibold"/>
              </a:rPr>
              <a:t>Gestão imatura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2260706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700" y="2206148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grep -r "log4j-core" repositório por repositório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250982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700" y="2455265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Dias para mapear apps com a CVE-2021-44228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2758940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700" y="2704382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Resposta depende da memória de alguém da equipe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130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623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23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A6F750"/>
                </a:solidFill>
                <a:latin typeface="Segoe UI Semibold"/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2000" y="1746148"/>
            <a:ext cx="351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 u="none">
                <a:solidFill>
                  <a:srgbClr val="181C23"/>
                </a:solidFill>
                <a:latin typeface="Segoe UI Semibold"/>
              </a:rPr>
              <a:t>Gestão madura (SBOM + Dependency-Track)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2260706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2000" y="2206148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SBOM correlacionado com NVD, OSV e GHSA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250982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2000" y="2455265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Dashboard lista apps e severidade em minutos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2758940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2000" y="2704382"/>
            <a:ext cx="3560300" cy="2491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Alerta e remediação disparam antes do ataque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CVE — Common Vulnerabilities and Exposures   ·   NVD — National Vulnerability Database   ·   OSV — Open Source Vulnerabilities   ·   GHSA — GitHub Security Advisory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1700" y="320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11700" y="320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1700" y="329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700" y="354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 u="none">
                <a:solidFill>
                  <a:srgbClr val="181C23"/>
                </a:solidFill>
                <a:latin typeface="Segoe UI"/>
              </a:rPr>
              <a:t>Ter a lista de ingredientes (o SBOM) é só o primeiro passo; quem salva é o sistema que cruza o recall com todos os produtos e já aciona a retirada — a diferença não são os engenheiros, é a infraestrutura de governança.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CONHEÇA A FERRAMENTA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O que é o Dependency-Track?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2326866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Você entrega o SBOM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2546866" cy="120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A 'lista de ingredientes' do seu app chega pela API — nenhuma planilha, nenhum grep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48566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8566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08566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566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566" y="2326148"/>
            <a:ext cx="2326866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Ele cruza sozinho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8566" y="2836148"/>
            <a:ext cx="2546866" cy="120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Compara cada componente com NVD, OSV e GHSA, 24h por dia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35432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5432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95432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5432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5432" y="2326148"/>
            <a:ext cx="2326866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O dashboard avisa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5432" y="2836148"/>
            <a:ext cx="2546866" cy="120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Mostra CVEs, severidade e licenças por app, em minutos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API — Application Programming Interface   ·   NVD — National Vulnerability Database   ·   OSV — Open Source Vulnerabilities   ·   GHSA — GitHub Security Advisory   ·   CVE — Common Vulnerabilities and Exposures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CICLO FECHADO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Gestão contínua de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13212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SBOM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35212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Gerado em cada build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5382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0382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1382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382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3820" y="2326148"/>
            <a:ext cx="113212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Dependency-Track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820" y="2836148"/>
            <a:ext cx="135212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Correlaciona PURLs com NVD, OSV, GitHub Advisory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54594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9594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0594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594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940" y="2326148"/>
            <a:ext cx="113212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Policy / alerta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5940" y="2836148"/>
            <a:ext cx="135212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FAIL para CVE crítica; Slack, Jira, webhook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3806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8806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9806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806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8060" y="2326148"/>
            <a:ext cx="113212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PR automático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88060" y="2836148"/>
            <a:ext cx="135212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Dependabot ou Renovate propõem a correção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3018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8018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9018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0180" y="2036148"/>
            <a:ext cx="2600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0180" y="2326148"/>
            <a:ext cx="113212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Pipeline valida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0180" y="2836148"/>
            <a:ext cx="1352120" cy="194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Testes + políticas Rego; merge; novo SBOM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FONTES DE VERDADE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Bases de vulnerabilidade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3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3"/>
              </a:rPr>
              <a:t>NVD (NIST):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CVEs com pontuação CVSS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09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20961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79618"/>
            <a:ext cx="8020600" cy="43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4"/>
              </a:rPr>
              <a:t>OSV (Google):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vulnerabilidades por ecossistema open source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643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64308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613088"/>
            <a:ext cx="8020600" cy="43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5"/>
              </a:rPr>
              <a:t>GitHub Advisory Database: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CVEs e advisories de pacotes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076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307655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046558"/>
            <a:ext cx="8020600" cy="43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6"/>
              </a:rPr>
              <a:t>EPSS (FIRST):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probabilidade real de exploração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510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1700" y="351002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480028"/>
            <a:ext cx="8020600" cy="43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Combinação: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NVD + OSV + GHSA cobrem quase todo o espaço relevante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4063500"/>
            <a:ext cx="8520600" cy="72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700" y="414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700" y="4333500"/>
            <a:ext cx="8120600" cy="39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NVD — National Vulnerability Database   ·   NIST — National Institute of Standards and Technology   ·   OSV — Open Source Vulnerabilities   ·   CVE — Common Vulnerabilities and Exposures   ·   CVSS — Common Vulnerability Scoring System   ·   EPSS — Exploit Prediction Scoring System   ·   FIRST — Forum of Incident Response and Security Teams   ·   GHSA — GitHub Security Advisory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DEPENDENCY-TRACK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Ingestão via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É a chamada que 'entrega o SBOM' do slide anterior: 1 projeto = 1 app/componente; autoCreate=true cadastra o projeto sozinho, no primeiro envio: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export DT_URL="http://localhost:8081"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export DT_KEY="&lt;api-key em variável, nunca no Git&gt;"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curl -X POST "${DT_URL}/api/v1/bom"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-H "X-Api-Key: ${DT_KEY}"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"autoCreate=true"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"projectName=minha-api"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"projectVersion=1.2.3"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"bom=@sbom.cdx.json"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em segundos: componentes, CVEs e licenças aparecem no dashboard,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já cruzados com NVD, OSV e GHSA — sem grep, sem planilha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Políticas de aceite e risco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261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Sem CVE crítica: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Severity == CRITICAL → FAIL — bloqueia o deploy imediatamente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03761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700" y="203761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007618"/>
            <a:ext cx="8020600" cy="261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CVE alta envelhecida: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HIGH aberta há &gt; 30 dias sem correção → FAIL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29908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1700" y="229908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269088"/>
            <a:ext cx="8020600" cy="261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Licença proibida: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GPL-3.0 ou AGPL-3.0 (copyleft forte) → FAIL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560558"/>
            <a:ext cx="300000" cy="300000"/>
          </a:xfrm>
          <a:prstGeom prst="ellipse">
            <a:avLst/>
          </a:prstGeom>
          <a:solidFill>
            <a:srgbClr val="FF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700" y="256055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530558"/>
            <a:ext cx="8020600" cy="261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Componente desatualizado: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sem release há &gt; 2 anos, provável abandono → WARN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2822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1700" y="282202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2792028"/>
            <a:ext cx="8020600" cy="261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Ações da policy: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FAIL bloqueia o pipeline; WARN só alerta; INFO apenas registra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CVE — Common Vulnerabilities and Exposures   ·   FAIL — estado que bloqueia o pipeline   ·   WARN — estado que alerta sem bloquear   ·   INFO — estado apenas registrado   ·   GPL-3.0 — GNU General Public License v3   ·   AGPL-3.0 — GNU Affero General Public License v3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1700" y="320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1700" y="320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1700" y="3293500"/>
            <a:ext cx="81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700" y="3543500"/>
            <a:ext cx="81206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 u="none">
                <a:solidFill>
                  <a:srgbClr val="181C23"/>
                </a:solidFill>
                <a:latin typeface="Segoe UI"/>
              </a:rPr>
              <a:t>É o regulamento do porto: carga com contrabando não desembarca (FAIL), carga com documentação vencida recebe aviso (WARN), o resto só é registrado.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Bloqueando o pipeline pela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Consulta as violações FAIL via API do Dependency-Track e decide: pipeline segue ou é bloqueado: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04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158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PROJECT_UUID=$(curl -s -H "X-Api-Key: ${DT_KEY}"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"${DT_URL}/api/v1/project/lookup?name=lab-node14&amp;version=baseline"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-r .uuid)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VIOLATIONS=$(curl -s -H "X-Api-Key: ${DT_KEY}"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"${DT_URL}/api/v1/violation/project/${PROJECT_UUID}"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'[.[] | select(.policyCondition.policy.violationState == "FAIL")]'\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length)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echo "Violações: $VIOLATIONS"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FF234F"/>
                </a:solidFill>
                <a:latin typeface="Consolas"/>
              </a:rPr>
              <a:t>test "$VIOLATIONS" -eq 0 || { echo "Pipeline bloqueado"; exit 1;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API — Application Programming Interface   ·   UUID — Universally Unique Identifier   ·   FAIL — estado que bloqueia o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REMEDIAÇÃO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Conheça as ferramentas: Dependabot e Renovate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7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2371FF"/>
                </a:solidFill>
                <a:latin typeface="Segoe UI Semibold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700" y="1746148"/>
            <a:ext cx="348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FFFDF8"/>
                </a:solidFill>
                <a:latin typeface="Segoe UI Semibold"/>
              </a:rPr>
              <a:t>Dependabot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00" y="2206148"/>
            <a:ext cx="3830300" cy="217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Pense nele como um robozinho que mora dentro do GitHub: toda semana ele confere se suas dependências estão velhas ou vulneráveis e já entrega a atualização pronta, em forma de Pull Request.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00" y="4443500"/>
            <a:ext cx="3830300" cy="240000"/>
          </a:xfrm>
          <a:prstGeom prst="roundRect">
            <a:avLst>
              <a:gd name="adj" fmla="val 30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00" y="4443500"/>
            <a:ext cx="38303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 u="sng">
                <a:solidFill>
                  <a:srgbClr val="2371FF"/>
                </a:solidFill>
                <a:latin typeface="Segoe UI Semibold"/>
                <a:hlinkClick r:id="rId3"/>
              </a:rPr>
              <a:t>🔗 github.com/dependabot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5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20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A6F750"/>
                </a:solidFill>
                <a:latin typeface="Segoe UI Semibold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000" y="1746148"/>
            <a:ext cx="348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181C23"/>
                </a:solidFill>
                <a:latin typeface="Segoe UI Semibold"/>
              </a:rPr>
              <a:t>Renovate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2000" y="2206148"/>
            <a:ext cx="3830300" cy="217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É o primo mais flexível do Dependabot: um bot que conversa com GitHub, GitLab, Bitbucket e Azure DevOps, e deixa você configurar exatamente como e quando cada atualização acontece.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2000" y="4443500"/>
            <a:ext cx="3830300" cy="240000"/>
          </a:xfrm>
          <a:prstGeom prst="roundRect">
            <a:avLst>
              <a:gd name="adj" fmla="val 30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2000" y="4443500"/>
            <a:ext cx="38303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 u="sng">
                <a:solidFill>
                  <a:srgbClr val="2371FF"/>
                </a:solidFill>
                <a:latin typeface="Segoe UI Semibold"/>
                <a:hlinkClick r:id="rId4"/>
              </a:rPr>
              <a:t>🔗 docs.renovatebot.com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REMEDIAÇÃO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Dependabot vs. Renovate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229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07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720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2371FF"/>
                </a:solidFill>
                <a:latin typeface="Segoe UI Semibold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00" y="1746148"/>
            <a:ext cx="351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 u="none">
                <a:solidFill>
                  <a:srgbClr val="FFFDF8"/>
                </a:solidFill>
                <a:latin typeface="Segoe UI Semibold"/>
              </a:rPr>
              <a:t>Dependabot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23533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700" y="2206148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Nativo no GitHub, já pronto para usar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27876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700" y="2640486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YAML simples: .github/dependabot.yml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32219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700" y="3074824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20+ ecossistemas (npm, pip, NuGet...)</a:t>
            </a:r>
          </a:p>
        </p:txBody>
      </p:sp>
      <p:sp>
        <p:nvSpPr>
          <p:cNvPr id="17" name="Oval 16"/>
          <p:cNvSpPr/>
          <p:nvPr/>
        </p:nvSpPr>
        <p:spPr>
          <a:xfrm>
            <a:off x="461700" y="36563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700" y="3509162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Agrupa PRs e libera automerge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2000" y="1746148"/>
            <a:ext cx="4130300" cy="229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623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2300" y="1796148"/>
            <a:ext cx="22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A6F750"/>
                </a:solidFill>
                <a:latin typeface="Segoe UI Semibold"/>
              </a:rPr>
              <a:t>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2000" y="1746148"/>
            <a:ext cx="3510300" cy="3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 u="none">
                <a:solidFill>
                  <a:srgbClr val="181C23"/>
                </a:solidFill>
                <a:latin typeface="Segoe UI Semibold"/>
              </a:rPr>
              <a:t>Renovate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23533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2000" y="2206148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GitHub, GitLab, Bitbucket, Azure DevOps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27876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2000" y="2640486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JSON com regras granulares por pacote</a:t>
            </a:r>
          </a:p>
        </p:txBody>
      </p:sp>
      <p:sp>
        <p:nvSpPr>
          <p:cNvPr id="28" name="Oval 27"/>
          <p:cNvSpPr/>
          <p:nvPr/>
        </p:nvSpPr>
        <p:spPr>
          <a:xfrm>
            <a:off x="4852000" y="32219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2000" y="3074824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90+ ecossistemas, cobertura ampla</a:t>
            </a:r>
          </a:p>
        </p:txBody>
      </p:sp>
      <p:sp>
        <p:nvSpPr>
          <p:cNvPr id="30" name="Oval 29"/>
          <p:cNvSpPr/>
          <p:nvPr/>
        </p:nvSpPr>
        <p:spPr>
          <a:xfrm>
            <a:off x="4852000" y="36563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2000" y="3509162"/>
            <a:ext cx="3560300" cy="4343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Automerge por tipo + dashboard próprio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YAML — YAML Ain't Markup Language — formato de config   ·   JSON — JavaScript Object Notation — formato de config   ·   PR — Pull Request — pedido de incorporar uma mudança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PYTHON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pip-audit: auditoria de pacotes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pip-audit varre o ambiente Python atrás de vulnerabilidades conhecidas nas bibliotecas instaladas: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04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1587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pip install pip-audit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pip-audit --strict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FDF8"/>
                </a:solidFill>
                <a:latin typeface="Consolas"/>
              </a:rPr>
              <a:t>&gt; Found 2 known vulnerabilities in 2 packages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234F"/>
                </a:solidFill>
                <a:latin typeface="Consolas"/>
              </a:rPr>
              <a:t>requests  2.25.0  GHSA-j8r2-6x86-q33q  Fix: 2.31.0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234F"/>
                </a:solidFill>
                <a:latin typeface="Consolas"/>
              </a:rPr>
              <a:t>urllib3   1.26.5  GHSA-v845-jxx5-vc9f  Fix: 1.26.18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--strict → pipeline falha (exit != 0) se achar vulnerabilidade sem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GHSA — GitHub Security Advisory — identificador de vulnerabilidade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PYTHON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IA: pesos e datasets também são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pip-audit só enxerga pacotes Python — mas um sistema de IA carrega 3 tipos de artefato que precisam de tratamento próprio:</a:t>
            </a:r>
          </a:p>
        </p:txBody>
      </p:sp>
      <p:sp>
        <p:nvSpPr>
          <p:cNvPr id="7" name="Oval 6"/>
          <p:cNvSpPr/>
          <p:nvPr/>
        </p:nvSpPr>
        <p:spPr>
          <a:xfrm>
            <a:off x="311700" y="215614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700" y="2156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700" y="2126148"/>
            <a:ext cx="8020600" cy="511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Pesos do modelo (.safetensors):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arquivo binário baixado de fora; sem hash + assinatura + fonte verificada, pode vir adulterado e o SCA não detecta</a:t>
            </a:r>
          </a:p>
        </p:txBody>
      </p:sp>
      <p:sp>
        <p:nvSpPr>
          <p:cNvPr id="10" name="Oval 9"/>
          <p:cNvSpPr/>
          <p:nvPr/>
        </p:nvSpPr>
        <p:spPr>
          <a:xfrm>
            <a:off x="311700" y="2667986"/>
            <a:ext cx="300000" cy="300000"/>
          </a:xfrm>
          <a:prstGeom prst="ellipse">
            <a:avLst/>
          </a:prstGeom>
          <a:solidFill>
            <a:srgbClr val="FF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700" y="2667986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700" y="2637986"/>
            <a:ext cx="8020600" cy="511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Datasets de treino: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também vêm de fora do seu código; exigem SBOM estendido + hash do conteúdo porque dado também é dependência</a:t>
            </a:r>
          </a:p>
        </p:txBody>
      </p:sp>
      <p:sp>
        <p:nvSpPr>
          <p:cNvPr id="13" name="Oval 12"/>
          <p:cNvSpPr/>
          <p:nvPr/>
        </p:nvSpPr>
        <p:spPr>
          <a:xfrm>
            <a:off x="311700" y="3179824"/>
            <a:ext cx="300000" cy="3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700" y="3179824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700" y="3149824"/>
            <a:ext cx="8020600" cy="511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Frameworks (PyTorch, TF):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são bibliotecas Python normais — já cobertos pelo SCA tradicional, igual a qualquer outro pacote</a:t>
            </a:r>
          </a:p>
        </p:txBody>
      </p:sp>
      <p:sp>
        <p:nvSpPr>
          <p:cNvPr id="16" name="Oval 15"/>
          <p:cNvSpPr/>
          <p:nvPr/>
        </p:nvSpPr>
        <p:spPr>
          <a:xfrm>
            <a:off x="311700" y="3691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1700" y="3691662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700" y="3661662"/>
            <a:ext cx="8020600" cy="5118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Regra de ouro: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modelo e dataset são dependências de 1ª classe, não arquivos soltos — exigem procedência rastreável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SCA — Software Composition Analysis   ·   TF — TensorFlow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Laboratório: do SBOM ao gate de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Subir: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Dependency-Track via Docker Compose; trocar senha; gerar API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Gerar e enviar: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syft node:14-alpine → POST /api/v1/bom (lab-node14)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Observar: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vulnerabilidades correlacionadas no projeto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Policy: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Severity is CRITICAL → FAIL; ver violações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Gate: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script via API retorna exit 1; opcional: Dependabot e pip-audit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 u="none">
                <a:solidFill>
                  <a:srgbClr val="181C23"/>
                </a:solidFill>
                <a:latin typeface="Segoe UI"/>
              </a:rPr>
              <a:t>SBOM, evidência da ingestão, policy configurada e saída do gate. Runbook: labs/Aula_05_Runbook.md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Dependency-Track ingere SBOMs e correlaciona PURLs com NVD, OSV e GitHub Advisory.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Policies (severidade, idade, licença) viram gate via API — descoberta sem remediação é só visibilidade.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Dependabot e Renovate fecham o ciclo com PRs automáticos validados pelo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Python e IA: lockfiles com hash, pip-audit e modelos como dependências de primeira classe.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0" i="0" u="none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 u="none">
                <a:solidFill>
                  <a:srgbClr val="6A707D"/>
                </a:solidFill>
                <a:latin typeface="Segoe UI Light"/>
              </a:rPr>
              <a:t>Próxima aula: Supply Chain Security — Ataques e Frameworks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 u="none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