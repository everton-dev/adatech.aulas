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4" r:id="rId1"/>
  </p:sldMasterIdLst>
  <p:notesMasterIdLst>
    <p:notesMasterId r:id="rId20"/>
  </p:notesMasterIdLst>
  <p:sldIdLst>
    <p:sldId id="256" r:id="rId2"/>
    <p:sldId id="257" r:id="rId3"/>
    <p:sldId id="258" r:id="rId4"/>
    <p:sldId id="273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</p:sldIdLst>
  <p:sldSz cx="9144000" cy="5143500" type="screen16x9"/>
  <p:notesSz cx="6858000" cy="9144000"/>
  <p:embeddedFontLst>
    <p:embeddedFont>
      <p:font typeface="Consolas" panose="020B0609020204030204" pitchFamily="49" charset="0"/>
      <p:regular r:id="rId21"/>
      <p:bold r:id="rId22"/>
      <p:italic r:id="rId23"/>
      <p:boldItalic r:id="rId24"/>
    </p:embeddedFont>
    <p:embeddedFont>
      <p:font typeface="Lato" panose="020F0502020204030203" pitchFamily="34" charset="0"/>
      <p:regular r:id="rId25"/>
      <p:bold r:id="rId26"/>
      <p:italic r:id="rId27"/>
      <p:boldItalic r:id="rId28"/>
    </p:embeddedFont>
    <p:embeddedFont>
      <p:font typeface="Segoe UI" panose="020B0502040204020203" pitchFamily="34" charset="0"/>
      <p:regular r:id="rId29"/>
      <p:bold r:id="rId30"/>
      <p:italic r:id="rId31"/>
      <p:boldItalic r:id="rId32"/>
    </p:embeddedFont>
    <p:embeddedFont>
      <p:font typeface="Segoe UI Light" panose="020B0502040204020203" pitchFamily="34" charset="0"/>
      <p:regular r:id="rId33"/>
      <p:italic r:id="rId34"/>
    </p:embeddedFont>
    <p:embeddedFont>
      <p:font typeface="Segoe UI Semibold" panose="020B0702040204020203" pitchFamily="34" charset="0"/>
      <p:bold r:id="rId35"/>
      <p:boldItalic r:id="rId36"/>
    </p:embeddedFont>
    <p:embeddedFont>
      <p:font typeface="Ubuntu" panose="020B0504030602030204" pitchFamily="34" charset="0"/>
      <p:regular r:id="rId37"/>
      <p:bold r:id="rId38"/>
      <p:italic r:id="rId39"/>
      <p:boldItalic r:id="rId40"/>
    </p:embeddedFont>
    <p:embeddedFont>
      <p:font typeface="Ubuntu Light" panose="020B0304030602030204" pitchFamily="34" charset="0"/>
      <p:regular r:id="rId41"/>
      <p:bold r:id="rId42"/>
      <p:italic r:id="rId43"/>
      <p:boldItalic r:id="rId44"/>
    </p:embeddedFont>
    <p:embeddedFont>
      <p:font typeface="Ubuntu Medium" panose="020B0604030602030204" pitchFamily="34" charset="0"/>
      <p:regular r:id="rId45"/>
      <p:bold r:id="rId46"/>
      <p:italic r:id="rId47"/>
      <p:boldItalic r:id="rId4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38" d="100"/>
          <a:sy n="138" d="100"/>
        </p:scale>
        <p:origin x="834" y="120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6.fntdata"/><Relationship Id="rId39" Type="http://schemas.openxmlformats.org/officeDocument/2006/relationships/font" Target="fonts/font19.fntdata"/><Relationship Id="rId3" Type="http://schemas.openxmlformats.org/officeDocument/2006/relationships/slide" Target="slides/slide2.xml"/><Relationship Id="rId21" Type="http://schemas.openxmlformats.org/officeDocument/2006/relationships/font" Target="fonts/font1.fntdata"/><Relationship Id="rId34" Type="http://schemas.openxmlformats.org/officeDocument/2006/relationships/font" Target="fonts/font14.fntdata"/><Relationship Id="rId42" Type="http://schemas.openxmlformats.org/officeDocument/2006/relationships/font" Target="fonts/font22.fntdata"/><Relationship Id="rId47" Type="http://schemas.openxmlformats.org/officeDocument/2006/relationships/font" Target="fonts/font27.fntdata"/><Relationship Id="rId50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5.fntdata"/><Relationship Id="rId33" Type="http://schemas.openxmlformats.org/officeDocument/2006/relationships/font" Target="fonts/font13.fntdata"/><Relationship Id="rId38" Type="http://schemas.openxmlformats.org/officeDocument/2006/relationships/font" Target="fonts/font18.fntdata"/><Relationship Id="rId46" Type="http://schemas.openxmlformats.org/officeDocument/2006/relationships/font" Target="fonts/font26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29" Type="http://schemas.openxmlformats.org/officeDocument/2006/relationships/font" Target="fonts/font9.fntdata"/><Relationship Id="rId41" Type="http://schemas.openxmlformats.org/officeDocument/2006/relationships/font" Target="fonts/font21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4.fntdata"/><Relationship Id="rId32" Type="http://schemas.openxmlformats.org/officeDocument/2006/relationships/font" Target="fonts/font12.fntdata"/><Relationship Id="rId37" Type="http://schemas.openxmlformats.org/officeDocument/2006/relationships/font" Target="fonts/font17.fntdata"/><Relationship Id="rId40" Type="http://schemas.openxmlformats.org/officeDocument/2006/relationships/font" Target="fonts/font20.fntdata"/><Relationship Id="rId45" Type="http://schemas.openxmlformats.org/officeDocument/2006/relationships/font" Target="fonts/font25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3.fntdata"/><Relationship Id="rId28" Type="http://schemas.openxmlformats.org/officeDocument/2006/relationships/font" Target="fonts/font8.fntdata"/><Relationship Id="rId36" Type="http://schemas.openxmlformats.org/officeDocument/2006/relationships/font" Target="fonts/font16.fntdata"/><Relationship Id="rId49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11.fntdata"/><Relationship Id="rId44" Type="http://schemas.openxmlformats.org/officeDocument/2006/relationships/font" Target="fonts/font24.fntdata"/><Relationship Id="rId52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2.fntdata"/><Relationship Id="rId27" Type="http://schemas.openxmlformats.org/officeDocument/2006/relationships/font" Target="fonts/font7.fntdata"/><Relationship Id="rId30" Type="http://schemas.openxmlformats.org/officeDocument/2006/relationships/font" Target="fonts/font10.fntdata"/><Relationship Id="rId35" Type="http://schemas.openxmlformats.org/officeDocument/2006/relationships/font" Target="fonts/font15.fntdata"/><Relationship Id="rId43" Type="http://schemas.openxmlformats.org/officeDocument/2006/relationships/font" Target="fonts/font23.fntdata"/><Relationship Id="rId48" Type="http://schemas.openxmlformats.org/officeDocument/2006/relationships/font" Target="fonts/font28.fntdata"/><Relationship Id="rId8" Type="http://schemas.openxmlformats.org/officeDocument/2006/relationships/slide" Target="slides/slide7.xml"/><Relationship Id="rId51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803210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Tempo sugerido: 3 min</a:t>
            </a:r>
          </a:p>
          <a:p>
            <a:endParaRPr/>
          </a:p>
          <a:p>
            <a:r>
              <a:t>Abertura da Aula 05: Análise de SBOM e Gestão de Dependências. Apresente o tema, a pergunta geradora e situe a aula na progressão do módulo. Confirme que os laboratórios da aula anterior foram concluídos.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Tempo sugerido: 2 min</a:t>
            </a:r>
          </a:p>
          <a:p>
            <a:endParaRPr/>
          </a:p>
          <a:p>
            <a:r>
              <a:t>Mostre onde estamos no cronograma (card escuro). Lembre os próximos encontros e, na Aula 7, avise que não há aula em 02/11 (Finados). O último encontro, 06/11, é dedicado às apresentações e rubricas.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Tempo sugerido: 2 min</a:t>
            </a:r>
          </a:p>
          <a:p>
            <a:endParaRPr/>
          </a:p>
          <a:p>
            <a:r>
              <a:t>Relembre os combinados da turma rapidamente: câmeras ligadas, pontualidade, participação e mão levantada para dúvidas. Informe o horário do intervalo de 15 minutos.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Tempo sugerido: 8 min</a:t>
            </a:r>
          </a:p>
          <a:p>
            <a:endParaRPr/>
          </a:p>
          <a:p>
            <a:r>
              <a:t>Retome o SBOM da Aula 4: gerar é metade. Hoje o valor surge quando uma plataforma correlaciona componentes com bases de vulnerabilidade e dispara correções.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Tempo sugerido: 6 min</a:t>
            </a:r>
          </a:p>
          <a:p>
            <a:endParaRPr/>
          </a:p>
          <a:p>
            <a:r>
              <a:t>Analogia para explicar: é o vigia do supermercado — você só entrega a lista de ingredientes de cada produto na entrada, e ele sozinho compara com a lista de recalls e aponta a prateleira perigosa, sem ninguém indo conferir produto por produto. Deixe claro o papel da ferramenta: ela detecta e avisa, não bloqueia nada sozinha. Quem decide bloquear o pipeline é a política (próximos slides) — o Dependency-Track é só o motor de busca de vulnerabilidades da organização.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Tempo sugerido: 10 min</a:t>
            </a:r>
          </a:p>
          <a:p>
            <a:endParaRPr/>
          </a:p>
          <a:p>
            <a:r>
              <a:t>Enfatize o ciclo: a saída (novo build) realimenta a entrada (novo SBOM). De esforço reativo para processo preventivo.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Tempo sugerido: 10 min</a:t>
            </a:r>
          </a:p>
          <a:p>
            <a:endParaRPr/>
          </a:p>
          <a:p>
            <a:r>
              <a:t>CVSS mede severidade técnica; EPSS mede probabilidade de exploração. Priorização boa combina os dois com contexto da aplicação.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Tempo sugerido: 10 min</a:t>
            </a:r>
          </a:p>
          <a:p>
            <a:endParaRPr/>
          </a:p>
          <a:p>
            <a:r>
              <a:t>Mostre o docker-compose (apiserver + frontend). Reforce: API key em secret do CI. DefectDojo consolida findings de várias ferramentas (SAST, DAST, SCA) em uma visão única.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Tempo sugerido: 10 min</a:t>
            </a:r>
          </a:p>
          <a:p>
            <a:endParaRPr/>
          </a:p>
          <a:p>
            <a:r>
              <a:t>Policy no Dependency-Track = condição + ação. A cor de cada círculo já indica a severidade: vermelho = FAIL, âmbar = WARN. Discuta exceções com prazo: aceitar risco é decisão documentada, não ausência de decisão.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Tempo sugerido: 8 min</a:t>
            </a:r>
          </a:p>
          <a:p>
            <a:endParaRPr/>
          </a:p>
          <a:p>
            <a:r>
              <a:t>Leia o comando: lookup do projeto (UUID), lista de violações, filtro por FAIL, exit 1. É o mesmo padrão de gate das Aulas 1–3, agora alimentado pelo SBOM. A linha final em vermelho é o ponto de bloqueio.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Tempo sugerido: 4 min</a:t>
            </a:r>
          </a:p>
          <a:p>
            <a:endParaRPr/>
          </a:p>
          <a:p>
            <a:r>
              <a:t>Apresente as duas ferramentas de forma leve antes da comparação técnica: ambas são bots de atualização automática de dependências, a diferença é o quanto cada uma permite configurar.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Tempo sugerido: 8 min</a:t>
            </a:r>
          </a:p>
          <a:p>
            <a:endParaRPr/>
          </a:p>
          <a:p>
            <a:r>
              <a:t>Descobrir é metade; atualizar sem quebrar é a outra. Mostre o exemplo de automerge para patch/minor e aprovação manual para major. Os selos D/R no topo de cada card ajudam a identificar rapidamente qual ferramenta é qual.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Tempo sugerido: 4 min</a:t>
            </a:r>
          </a:p>
          <a:p>
            <a:endParaRPr/>
          </a:p>
          <a:p>
            <a:r>
              <a:t>Leia a saída: pacote, versão vulnerável, identificador GHSA e a versão com correção (Fix). --strict transforma essa checagem num gate real de CI, igual ao exit 1 das Aulas 1–3.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Tempo sugerido: 4 min</a:t>
            </a:r>
          </a:p>
          <a:p>
            <a:endParaRPr/>
          </a:p>
          <a:p>
            <a:r>
              <a:t>OWASP Top 10 for LLM recomenda tratar modelos como dependências: procedência, hash e licença no SBOM. Lockfiles com hash (poetry, pipenv) são preferíveis a requirements.txt solto. As cores seguem o padrão de risco já usado nas policies: vermelho = sem cobertura hoje, âmbar = precisa de SBOM estendido, verde = já coberto.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Tempo sugerido: 75 min</a:t>
            </a:r>
          </a:p>
          <a:p>
            <a:endParaRPr/>
          </a:p>
          <a:p>
            <a:r>
              <a:t>O backend demora alguns minutos para inicializar — use o tempo para a discussão de policies. API key só em variável de ambiente.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Tempo sugerido: 5 min</a:t>
            </a:r>
          </a:p>
          <a:p>
            <a:endParaRPr/>
          </a:p>
          <a:p>
            <a:r>
              <a:t>Pergunta: CVSS basta para priorizar? Não — EPSS e contexto. Ponte: Aula 6 olha a cadeia pelos olhos do atacante.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Tempo sugerido: 3 min</a:t>
            </a:r>
          </a:p>
          <a:p>
            <a:endParaRPr/>
          </a:p>
          <a:p>
            <a:r>
              <a:t>Sugira a leitura prévia dos casos SolarWinds e XZ Utils no material.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a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2" title="Ada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5722050" y="1994575"/>
            <a:ext cx="1867250" cy="1154351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2"/>
          <p:cNvSpPr txBox="1">
            <a:spLocks noGrp="1"/>
          </p:cNvSpPr>
          <p:nvPr>
            <p:ph type="title"/>
          </p:nvPr>
        </p:nvSpPr>
        <p:spPr>
          <a:xfrm>
            <a:off x="691650" y="2017200"/>
            <a:ext cx="3370500" cy="454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200"/>
              <a:buFont typeface="Ubuntu Light"/>
              <a:buNone/>
              <a:defRPr sz="2200">
                <a:latin typeface="Ubuntu Light"/>
                <a:ea typeface="Ubuntu Light"/>
                <a:cs typeface="Ubuntu Light"/>
                <a:sym typeface="Ubuntu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title" idx="2"/>
          </p:nvPr>
        </p:nvSpPr>
        <p:spPr>
          <a:xfrm>
            <a:off x="691650" y="2582150"/>
            <a:ext cx="3370500" cy="571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Font typeface="Ubuntu Medium"/>
              <a:buNone/>
              <a:defRPr>
                <a:latin typeface="Ubuntu Medium"/>
                <a:ea typeface="Ubuntu Medium"/>
                <a:cs typeface="Ubuntu Medium"/>
                <a:sym typeface="Ubuntu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pic>
        <p:nvPicPr>
          <p:cNvPr id="13" name="Google Shape;13;p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949225" y="-18825"/>
            <a:ext cx="198350" cy="520828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visor">
  <p:cSld name="CUSTOM_2"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Google Shape;15;p3" title="BG colorido.pn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3997" cy="5143490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16;p3"/>
          <p:cNvSpPr txBox="1">
            <a:spLocks noGrp="1"/>
          </p:cNvSpPr>
          <p:nvPr>
            <p:ph type="title"/>
          </p:nvPr>
        </p:nvSpPr>
        <p:spPr>
          <a:xfrm>
            <a:off x="683025" y="2071050"/>
            <a:ext cx="3921300" cy="100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81C23"/>
              </a:buClr>
              <a:buSzPts val="2600"/>
              <a:buFont typeface="Ubuntu"/>
              <a:buNone/>
              <a:defRPr sz="2600">
                <a:solidFill>
                  <a:srgbClr val="181C23"/>
                </a:solidFill>
                <a:latin typeface="Ubuntu"/>
                <a:ea typeface="Ubuntu"/>
                <a:cs typeface="Ubuntu"/>
                <a:sym typeface="Ubuntu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81C23"/>
              </a:buClr>
              <a:buSzPts val="2600"/>
              <a:buFont typeface="Ubuntu"/>
              <a:buNone/>
              <a:defRPr sz="2600">
                <a:solidFill>
                  <a:srgbClr val="181C23"/>
                </a:solidFill>
                <a:latin typeface="Ubuntu"/>
                <a:ea typeface="Ubuntu"/>
                <a:cs typeface="Ubuntu"/>
                <a:sym typeface="Ubuntu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81C23"/>
              </a:buClr>
              <a:buSzPts val="2600"/>
              <a:buFont typeface="Ubuntu"/>
              <a:buNone/>
              <a:defRPr sz="2600">
                <a:solidFill>
                  <a:srgbClr val="181C23"/>
                </a:solidFill>
                <a:latin typeface="Ubuntu"/>
                <a:ea typeface="Ubuntu"/>
                <a:cs typeface="Ubuntu"/>
                <a:sym typeface="Ubuntu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81C23"/>
              </a:buClr>
              <a:buSzPts val="2600"/>
              <a:buFont typeface="Ubuntu"/>
              <a:buNone/>
              <a:defRPr sz="2600">
                <a:solidFill>
                  <a:srgbClr val="181C23"/>
                </a:solidFill>
                <a:latin typeface="Ubuntu"/>
                <a:ea typeface="Ubuntu"/>
                <a:cs typeface="Ubuntu"/>
                <a:sym typeface="Ubuntu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81C23"/>
              </a:buClr>
              <a:buSzPts val="2600"/>
              <a:buFont typeface="Ubuntu"/>
              <a:buNone/>
              <a:defRPr sz="2600">
                <a:solidFill>
                  <a:srgbClr val="181C23"/>
                </a:solidFill>
                <a:latin typeface="Ubuntu"/>
                <a:ea typeface="Ubuntu"/>
                <a:cs typeface="Ubuntu"/>
                <a:sym typeface="Ubuntu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81C23"/>
              </a:buClr>
              <a:buSzPts val="2600"/>
              <a:buFont typeface="Ubuntu"/>
              <a:buNone/>
              <a:defRPr sz="2600">
                <a:solidFill>
                  <a:srgbClr val="181C23"/>
                </a:solidFill>
                <a:latin typeface="Ubuntu"/>
                <a:ea typeface="Ubuntu"/>
                <a:cs typeface="Ubuntu"/>
                <a:sym typeface="Ubuntu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81C23"/>
              </a:buClr>
              <a:buSzPts val="2600"/>
              <a:buFont typeface="Ubuntu"/>
              <a:buNone/>
              <a:defRPr sz="2600">
                <a:solidFill>
                  <a:srgbClr val="181C23"/>
                </a:solidFill>
                <a:latin typeface="Ubuntu"/>
                <a:ea typeface="Ubuntu"/>
                <a:cs typeface="Ubuntu"/>
                <a:sym typeface="Ubuntu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81C23"/>
              </a:buClr>
              <a:buSzPts val="2600"/>
              <a:buFont typeface="Ubuntu"/>
              <a:buNone/>
              <a:defRPr sz="2600">
                <a:solidFill>
                  <a:srgbClr val="181C23"/>
                </a:solidFill>
                <a:latin typeface="Ubuntu"/>
                <a:ea typeface="Ubuntu"/>
                <a:cs typeface="Ubuntu"/>
                <a:sym typeface="Ubuntu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81C23"/>
              </a:buClr>
              <a:buSzPts val="2600"/>
              <a:buFont typeface="Ubuntu"/>
              <a:buNone/>
              <a:defRPr sz="2600">
                <a:solidFill>
                  <a:srgbClr val="181C23"/>
                </a:solidFill>
                <a:latin typeface="Ubuntu"/>
                <a:ea typeface="Ubuntu"/>
                <a:cs typeface="Ubuntu"/>
                <a:sym typeface="Ubuntu"/>
              </a:defRPr>
            </a:lvl9pPr>
          </a:lstStyle>
          <a:p>
            <a:endParaRPr/>
          </a:p>
        </p:txBody>
      </p:sp>
      <p:pic>
        <p:nvPicPr>
          <p:cNvPr id="17" name="Google Shape;17;p3" title="Ada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978399" y="4348525"/>
            <a:ext cx="737449" cy="455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4"/>
          <p:cNvSpPr txBox="1">
            <a:spLocks noGrp="1"/>
          </p:cNvSpPr>
          <p:nvPr>
            <p:ph type="title"/>
          </p:nvPr>
        </p:nvSpPr>
        <p:spPr>
          <a:xfrm>
            <a:off x="311700" y="31315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2371FF"/>
              </a:buClr>
              <a:buSzPts val="2200"/>
              <a:buFont typeface="Ubuntu"/>
              <a:buNone/>
              <a:defRPr sz="2200">
                <a:solidFill>
                  <a:srgbClr val="2371FF"/>
                </a:solidFill>
                <a:latin typeface="Ubuntu"/>
                <a:ea typeface="Ubuntu"/>
                <a:cs typeface="Ubuntu"/>
                <a:sym typeface="Ubuntu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4"/>
          <p:cNvSpPr txBox="1">
            <a:spLocks noGrp="1"/>
          </p:cNvSpPr>
          <p:nvPr>
            <p:ph type="body" idx="1"/>
          </p:nvPr>
        </p:nvSpPr>
        <p:spPr>
          <a:xfrm>
            <a:off x="311700" y="1511075"/>
            <a:ext cx="8520600" cy="3057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Clr>
                <a:srgbClr val="181C23"/>
              </a:buClr>
              <a:buSzPts val="1800"/>
              <a:buFont typeface="Lato"/>
              <a:buChar char="●"/>
              <a:defRPr>
                <a:solidFill>
                  <a:srgbClr val="181C23"/>
                </a:solidFill>
                <a:latin typeface="Lato"/>
                <a:ea typeface="Lato"/>
                <a:cs typeface="Lato"/>
                <a:sym typeface="Lato"/>
              </a:defRPr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Clr>
                <a:srgbClr val="181C23"/>
              </a:buClr>
              <a:buSzPts val="1400"/>
              <a:buFont typeface="Lato"/>
              <a:buChar char="○"/>
              <a:defRPr>
                <a:solidFill>
                  <a:srgbClr val="181C23"/>
                </a:solidFill>
                <a:latin typeface="Lato"/>
                <a:ea typeface="Lato"/>
                <a:cs typeface="Lato"/>
                <a:sym typeface="Lato"/>
              </a:defRPr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Clr>
                <a:srgbClr val="181C23"/>
              </a:buClr>
              <a:buSzPts val="1400"/>
              <a:buFont typeface="Lato"/>
              <a:buChar char="■"/>
              <a:defRPr>
                <a:solidFill>
                  <a:srgbClr val="181C23"/>
                </a:solidFill>
                <a:latin typeface="Lato"/>
                <a:ea typeface="Lato"/>
                <a:cs typeface="Lato"/>
                <a:sym typeface="Lato"/>
              </a:defRPr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Clr>
                <a:srgbClr val="181C23"/>
              </a:buClr>
              <a:buSzPts val="1400"/>
              <a:buFont typeface="Lato"/>
              <a:buChar char="●"/>
              <a:defRPr>
                <a:solidFill>
                  <a:srgbClr val="181C23"/>
                </a:solidFill>
                <a:latin typeface="Lato"/>
                <a:ea typeface="Lato"/>
                <a:cs typeface="Lato"/>
                <a:sym typeface="Lato"/>
              </a:defRPr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Clr>
                <a:srgbClr val="181C23"/>
              </a:buClr>
              <a:buSzPts val="1400"/>
              <a:buFont typeface="Lato"/>
              <a:buChar char="○"/>
              <a:defRPr>
                <a:solidFill>
                  <a:srgbClr val="181C23"/>
                </a:solidFill>
                <a:latin typeface="Lato"/>
                <a:ea typeface="Lato"/>
                <a:cs typeface="Lato"/>
                <a:sym typeface="Lato"/>
              </a:defRPr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Clr>
                <a:srgbClr val="181C23"/>
              </a:buClr>
              <a:buSzPts val="1400"/>
              <a:buFont typeface="Lato"/>
              <a:buChar char="■"/>
              <a:defRPr>
                <a:solidFill>
                  <a:srgbClr val="181C23"/>
                </a:solidFill>
                <a:latin typeface="Lato"/>
                <a:ea typeface="Lato"/>
                <a:cs typeface="Lato"/>
                <a:sym typeface="Lato"/>
              </a:defRPr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Clr>
                <a:srgbClr val="181C23"/>
              </a:buClr>
              <a:buSzPts val="1400"/>
              <a:buFont typeface="Lato"/>
              <a:buChar char="●"/>
              <a:defRPr>
                <a:solidFill>
                  <a:srgbClr val="181C23"/>
                </a:solidFill>
                <a:latin typeface="Lato"/>
                <a:ea typeface="Lato"/>
                <a:cs typeface="Lato"/>
                <a:sym typeface="Lato"/>
              </a:defRPr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Clr>
                <a:srgbClr val="181C23"/>
              </a:buClr>
              <a:buSzPts val="1400"/>
              <a:buFont typeface="Lato"/>
              <a:buChar char="○"/>
              <a:defRPr>
                <a:solidFill>
                  <a:srgbClr val="181C23"/>
                </a:solidFill>
                <a:latin typeface="Lato"/>
                <a:ea typeface="Lato"/>
                <a:cs typeface="Lato"/>
                <a:sym typeface="Lato"/>
              </a:defRPr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Clr>
                <a:srgbClr val="181C23"/>
              </a:buClr>
              <a:buSzPts val="1400"/>
              <a:buFont typeface="Lato"/>
              <a:buChar char="■"/>
              <a:defRPr>
                <a:solidFill>
                  <a:srgbClr val="181C23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endParaRPr/>
          </a:p>
        </p:txBody>
      </p:sp>
      <p:sp>
        <p:nvSpPr>
          <p:cNvPr id="21" name="Google Shape;21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  <p:sp>
        <p:nvSpPr>
          <p:cNvPr id="22" name="Google Shape;22;p4"/>
          <p:cNvSpPr txBox="1">
            <a:spLocks noGrp="1"/>
          </p:cNvSpPr>
          <p:nvPr>
            <p:ph type="subTitle" idx="2"/>
          </p:nvPr>
        </p:nvSpPr>
        <p:spPr>
          <a:xfrm>
            <a:off x="311700" y="720025"/>
            <a:ext cx="5698800" cy="335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81C23"/>
              </a:buClr>
              <a:buSzPts val="1200"/>
              <a:buFont typeface="Lato"/>
              <a:buNone/>
              <a:defRPr sz="1200">
                <a:solidFill>
                  <a:srgbClr val="181C23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Layout Limpo">
  <p:cSld name="CUSTOM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Grafismo ADA">
  <p:cSld name="CUSTOM_1">
    <p:spTree>
      <p:nvGrpSpPr>
        <p:cNvPr id="1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Google Shape;25;p6" title="verde.png"/>
          <p:cNvPicPr preferRelativeResize="0"/>
          <p:nvPr/>
        </p:nvPicPr>
        <p:blipFill>
          <a:blip r:embed="rId2">
            <a:alphaModFix amt="40000"/>
          </a:blip>
          <a:stretch>
            <a:fillRect/>
          </a:stretch>
        </p:blipFill>
        <p:spPr>
          <a:xfrm>
            <a:off x="6076250" y="2628925"/>
            <a:ext cx="4844777" cy="32759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ncerramento" type="blank">
  <p:cSld name="BLANK"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Google Shape;27;p7" title="Ada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5722050" y="1994575"/>
            <a:ext cx="1867250" cy="1154351"/>
          </a:xfrm>
          <a:prstGeom prst="rect">
            <a:avLst/>
          </a:prstGeom>
          <a:noFill/>
          <a:ln>
            <a:noFill/>
          </a:ln>
        </p:spPr>
      </p:pic>
      <p:sp>
        <p:nvSpPr>
          <p:cNvPr id="28" name="Google Shape;28;p7"/>
          <p:cNvSpPr txBox="1"/>
          <p:nvPr/>
        </p:nvSpPr>
        <p:spPr>
          <a:xfrm>
            <a:off x="778150" y="2431300"/>
            <a:ext cx="2731200" cy="38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700">
                <a:solidFill>
                  <a:srgbClr val="181C23"/>
                </a:solidFill>
                <a:latin typeface="Ubuntu Light"/>
                <a:ea typeface="Ubuntu Light"/>
                <a:cs typeface="Ubuntu Light"/>
                <a:sym typeface="Ubuntu Light"/>
              </a:rPr>
              <a:t>print("thank you")</a:t>
            </a:r>
            <a:endParaRPr sz="1700">
              <a:solidFill>
                <a:srgbClr val="181C23"/>
              </a:solidFill>
              <a:latin typeface="Ubuntu Light"/>
              <a:ea typeface="Ubuntu Light"/>
              <a:cs typeface="Ubuntu Light"/>
              <a:sym typeface="Ubuntu Light"/>
            </a:endParaRPr>
          </a:p>
        </p:txBody>
      </p:sp>
      <p:pic>
        <p:nvPicPr>
          <p:cNvPr id="29" name="Google Shape;29;p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10800000" flipH="1">
            <a:off x="3507151" y="4767018"/>
            <a:ext cx="5641001" cy="380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rgbClr val="FFFBF0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7.jp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hyperlink" Target="https://www.first.org/epss/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Relationship Id="rId6" Type="http://schemas.openxmlformats.org/officeDocument/2006/relationships/hyperlink" Target="https://github.com/advisories" TargetMode="External"/><Relationship Id="rId5" Type="http://schemas.openxmlformats.org/officeDocument/2006/relationships/hyperlink" Target="https://osv.dev/" TargetMode="External"/><Relationship Id="rId4" Type="http://schemas.openxmlformats.org/officeDocument/2006/relationships/hyperlink" Target="https://nvd.nist.gov/" TargetMode="Externa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Relationship Id="rId5" Type="http://schemas.openxmlformats.org/officeDocument/2006/relationships/hyperlink" Target="https://docs.renovatebot.com" TargetMode="External"/><Relationship Id="rId4" Type="http://schemas.openxmlformats.org/officeDocument/2006/relationships/hyperlink" Target="https://github.com/dependabot" TargetMode="Externa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rcRect t="714" b="715"/>
          <a:stretch>
            <a:fillRect/>
          </a:stretch>
        </p:blipFill>
        <p:spPr>
          <a:xfrm>
            <a:off x="0" y="0"/>
            <a:ext cx="9144000" cy="616148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4000" y="2743500"/>
            <a:ext cx="3400000" cy="229901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60000" y="560000"/>
            <a:ext cx="2400000" cy="15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0" b="1" i="0" u="none">
                <a:solidFill>
                  <a:srgbClr val="A6F750"/>
                </a:solidFill>
                <a:latin typeface="Segoe UI Light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0000" y="2380000"/>
            <a:ext cx="6000000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 u="none">
                <a:solidFill>
                  <a:srgbClr val="2371FF"/>
                </a:solidFill>
                <a:latin typeface="Segoe UI Semibold"/>
              </a:rPr>
              <a:t>AULA 05  ·  Segunda, 26/10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0000" y="2660000"/>
            <a:ext cx="6600000" cy="11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0" i="0" u="none">
                <a:solidFill>
                  <a:srgbClr val="181C23"/>
                </a:solidFill>
                <a:latin typeface="Segoe UI Semibold"/>
              </a:rPr>
              <a:t>Análise de SBOM e Gestão de Dependências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0000" y="3720000"/>
            <a:ext cx="6600000" cy="5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1" u="none">
                <a:solidFill>
                  <a:srgbClr val="6A707D"/>
                </a:solidFill>
                <a:latin typeface="Segoe UI Light"/>
              </a:rPr>
              <a:t>Como descobrir em minutos se você é afetado por uma nova CVE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84000" y="4041644"/>
            <a:ext cx="1200000" cy="741856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20000" y="4350000"/>
            <a:ext cx="4600000" cy="300000"/>
          </a:xfrm>
          <a:prstGeom prst="roundRect">
            <a:avLst>
              <a:gd name="adj" fmla="val 50000"/>
            </a:avLst>
          </a:prstGeom>
          <a:solidFill>
            <a:srgbClr val="181C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20000" y="4350000"/>
            <a:ext cx="4600000" cy="30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0" i="0" u="none">
                <a:solidFill>
                  <a:srgbClr val="A6F750"/>
                </a:solidFill>
                <a:latin typeface="Segoe UI"/>
              </a:rPr>
              <a:t>Módulo · CY-SE-013 - Supply Chain Security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0000" y="4720000"/>
            <a:ext cx="4600000" cy="24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 i="0" u="none">
                <a:solidFill>
                  <a:srgbClr val="181C23"/>
                </a:solidFill>
                <a:latin typeface="Segoe UI Semibold"/>
              </a:rPr>
              <a:t>Prof.: Everton J Benedicto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rcRect t="714" b="715"/>
          <a:stretch>
            <a:fillRect/>
          </a:stretch>
        </p:blipFill>
        <p:spPr>
          <a:xfrm>
            <a:off x="0" y="0"/>
            <a:ext cx="9144000" cy="6161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11700" y="766148"/>
            <a:ext cx="8520600" cy="5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0" i="0" u="none">
                <a:solidFill>
                  <a:srgbClr val="181C23"/>
                </a:solidFill>
                <a:latin typeface="Segoe UI Semibold"/>
              </a:rPr>
              <a:t>Cronograma das Aulas</a:t>
            </a:r>
          </a:p>
        </p:txBody>
      </p:sp>
      <p:sp>
        <p:nvSpPr>
          <p:cNvPr id="4" name="Rectangle 3"/>
          <p:cNvSpPr/>
          <p:nvPr/>
        </p:nvSpPr>
        <p:spPr>
          <a:xfrm>
            <a:off x="311700" y="1276148"/>
            <a:ext cx="900000" cy="55000"/>
          </a:xfrm>
          <a:prstGeom prst="rect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311700" y="1466148"/>
            <a:ext cx="2740200" cy="1005784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9525">
            <a:solidFill>
              <a:srgbClr val="EC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61700" y="1556148"/>
            <a:ext cx="2440200" cy="3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 u="none">
                <a:solidFill>
                  <a:srgbClr val="A6F750"/>
                </a:solidFill>
                <a:latin typeface="Segoe UI Semibold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1700" y="1856148"/>
            <a:ext cx="24402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 u="none">
                <a:solidFill>
                  <a:srgbClr val="2371FF"/>
                </a:solidFill>
                <a:latin typeface="Segoe UI Semibold"/>
              </a:rPr>
              <a:t>Sex 16/10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1700" y="2056148"/>
            <a:ext cx="2440200" cy="3757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 u="none">
                <a:solidFill>
                  <a:srgbClr val="181C23"/>
                </a:solidFill>
                <a:latin typeface="Segoe UI"/>
              </a:rPr>
              <a:t>Policy as Code e Compliance Automatizado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1900" y="1466148"/>
            <a:ext cx="2740200" cy="1005784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9525">
            <a:solidFill>
              <a:srgbClr val="EC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351900" y="1556148"/>
            <a:ext cx="2440200" cy="3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 u="none">
                <a:solidFill>
                  <a:srgbClr val="A6F750"/>
                </a:solidFill>
                <a:latin typeface="Segoe UI Semibold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51900" y="1856148"/>
            <a:ext cx="24402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 u="none">
                <a:solidFill>
                  <a:srgbClr val="2371FF"/>
                </a:solidFill>
                <a:latin typeface="Segoe UI Semibold"/>
              </a:rPr>
              <a:t>Seg 19/10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51900" y="2056148"/>
            <a:ext cx="2440200" cy="3757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 u="none">
                <a:solidFill>
                  <a:srgbClr val="181C23"/>
                </a:solidFill>
                <a:latin typeface="Segoe UI"/>
              </a:rPr>
              <a:t>Linguagem Rego e Escrita de Políticas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92100" y="1466148"/>
            <a:ext cx="2740200" cy="1005784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9525">
            <a:solidFill>
              <a:srgbClr val="EC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242100" y="1556148"/>
            <a:ext cx="2440200" cy="3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 u="none">
                <a:solidFill>
                  <a:srgbClr val="A6F750"/>
                </a:solidFill>
                <a:latin typeface="Segoe UI Semibold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42100" y="1856148"/>
            <a:ext cx="24402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 u="none">
                <a:solidFill>
                  <a:srgbClr val="2371FF"/>
                </a:solidFill>
                <a:latin typeface="Segoe UI Semibold"/>
              </a:rPr>
              <a:t>Ter 20/10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42100" y="2056148"/>
            <a:ext cx="2440200" cy="3757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 u="none">
                <a:solidFill>
                  <a:srgbClr val="181C23"/>
                </a:solidFill>
                <a:latin typeface="Segoe UI"/>
              </a:rPr>
              <a:t>Enforcement: OPA Gatekeeper e Admission Control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11700" y="2621932"/>
            <a:ext cx="2740200" cy="1005784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9525">
            <a:solidFill>
              <a:srgbClr val="EC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61700" y="2711932"/>
            <a:ext cx="2440200" cy="3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 u="none">
                <a:solidFill>
                  <a:srgbClr val="A6F750"/>
                </a:solidFill>
                <a:latin typeface="Segoe UI Semibold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00" y="3011932"/>
            <a:ext cx="24402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 u="none">
                <a:solidFill>
                  <a:srgbClr val="2371FF"/>
                </a:solidFill>
                <a:latin typeface="Segoe UI Semibold"/>
              </a:rPr>
              <a:t>Sex 23/10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1700" y="3211932"/>
            <a:ext cx="2440200" cy="3757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 u="none">
                <a:solidFill>
                  <a:srgbClr val="181C23"/>
                </a:solidFill>
                <a:latin typeface="Segoe UI"/>
              </a:rPr>
              <a:t>SBOM: Fundamentos, SPDX e CycloneDX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01900" y="2621932"/>
            <a:ext cx="2740200" cy="1005784"/>
          </a:xfrm>
          <a:prstGeom prst="roundRect">
            <a:avLst>
              <a:gd name="adj" fmla="val 6000"/>
            </a:avLst>
          </a:prstGeom>
          <a:solidFill>
            <a:srgbClr val="181C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3201900" y="2621932"/>
            <a:ext cx="70000" cy="1005784"/>
          </a:xfrm>
          <a:prstGeom prst="roundRect">
            <a:avLst>
              <a:gd name="adj" fmla="val 50000"/>
            </a:avLst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3351900" y="2711932"/>
            <a:ext cx="2440200" cy="3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 u="none">
                <a:solidFill>
                  <a:srgbClr val="A6F750"/>
                </a:solidFill>
                <a:latin typeface="Segoe UI Semibold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51900" y="3011932"/>
            <a:ext cx="24402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 u="none">
                <a:solidFill>
                  <a:srgbClr val="A6F750"/>
                </a:solidFill>
                <a:latin typeface="Segoe UI Semibold"/>
              </a:rPr>
              <a:t>Seg 26/10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51900" y="3211932"/>
            <a:ext cx="2440200" cy="3757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 u="none">
                <a:solidFill>
                  <a:srgbClr val="FFFDF8"/>
                </a:solidFill>
                <a:latin typeface="Segoe UI"/>
              </a:rPr>
              <a:t>Análise de SBOM e Gestão de Dependências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092100" y="2621932"/>
            <a:ext cx="2740200" cy="1005784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9525">
            <a:solidFill>
              <a:srgbClr val="EC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242100" y="2711932"/>
            <a:ext cx="2440200" cy="3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 u="none">
                <a:solidFill>
                  <a:srgbClr val="A6F750"/>
                </a:solidFill>
                <a:latin typeface="Segoe UI Semibold"/>
              </a:rPr>
              <a:t>06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2100" y="3011932"/>
            <a:ext cx="24402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 u="none">
                <a:solidFill>
                  <a:srgbClr val="2371FF"/>
                </a:solidFill>
                <a:latin typeface="Segoe UI Semibold"/>
              </a:rPr>
              <a:t>Ter 27/10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42100" y="3211932"/>
            <a:ext cx="2440200" cy="3757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 u="none">
                <a:solidFill>
                  <a:srgbClr val="181C23"/>
                </a:solidFill>
                <a:latin typeface="Segoe UI"/>
              </a:rPr>
              <a:t>Supply Chain Security: Ataques e Frameworks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11700" y="3777716"/>
            <a:ext cx="2740200" cy="1005784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9525">
            <a:solidFill>
              <a:srgbClr val="EC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61700" y="3867716"/>
            <a:ext cx="2440200" cy="3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 u="none">
                <a:solidFill>
                  <a:srgbClr val="A6F750"/>
                </a:solidFill>
                <a:latin typeface="Segoe UI Semibold"/>
              </a:rPr>
              <a:t>07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1700" y="4167716"/>
            <a:ext cx="24402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 u="none">
                <a:solidFill>
                  <a:srgbClr val="2371FF"/>
                </a:solidFill>
                <a:latin typeface="Segoe UI Semibold"/>
              </a:rPr>
              <a:t>Sex 30/10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1700" y="4367716"/>
            <a:ext cx="2440200" cy="3757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 u="none">
                <a:solidFill>
                  <a:srgbClr val="181C23"/>
                </a:solidFill>
                <a:latin typeface="Segoe UI"/>
              </a:rPr>
              <a:t>Integridade e Procedência de Artefatos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201900" y="3777716"/>
            <a:ext cx="2740200" cy="1005784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9525">
            <a:solidFill>
              <a:srgbClr val="EC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3351900" y="3867716"/>
            <a:ext cx="2440200" cy="3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 u="none">
                <a:solidFill>
                  <a:srgbClr val="A6F750"/>
                </a:solidFill>
                <a:latin typeface="Segoe UI Semibold"/>
              </a:rPr>
              <a:t>08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51900" y="4167716"/>
            <a:ext cx="24402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 u="none">
                <a:solidFill>
                  <a:srgbClr val="2371FF"/>
                </a:solidFill>
                <a:latin typeface="Segoe UI Semibold"/>
              </a:rPr>
              <a:t>Ter 03/11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51900" y="4367716"/>
            <a:ext cx="2440200" cy="3757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 u="none">
                <a:solidFill>
                  <a:srgbClr val="181C23"/>
                </a:solidFill>
                <a:latin typeface="Segoe UI"/>
              </a:rPr>
              <a:t>Compliance Contínuo, Auditoria e Projeto Final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092100" y="3777716"/>
            <a:ext cx="2740200" cy="1005784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9525">
            <a:solidFill>
              <a:srgbClr val="EC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242100" y="3867716"/>
            <a:ext cx="2440200" cy="3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 u="none">
                <a:solidFill>
                  <a:srgbClr val="A6F750"/>
                </a:solidFill>
                <a:latin typeface="Segoe UI Semibold"/>
              </a:rPr>
              <a:t>09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42100" y="4167716"/>
            <a:ext cx="24402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 u="none">
                <a:solidFill>
                  <a:srgbClr val="2371FF"/>
                </a:solidFill>
                <a:latin typeface="Segoe UI Semibold"/>
              </a:rPr>
              <a:t>Sex 06/11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242100" y="4367716"/>
            <a:ext cx="2440200" cy="3757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 u="none">
                <a:solidFill>
                  <a:srgbClr val="181C23"/>
                </a:solidFill>
                <a:latin typeface="Segoe UI"/>
              </a:rPr>
              <a:t>Concluir atividades e preencher rubricas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11700" y="4843500"/>
            <a:ext cx="8520600" cy="6000"/>
          </a:xfrm>
          <a:prstGeom prst="rect">
            <a:avLst/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311700" y="4883500"/>
            <a:ext cx="7920600" cy="22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0" i="0" u="none">
                <a:solidFill>
                  <a:srgbClr val="6A707D"/>
                </a:solidFill>
                <a:latin typeface="Segoe UI"/>
              </a:rPr>
              <a:t>Ada · CY-SE-013 - Supply Chain Security · Análise de SBOM e Gestão de Dependências | Everton J Benedicto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32300" y="4883500"/>
            <a:ext cx="500000" cy="22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800" b="0" i="0" u="none">
                <a:solidFill>
                  <a:srgbClr val="2371FF"/>
                </a:solidFill>
                <a:latin typeface="Segoe UI Semibold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rcRect t="714" b="715"/>
          <a:stretch>
            <a:fillRect/>
          </a:stretch>
        </p:blipFill>
        <p:spPr>
          <a:xfrm>
            <a:off x="0" y="0"/>
            <a:ext cx="9144000" cy="616148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44000" y="1016148"/>
            <a:ext cx="3000000" cy="202854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11700" y="766148"/>
            <a:ext cx="85206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 u="none">
                <a:solidFill>
                  <a:srgbClr val="A6F750"/>
                </a:solidFill>
                <a:latin typeface="Segoe UI Semibold"/>
              </a:rPr>
              <a:t>COMBINADO DA TURMA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1700" y="1016148"/>
            <a:ext cx="8520600" cy="7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600" b="0" i="0" u="none">
                <a:solidFill>
                  <a:srgbClr val="181C23"/>
                </a:solidFill>
                <a:latin typeface="Segoe UI Semibold"/>
              </a:rPr>
              <a:t>Por favor!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1700" y="1866148"/>
            <a:ext cx="3139028" cy="300000"/>
          </a:xfrm>
          <a:prstGeom prst="roundRect">
            <a:avLst>
              <a:gd name="adj" fmla="val 12000"/>
            </a:avLst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11700" y="1866148"/>
            <a:ext cx="3139028" cy="30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0" i="0" u="none">
                <a:solidFill>
                  <a:srgbClr val="FFFDF8"/>
                </a:solidFill>
                <a:latin typeface="Segoe UI Semibold"/>
              </a:rPr>
              <a:t>Bora participar!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11700" y="2246148"/>
            <a:ext cx="3139028" cy="2537352"/>
          </a:xfrm>
          <a:prstGeom prst="roundRect">
            <a:avLst>
              <a:gd name="adj" fmla="val 5000"/>
            </a:avLst>
          </a:prstGeom>
          <a:solidFill>
            <a:srgbClr val="FFFDF8"/>
          </a:solidFill>
          <a:ln w="9525">
            <a:solidFill>
              <a:srgbClr val="EC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61700" y="2446148"/>
            <a:ext cx="2839028" cy="9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 u="none">
                <a:solidFill>
                  <a:srgbClr val="181C23"/>
                </a:solidFill>
                <a:latin typeface="Segoe UI Semibold"/>
              </a:rPr>
              <a:t>Câmera ligada</a:t>
            </a:r>
          </a:p>
          <a:p>
            <a:pPr algn="l">
              <a:lnSpc>
                <a:spcPct val="115000"/>
              </a:lnSpc>
            </a:pPr>
            <a:r>
              <a:rPr sz="1500" b="0" i="0" u="none">
                <a:solidFill>
                  <a:srgbClr val="181C23"/>
                </a:solidFill>
                <a:latin typeface="Segoe UI Semibold"/>
              </a:rPr>
              <a:t>+ mão levantada</a:t>
            </a:r>
          </a:p>
          <a:p>
            <a:pPr algn="l">
              <a:lnSpc>
                <a:spcPct val="115000"/>
              </a:lnSpc>
            </a:pPr>
            <a:r>
              <a:rPr sz="1500" b="0" i="0" u="none">
                <a:solidFill>
                  <a:srgbClr val="A6F750"/>
                </a:solidFill>
                <a:latin typeface="Segoe UI Semibold"/>
              </a:rPr>
              <a:t>= aula top!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1700" y="4273500"/>
            <a:ext cx="2839028" cy="360000"/>
          </a:xfrm>
          <a:prstGeom prst="roundRect">
            <a:avLst>
              <a:gd name="adj" fmla="val 50000"/>
            </a:avLst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61700" y="4273500"/>
            <a:ext cx="2839028" cy="36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0" i="0" u="none">
                <a:solidFill>
                  <a:srgbClr val="181C23"/>
                </a:solidFill>
                <a:latin typeface="Segoe UI Semibold"/>
              </a:rPr>
              <a:t>INTERVALO · 15 min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710728" y="1866148"/>
            <a:ext cx="5121572" cy="300000"/>
          </a:xfrm>
          <a:prstGeom prst="roundRect">
            <a:avLst>
              <a:gd name="adj" fmla="val 10000"/>
            </a:avLst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710728" y="1866148"/>
            <a:ext cx="5121572" cy="30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0" i="0" u="none">
                <a:solidFill>
                  <a:srgbClr val="FFFDF8"/>
                </a:solidFill>
                <a:latin typeface="Segoe UI Semibold"/>
              </a:rPr>
              <a:t>Combinados da nossa aula</a:t>
            </a:r>
          </a:p>
        </p:txBody>
      </p:sp>
      <p:sp>
        <p:nvSpPr>
          <p:cNvPr id="14" name="Oval 13"/>
          <p:cNvSpPr/>
          <p:nvPr/>
        </p:nvSpPr>
        <p:spPr>
          <a:xfrm>
            <a:off x="3710728" y="2397883"/>
            <a:ext cx="240000" cy="240000"/>
          </a:xfrm>
          <a:prstGeom prst="ellipse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710728" y="2397883"/>
            <a:ext cx="240000" cy="24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 u="none">
                <a:solidFill>
                  <a:srgbClr val="181C23"/>
                </a:solidFill>
                <a:latin typeface="Segoe UI Semibold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30728" y="2266148"/>
            <a:ext cx="4701572" cy="50347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0" i="0" u="none">
                <a:solidFill>
                  <a:srgbClr val="181C23"/>
                </a:solidFill>
                <a:latin typeface="Segoe UI"/>
              </a:rPr>
              <a:t>Câmeras ligadas.</a:t>
            </a:r>
          </a:p>
        </p:txBody>
      </p:sp>
      <p:sp>
        <p:nvSpPr>
          <p:cNvPr id="17" name="Oval 16"/>
          <p:cNvSpPr/>
          <p:nvPr/>
        </p:nvSpPr>
        <p:spPr>
          <a:xfrm>
            <a:off x="3710728" y="2901353"/>
            <a:ext cx="240000" cy="240000"/>
          </a:xfrm>
          <a:prstGeom prst="ellipse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710728" y="2901353"/>
            <a:ext cx="240000" cy="24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 u="none">
                <a:solidFill>
                  <a:srgbClr val="181C23"/>
                </a:solidFill>
                <a:latin typeface="Segoe UI Semibold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30728" y="2769618"/>
            <a:ext cx="4701572" cy="50347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0" i="0" u="none">
                <a:solidFill>
                  <a:srgbClr val="181C23"/>
                </a:solidFill>
                <a:latin typeface="Segoe UI"/>
              </a:rPr>
              <a:t>Entrem no horário: início e intervalo.</a:t>
            </a:r>
          </a:p>
        </p:txBody>
      </p:sp>
      <p:sp>
        <p:nvSpPr>
          <p:cNvPr id="20" name="Oval 19"/>
          <p:cNvSpPr/>
          <p:nvPr/>
        </p:nvSpPr>
        <p:spPr>
          <a:xfrm>
            <a:off x="3710728" y="3404823"/>
            <a:ext cx="240000" cy="240000"/>
          </a:xfrm>
          <a:prstGeom prst="ellipse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710728" y="3404823"/>
            <a:ext cx="240000" cy="24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 u="none">
                <a:solidFill>
                  <a:srgbClr val="181C23"/>
                </a:solidFill>
                <a:latin typeface="Segoe UI Semibol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30728" y="3273088"/>
            <a:ext cx="4701572" cy="50347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0" i="0" u="none">
                <a:solidFill>
                  <a:srgbClr val="181C23"/>
                </a:solidFill>
                <a:latin typeface="Segoe UI"/>
              </a:rPr>
              <a:t>Participem da aula.</a:t>
            </a:r>
          </a:p>
        </p:txBody>
      </p:sp>
      <p:sp>
        <p:nvSpPr>
          <p:cNvPr id="23" name="Oval 22"/>
          <p:cNvSpPr/>
          <p:nvPr/>
        </p:nvSpPr>
        <p:spPr>
          <a:xfrm>
            <a:off x="3710728" y="3908293"/>
            <a:ext cx="240000" cy="240000"/>
          </a:xfrm>
          <a:prstGeom prst="ellipse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710728" y="3908293"/>
            <a:ext cx="240000" cy="24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 u="none">
                <a:solidFill>
                  <a:srgbClr val="181C23"/>
                </a:solidFill>
                <a:latin typeface="Segoe UI Semibold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30728" y="3776558"/>
            <a:ext cx="4701572" cy="50347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0" i="0" u="none">
                <a:solidFill>
                  <a:srgbClr val="181C23"/>
                </a:solidFill>
                <a:latin typeface="Segoe UI"/>
              </a:rPr>
              <a:t>Tirem dúvidas.</a:t>
            </a:r>
          </a:p>
        </p:txBody>
      </p:sp>
      <p:sp>
        <p:nvSpPr>
          <p:cNvPr id="26" name="Oval 25"/>
          <p:cNvSpPr/>
          <p:nvPr/>
        </p:nvSpPr>
        <p:spPr>
          <a:xfrm>
            <a:off x="3710728" y="4411763"/>
            <a:ext cx="240000" cy="240000"/>
          </a:xfrm>
          <a:prstGeom prst="ellipse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710728" y="4411763"/>
            <a:ext cx="240000" cy="24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 u="none">
                <a:solidFill>
                  <a:srgbClr val="181C23"/>
                </a:solidFill>
                <a:latin typeface="Segoe UI Semibold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30728" y="4280028"/>
            <a:ext cx="4701572" cy="50347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0" i="0" u="none">
                <a:solidFill>
                  <a:srgbClr val="181C23"/>
                </a:solidFill>
                <a:latin typeface="Segoe UI"/>
              </a:rPr>
              <a:t>Levantem a mão para tirar dúvidas.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11700" y="4843500"/>
            <a:ext cx="8520600" cy="6000"/>
          </a:xfrm>
          <a:prstGeom prst="rect">
            <a:avLst/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311700" y="4883500"/>
            <a:ext cx="7920600" cy="22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0" i="0" u="none">
                <a:solidFill>
                  <a:srgbClr val="6A707D"/>
                </a:solidFill>
                <a:latin typeface="Segoe UI"/>
              </a:rPr>
              <a:t>Ada · CY-SE-013 - Supply Chain Security · Análise de SBOM e Gestão de Dependências | Everton J Benedicto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32300" y="4883500"/>
            <a:ext cx="500000" cy="22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800" b="0" i="0" u="none">
                <a:solidFill>
                  <a:srgbClr val="2371FF"/>
                </a:solidFill>
                <a:latin typeface="Segoe UI Semibold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rcRect t="995" b="995"/>
          <a:stretch>
            <a:fillRect/>
          </a:stretch>
        </p:blipFill>
        <p:spPr>
          <a:xfrm>
            <a:off x="0" y="0"/>
            <a:ext cx="9144000" cy="612648"/>
          </a:xfrm>
          <a:prstGeom prst="rect">
            <a:avLst/>
          </a:prstGeom>
        </p:spPr>
      </p:pic>
      <p:sp>
        <p:nvSpPr>
          <p:cNvPr id="4" name="Ice Breaker Kicker"/>
          <p:cNvSpPr txBox="1"/>
          <p:nvPr/>
        </p:nvSpPr>
        <p:spPr>
          <a:xfrm>
            <a:off x="310896" y="777240"/>
            <a:ext cx="852220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A6F750"/>
                </a:solidFill>
                <a:latin typeface="Segoe UI Semibold"/>
              </a:rPr>
              <a:t>ICE BREAKER</a:t>
            </a:r>
          </a:p>
        </p:txBody>
      </p:sp>
      <p:sp>
        <p:nvSpPr>
          <p:cNvPr id="5" name="Ice Breaker Question"/>
          <p:cNvSpPr txBox="1"/>
          <p:nvPr/>
        </p:nvSpPr>
        <p:spPr>
          <a:xfrm>
            <a:off x="310896" y="1024128"/>
            <a:ext cx="8522208" cy="603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81C23"/>
                </a:solidFill>
                <a:latin typeface="Segoe UI Semibold"/>
              </a:rPr>
              <a:t>Dark mode em tudo ou luz do sol direto na retina?</a:t>
            </a:r>
          </a:p>
        </p:txBody>
      </p:sp>
      <p:sp>
        <p:nvSpPr>
          <p:cNvPr id="6" name="Rectangle 5"/>
          <p:cNvSpPr/>
          <p:nvPr/>
        </p:nvSpPr>
        <p:spPr>
          <a:xfrm>
            <a:off x="310896" y="1600200"/>
            <a:ext cx="960120" cy="54864"/>
          </a:xfrm>
          <a:prstGeom prst="rect">
            <a:avLst/>
          </a:prstGeom>
          <a:solidFill>
            <a:srgbClr val="A6F7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Dark mode humor illustration" descr="Ilustração engraçada de uma pessoa em modo caverna celebrando o dark mode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792224"/>
            <a:ext cx="2788920" cy="2788920"/>
          </a:xfrm>
          <a:prstGeom prst="rect">
            <a:avLst/>
          </a:prstGeom>
        </p:spPr>
      </p:pic>
      <p:pic>
        <p:nvPicPr>
          <p:cNvPr id="8" name="Sunlight humor illustration" descr="Ilustração engraçada de um aluno sendo atingido diretamente por um raio de sol.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88152" y="1792224"/>
            <a:ext cx="2788920" cy="2788920"/>
          </a:xfrm>
          <a:prstGeom prst="rect">
            <a:avLst/>
          </a:prstGeom>
        </p:spPr>
      </p:pic>
      <p:sp>
        <p:nvSpPr>
          <p:cNvPr id="9" name="Oval 8"/>
          <p:cNvSpPr/>
          <p:nvPr/>
        </p:nvSpPr>
        <p:spPr>
          <a:xfrm>
            <a:off x="4041648" y="2578608"/>
            <a:ext cx="1060704" cy="1060704"/>
          </a:xfrm>
          <a:prstGeom prst="ellipse">
            <a:avLst/>
          </a:prstGeom>
          <a:solidFill>
            <a:srgbClr val="237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U"/>
          <p:cNvSpPr txBox="1"/>
          <p:nvPr/>
        </p:nvSpPr>
        <p:spPr>
          <a:xfrm>
            <a:off x="4041648" y="2578608"/>
            <a:ext cx="1060704" cy="10607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FDF8"/>
                </a:solidFill>
                <a:latin typeface="Segoe UI Semibold"/>
              </a:rPr>
              <a:t>OU</a:t>
            </a:r>
          </a:p>
        </p:txBody>
      </p:sp>
      <p:sp>
        <p:nvSpPr>
          <p:cNvPr id="11" name="Prompt"/>
          <p:cNvSpPr txBox="1"/>
          <p:nvPr/>
        </p:nvSpPr>
        <p:spPr>
          <a:xfrm>
            <a:off x="3584448" y="3730752"/>
            <a:ext cx="1975104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A707D"/>
                </a:solidFill>
                <a:latin typeface="Segoe UI Semibold"/>
              </a:rPr>
              <a:t>Escolha seu sofrimento 😎</a:t>
            </a:r>
          </a:p>
        </p:txBody>
      </p:sp>
      <p:sp>
        <p:nvSpPr>
          <p:cNvPr id="12" name="Dark Mode Label"/>
          <p:cNvSpPr txBox="1"/>
          <p:nvPr/>
        </p:nvSpPr>
        <p:spPr>
          <a:xfrm>
            <a:off x="566928" y="4562856"/>
            <a:ext cx="2788920" cy="2468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371FF"/>
                </a:solidFill>
                <a:latin typeface="Segoe UI Semibold"/>
              </a:rPr>
              <a:t>DARK MODE EM TUDO</a:t>
            </a:r>
          </a:p>
        </p:txBody>
      </p:sp>
      <p:sp>
        <p:nvSpPr>
          <p:cNvPr id="13" name="Sunlight Label"/>
          <p:cNvSpPr txBox="1"/>
          <p:nvPr/>
        </p:nvSpPr>
        <p:spPr>
          <a:xfrm>
            <a:off x="5788152" y="4562856"/>
            <a:ext cx="2788920" cy="2468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81C23"/>
                </a:solidFill>
                <a:latin typeface="Segoe UI Semibold"/>
              </a:rPr>
              <a:t>SOL DIRETO NA RETINA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10896" y="4846320"/>
            <a:ext cx="8522208" cy="9144"/>
          </a:xfrm>
          <a:prstGeom prst="rect">
            <a:avLst/>
          </a:prstGeom>
          <a:solidFill>
            <a:srgbClr val="EC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Footer"/>
          <p:cNvSpPr txBox="1"/>
          <p:nvPr/>
        </p:nvSpPr>
        <p:spPr>
          <a:xfrm>
            <a:off x="310896" y="4882896"/>
            <a:ext cx="7918704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A707D"/>
                </a:solidFill>
                <a:latin typeface="Segoe UI"/>
              </a:rPr>
              <a:t>Ada · CY-SE-013 - Supply Chain Security · Análise de SBOM e Gestão de Dependências | Everton J Benedicto</a:t>
            </a:r>
          </a:p>
        </p:txBody>
      </p:sp>
      <p:sp>
        <p:nvSpPr>
          <p:cNvPr id="16" name="Slide Number"/>
          <p:cNvSpPr txBox="1"/>
          <p:nvPr/>
        </p:nvSpPr>
        <p:spPr>
          <a:xfrm>
            <a:off x="8330183" y="4882896"/>
            <a:ext cx="502920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2371FF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rcRect t="714" b="715"/>
          <a:stretch>
            <a:fillRect/>
          </a:stretch>
        </p:blipFill>
        <p:spPr>
          <a:xfrm>
            <a:off x="0" y="0"/>
            <a:ext cx="9144000" cy="6161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11700" y="796148"/>
            <a:ext cx="8520600" cy="2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 u="none">
                <a:solidFill>
                  <a:srgbClr val="2371FF"/>
                </a:solidFill>
                <a:latin typeface="Segoe UI Semibold"/>
              </a:rPr>
              <a:t>PROBLEMA GERADOR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1700" y="1056148"/>
            <a:ext cx="8520600" cy="5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0" i="0" u="none">
                <a:solidFill>
                  <a:srgbClr val="181C23"/>
                </a:solidFill>
                <a:latin typeface="Segoe UI Semibold"/>
              </a:rPr>
              <a:t>Log4Shell em segundos ou em dias?</a:t>
            </a:r>
          </a:p>
        </p:txBody>
      </p:sp>
      <p:sp>
        <p:nvSpPr>
          <p:cNvPr id="5" name="Rectangle 4"/>
          <p:cNvSpPr/>
          <p:nvPr/>
        </p:nvSpPr>
        <p:spPr>
          <a:xfrm>
            <a:off x="311700" y="1616148"/>
            <a:ext cx="900000" cy="55000"/>
          </a:xfrm>
          <a:prstGeom prst="rect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311700" y="1746148"/>
            <a:ext cx="4130300" cy="1307352"/>
          </a:xfrm>
          <a:prstGeom prst="roundRect">
            <a:avLst>
              <a:gd name="adj" fmla="val 4000"/>
            </a:avLst>
          </a:prstGeom>
          <a:solidFill>
            <a:srgbClr val="FFFDF8"/>
          </a:solidFill>
          <a:ln w="9525">
            <a:solidFill>
              <a:srgbClr val="EC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311700" y="1746148"/>
            <a:ext cx="4130300" cy="320000"/>
          </a:xfrm>
          <a:prstGeom prst="roundRect">
            <a:avLst>
              <a:gd name="adj" fmla="val 4000"/>
            </a:avLst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4072000" y="1796148"/>
            <a:ext cx="220000" cy="220000"/>
          </a:xfrm>
          <a:prstGeom prst="ellipse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072000" y="1796148"/>
            <a:ext cx="220000" cy="22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 u="none">
                <a:solidFill>
                  <a:srgbClr val="2371FF"/>
                </a:solidFill>
                <a:latin typeface="Segoe UI Semibold"/>
              </a:rPr>
              <a:t>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1700" y="1746148"/>
            <a:ext cx="3510300" cy="32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0" i="0" u="none">
                <a:solidFill>
                  <a:srgbClr val="FFFDF8"/>
                </a:solidFill>
                <a:latin typeface="Segoe UI Semibold"/>
              </a:rPr>
              <a:t>Gestão imatura</a:t>
            </a:r>
          </a:p>
        </p:txBody>
      </p:sp>
      <p:sp>
        <p:nvSpPr>
          <p:cNvPr id="11" name="Oval 10"/>
          <p:cNvSpPr/>
          <p:nvPr/>
        </p:nvSpPr>
        <p:spPr>
          <a:xfrm>
            <a:off x="461700" y="2260706"/>
            <a:ext cx="140000" cy="14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31700" y="2206148"/>
            <a:ext cx="3560300" cy="24911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 i="0" u="none">
                <a:solidFill>
                  <a:srgbClr val="181C23"/>
                </a:solidFill>
                <a:latin typeface="Segoe UI"/>
              </a:rPr>
              <a:t>grep -r "log4j-core" repositório por repositório</a:t>
            </a:r>
          </a:p>
        </p:txBody>
      </p:sp>
      <p:sp>
        <p:nvSpPr>
          <p:cNvPr id="13" name="Oval 12"/>
          <p:cNvSpPr/>
          <p:nvPr/>
        </p:nvSpPr>
        <p:spPr>
          <a:xfrm>
            <a:off x="461700" y="2509823"/>
            <a:ext cx="140000" cy="14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31700" y="2455265"/>
            <a:ext cx="3560300" cy="24911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 i="0" u="none">
                <a:solidFill>
                  <a:srgbClr val="181C23"/>
                </a:solidFill>
                <a:latin typeface="Segoe UI"/>
              </a:rPr>
              <a:t>Dias para mapear apps com a CVE-2021-44228</a:t>
            </a:r>
          </a:p>
        </p:txBody>
      </p:sp>
      <p:sp>
        <p:nvSpPr>
          <p:cNvPr id="15" name="Oval 14"/>
          <p:cNvSpPr/>
          <p:nvPr/>
        </p:nvSpPr>
        <p:spPr>
          <a:xfrm>
            <a:off x="461700" y="2758940"/>
            <a:ext cx="140000" cy="14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31700" y="2704382"/>
            <a:ext cx="3560300" cy="24911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 i="0" u="none">
                <a:solidFill>
                  <a:srgbClr val="181C23"/>
                </a:solidFill>
                <a:latin typeface="Segoe UI"/>
              </a:rPr>
              <a:t>Resposta depende da memória de alguém da equipe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02000" y="1746148"/>
            <a:ext cx="4130300" cy="1307352"/>
          </a:xfrm>
          <a:prstGeom prst="roundRect">
            <a:avLst>
              <a:gd name="adj" fmla="val 4000"/>
            </a:avLst>
          </a:prstGeom>
          <a:solidFill>
            <a:srgbClr val="FFFDF8"/>
          </a:solidFill>
          <a:ln w="9525">
            <a:solidFill>
              <a:srgbClr val="EC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4702000" y="1746148"/>
            <a:ext cx="4130300" cy="320000"/>
          </a:xfrm>
          <a:prstGeom prst="roundRect">
            <a:avLst>
              <a:gd name="adj" fmla="val 4000"/>
            </a:avLst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8462300" y="1796148"/>
            <a:ext cx="220000" cy="220000"/>
          </a:xfrm>
          <a:prstGeom prst="ellipse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462300" y="1796148"/>
            <a:ext cx="220000" cy="22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 u="none">
                <a:solidFill>
                  <a:srgbClr val="A6F750"/>
                </a:solidFill>
                <a:latin typeface="Segoe UI Semibold"/>
              </a:rPr>
              <a:t>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52000" y="1746148"/>
            <a:ext cx="3510300" cy="32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0" i="0" u="none">
                <a:solidFill>
                  <a:srgbClr val="181C23"/>
                </a:solidFill>
                <a:latin typeface="Segoe UI Semibold"/>
              </a:rPr>
              <a:t>Gestão madura (SBOM + Dependency-Track)</a:t>
            </a:r>
          </a:p>
        </p:txBody>
      </p:sp>
      <p:sp>
        <p:nvSpPr>
          <p:cNvPr id="22" name="Oval 21"/>
          <p:cNvSpPr/>
          <p:nvPr/>
        </p:nvSpPr>
        <p:spPr>
          <a:xfrm>
            <a:off x="4852000" y="2260706"/>
            <a:ext cx="140000" cy="140000"/>
          </a:xfrm>
          <a:prstGeom prst="ellipse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122000" y="2206148"/>
            <a:ext cx="3560300" cy="24911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 i="0" u="none">
                <a:solidFill>
                  <a:srgbClr val="181C23"/>
                </a:solidFill>
                <a:latin typeface="Segoe UI"/>
              </a:rPr>
              <a:t>SBOM correlacionado com NVD, OSV e GHSA</a:t>
            </a:r>
          </a:p>
        </p:txBody>
      </p:sp>
      <p:sp>
        <p:nvSpPr>
          <p:cNvPr id="24" name="Oval 23"/>
          <p:cNvSpPr/>
          <p:nvPr/>
        </p:nvSpPr>
        <p:spPr>
          <a:xfrm>
            <a:off x="4852000" y="2509823"/>
            <a:ext cx="140000" cy="140000"/>
          </a:xfrm>
          <a:prstGeom prst="ellipse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122000" y="2455265"/>
            <a:ext cx="3560300" cy="24911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 i="0" u="none">
                <a:solidFill>
                  <a:srgbClr val="181C23"/>
                </a:solidFill>
                <a:latin typeface="Segoe UI"/>
              </a:rPr>
              <a:t>Dashboard lista apps e severidade em minutos</a:t>
            </a:r>
          </a:p>
        </p:txBody>
      </p:sp>
      <p:sp>
        <p:nvSpPr>
          <p:cNvPr id="26" name="Oval 25"/>
          <p:cNvSpPr/>
          <p:nvPr/>
        </p:nvSpPr>
        <p:spPr>
          <a:xfrm>
            <a:off x="4852000" y="2758940"/>
            <a:ext cx="140000" cy="140000"/>
          </a:xfrm>
          <a:prstGeom prst="ellipse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122000" y="2704382"/>
            <a:ext cx="3560300" cy="24911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 i="0" u="none">
                <a:solidFill>
                  <a:srgbClr val="181C23"/>
                </a:solidFill>
                <a:latin typeface="Segoe UI"/>
              </a:rPr>
              <a:t>Alerta e remediação disparam antes do ataque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11700" y="4193500"/>
            <a:ext cx="8520600" cy="590000"/>
          </a:xfrm>
          <a:prstGeom prst="roundRect">
            <a:avLst>
              <a:gd name="adj" fmla="val 6000"/>
            </a:avLst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11700" y="4273500"/>
            <a:ext cx="81206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 u="none">
                <a:solidFill>
                  <a:srgbClr val="2371FF"/>
                </a:solidFill>
                <a:latin typeface="Segoe UI Semibold"/>
              </a:rPr>
              <a:t>GLOSSÁRIO  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1700" y="4463500"/>
            <a:ext cx="81206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 i="0" u="none">
                <a:solidFill>
                  <a:srgbClr val="6A707D"/>
                </a:solidFill>
                <a:latin typeface="Segoe UI"/>
              </a:rPr>
              <a:t>SBOM — Software Bill of Materials   ·   CVE — Common Vulnerabilities and Exposures   ·   NVD — National Vulnerability Database   ·   OSV — Open Source Vulnerabilities   ·   GHSA — GitHub Security Advisory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11700" y="3203500"/>
            <a:ext cx="8520600" cy="900000"/>
          </a:xfrm>
          <a:prstGeom prst="roundRect">
            <a:avLst>
              <a:gd name="adj" fmla="val 6000"/>
            </a:avLst>
          </a:prstGeom>
          <a:solidFill>
            <a:srgbClr val="DAF9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ounded Rectangle 31"/>
          <p:cNvSpPr/>
          <p:nvPr/>
        </p:nvSpPr>
        <p:spPr>
          <a:xfrm>
            <a:off x="311700" y="3203500"/>
            <a:ext cx="70000" cy="900000"/>
          </a:xfrm>
          <a:prstGeom prst="roundRect">
            <a:avLst>
              <a:gd name="adj" fmla="val 50000"/>
            </a:avLst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511700" y="3293500"/>
            <a:ext cx="8120600" cy="2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 u="none">
                <a:solidFill>
                  <a:srgbClr val="2371FF"/>
                </a:solidFill>
                <a:latin typeface="Segoe UI Semibold"/>
              </a:rPr>
              <a:t>💡 ANALOGIA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11700" y="3543500"/>
            <a:ext cx="8120600" cy="5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1" u="none">
                <a:solidFill>
                  <a:srgbClr val="181C23"/>
                </a:solidFill>
                <a:latin typeface="Segoe UI"/>
              </a:rPr>
              <a:t>Ter a lista de ingredientes (o SBOM) é só o primeiro passo; quem salva é o sistema que cruza o recall com todos os produtos e já aciona a retirada — a diferença não são os engenheiros, é a infraestrutura de governança.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11700" y="4843500"/>
            <a:ext cx="8520600" cy="6000"/>
          </a:xfrm>
          <a:prstGeom prst="rect">
            <a:avLst/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311700" y="4883500"/>
            <a:ext cx="7920600" cy="22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0" i="0" u="none">
                <a:solidFill>
                  <a:srgbClr val="6A707D"/>
                </a:solidFill>
                <a:latin typeface="Segoe UI"/>
              </a:rPr>
              <a:t>Ada · CY-SE-013 - Supply Chain Security · Análise de SBOM e Gestão de Dependências | Everton J Benedicto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32300" y="4931944"/>
            <a:ext cx="500000" cy="12311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lang="pt-PT" sz="800" b="0" i="0" u="none">
                <a:solidFill>
                  <a:srgbClr val="2371FF"/>
                </a:solidFill>
                <a:latin typeface="Segoe UI Semibold"/>
              </a:rPr>
              <a:t>5</a:t>
            </a:r>
            <a:endParaRPr sz="800" b="0" i="0" u="none">
              <a:solidFill>
                <a:srgbClr val="2371FF"/>
              </a:solidFill>
              <a:latin typeface="Segoe UI Semibold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rcRect t="714" b="715"/>
          <a:stretch>
            <a:fillRect/>
          </a:stretch>
        </p:blipFill>
        <p:spPr>
          <a:xfrm>
            <a:off x="0" y="0"/>
            <a:ext cx="9144000" cy="6161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11700" y="796148"/>
            <a:ext cx="8520600" cy="2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 u="none">
                <a:solidFill>
                  <a:srgbClr val="2371FF"/>
                </a:solidFill>
                <a:latin typeface="Segoe UI Semibold"/>
              </a:rPr>
              <a:t>CONHEÇA A FERRAMENTA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1700" y="1056148"/>
            <a:ext cx="8520600" cy="5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0" i="0" u="none">
                <a:solidFill>
                  <a:srgbClr val="181C23"/>
                </a:solidFill>
                <a:latin typeface="Segoe UI Semibold"/>
              </a:rPr>
              <a:t>O que é o Dependency-Track?</a:t>
            </a:r>
          </a:p>
        </p:txBody>
      </p:sp>
      <p:sp>
        <p:nvSpPr>
          <p:cNvPr id="5" name="Rectangle 4"/>
          <p:cNvSpPr/>
          <p:nvPr/>
        </p:nvSpPr>
        <p:spPr>
          <a:xfrm>
            <a:off x="311700" y="1616148"/>
            <a:ext cx="900000" cy="55000"/>
          </a:xfrm>
          <a:prstGeom prst="rect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311700" y="1926148"/>
            <a:ext cx="2546866" cy="760000"/>
          </a:xfrm>
          <a:prstGeom prst="roundRect">
            <a:avLst>
              <a:gd name="adj" fmla="val 12000"/>
            </a:avLst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421700" y="2036148"/>
            <a:ext cx="260000" cy="260000"/>
          </a:xfrm>
          <a:prstGeom prst="ellipse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21700" y="2036148"/>
            <a:ext cx="260000" cy="26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 u="none">
                <a:solidFill>
                  <a:srgbClr val="181C23"/>
                </a:solidFill>
                <a:latin typeface="Segoe UI Semibold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1700" y="2326148"/>
            <a:ext cx="2326866" cy="30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 i="0" u="none">
                <a:solidFill>
                  <a:srgbClr val="FFFDF8"/>
                </a:solidFill>
                <a:latin typeface="Segoe UI Semibold"/>
              </a:rPr>
              <a:t>Você entrega o SBOM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1700" y="2836148"/>
            <a:ext cx="2546866" cy="1207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 u="none">
                <a:solidFill>
                  <a:srgbClr val="6A707D"/>
                </a:solidFill>
                <a:latin typeface="Segoe UI"/>
              </a:rPr>
              <a:t>A 'lista de ingredientes' do seu app chega pela API — nenhuma planilha, nenhum grep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948566" y="2196148"/>
            <a:ext cx="260000" cy="220000"/>
          </a:xfrm>
          <a:prstGeom prst="rightArrow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3298566" y="1926148"/>
            <a:ext cx="2546866" cy="760000"/>
          </a:xfrm>
          <a:prstGeom prst="roundRect">
            <a:avLst>
              <a:gd name="adj" fmla="val 12000"/>
            </a:avLst>
          </a:prstGeom>
          <a:solidFill>
            <a:srgbClr val="181C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3408566" y="2036148"/>
            <a:ext cx="260000" cy="260000"/>
          </a:xfrm>
          <a:prstGeom prst="ellipse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408566" y="2036148"/>
            <a:ext cx="260000" cy="26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 u="none">
                <a:solidFill>
                  <a:srgbClr val="181C23"/>
                </a:solidFill>
                <a:latin typeface="Segoe UI Semibol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08566" y="2326148"/>
            <a:ext cx="2326866" cy="30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 i="0" u="none">
                <a:solidFill>
                  <a:srgbClr val="FFFDF8"/>
                </a:solidFill>
                <a:latin typeface="Segoe UI Semibold"/>
              </a:rPr>
              <a:t>Ele cruza sozinho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98566" y="2836148"/>
            <a:ext cx="2546866" cy="1207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 u="none">
                <a:solidFill>
                  <a:srgbClr val="6A707D"/>
                </a:solidFill>
                <a:latin typeface="Segoe UI"/>
              </a:rPr>
              <a:t>Compara cada componente com NVD, OSV e GHSA, 24h por dia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5935432" y="2196148"/>
            <a:ext cx="260000" cy="220000"/>
          </a:xfrm>
          <a:prstGeom prst="rightArrow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6285432" y="1926148"/>
            <a:ext cx="2546866" cy="760000"/>
          </a:xfrm>
          <a:prstGeom prst="roundRect">
            <a:avLst>
              <a:gd name="adj" fmla="val 12000"/>
            </a:avLst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6395432" y="2036148"/>
            <a:ext cx="260000" cy="260000"/>
          </a:xfrm>
          <a:prstGeom prst="ellipse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395432" y="2036148"/>
            <a:ext cx="260000" cy="26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 u="none">
                <a:solidFill>
                  <a:srgbClr val="181C23"/>
                </a:solidFill>
                <a:latin typeface="Segoe UI Semibol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95432" y="2326148"/>
            <a:ext cx="2326866" cy="30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 i="0" u="none">
                <a:solidFill>
                  <a:srgbClr val="FFFDF8"/>
                </a:solidFill>
                <a:latin typeface="Segoe UI Semibold"/>
              </a:rPr>
              <a:t>O dashboard avisa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85432" y="2836148"/>
            <a:ext cx="2546866" cy="1207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 u="none">
                <a:solidFill>
                  <a:srgbClr val="6A707D"/>
                </a:solidFill>
                <a:latin typeface="Segoe UI"/>
              </a:rPr>
              <a:t>Mostra CVEs, severidade e licenças por app, em minutos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11700" y="4193500"/>
            <a:ext cx="8520600" cy="590000"/>
          </a:xfrm>
          <a:prstGeom prst="roundRect">
            <a:avLst>
              <a:gd name="adj" fmla="val 6000"/>
            </a:avLst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11700" y="4273500"/>
            <a:ext cx="81206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 u="none">
                <a:solidFill>
                  <a:srgbClr val="2371FF"/>
                </a:solidFill>
                <a:latin typeface="Segoe UI Semibold"/>
              </a:rPr>
              <a:t>GLOSSÁRIO  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1700" y="4463500"/>
            <a:ext cx="81206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 i="0" u="none">
                <a:solidFill>
                  <a:srgbClr val="6A707D"/>
                </a:solidFill>
                <a:latin typeface="Segoe UI"/>
              </a:rPr>
              <a:t>SBOM — Software Bill of Materials   ·   API — Application Programming Interface   ·   NVD — National Vulnerability Database   ·   OSV — Open Source Vulnerabilities   ·   GHSA — GitHub Security Advisory   ·   CVE — Common Vulnerabilities and Exposures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11700" y="4843500"/>
            <a:ext cx="8520600" cy="6000"/>
          </a:xfrm>
          <a:prstGeom prst="rect">
            <a:avLst/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11700" y="4883500"/>
            <a:ext cx="7920600" cy="22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0" i="0" u="none">
                <a:solidFill>
                  <a:srgbClr val="6A707D"/>
                </a:solidFill>
                <a:latin typeface="Segoe UI"/>
              </a:rPr>
              <a:t>Ada · CY-SE-013 - Supply Chain Security · Análise de SBOM e Gestão de Dependências | Everton J Benedicto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32300" y="4931944"/>
            <a:ext cx="500000" cy="12311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lang="pt-PT" sz="800" b="0" i="0" u="none">
                <a:solidFill>
                  <a:srgbClr val="2371FF"/>
                </a:solidFill>
                <a:latin typeface="Segoe UI Semibold"/>
              </a:rPr>
              <a:t>6</a:t>
            </a:r>
            <a:endParaRPr sz="800" b="0" i="0" u="none">
              <a:solidFill>
                <a:srgbClr val="2371FF"/>
              </a:solidFill>
              <a:latin typeface="Segoe UI Semibold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rcRect t="714" b="715"/>
          <a:stretch>
            <a:fillRect/>
          </a:stretch>
        </p:blipFill>
        <p:spPr>
          <a:xfrm>
            <a:off x="0" y="0"/>
            <a:ext cx="9144000" cy="6161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11700" y="796148"/>
            <a:ext cx="8520600" cy="2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 u="none">
                <a:solidFill>
                  <a:srgbClr val="2371FF"/>
                </a:solidFill>
                <a:latin typeface="Segoe UI Semibold"/>
              </a:rPr>
              <a:t>CICLO FECHADO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1700" y="1056148"/>
            <a:ext cx="8520600" cy="5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0" i="0" u="none">
                <a:solidFill>
                  <a:srgbClr val="181C23"/>
                </a:solidFill>
                <a:latin typeface="Segoe UI Semibold"/>
              </a:rPr>
              <a:t>Gestão contínua de dependências</a:t>
            </a:r>
          </a:p>
        </p:txBody>
      </p:sp>
      <p:sp>
        <p:nvSpPr>
          <p:cNvPr id="5" name="Rectangle 4"/>
          <p:cNvSpPr/>
          <p:nvPr/>
        </p:nvSpPr>
        <p:spPr>
          <a:xfrm>
            <a:off x="311700" y="1616148"/>
            <a:ext cx="900000" cy="55000"/>
          </a:xfrm>
          <a:prstGeom prst="rect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311700" y="1926148"/>
            <a:ext cx="1352120" cy="760000"/>
          </a:xfrm>
          <a:prstGeom prst="roundRect">
            <a:avLst>
              <a:gd name="adj" fmla="val 12000"/>
            </a:avLst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421700" y="2036148"/>
            <a:ext cx="260000" cy="260000"/>
          </a:xfrm>
          <a:prstGeom prst="ellipse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21700" y="2036148"/>
            <a:ext cx="260000" cy="26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 u="none">
                <a:solidFill>
                  <a:srgbClr val="181C23"/>
                </a:solidFill>
                <a:latin typeface="Segoe UI Semibold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1700" y="2326148"/>
            <a:ext cx="1132120" cy="30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 i="0" u="none">
                <a:solidFill>
                  <a:srgbClr val="FFFDF8"/>
                </a:solidFill>
                <a:latin typeface="Segoe UI Semibold"/>
              </a:rPr>
              <a:t>SBOM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1700" y="2836148"/>
            <a:ext cx="1352120" cy="1947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 u="none">
                <a:solidFill>
                  <a:srgbClr val="6A707D"/>
                </a:solidFill>
                <a:latin typeface="Segoe UI"/>
              </a:rPr>
              <a:t>Gerado em cada build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1753820" y="2196148"/>
            <a:ext cx="260000" cy="220000"/>
          </a:xfrm>
          <a:prstGeom prst="rightArrow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2103820" y="1926148"/>
            <a:ext cx="1352120" cy="760000"/>
          </a:xfrm>
          <a:prstGeom prst="roundRect">
            <a:avLst>
              <a:gd name="adj" fmla="val 12000"/>
            </a:avLst>
          </a:prstGeom>
          <a:solidFill>
            <a:srgbClr val="181C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2213820" y="2036148"/>
            <a:ext cx="260000" cy="260000"/>
          </a:xfrm>
          <a:prstGeom prst="ellipse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2213820" y="2036148"/>
            <a:ext cx="260000" cy="26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 u="none">
                <a:solidFill>
                  <a:srgbClr val="181C23"/>
                </a:solidFill>
                <a:latin typeface="Segoe UI Semibol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13820" y="2326148"/>
            <a:ext cx="1132120" cy="30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 i="0" u="none">
                <a:solidFill>
                  <a:srgbClr val="FFFDF8"/>
                </a:solidFill>
                <a:latin typeface="Segoe UI Semibold"/>
              </a:rPr>
              <a:t>Dependency-Track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03820" y="2836148"/>
            <a:ext cx="1352120" cy="1947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 u="none">
                <a:solidFill>
                  <a:srgbClr val="6A707D"/>
                </a:solidFill>
                <a:latin typeface="Segoe UI"/>
              </a:rPr>
              <a:t>Correlaciona PURLs com NVD, OSV, GitHub Advisory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3545940" y="2196148"/>
            <a:ext cx="260000" cy="220000"/>
          </a:xfrm>
          <a:prstGeom prst="rightArrow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3895940" y="1926148"/>
            <a:ext cx="1352120" cy="760000"/>
          </a:xfrm>
          <a:prstGeom prst="roundRect">
            <a:avLst>
              <a:gd name="adj" fmla="val 12000"/>
            </a:avLst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4005940" y="2036148"/>
            <a:ext cx="260000" cy="260000"/>
          </a:xfrm>
          <a:prstGeom prst="ellipse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005940" y="2036148"/>
            <a:ext cx="260000" cy="26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 u="none">
                <a:solidFill>
                  <a:srgbClr val="181C23"/>
                </a:solidFill>
                <a:latin typeface="Segoe UI Semibol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05940" y="2326148"/>
            <a:ext cx="1132120" cy="30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 i="0" u="none">
                <a:solidFill>
                  <a:srgbClr val="FFFDF8"/>
                </a:solidFill>
                <a:latin typeface="Segoe UI Semibold"/>
              </a:rPr>
              <a:t>Policy / alerta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95940" y="2836148"/>
            <a:ext cx="1352120" cy="1947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 u="none">
                <a:solidFill>
                  <a:srgbClr val="6A707D"/>
                </a:solidFill>
                <a:latin typeface="Segoe UI"/>
              </a:rPr>
              <a:t>FAIL para CVE crítica; Slack, Jira, webhook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5338060" y="2196148"/>
            <a:ext cx="260000" cy="220000"/>
          </a:xfrm>
          <a:prstGeom prst="rightArrow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5688060" y="1926148"/>
            <a:ext cx="1352120" cy="760000"/>
          </a:xfrm>
          <a:prstGeom prst="roundRect">
            <a:avLst>
              <a:gd name="adj" fmla="val 12000"/>
            </a:avLst>
          </a:prstGeom>
          <a:solidFill>
            <a:srgbClr val="181C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Oval 24"/>
          <p:cNvSpPr/>
          <p:nvPr/>
        </p:nvSpPr>
        <p:spPr>
          <a:xfrm>
            <a:off x="5798060" y="2036148"/>
            <a:ext cx="260000" cy="260000"/>
          </a:xfrm>
          <a:prstGeom prst="ellipse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798060" y="2036148"/>
            <a:ext cx="260000" cy="26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 u="none">
                <a:solidFill>
                  <a:srgbClr val="181C23"/>
                </a:solidFill>
                <a:latin typeface="Segoe UI Semibold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798060" y="2326148"/>
            <a:ext cx="1132120" cy="30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 i="0" u="none">
                <a:solidFill>
                  <a:srgbClr val="FFFDF8"/>
                </a:solidFill>
                <a:latin typeface="Segoe UI Semibold"/>
              </a:rPr>
              <a:t>PR automático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88060" y="2836148"/>
            <a:ext cx="1352120" cy="1947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 u="none">
                <a:solidFill>
                  <a:srgbClr val="6A707D"/>
                </a:solidFill>
                <a:latin typeface="Segoe UI"/>
              </a:rPr>
              <a:t>Dependabot ou Renovate propõem a correção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7130180" y="2196148"/>
            <a:ext cx="260000" cy="220000"/>
          </a:xfrm>
          <a:prstGeom prst="rightArrow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7480180" y="1926148"/>
            <a:ext cx="1352120" cy="760000"/>
          </a:xfrm>
          <a:prstGeom prst="roundRect">
            <a:avLst>
              <a:gd name="adj" fmla="val 12000"/>
            </a:avLst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Oval 30"/>
          <p:cNvSpPr/>
          <p:nvPr/>
        </p:nvSpPr>
        <p:spPr>
          <a:xfrm>
            <a:off x="7590180" y="2036148"/>
            <a:ext cx="260000" cy="260000"/>
          </a:xfrm>
          <a:prstGeom prst="ellipse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7590180" y="2036148"/>
            <a:ext cx="260000" cy="26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 u="none">
                <a:solidFill>
                  <a:srgbClr val="181C23"/>
                </a:solidFill>
                <a:latin typeface="Segoe UI Semibold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90180" y="2326148"/>
            <a:ext cx="1132120" cy="30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 i="0" u="none">
                <a:solidFill>
                  <a:srgbClr val="FFFDF8"/>
                </a:solidFill>
                <a:latin typeface="Segoe UI Semibold"/>
              </a:rPr>
              <a:t>Pipeline valida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80180" y="2836148"/>
            <a:ext cx="1352120" cy="1947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 u="none">
                <a:solidFill>
                  <a:srgbClr val="6A707D"/>
                </a:solidFill>
                <a:latin typeface="Segoe UI"/>
              </a:rPr>
              <a:t>Testes + políticas Rego; merge; novo SBOM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11700" y="4843500"/>
            <a:ext cx="8520600" cy="6000"/>
          </a:xfrm>
          <a:prstGeom prst="rect">
            <a:avLst/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311700" y="4883500"/>
            <a:ext cx="7920600" cy="22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0" i="0" u="none">
                <a:solidFill>
                  <a:srgbClr val="6A707D"/>
                </a:solidFill>
                <a:latin typeface="Segoe UI"/>
              </a:rPr>
              <a:t>Ada · CY-SE-013 - Supply Chain Security · Análise de SBOM e Gestão de Dependências | Everton J Benedicto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32300" y="4931944"/>
            <a:ext cx="500000" cy="12311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lang="pt-PT" sz="800" b="0" i="0" u="none">
                <a:solidFill>
                  <a:srgbClr val="2371FF"/>
                </a:solidFill>
                <a:latin typeface="Segoe UI Semibold"/>
              </a:rPr>
              <a:t>7</a:t>
            </a:r>
            <a:endParaRPr sz="800" b="0" i="0" u="none">
              <a:solidFill>
                <a:srgbClr val="2371FF"/>
              </a:solidFill>
              <a:latin typeface="Segoe UI Semibold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rcRect t="714" b="715"/>
          <a:stretch>
            <a:fillRect/>
          </a:stretch>
        </p:blipFill>
        <p:spPr>
          <a:xfrm>
            <a:off x="0" y="0"/>
            <a:ext cx="9144000" cy="6161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11700" y="796148"/>
            <a:ext cx="8520600" cy="2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 u="none">
                <a:solidFill>
                  <a:srgbClr val="2371FF"/>
                </a:solidFill>
                <a:latin typeface="Segoe UI Semibold"/>
              </a:rPr>
              <a:t>FONTES DE VERDADE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1700" y="1056148"/>
            <a:ext cx="8520600" cy="5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0" i="0" u="none">
                <a:solidFill>
                  <a:srgbClr val="181C23"/>
                </a:solidFill>
                <a:latin typeface="Segoe UI Semibold"/>
              </a:rPr>
              <a:t>Bases de vulnerabilidade</a:t>
            </a:r>
          </a:p>
        </p:txBody>
      </p:sp>
      <p:sp>
        <p:nvSpPr>
          <p:cNvPr id="5" name="Rectangle 4"/>
          <p:cNvSpPr/>
          <p:nvPr/>
        </p:nvSpPr>
        <p:spPr>
          <a:xfrm>
            <a:off x="311700" y="1616148"/>
            <a:ext cx="900000" cy="55000"/>
          </a:xfrm>
          <a:prstGeom prst="rect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311700" y="1776148"/>
            <a:ext cx="300000" cy="30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11700" y="1776148"/>
            <a:ext cx="300000" cy="30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 u="none">
                <a:solidFill>
                  <a:srgbClr val="FFFDF8"/>
                </a:solidFill>
                <a:latin typeface="Segoe UI Semibold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1700" y="1746148"/>
            <a:ext cx="8020600" cy="43347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 u="sng">
                <a:solidFill>
                  <a:srgbClr val="2371FF"/>
                </a:solidFill>
                <a:latin typeface="Segoe UI Semibold"/>
                <a:hlinkClick r:id="rId4"/>
              </a:rPr>
              <a:t>NVD (NIST): </a:t>
            </a:r>
            <a:r>
              <a:rPr sz="1400" b="0" i="0" u="none">
                <a:solidFill>
                  <a:srgbClr val="6A707D"/>
                </a:solidFill>
                <a:latin typeface="Segoe UI"/>
              </a:rPr>
              <a:t>CVEs com pontuação CVSS</a:t>
            </a:r>
          </a:p>
        </p:txBody>
      </p:sp>
      <p:sp>
        <p:nvSpPr>
          <p:cNvPr id="9" name="Oval 8"/>
          <p:cNvSpPr/>
          <p:nvPr/>
        </p:nvSpPr>
        <p:spPr>
          <a:xfrm>
            <a:off x="311700" y="2209618"/>
            <a:ext cx="300000" cy="30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11700" y="2209618"/>
            <a:ext cx="300000" cy="30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 u="none">
                <a:solidFill>
                  <a:srgbClr val="FFFDF8"/>
                </a:solidFill>
                <a:latin typeface="Segoe UI Semibold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1700" y="2179618"/>
            <a:ext cx="8020600" cy="43347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 u="sng">
                <a:solidFill>
                  <a:srgbClr val="2371FF"/>
                </a:solidFill>
                <a:latin typeface="Segoe UI Semibold"/>
                <a:hlinkClick r:id="rId5"/>
              </a:rPr>
              <a:t>OSV (Google): </a:t>
            </a:r>
            <a:r>
              <a:rPr sz="1400" b="0" i="0" u="none">
                <a:solidFill>
                  <a:srgbClr val="6A707D"/>
                </a:solidFill>
                <a:latin typeface="Segoe UI"/>
              </a:rPr>
              <a:t>vulnerabilidades por ecossistema open source</a:t>
            </a:r>
          </a:p>
        </p:txBody>
      </p:sp>
      <p:sp>
        <p:nvSpPr>
          <p:cNvPr id="12" name="Oval 11"/>
          <p:cNvSpPr/>
          <p:nvPr/>
        </p:nvSpPr>
        <p:spPr>
          <a:xfrm>
            <a:off x="311700" y="2643088"/>
            <a:ext cx="300000" cy="30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11700" y="2643088"/>
            <a:ext cx="300000" cy="30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 u="none">
                <a:solidFill>
                  <a:srgbClr val="FFFDF8"/>
                </a:solidFill>
                <a:latin typeface="Segoe UI Semibold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1700" y="2613088"/>
            <a:ext cx="8020600" cy="43347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 u="sng">
                <a:solidFill>
                  <a:srgbClr val="2371FF"/>
                </a:solidFill>
                <a:latin typeface="Segoe UI Semibold"/>
                <a:hlinkClick r:id="rId6"/>
              </a:rPr>
              <a:t>GitHub Advisory Database: </a:t>
            </a:r>
            <a:r>
              <a:rPr sz="1400" b="0" i="0" u="none">
                <a:solidFill>
                  <a:srgbClr val="6A707D"/>
                </a:solidFill>
                <a:latin typeface="Segoe UI"/>
              </a:rPr>
              <a:t>CVEs e advisories de pacotes</a:t>
            </a:r>
          </a:p>
        </p:txBody>
      </p:sp>
      <p:sp>
        <p:nvSpPr>
          <p:cNvPr id="15" name="Oval 14"/>
          <p:cNvSpPr/>
          <p:nvPr/>
        </p:nvSpPr>
        <p:spPr>
          <a:xfrm>
            <a:off x="311700" y="3076558"/>
            <a:ext cx="300000" cy="30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11700" y="3076558"/>
            <a:ext cx="300000" cy="30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 u="none">
                <a:solidFill>
                  <a:srgbClr val="FFFDF8"/>
                </a:solidFill>
                <a:latin typeface="Segoe UI Semibold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1700" y="3046558"/>
            <a:ext cx="8020600" cy="43347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 u="sng">
                <a:solidFill>
                  <a:srgbClr val="2371FF"/>
                </a:solidFill>
                <a:latin typeface="Segoe UI Semibold"/>
                <a:hlinkClick r:id="rId7"/>
              </a:rPr>
              <a:t>EPSS (FIRST): </a:t>
            </a:r>
            <a:r>
              <a:rPr sz="1400" b="0" i="0" u="none">
                <a:solidFill>
                  <a:srgbClr val="6A707D"/>
                </a:solidFill>
                <a:latin typeface="Segoe UI"/>
              </a:rPr>
              <a:t>probabilidade real de exploração</a:t>
            </a:r>
          </a:p>
        </p:txBody>
      </p:sp>
      <p:sp>
        <p:nvSpPr>
          <p:cNvPr id="18" name="Oval 17"/>
          <p:cNvSpPr/>
          <p:nvPr/>
        </p:nvSpPr>
        <p:spPr>
          <a:xfrm>
            <a:off x="311700" y="3510028"/>
            <a:ext cx="300000" cy="30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11700" y="3510028"/>
            <a:ext cx="300000" cy="30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 u="none">
                <a:solidFill>
                  <a:srgbClr val="FFFDF8"/>
                </a:solidFill>
                <a:latin typeface="Segoe UI Semibold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1700" y="3480028"/>
            <a:ext cx="8020600" cy="43347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 u="none">
                <a:solidFill>
                  <a:srgbClr val="181C23"/>
                </a:solidFill>
                <a:latin typeface="Segoe UI Semibold"/>
              </a:rPr>
              <a:t>Combinação: </a:t>
            </a:r>
            <a:r>
              <a:rPr sz="1400" b="0" i="0" u="none">
                <a:solidFill>
                  <a:srgbClr val="6A707D"/>
                </a:solidFill>
                <a:latin typeface="Segoe UI"/>
              </a:rPr>
              <a:t>NVD + OSV + GHSA cobrem quase todo o espaço relevante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11700" y="4063500"/>
            <a:ext cx="8520600" cy="720000"/>
          </a:xfrm>
          <a:prstGeom prst="roundRect">
            <a:avLst>
              <a:gd name="adj" fmla="val 6000"/>
            </a:avLst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11700" y="4143500"/>
            <a:ext cx="81206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 u="none">
                <a:solidFill>
                  <a:srgbClr val="2371FF"/>
                </a:solidFill>
                <a:latin typeface="Segoe UI Semibold"/>
              </a:rPr>
              <a:t>GLOSSÁRIO  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1700" y="4333500"/>
            <a:ext cx="8120600" cy="39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 i="0" u="none">
                <a:solidFill>
                  <a:srgbClr val="6A707D"/>
                </a:solidFill>
                <a:latin typeface="Segoe UI"/>
              </a:rPr>
              <a:t>NVD — National Vulnerability Database   ·   NIST — National Institute of Standards and Technology   ·   OSV — Open Source Vulnerabilities   ·   CVE — Common Vulnerabilities and Exposures   ·   CVSS — Common Vulnerability Scoring System   ·   EPSS — Exploit Prediction Scoring System   ·   FIRST — Forum of Incident Response and Security Teams   ·   GHSA — GitHub Security Advisory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11700" y="4843500"/>
            <a:ext cx="8520600" cy="6000"/>
          </a:xfrm>
          <a:prstGeom prst="rect">
            <a:avLst/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311700" y="4883500"/>
            <a:ext cx="7920600" cy="22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0" i="0" u="none">
                <a:solidFill>
                  <a:srgbClr val="6A707D"/>
                </a:solidFill>
                <a:latin typeface="Segoe UI"/>
              </a:rPr>
              <a:t>Ada · CY-SE-013 - Supply Chain Security · Análise de SBOM e Gestão de Dependências | Everton J Benedicto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32300" y="4931944"/>
            <a:ext cx="500000" cy="12311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lang="pt-PT" sz="800" b="0" i="0" u="none">
                <a:solidFill>
                  <a:srgbClr val="2371FF"/>
                </a:solidFill>
                <a:latin typeface="Segoe UI Semibold"/>
              </a:rPr>
              <a:t>8</a:t>
            </a:r>
            <a:endParaRPr sz="800" b="0" i="0" u="none">
              <a:solidFill>
                <a:srgbClr val="2371FF"/>
              </a:solidFill>
              <a:latin typeface="Segoe UI Semibold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rcRect t="714" b="715"/>
          <a:stretch>
            <a:fillRect/>
          </a:stretch>
        </p:blipFill>
        <p:spPr>
          <a:xfrm>
            <a:off x="0" y="0"/>
            <a:ext cx="9144000" cy="6161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11700" y="796148"/>
            <a:ext cx="8520600" cy="2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 u="none">
                <a:solidFill>
                  <a:srgbClr val="2371FF"/>
                </a:solidFill>
                <a:latin typeface="Segoe UI Semibold"/>
              </a:rPr>
              <a:t>DEPENDENCY-TRACK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1700" y="1056148"/>
            <a:ext cx="8520600" cy="5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0" i="0" u="none">
                <a:solidFill>
                  <a:srgbClr val="181C23"/>
                </a:solidFill>
                <a:latin typeface="Segoe UI Semibold"/>
              </a:rPr>
              <a:t>Ingestão via API</a:t>
            </a:r>
          </a:p>
        </p:txBody>
      </p:sp>
      <p:sp>
        <p:nvSpPr>
          <p:cNvPr id="5" name="Rectangle 4"/>
          <p:cNvSpPr/>
          <p:nvPr/>
        </p:nvSpPr>
        <p:spPr>
          <a:xfrm>
            <a:off x="311700" y="1616148"/>
            <a:ext cx="900000" cy="55000"/>
          </a:xfrm>
          <a:prstGeom prst="rect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11700" y="1746148"/>
            <a:ext cx="8520600" cy="3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 u="none">
                <a:solidFill>
                  <a:srgbClr val="6A707D"/>
                </a:solidFill>
                <a:latin typeface="Segoe UI"/>
              </a:rPr>
              <a:t>É a chamada que 'entrega o SBOM' do slide anterior: 1 projeto = 1 app/componente; autoCreate=true cadastra o projeto sozinho, no primeiro envio: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11700" y="2126148"/>
            <a:ext cx="8520600" cy="2657352"/>
          </a:xfrm>
          <a:prstGeom prst="roundRect">
            <a:avLst>
              <a:gd name="adj" fmla="val 3000"/>
            </a:avLst>
          </a:prstGeom>
          <a:solidFill>
            <a:srgbClr val="181C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311700" y="2126148"/>
            <a:ext cx="8520600" cy="260000"/>
          </a:xfrm>
          <a:prstGeom prst="roundRect">
            <a:avLst>
              <a:gd name="adj" fmla="val 3000"/>
            </a:avLst>
          </a:prstGeom>
          <a:solidFill>
            <a:srgbClr val="2A2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461700" y="2206148"/>
            <a:ext cx="100000" cy="100000"/>
          </a:xfrm>
          <a:prstGeom prst="ellipse">
            <a:avLst/>
          </a:prstGeom>
          <a:solidFill>
            <a:srgbClr val="FF2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661700" y="2206148"/>
            <a:ext cx="100000" cy="100000"/>
          </a:xfrm>
          <a:prstGeom prst="ellipse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861700" y="2206148"/>
            <a:ext cx="100000" cy="10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11700" y="2126148"/>
            <a:ext cx="8520600" cy="26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0" i="0" u="none">
                <a:solidFill>
                  <a:srgbClr val="6A707D"/>
                </a:solidFill>
                <a:latin typeface="Consolas"/>
              </a:rPr>
              <a:t>bash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1700" y="2486148"/>
            <a:ext cx="8120600" cy="2197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 u="none">
                <a:solidFill>
                  <a:srgbClr val="A6F750"/>
                </a:solidFill>
                <a:latin typeface="Consolas"/>
              </a:rPr>
              <a:t>export DT_URL="http://localhost:8081"</a:t>
            </a:r>
          </a:p>
          <a:p>
            <a:pPr algn="l">
              <a:lnSpc>
                <a:spcPct val="112000"/>
              </a:lnSpc>
            </a:pPr>
            <a:r>
              <a:rPr sz="1100" b="0" i="0" u="none">
                <a:solidFill>
                  <a:srgbClr val="A6F750"/>
                </a:solidFill>
                <a:latin typeface="Consolas"/>
              </a:rPr>
              <a:t>export DT_KEY="&lt;api-key em variável, nunca no Git&gt;"</a:t>
            </a:r>
          </a:p>
          <a:p>
            <a:pPr algn="l">
              <a:lnSpc>
                <a:spcPct val="112000"/>
              </a:lnSpc>
            </a:pPr>
            <a:r>
              <a:rPr sz="600" b="0" i="0" u="none">
                <a:solidFill>
                  <a:srgbClr val="181C23"/>
                </a:solidFill>
                <a:latin typeface="Consolas"/>
              </a:rPr>
              <a:t> </a:t>
            </a:r>
          </a:p>
          <a:p>
            <a:pPr algn="l">
              <a:lnSpc>
                <a:spcPct val="112000"/>
              </a:lnSpc>
            </a:pPr>
            <a:r>
              <a:rPr sz="1100" b="0" i="0" u="none">
                <a:solidFill>
                  <a:srgbClr val="A6F750"/>
                </a:solidFill>
                <a:latin typeface="Consolas"/>
              </a:rPr>
              <a:t>curl -X POST "${DT_URL}/api/v1/bom" \</a:t>
            </a:r>
          </a:p>
          <a:p>
            <a:pPr algn="l">
              <a:lnSpc>
                <a:spcPct val="112000"/>
              </a:lnSpc>
            </a:pPr>
            <a:r>
              <a:rPr sz="1100" b="0" i="0" u="none">
                <a:solidFill>
                  <a:srgbClr val="A6F750"/>
                </a:solidFill>
                <a:latin typeface="Consolas"/>
              </a:rPr>
              <a:t>  -H "X-Api-Key: ${DT_KEY}" \</a:t>
            </a:r>
          </a:p>
          <a:p>
            <a:pPr algn="l">
              <a:lnSpc>
                <a:spcPct val="112000"/>
              </a:lnSpc>
            </a:pPr>
            <a:r>
              <a:rPr sz="1100" b="0" i="0" u="none">
                <a:solidFill>
                  <a:srgbClr val="A6F750"/>
                </a:solidFill>
                <a:latin typeface="Consolas"/>
              </a:rPr>
              <a:t>  -F "autoCreate=true" \</a:t>
            </a:r>
          </a:p>
          <a:p>
            <a:pPr algn="l">
              <a:lnSpc>
                <a:spcPct val="112000"/>
              </a:lnSpc>
            </a:pPr>
            <a:r>
              <a:rPr sz="1100" b="0" i="0" u="none">
                <a:solidFill>
                  <a:srgbClr val="A6F750"/>
                </a:solidFill>
                <a:latin typeface="Consolas"/>
              </a:rPr>
              <a:t>  -F "projectName=minha-api" \</a:t>
            </a:r>
          </a:p>
          <a:p>
            <a:pPr algn="l">
              <a:lnSpc>
                <a:spcPct val="112000"/>
              </a:lnSpc>
            </a:pPr>
            <a:r>
              <a:rPr sz="1100" b="0" i="0" u="none">
                <a:solidFill>
                  <a:srgbClr val="A6F750"/>
                </a:solidFill>
                <a:latin typeface="Consolas"/>
              </a:rPr>
              <a:t>  -F "projectVersion=1.2.3" \</a:t>
            </a:r>
          </a:p>
          <a:p>
            <a:pPr algn="l">
              <a:lnSpc>
                <a:spcPct val="112000"/>
              </a:lnSpc>
            </a:pPr>
            <a:r>
              <a:rPr sz="1100" b="0" i="0" u="none">
                <a:solidFill>
                  <a:srgbClr val="A6F750"/>
                </a:solidFill>
                <a:latin typeface="Consolas"/>
              </a:rPr>
              <a:t>  -F "bom=@sbom.cdx.json"</a:t>
            </a:r>
          </a:p>
          <a:p>
            <a:pPr algn="l">
              <a:lnSpc>
                <a:spcPct val="112000"/>
              </a:lnSpc>
            </a:pPr>
            <a:r>
              <a:rPr sz="600" b="0" i="0" u="none">
                <a:solidFill>
                  <a:srgbClr val="181C23"/>
                </a:solidFill>
                <a:latin typeface="Consolas"/>
              </a:rPr>
              <a:t> </a:t>
            </a:r>
          </a:p>
          <a:p>
            <a:pPr algn="l">
              <a:lnSpc>
                <a:spcPct val="112000"/>
              </a:lnSpc>
            </a:pPr>
            <a:r>
              <a:rPr sz="1100" b="0" i="0" u="none">
                <a:solidFill>
                  <a:srgbClr val="6A707D"/>
                </a:solidFill>
                <a:latin typeface="Consolas"/>
              </a:rPr>
              <a:t># em segundos: componentes, CVEs e licenças aparecem no dashboard,</a:t>
            </a:r>
          </a:p>
          <a:p>
            <a:pPr algn="l">
              <a:lnSpc>
                <a:spcPct val="112000"/>
              </a:lnSpc>
            </a:pPr>
            <a:r>
              <a:rPr sz="1100" b="0" i="0" u="none">
                <a:solidFill>
                  <a:srgbClr val="6A707D"/>
                </a:solidFill>
                <a:latin typeface="Consolas"/>
              </a:rPr>
              <a:t># já cruzados com NVD, OSV e GHSA — sem grep, sem planilha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11700" y="4843500"/>
            <a:ext cx="8520600" cy="6000"/>
          </a:xfrm>
          <a:prstGeom prst="rect">
            <a:avLst/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11700" y="4883500"/>
            <a:ext cx="7920600" cy="22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0" i="0" u="none">
                <a:solidFill>
                  <a:srgbClr val="6A707D"/>
                </a:solidFill>
                <a:latin typeface="Segoe UI"/>
              </a:rPr>
              <a:t>Ada · CY-SE-013 - Supply Chain Security · Análise de SBOM e Gestão de Dependências | Everton J Benedicto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32300" y="4931944"/>
            <a:ext cx="500000" cy="12311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lang="pt-PT" sz="800" b="0" i="0" u="none">
                <a:solidFill>
                  <a:srgbClr val="2371FF"/>
                </a:solidFill>
                <a:latin typeface="Segoe UI Semibold"/>
              </a:rPr>
              <a:t>9</a:t>
            </a:r>
            <a:endParaRPr sz="800" b="0" i="0" u="none">
              <a:solidFill>
                <a:srgbClr val="2371FF"/>
              </a:solidFill>
              <a:latin typeface="Segoe UI Semibold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rcRect t="714" b="715"/>
          <a:stretch>
            <a:fillRect/>
          </a:stretch>
        </p:blipFill>
        <p:spPr>
          <a:xfrm>
            <a:off x="0" y="0"/>
            <a:ext cx="9144000" cy="6161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11700" y="796148"/>
            <a:ext cx="8520600" cy="2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 u="none">
                <a:solidFill>
                  <a:srgbClr val="2371FF"/>
                </a:solidFill>
                <a:latin typeface="Segoe UI Semibold"/>
              </a:rPr>
              <a:t>POLICIES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1700" y="1056148"/>
            <a:ext cx="8520600" cy="5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0" i="0" u="none">
                <a:solidFill>
                  <a:srgbClr val="181C23"/>
                </a:solidFill>
                <a:latin typeface="Segoe UI Semibold"/>
              </a:rPr>
              <a:t>Políticas de aceite e risco</a:t>
            </a:r>
          </a:p>
        </p:txBody>
      </p:sp>
      <p:sp>
        <p:nvSpPr>
          <p:cNvPr id="5" name="Rectangle 4"/>
          <p:cNvSpPr/>
          <p:nvPr/>
        </p:nvSpPr>
        <p:spPr>
          <a:xfrm>
            <a:off x="311700" y="1616148"/>
            <a:ext cx="900000" cy="55000"/>
          </a:xfrm>
          <a:prstGeom prst="rect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311700" y="1776148"/>
            <a:ext cx="300000" cy="300000"/>
          </a:xfrm>
          <a:prstGeom prst="ellipse">
            <a:avLst/>
          </a:prstGeom>
          <a:solidFill>
            <a:srgbClr val="FF2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11700" y="1776148"/>
            <a:ext cx="300000" cy="30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 u="none">
                <a:solidFill>
                  <a:srgbClr val="FFFDF8"/>
                </a:solidFill>
                <a:latin typeface="Segoe UI Semibold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1700" y="1746148"/>
            <a:ext cx="8020600" cy="26147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 u="none">
                <a:solidFill>
                  <a:srgbClr val="181C23"/>
                </a:solidFill>
                <a:latin typeface="Segoe UI Semibold"/>
              </a:rPr>
              <a:t>Sem CVE crítica: </a:t>
            </a:r>
            <a:r>
              <a:rPr sz="1400" b="0" i="0" u="none">
                <a:solidFill>
                  <a:srgbClr val="6A707D"/>
                </a:solidFill>
                <a:latin typeface="Segoe UI"/>
              </a:rPr>
              <a:t>Severity == CRITICAL → FAIL — bloqueia o deploy imediatamente</a:t>
            </a:r>
          </a:p>
        </p:txBody>
      </p:sp>
      <p:sp>
        <p:nvSpPr>
          <p:cNvPr id="9" name="Oval 8"/>
          <p:cNvSpPr/>
          <p:nvPr/>
        </p:nvSpPr>
        <p:spPr>
          <a:xfrm>
            <a:off x="311700" y="2037618"/>
            <a:ext cx="300000" cy="300000"/>
          </a:xfrm>
          <a:prstGeom prst="ellipse">
            <a:avLst/>
          </a:prstGeom>
          <a:solidFill>
            <a:srgbClr val="FF2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11700" y="2037618"/>
            <a:ext cx="300000" cy="30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 u="none">
                <a:solidFill>
                  <a:srgbClr val="FFFDF8"/>
                </a:solidFill>
                <a:latin typeface="Segoe UI Semibold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1700" y="2007618"/>
            <a:ext cx="8020600" cy="26147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 u="none">
                <a:solidFill>
                  <a:srgbClr val="181C23"/>
                </a:solidFill>
                <a:latin typeface="Segoe UI Semibold"/>
              </a:rPr>
              <a:t>CVE alta envelhecida: </a:t>
            </a:r>
            <a:r>
              <a:rPr sz="1400" b="0" i="0" u="none">
                <a:solidFill>
                  <a:srgbClr val="6A707D"/>
                </a:solidFill>
                <a:latin typeface="Segoe UI"/>
              </a:rPr>
              <a:t>HIGH aberta há &gt; 30 dias sem correção → FAIL</a:t>
            </a:r>
          </a:p>
        </p:txBody>
      </p:sp>
      <p:sp>
        <p:nvSpPr>
          <p:cNvPr id="12" name="Oval 11"/>
          <p:cNvSpPr/>
          <p:nvPr/>
        </p:nvSpPr>
        <p:spPr>
          <a:xfrm>
            <a:off x="311700" y="2299088"/>
            <a:ext cx="300000" cy="300000"/>
          </a:xfrm>
          <a:prstGeom prst="ellipse">
            <a:avLst/>
          </a:prstGeom>
          <a:solidFill>
            <a:srgbClr val="FF2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11700" y="2299088"/>
            <a:ext cx="300000" cy="30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 u="none">
                <a:solidFill>
                  <a:srgbClr val="FFFDF8"/>
                </a:solidFill>
                <a:latin typeface="Segoe UI Semibold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1700" y="2269088"/>
            <a:ext cx="8020600" cy="26147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 u="none">
                <a:solidFill>
                  <a:srgbClr val="181C23"/>
                </a:solidFill>
                <a:latin typeface="Segoe UI Semibold"/>
              </a:rPr>
              <a:t>Licença proibida: </a:t>
            </a:r>
            <a:r>
              <a:rPr sz="1400" b="0" i="0" u="none">
                <a:solidFill>
                  <a:srgbClr val="6A707D"/>
                </a:solidFill>
                <a:latin typeface="Segoe UI"/>
              </a:rPr>
              <a:t>GPL-3.0 ou AGPL-3.0 (copyleft forte) → FAIL</a:t>
            </a:r>
          </a:p>
        </p:txBody>
      </p:sp>
      <p:sp>
        <p:nvSpPr>
          <p:cNvPr id="15" name="Oval 14"/>
          <p:cNvSpPr/>
          <p:nvPr/>
        </p:nvSpPr>
        <p:spPr>
          <a:xfrm>
            <a:off x="311700" y="2560558"/>
            <a:ext cx="300000" cy="300000"/>
          </a:xfrm>
          <a:prstGeom prst="ellipse">
            <a:avLst/>
          </a:prstGeom>
          <a:solidFill>
            <a:srgbClr val="FFB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11700" y="2560558"/>
            <a:ext cx="300000" cy="30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 u="none">
                <a:solidFill>
                  <a:srgbClr val="FFFDF8"/>
                </a:solidFill>
                <a:latin typeface="Segoe UI Semibold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1700" y="2530558"/>
            <a:ext cx="8020600" cy="26147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 u="none">
                <a:solidFill>
                  <a:srgbClr val="181C23"/>
                </a:solidFill>
                <a:latin typeface="Segoe UI Semibold"/>
              </a:rPr>
              <a:t>Componente desatualizado: </a:t>
            </a:r>
            <a:r>
              <a:rPr sz="1400" b="0" i="0" u="none">
                <a:solidFill>
                  <a:srgbClr val="6A707D"/>
                </a:solidFill>
                <a:latin typeface="Segoe UI"/>
              </a:rPr>
              <a:t>sem release há &gt; 2 anos, provável abandono → WARN</a:t>
            </a:r>
          </a:p>
        </p:txBody>
      </p:sp>
      <p:sp>
        <p:nvSpPr>
          <p:cNvPr id="18" name="Oval 17"/>
          <p:cNvSpPr/>
          <p:nvPr/>
        </p:nvSpPr>
        <p:spPr>
          <a:xfrm>
            <a:off x="311700" y="2822028"/>
            <a:ext cx="300000" cy="30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11700" y="2822028"/>
            <a:ext cx="300000" cy="30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 u="none">
                <a:solidFill>
                  <a:srgbClr val="FFFDF8"/>
                </a:solidFill>
                <a:latin typeface="Segoe UI Semibold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1700" y="2792028"/>
            <a:ext cx="8020600" cy="26147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 u="none">
                <a:solidFill>
                  <a:srgbClr val="181C23"/>
                </a:solidFill>
                <a:latin typeface="Segoe UI Semibold"/>
              </a:rPr>
              <a:t>Ações da policy: </a:t>
            </a:r>
            <a:r>
              <a:rPr sz="1400" b="0" i="0" u="none">
                <a:solidFill>
                  <a:srgbClr val="6A707D"/>
                </a:solidFill>
                <a:latin typeface="Segoe UI"/>
              </a:rPr>
              <a:t>FAIL bloqueia o pipeline; WARN só alerta; INFO apenas registra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11700" y="4193500"/>
            <a:ext cx="8520600" cy="590000"/>
          </a:xfrm>
          <a:prstGeom prst="roundRect">
            <a:avLst>
              <a:gd name="adj" fmla="val 6000"/>
            </a:avLst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11700" y="4273500"/>
            <a:ext cx="81206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 u="none">
                <a:solidFill>
                  <a:srgbClr val="2371FF"/>
                </a:solidFill>
                <a:latin typeface="Segoe UI Semibold"/>
              </a:rPr>
              <a:t>GLOSSÁRIO  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1700" y="4463500"/>
            <a:ext cx="81206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 i="0" u="none">
                <a:solidFill>
                  <a:srgbClr val="6A707D"/>
                </a:solidFill>
                <a:latin typeface="Segoe UI"/>
              </a:rPr>
              <a:t>CVE — Common Vulnerabilities and Exposures   ·   FAIL — estado que bloqueia o pipeline   ·   WARN — estado que alerta sem bloquear   ·   INFO — estado apenas registrado   ·   GPL-3.0 — GNU General Public License v3   ·   AGPL-3.0 — GNU Affero General Public License v3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11700" y="3203500"/>
            <a:ext cx="8520600" cy="900000"/>
          </a:xfrm>
          <a:prstGeom prst="roundRect">
            <a:avLst>
              <a:gd name="adj" fmla="val 6000"/>
            </a:avLst>
          </a:prstGeom>
          <a:solidFill>
            <a:srgbClr val="DAF9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311700" y="3203500"/>
            <a:ext cx="70000" cy="900000"/>
          </a:xfrm>
          <a:prstGeom prst="roundRect">
            <a:avLst>
              <a:gd name="adj" fmla="val 50000"/>
            </a:avLst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11700" y="3293500"/>
            <a:ext cx="8120600" cy="2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 u="none">
                <a:solidFill>
                  <a:srgbClr val="2371FF"/>
                </a:solidFill>
                <a:latin typeface="Segoe UI Semibold"/>
              </a:rPr>
              <a:t>💡 ANALOGIA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1700" y="3543500"/>
            <a:ext cx="8120600" cy="5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1" u="none">
                <a:solidFill>
                  <a:srgbClr val="181C23"/>
                </a:solidFill>
                <a:latin typeface="Segoe UI"/>
              </a:rPr>
              <a:t>É o regulamento do porto: carga com contrabando não desembarca (FAIL), carga com documentação vencida recebe aviso (WARN), o resto só é registrado.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11700" y="4843500"/>
            <a:ext cx="8520600" cy="6000"/>
          </a:xfrm>
          <a:prstGeom prst="rect">
            <a:avLst/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311700" y="4883500"/>
            <a:ext cx="7920600" cy="22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0" i="0" u="none">
                <a:solidFill>
                  <a:srgbClr val="6A707D"/>
                </a:solidFill>
                <a:latin typeface="Segoe UI"/>
              </a:rPr>
              <a:t>Ada · CY-SE-013 - Supply Chain Security · Análise de SBOM e Gestão de Dependências | Everton J Benedicto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32300" y="4931944"/>
            <a:ext cx="500000" cy="12311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lang="pt-PT" sz="800" b="0" i="0" u="none">
                <a:solidFill>
                  <a:srgbClr val="2371FF"/>
                </a:solidFill>
                <a:latin typeface="Segoe UI Semibold"/>
              </a:rPr>
              <a:t>10</a:t>
            </a:r>
            <a:endParaRPr sz="800" b="0" i="0" u="none">
              <a:solidFill>
                <a:srgbClr val="2371FF"/>
              </a:solidFill>
              <a:latin typeface="Segoe UI Semibold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rcRect t="714" b="715"/>
          <a:stretch>
            <a:fillRect/>
          </a:stretch>
        </p:blipFill>
        <p:spPr>
          <a:xfrm>
            <a:off x="0" y="0"/>
            <a:ext cx="9144000" cy="6161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11700" y="796148"/>
            <a:ext cx="8520600" cy="2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 u="none">
                <a:solidFill>
                  <a:srgbClr val="2371FF"/>
                </a:solidFill>
                <a:latin typeface="Segoe UI Semibold"/>
              </a:rPr>
              <a:t>GATE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1700" y="1056148"/>
            <a:ext cx="8520600" cy="5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0" i="0" u="none">
                <a:solidFill>
                  <a:srgbClr val="181C23"/>
                </a:solidFill>
                <a:latin typeface="Segoe UI Semibold"/>
              </a:rPr>
              <a:t>Bloqueando o pipeline pela API</a:t>
            </a:r>
          </a:p>
        </p:txBody>
      </p:sp>
      <p:sp>
        <p:nvSpPr>
          <p:cNvPr id="5" name="Rectangle 4"/>
          <p:cNvSpPr/>
          <p:nvPr/>
        </p:nvSpPr>
        <p:spPr>
          <a:xfrm>
            <a:off x="311700" y="1616148"/>
            <a:ext cx="900000" cy="55000"/>
          </a:xfrm>
          <a:prstGeom prst="rect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11700" y="1746148"/>
            <a:ext cx="8520600" cy="3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 u="none">
                <a:solidFill>
                  <a:srgbClr val="6A707D"/>
                </a:solidFill>
                <a:latin typeface="Segoe UI"/>
              </a:rPr>
              <a:t>Consulta as violações FAIL via API do Dependency-Track e decide: pipeline segue ou é bloqueado: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11700" y="2126148"/>
            <a:ext cx="8520600" cy="2047352"/>
          </a:xfrm>
          <a:prstGeom prst="roundRect">
            <a:avLst>
              <a:gd name="adj" fmla="val 3000"/>
            </a:avLst>
          </a:prstGeom>
          <a:solidFill>
            <a:srgbClr val="181C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311700" y="2126148"/>
            <a:ext cx="8520600" cy="260000"/>
          </a:xfrm>
          <a:prstGeom prst="roundRect">
            <a:avLst>
              <a:gd name="adj" fmla="val 3000"/>
            </a:avLst>
          </a:prstGeom>
          <a:solidFill>
            <a:srgbClr val="2A2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461700" y="2206148"/>
            <a:ext cx="100000" cy="100000"/>
          </a:xfrm>
          <a:prstGeom prst="ellipse">
            <a:avLst/>
          </a:prstGeom>
          <a:solidFill>
            <a:srgbClr val="FF2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661700" y="2206148"/>
            <a:ext cx="100000" cy="100000"/>
          </a:xfrm>
          <a:prstGeom prst="ellipse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861700" y="2206148"/>
            <a:ext cx="100000" cy="10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11700" y="2126148"/>
            <a:ext cx="8520600" cy="26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0" i="0" u="none">
                <a:solidFill>
                  <a:srgbClr val="6A707D"/>
                </a:solidFill>
                <a:latin typeface="Consolas"/>
              </a:rPr>
              <a:t>bash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1700" y="2486148"/>
            <a:ext cx="8120600" cy="1587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 u="none">
                <a:solidFill>
                  <a:srgbClr val="A6F750"/>
                </a:solidFill>
                <a:latin typeface="Consolas"/>
              </a:rPr>
              <a:t>PROJECT_UUID=$(curl -s -H "X-Api-Key: ${DT_KEY}" \</a:t>
            </a:r>
          </a:p>
          <a:p>
            <a:pPr algn="l">
              <a:lnSpc>
                <a:spcPct val="112000"/>
              </a:lnSpc>
            </a:pPr>
            <a:r>
              <a:rPr sz="1000" b="0" i="0" u="none">
                <a:solidFill>
                  <a:srgbClr val="A6F750"/>
                </a:solidFill>
                <a:latin typeface="Consolas"/>
              </a:rPr>
              <a:t>  "${DT_URL}/api/v1/project/lookup?name=lab-node14&amp;version=baseline" \</a:t>
            </a:r>
          </a:p>
          <a:p>
            <a:pPr algn="l">
              <a:lnSpc>
                <a:spcPct val="112000"/>
              </a:lnSpc>
            </a:pPr>
            <a:r>
              <a:rPr sz="1000" b="0" i="0" u="none">
                <a:solidFill>
                  <a:srgbClr val="A6F750"/>
                </a:solidFill>
                <a:latin typeface="Consolas"/>
              </a:rPr>
              <a:t>  | jq -r .uuid)</a:t>
            </a:r>
          </a:p>
          <a:p>
            <a:pPr algn="l">
              <a:lnSpc>
                <a:spcPct val="112000"/>
              </a:lnSpc>
            </a:pPr>
            <a:r>
              <a:rPr sz="1000" b="0" i="0" u="none">
                <a:solidFill>
                  <a:srgbClr val="A6F750"/>
                </a:solidFill>
                <a:latin typeface="Consolas"/>
              </a:rPr>
              <a:t>VIOLATIONS=$(curl -s -H "X-Api-Key: ${DT_KEY}" \</a:t>
            </a:r>
          </a:p>
          <a:p>
            <a:pPr algn="l">
              <a:lnSpc>
                <a:spcPct val="112000"/>
              </a:lnSpc>
            </a:pPr>
            <a:r>
              <a:rPr sz="1000" b="0" i="0" u="none">
                <a:solidFill>
                  <a:srgbClr val="A6F750"/>
                </a:solidFill>
                <a:latin typeface="Consolas"/>
              </a:rPr>
              <a:t>  "${DT_URL}/api/v1/violation/project/${PROJECT_UUID}" \</a:t>
            </a:r>
          </a:p>
          <a:p>
            <a:pPr algn="l">
              <a:lnSpc>
                <a:spcPct val="112000"/>
              </a:lnSpc>
            </a:pPr>
            <a:r>
              <a:rPr sz="1000" b="0" i="0" u="none">
                <a:solidFill>
                  <a:srgbClr val="A6F750"/>
                </a:solidFill>
                <a:latin typeface="Consolas"/>
              </a:rPr>
              <a:t>  | jq '[.[] | select(.policyCondition.policy.violationState == "FAIL")]'\</a:t>
            </a:r>
          </a:p>
          <a:p>
            <a:pPr algn="l">
              <a:lnSpc>
                <a:spcPct val="112000"/>
              </a:lnSpc>
            </a:pPr>
            <a:r>
              <a:rPr sz="1000" b="0" i="0" u="none">
                <a:solidFill>
                  <a:srgbClr val="A6F750"/>
                </a:solidFill>
                <a:latin typeface="Consolas"/>
              </a:rPr>
              <a:t>  | jq length)</a:t>
            </a:r>
          </a:p>
          <a:p>
            <a:pPr algn="l">
              <a:lnSpc>
                <a:spcPct val="112000"/>
              </a:lnSpc>
            </a:pPr>
            <a:r>
              <a:rPr sz="1000" b="0" i="0" u="none">
                <a:solidFill>
                  <a:srgbClr val="A6F750"/>
                </a:solidFill>
                <a:latin typeface="Consolas"/>
              </a:rPr>
              <a:t>echo "Violações: $VIOLATIONS"</a:t>
            </a:r>
          </a:p>
          <a:p>
            <a:pPr algn="l">
              <a:lnSpc>
                <a:spcPct val="112000"/>
              </a:lnSpc>
            </a:pPr>
            <a:r>
              <a:rPr sz="1000" b="0" i="0" u="none">
                <a:solidFill>
                  <a:srgbClr val="FF234F"/>
                </a:solidFill>
                <a:latin typeface="Consolas"/>
              </a:rPr>
              <a:t>test "$VIOLATIONS" -eq 0 || { echo "Pipeline bloqueado"; exit 1; }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11700" y="4323500"/>
            <a:ext cx="8520600" cy="460000"/>
          </a:xfrm>
          <a:prstGeom prst="roundRect">
            <a:avLst>
              <a:gd name="adj" fmla="val 6000"/>
            </a:avLst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11700" y="4403500"/>
            <a:ext cx="81206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 u="none">
                <a:solidFill>
                  <a:srgbClr val="2371FF"/>
                </a:solidFill>
                <a:latin typeface="Segoe UI Semibold"/>
              </a:rPr>
              <a:t>GLOSSÁRIO  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1700" y="4593500"/>
            <a:ext cx="8120600" cy="13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 i="0" u="none">
                <a:solidFill>
                  <a:srgbClr val="6A707D"/>
                </a:solidFill>
                <a:latin typeface="Segoe UI"/>
              </a:rPr>
              <a:t>API — Application Programming Interface   ·   UUID — Universally Unique Identifier   ·   FAIL — estado que bloqueia o pipeline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11700" y="4843500"/>
            <a:ext cx="8520600" cy="6000"/>
          </a:xfrm>
          <a:prstGeom prst="rect">
            <a:avLst/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11700" y="4883500"/>
            <a:ext cx="7920600" cy="22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0" i="0" u="none">
                <a:solidFill>
                  <a:srgbClr val="6A707D"/>
                </a:solidFill>
                <a:latin typeface="Segoe UI"/>
              </a:rPr>
              <a:t>Ada · CY-SE-013 - Supply Chain Security · Análise de SBOM e Gestão de Dependências | Everton J Benedicto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32300" y="4931944"/>
            <a:ext cx="500000" cy="12311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lang="pt-PT" sz="800" b="0" i="0" u="none">
                <a:solidFill>
                  <a:srgbClr val="2371FF"/>
                </a:solidFill>
                <a:latin typeface="Segoe UI Semibold"/>
              </a:rPr>
              <a:t>11</a:t>
            </a:r>
            <a:endParaRPr sz="800" b="0" i="0" u="none">
              <a:solidFill>
                <a:srgbClr val="2371FF"/>
              </a:solidFill>
              <a:latin typeface="Segoe UI Semibold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rcRect t="714" b="715"/>
          <a:stretch>
            <a:fillRect/>
          </a:stretch>
        </p:blipFill>
        <p:spPr>
          <a:xfrm>
            <a:off x="0" y="0"/>
            <a:ext cx="9144000" cy="6161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11700" y="796148"/>
            <a:ext cx="8520600" cy="2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 u="none">
                <a:solidFill>
                  <a:srgbClr val="2371FF"/>
                </a:solidFill>
                <a:latin typeface="Segoe UI Semibold"/>
              </a:rPr>
              <a:t>REMEDIAÇÃO AUTOMATIZADA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1700" y="1056148"/>
            <a:ext cx="8520600" cy="5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0" i="0" u="none">
                <a:solidFill>
                  <a:srgbClr val="181C23"/>
                </a:solidFill>
                <a:latin typeface="Segoe UI Semibold"/>
              </a:rPr>
              <a:t>Conheça as ferramentas: Dependabot e Renovate</a:t>
            </a:r>
          </a:p>
        </p:txBody>
      </p:sp>
      <p:sp>
        <p:nvSpPr>
          <p:cNvPr id="5" name="Rectangle 4"/>
          <p:cNvSpPr/>
          <p:nvPr/>
        </p:nvSpPr>
        <p:spPr>
          <a:xfrm>
            <a:off x="311700" y="1616148"/>
            <a:ext cx="900000" cy="55000"/>
          </a:xfrm>
          <a:prstGeom prst="rect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311700" y="1746148"/>
            <a:ext cx="4130300" cy="3037352"/>
          </a:xfrm>
          <a:prstGeom prst="roundRect">
            <a:avLst>
              <a:gd name="adj" fmla="val 4000"/>
            </a:avLst>
          </a:prstGeom>
          <a:solidFill>
            <a:srgbClr val="FFFDF8"/>
          </a:solidFill>
          <a:ln w="9525">
            <a:solidFill>
              <a:srgbClr val="EC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311700" y="1746148"/>
            <a:ext cx="4130300" cy="320000"/>
          </a:xfrm>
          <a:prstGeom prst="roundRect">
            <a:avLst>
              <a:gd name="adj" fmla="val 4000"/>
            </a:avLst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461700" y="1796148"/>
            <a:ext cx="220000" cy="220000"/>
          </a:xfrm>
          <a:prstGeom prst="ellipse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61700" y="1796148"/>
            <a:ext cx="220000" cy="22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 u="none">
                <a:solidFill>
                  <a:srgbClr val="2371FF"/>
                </a:solidFill>
                <a:latin typeface="Segoe UI Semibold"/>
              </a:rPr>
              <a:t>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1700" y="1746148"/>
            <a:ext cx="3480300" cy="32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1" i="0" u="none">
                <a:solidFill>
                  <a:srgbClr val="FFFDF8"/>
                </a:solidFill>
                <a:latin typeface="Segoe UI Semibold"/>
              </a:rPr>
              <a:t>Dependabot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1700" y="2206148"/>
            <a:ext cx="3830300" cy="2177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 u="none">
                <a:solidFill>
                  <a:srgbClr val="181C23"/>
                </a:solidFill>
                <a:latin typeface="Segoe UI"/>
              </a:rPr>
              <a:t>Pense nele como um robozinho que mora dentro do GitHub: toda semana ele confere se suas dependências estão velhas ou vulneráveis e já entrega a atualização pronta, em forma de Pull Request.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1700" y="4443500"/>
            <a:ext cx="3830300" cy="240000"/>
          </a:xfrm>
          <a:prstGeom prst="roundRect">
            <a:avLst>
              <a:gd name="adj" fmla="val 30000"/>
            </a:avLst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61700" y="4443500"/>
            <a:ext cx="3830300" cy="24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0" i="0" u="sng">
                <a:solidFill>
                  <a:srgbClr val="2371FF"/>
                </a:solidFill>
                <a:latin typeface="Segoe UI Semibold"/>
                <a:hlinkClick r:id="rId4"/>
              </a:rPr>
              <a:t>🔗 github.com/dependabot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702000" y="1746148"/>
            <a:ext cx="4130300" cy="3037352"/>
          </a:xfrm>
          <a:prstGeom prst="roundRect">
            <a:avLst>
              <a:gd name="adj" fmla="val 4000"/>
            </a:avLst>
          </a:prstGeom>
          <a:solidFill>
            <a:srgbClr val="FFFDF8"/>
          </a:solidFill>
          <a:ln w="9525">
            <a:solidFill>
              <a:srgbClr val="EC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4702000" y="1746148"/>
            <a:ext cx="4130300" cy="320000"/>
          </a:xfrm>
          <a:prstGeom prst="roundRect">
            <a:avLst>
              <a:gd name="adj" fmla="val 4000"/>
            </a:avLst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4852000" y="1796148"/>
            <a:ext cx="220000" cy="220000"/>
          </a:xfrm>
          <a:prstGeom prst="ellipse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852000" y="1796148"/>
            <a:ext cx="220000" cy="22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 u="none">
                <a:solidFill>
                  <a:srgbClr val="A6F750"/>
                </a:solidFill>
                <a:latin typeface="Segoe UI Semibold"/>
              </a:rPr>
              <a:t>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02000" y="1746148"/>
            <a:ext cx="3480300" cy="32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1" i="0" u="none">
                <a:solidFill>
                  <a:srgbClr val="181C23"/>
                </a:solidFill>
                <a:latin typeface="Segoe UI Semibold"/>
              </a:rPr>
              <a:t>Renovate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52000" y="2206148"/>
            <a:ext cx="3830300" cy="2177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 u="none">
                <a:solidFill>
                  <a:srgbClr val="181C23"/>
                </a:solidFill>
                <a:latin typeface="Segoe UI"/>
              </a:rPr>
              <a:t>É o primo mais flexível do Dependabot: um bot que conversa com GitHub, GitLab, Bitbucket e Azure DevOps, e deixa você configurar exatamente como e quando cada atualização acontece.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852000" y="4443500"/>
            <a:ext cx="3830300" cy="240000"/>
          </a:xfrm>
          <a:prstGeom prst="roundRect">
            <a:avLst>
              <a:gd name="adj" fmla="val 30000"/>
            </a:avLst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852000" y="4443500"/>
            <a:ext cx="3830300" cy="24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0" i="0" u="sng">
                <a:solidFill>
                  <a:srgbClr val="2371FF"/>
                </a:solidFill>
                <a:latin typeface="Segoe UI Semibold"/>
                <a:hlinkClick r:id="rId5"/>
              </a:rPr>
              <a:t>🔗 docs.renovatebot.com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11700" y="4843500"/>
            <a:ext cx="8520600" cy="6000"/>
          </a:xfrm>
          <a:prstGeom prst="rect">
            <a:avLst/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311700" y="4883500"/>
            <a:ext cx="7920600" cy="22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0" i="0" u="none">
                <a:solidFill>
                  <a:srgbClr val="6A707D"/>
                </a:solidFill>
                <a:latin typeface="Segoe UI"/>
              </a:rPr>
              <a:t>Ada · CY-SE-013 - Supply Chain Security · Análise de SBOM e Gestão de Dependências | Everton J Benedicto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32300" y="4931944"/>
            <a:ext cx="500000" cy="12311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lang="pt-PT" sz="800" b="0" i="0" u="none">
                <a:solidFill>
                  <a:srgbClr val="2371FF"/>
                </a:solidFill>
                <a:latin typeface="Segoe UI Semibold"/>
              </a:rPr>
              <a:t>12</a:t>
            </a:r>
            <a:endParaRPr sz="800" b="0" i="0" u="none">
              <a:solidFill>
                <a:srgbClr val="2371FF"/>
              </a:solidFill>
              <a:latin typeface="Segoe UI Semibold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rcRect t="714" b="715"/>
          <a:stretch>
            <a:fillRect/>
          </a:stretch>
        </p:blipFill>
        <p:spPr>
          <a:xfrm>
            <a:off x="0" y="0"/>
            <a:ext cx="9144000" cy="6161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11700" y="796148"/>
            <a:ext cx="8520600" cy="2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 u="none">
                <a:solidFill>
                  <a:srgbClr val="2371FF"/>
                </a:solidFill>
                <a:latin typeface="Segoe UI Semibold"/>
              </a:rPr>
              <a:t>REMEDIAÇÃO AUTOMATIZADA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1700" y="1056148"/>
            <a:ext cx="8520600" cy="5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0" i="0" u="none">
                <a:solidFill>
                  <a:srgbClr val="181C23"/>
                </a:solidFill>
                <a:latin typeface="Segoe UI Semibold"/>
              </a:rPr>
              <a:t>Dependabot vs. Renovate</a:t>
            </a:r>
          </a:p>
        </p:txBody>
      </p:sp>
      <p:sp>
        <p:nvSpPr>
          <p:cNvPr id="5" name="Rectangle 4"/>
          <p:cNvSpPr/>
          <p:nvPr/>
        </p:nvSpPr>
        <p:spPr>
          <a:xfrm>
            <a:off x="311700" y="1616148"/>
            <a:ext cx="900000" cy="55000"/>
          </a:xfrm>
          <a:prstGeom prst="rect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311700" y="1746148"/>
            <a:ext cx="4130300" cy="2297352"/>
          </a:xfrm>
          <a:prstGeom prst="roundRect">
            <a:avLst>
              <a:gd name="adj" fmla="val 4000"/>
            </a:avLst>
          </a:prstGeom>
          <a:solidFill>
            <a:srgbClr val="FFFDF8"/>
          </a:solidFill>
          <a:ln w="9525">
            <a:solidFill>
              <a:srgbClr val="EC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311700" y="1746148"/>
            <a:ext cx="4130300" cy="320000"/>
          </a:xfrm>
          <a:prstGeom prst="roundRect">
            <a:avLst>
              <a:gd name="adj" fmla="val 4000"/>
            </a:avLst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4072000" y="1796148"/>
            <a:ext cx="220000" cy="220000"/>
          </a:xfrm>
          <a:prstGeom prst="ellipse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072000" y="1796148"/>
            <a:ext cx="220000" cy="22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 u="none">
                <a:solidFill>
                  <a:srgbClr val="2371FF"/>
                </a:solidFill>
                <a:latin typeface="Segoe UI Semibold"/>
              </a:rPr>
              <a:t>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1700" y="1746148"/>
            <a:ext cx="3510300" cy="32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0" i="0" u="none">
                <a:solidFill>
                  <a:srgbClr val="FFFDF8"/>
                </a:solidFill>
                <a:latin typeface="Segoe UI Semibold"/>
              </a:rPr>
              <a:t>Dependabot</a:t>
            </a:r>
          </a:p>
        </p:txBody>
      </p:sp>
      <p:sp>
        <p:nvSpPr>
          <p:cNvPr id="11" name="Oval 10"/>
          <p:cNvSpPr/>
          <p:nvPr/>
        </p:nvSpPr>
        <p:spPr>
          <a:xfrm>
            <a:off x="461700" y="2353317"/>
            <a:ext cx="140000" cy="14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31700" y="2206148"/>
            <a:ext cx="3560300" cy="43433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 i="0" u="none">
                <a:solidFill>
                  <a:srgbClr val="181C23"/>
                </a:solidFill>
                <a:latin typeface="Segoe UI"/>
              </a:rPr>
              <a:t>Nativo no GitHub, já pronto para usar</a:t>
            </a:r>
          </a:p>
        </p:txBody>
      </p:sp>
      <p:sp>
        <p:nvSpPr>
          <p:cNvPr id="13" name="Oval 12"/>
          <p:cNvSpPr/>
          <p:nvPr/>
        </p:nvSpPr>
        <p:spPr>
          <a:xfrm>
            <a:off x="461700" y="2787655"/>
            <a:ext cx="140000" cy="14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31700" y="2640486"/>
            <a:ext cx="3560300" cy="43433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 i="0" u="none">
                <a:solidFill>
                  <a:srgbClr val="181C23"/>
                </a:solidFill>
                <a:latin typeface="Segoe UI"/>
              </a:rPr>
              <a:t>YAML simples: .github/dependabot.yml</a:t>
            </a:r>
          </a:p>
        </p:txBody>
      </p:sp>
      <p:sp>
        <p:nvSpPr>
          <p:cNvPr id="15" name="Oval 14"/>
          <p:cNvSpPr/>
          <p:nvPr/>
        </p:nvSpPr>
        <p:spPr>
          <a:xfrm>
            <a:off x="461700" y="3221993"/>
            <a:ext cx="140000" cy="14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31700" y="3074824"/>
            <a:ext cx="3560300" cy="43433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 i="0" u="none">
                <a:solidFill>
                  <a:srgbClr val="181C23"/>
                </a:solidFill>
                <a:latin typeface="Segoe UI"/>
              </a:rPr>
              <a:t>20+ ecossistemas (npm, pip, NuGet...)</a:t>
            </a:r>
          </a:p>
        </p:txBody>
      </p:sp>
      <p:sp>
        <p:nvSpPr>
          <p:cNvPr id="17" name="Oval 16"/>
          <p:cNvSpPr/>
          <p:nvPr/>
        </p:nvSpPr>
        <p:spPr>
          <a:xfrm>
            <a:off x="461700" y="3656331"/>
            <a:ext cx="140000" cy="14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31700" y="3509162"/>
            <a:ext cx="3560300" cy="43433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 i="0" u="none">
                <a:solidFill>
                  <a:srgbClr val="181C23"/>
                </a:solidFill>
                <a:latin typeface="Segoe UI"/>
              </a:rPr>
              <a:t>Agrupa PRs e libera automerge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702000" y="1746148"/>
            <a:ext cx="4130300" cy="2297352"/>
          </a:xfrm>
          <a:prstGeom prst="roundRect">
            <a:avLst>
              <a:gd name="adj" fmla="val 4000"/>
            </a:avLst>
          </a:prstGeom>
          <a:solidFill>
            <a:srgbClr val="FFFDF8"/>
          </a:solidFill>
          <a:ln w="9525">
            <a:solidFill>
              <a:srgbClr val="EC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4702000" y="1746148"/>
            <a:ext cx="4130300" cy="320000"/>
          </a:xfrm>
          <a:prstGeom prst="roundRect">
            <a:avLst>
              <a:gd name="adj" fmla="val 4000"/>
            </a:avLst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8462300" y="1796148"/>
            <a:ext cx="220000" cy="220000"/>
          </a:xfrm>
          <a:prstGeom prst="ellipse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462300" y="1796148"/>
            <a:ext cx="220000" cy="22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 u="none">
                <a:solidFill>
                  <a:srgbClr val="A6F750"/>
                </a:solidFill>
                <a:latin typeface="Segoe UI Semibold"/>
              </a:rPr>
              <a:t>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52000" y="1746148"/>
            <a:ext cx="3510300" cy="32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0" i="0" u="none">
                <a:solidFill>
                  <a:srgbClr val="181C23"/>
                </a:solidFill>
                <a:latin typeface="Segoe UI Semibold"/>
              </a:rPr>
              <a:t>Renovate</a:t>
            </a:r>
          </a:p>
        </p:txBody>
      </p:sp>
      <p:sp>
        <p:nvSpPr>
          <p:cNvPr id="24" name="Oval 23"/>
          <p:cNvSpPr/>
          <p:nvPr/>
        </p:nvSpPr>
        <p:spPr>
          <a:xfrm>
            <a:off x="4852000" y="2353317"/>
            <a:ext cx="140000" cy="140000"/>
          </a:xfrm>
          <a:prstGeom prst="ellipse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122000" y="2206148"/>
            <a:ext cx="3560300" cy="43433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 i="0" u="none">
                <a:solidFill>
                  <a:srgbClr val="181C23"/>
                </a:solidFill>
                <a:latin typeface="Segoe UI"/>
              </a:rPr>
              <a:t>GitHub, GitLab, Bitbucket, Azure DevOps</a:t>
            </a:r>
          </a:p>
        </p:txBody>
      </p:sp>
      <p:sp>
        <p:nvSpPr>
          <p:cNvPr id="26" name="Oval 25"/>
          <p:cNvSpPr/>
          <p:nvPr/>
        </p:nvSpPr>
        <p:spPr>
          <a:xfrm>
            <a:off x="4852000" y="2787655"/>
            <a:ext cx="140000" cy="140000"/>
          </a:xfrm>
          <a:prstGeom prst="ellipse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122000" y="2640486"/>
            <a:ext cx="3560300" cy="43433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 i="0" u="none">
                <a:solidFill>
                  <a:srgbClr val="181C23"/>
                </a:solidFill>
                <a:latin typeface="Segoe UI"/>
              </a:rPr>
              <a:t>JSON com regras granulares por pacote</a:t>
            </a:r>
          </a:p>
        </p:txBody>
      </p:sp>
      <p:sp>
        <p:nvSpPr>
          <p:cNvPr id="28" name="Oval 27"/>
          <p:cNvSpPr/>
          <p:nvPr/>
        </p:nvSpPr>
        <p:spPr>
          <a:xfrm>
            <a:off x="4852000" y="3221993"/>
            <a:ext cx="140000" cy="140000"/>
          </a:xfrm>
          <a:prstGeom prst="ellipse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122000" y="3074824"/>
            <a:ext cx="3560300" cy="43433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 i="0" u="none">
                <a:solidFill>
                  <a:srgbClr val="181C23"/>
                </a:solidFill>
                <a:latin typeface="Segoe UI"/>
              </a:rPr>
              <a:t>90+ ecossistemas, cobertura ampla</a:t>
            </a:r>
          </a:p>
        </p:txBody>
      </p:sp>
      <p:sp>
        <p:nvSpPr>
          <p:cNvPr id="30" name="Oval 29"/>
          <p:cNvSpPr/>
          <p:nvPr/>
        </p:nvSpPr>
        <p:spPr>
          <a:xfrm>
            <a:off x="4852000" y="3656331"/>
            <a:ext cx="140000" cy="140000"/>
          </a:xfrm>
          <a:prstGeom prst="ellipse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5122000" y="3509162"/>
            <a:ext cx="3560300" cy="43433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 i="0" u="none">
                <a:solidFill>
                  <a:srgbClr val="181C23"/>
                </a:solidFill>
                <a:latin typeface="Segoe UI"/>
              </a:rPr>
              <a:t>Automerge por tipo + dashboard próprio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11700" y="4193500"/>
            <a:ext cx="8520600" cy="590000"/>
          </a:xfrm>
          <a:prstGeom prst="roundRect">
            <a:avLst>
              <a:gd name="adj" fmla="val 6000"/>
            </a:avLst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511700" y="4273500"/>
            <a:ext cx="81206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 u="none">
                <a:solidFill>
                  <a:srgbClr val="2371FF"/>
                </a:solidFill>
                <a:latin typeface="Segoe UI Semibold"/>
              </a:rPr>
              <a:t>GLOSSÁRIO  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11700" y="4463500"/>
            <a:ext cx="81206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 i="0" u="none">
                <a:solidFill>
                  <a:srgbClr val="6A707D"/>
                </a:solidFill>
                <a:latin typeface="Segoe UI"/>
              </a:rPr>
              <a:t>YAML — YAML Ain't Markup Language — formato de config   ·   JSON — JavaScript Object Notation — formato de config   ·   PR — Pull Request — pedido de incorporar uma mudança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11700" y="4843500"/>
            <a:ext cx="8520600" cy="6000"/>
          </a:xfrm>
          <a:prstGeom prst="rect">
            <a:avLst/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311700" y="4883500"/>
            <a:ext cx="7920600" cy="22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0" i="0" u="none">
                <a:solidFill>
                  <a:srgbClr val="6A707D"/>
                </a:solidFill>
                <a:latin typeface="Segoe UI"/>
              </a:rPr>
              <a:t>Ada · CY-SE-013 - Supply Chain Security · Análise de SBOM e Gestão de Dependências | Everton J Benedicto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32300" y="4931944"/>
            <a:ext cx="500000" cy="12311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lang="pt-PT" sz="800" b="0" i="0" u="none">
                <a:solidFill>
                  <a:srgbClr val="2371FF"/>
                </a:solidFill>
                <a:latin typeface="Segoe UI Semibold"/>
              </a:rPr>
              <a:t>13</a:t>
            </a:r>
            <a:endParaRPr sz="800" b="0" i="0" u="none">
              <a:solidFill>
                <a:srgbClr val="2371FF"/>
              </a:solidFill>
              <a:latin typeface="Segoe UI Semibold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rcRect t="714" b="715"/>
          <a:stretch>
            <a:fillRect/>
          </a:stretch>
        </p:blipFill>
        <p:spPr>
          <a:xfrm>
            <a:off x="0" y="0"/>
            <a:ext cx="9144000" cy="6161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11700" y="796148"/>
            <a:ext cx="8520600" cy="2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 u="none">
                <a:solidFill>
                  <a:srgbClr val="2371FF"/>
                </a:solidFill>
                <a:latin typeface="Segoe UI Semibold"/>
              </a:rPr>
              <a:t>PYTHON E 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1700" y="1056148"/>
            <a:ext cx="8520600" cy="5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0" i="0" u="none">
                <a:solidFill>
                  <a:srgbClr val="181C23"/>
                </a:solidFill>
                <a:latin typeface="Segoe UI Semibold"/>
              </a:rPr>
              <a:t>pip-audit: auditoria de pacotes Python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11700" y="1616148"/>
            <a:ext cx="900000" cy="55000"/>
          </a:xfrm>
          <a:prstGeom prst="rect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11700" y="1746148"/>
            <a:ext cx="8520600" cy="3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 u="none">
                <a:solidFill>
                  <a:srgbClr val="6A707D"/>
                </a:solidFill>
                <a:latin typeface="Segoe UI"/>
              </a:rPr>
              <a:t>pip-audit varre o ambiente Python atrás de vulnerabilidades conhecidas nas bibliotecas instaladas: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11700" y="2126148"/>
            <a:ext cx="8520600" cy="2047352"/>
          </a:xfrm>
          <a:prstGeom prst="roundRect">
            <a:avLst>
              <a:gd name="adj" fmla="val 3000"/>
            </a:avLst>
          </a:prstGeom>
          <a:solidFill>
            <a:srgbClr val="181C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311700" y="2126148"/>
            <a:ext cx="8520600" cy="260000"/>
          </a:xfrm>
          <a:prstGeom prst="roundRect">
            <a:avLst>
              <a:gd name="adj" fmla="val 3000"/>
            </a:avLst>
          </a:prstGeom>
          <a:solidFill>
            <a:srgbClr val="2A2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461700" y="2206148"/>
            <a:ext cx="100000" cy="100000"/>
          </a:xfrm>
          <a:prstGeom prst="ellipse">
            <a:avLst/>
          </a:prstGeom>
          <a:solidFill>
            <a:srgbClr val="FF2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661700" y="2206148"/>
            <a:ext cx="100000" cy="100000"/>
          </a:xfrm>
          <a:prstGeom prst="ellipse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861700" y="2206148"/>
            <a:ext cx="100000" cy="10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11700" y="2126148"/>
            <a:ext cx="8520600" cy="26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0" i="0" u="none">
                <a:solidFill>
                  <a:srgbClr val="6A707D"/>
                </a:solidFill>
                <a:latin typeface="Consolas"/>
              </a:rPr>
              <a:t>bash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1700" y="2486148"/>
            <a:ext cx="8120600" cy="1587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 u="none">
                <a:solidFill>
                  <a:srgbClr val="A6F750"/>
                </a:solidFill>
                <a:latin typeface="Consolas"/>
              </a:rPr>
              <a:t>pip install pip-audit</a:t>
            </a:r>
          </a:p>
          <a:p>
            <a:pPr algn="l">
              <a:lnSpc>
                <a:spcPct val="112000"/>
              </a:lnSpc>
            </a:pPr>
            <a:r>
              <a:rPr sz="1100" b="0" i="0" u="none">
                <a:solidFill>
                  <a:srgbClr val="A6F750"/>
                </a:solidFill>
                <a:latin typeface="Consolas"/>
              </a:rPr>
              <a:t>pip-audit --strict</a:t>
            </a:r>
          </a:p>
          <a:p>
            <a:pPr algn="l">
              <a:lnSpc>
                <a:spcPct val="112000"/>
              </a:lnSpc>
            </a:pPr>
            <a:r>
              <a:rPr sz="600" b="0" i="0" u="none">
                <a:solidFill>
                  <a:srgbClr val="181C23"/>
                </a:solidFill>
                <a:latin typeface="Consolas"/>
              </a:rPr>
              <a:t> </a:t>
            </a:r>
          </a:p>
          <a:p>
            <a:pPr algn="l">
              <a:lnSpc>
                <a:spcPct val="112000"/>
              </a:lnSpc>
            </a:pPr>
            <a:r>
              <a:rPr sz="1100" b="0" i="0" u="none">
                <a:solidFill>
                  <a:srgbClr val="FFFDF8"/>
                </a:solidFill>
                <a:latin typeface="Consolas"/>
              </a:rPr>
              <a:t>&gt; Found 2 known vulnerabilities in 2 packages</a:t>
            </a:r>
          </a:p>
          <a:p>
            <a:pPr algn="l">
              <a:lnSpc>
                <a:spcPct val="112000"/>
              </a:lnSpc>
            </a:pPr>
            <a:r>
              <a:rPr sz="1100" b="0" i="0" u="none">
                <a:solidFill>
                  <a:srgbClr val="FF234F"/>
                </a:solidFill>
                <a:latin typeface="Consolas"/>
              </a:rPr>
              <a:t>requests  2.25.0  GHSA-j8r2-6x86-q33q  Fix: 2.31.0</a:t>
            </a:r>
          </a:p>
          <a:p>
            <a:pPr algn="l">
              <a:lnSpc>
                <a:spcPct val="112000"/>
              </a:lnSpc>
            </a:pPr>
            <a:r>
              <a:rPr sz="1100" b="0" i="0" u="none">
                <a:solidFill>
                  <a:srgbClr val="FF234F"/>
                </a:solidFill>
                <a:latin typeface="Consolas"/>
              </a:rPr>
              <a:t>urllib3   1.26.5  GHSA-v845-jxx5-vc9f  Fix: 1.26.18</a:t>
            </a:r>
          </a:p>
          <a:p>
            <a:pPr algn="l">
              <a:lnSpc>
                <a:spcPct val="112000"/>
              </a:lnSpc>
            </a:pPr>
            <a:r>
              <a:rPr sz="600" b="0" i="0" u="none">
                <a:solidFill>
                  <a:srgbClr val="181C23"/>
                </a:solidFill>
                <a:latin typeface="Consolas"/>
              </a:rPr>
              <a:t> </a:t>
            </a:r>
          </a:p>
          <a:p>
            <a:pPr algn="l">
              <a:lnSpc>
                <a:spcPct val="112000"/>
              </a:lnSpc>
            </a:pPr>
            <a:r>
              <a:rPr sz="1100" b="0" i="0" u="none">
                <a:solidFill>
                  <a:srgbClr val="6A707D"/>
                </a:solidFill>
                <a:latin typeface="Consolas"/>
              </a:rPr>
              <a:t># --strict → pipeline falha (exit != 0) se achar vulnerabilidade sem fix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11700" y="4323500"/>
            <a:ext cx="8520600" cy="460000"/>
          </a:xfrm>
          <a:prstGeom prst="roundRect">
            <a:avLst>
              <a:gd name="adj" fmla="val 6000"/>
            </a:avLst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11700" y="4403500"/>
            <a:ext cx="81206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 u="none">
                <a:solidFill>
                  <a:srgbClr val="2371FF"/>
                </a:solidFill>
                <a:latin typeface="Segoe UI Semibold"/>
              </a:rPr>
              <a:t>GLOSSÁRIO  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1700" y="4593500"/>
            <a:ext cx="8120600" cy="13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 i="0" u="none">
                <a:solidFill>
                  <a:srgbClr val="6A707D"/>
                </a:solidFill>
                <a:latin typeface="Segoe UI"/>
              </a:rPr>
              <a:t>GHSA — GitHub Security Advisory — identificador de vulnerabilidade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11700" y="4843500"/>
            <a:ext cx="8520600" cy="6000"/>
          </a:xfrm>
          <a:prstGeom prst="rect">
            <a:avLst/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11700" y="4883500"/>
            <a:ext cx="7920600" cy="22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0" i="0" u="none">
                <a:solidFill>
                  <a:srgbClr val="6A707D"/>
                </a:solidFill>
                <a:latin typeface="Segoe UI"/>
              </a:rPr>
              <a:t>Ada · CY-SE-013 - Supply Chain Security · Análise de SBOM e Gestão de Dependências | Everton J Benedicto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32300" y="4931944"/>
            <a:ext cx="500000" cy="12311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lang="pt-PT" sz="800" b="0" i="0" u="none">
                <a:solidFill>
                  <a:srgbClr val="2371FF"/>
                </a:solidFill>
                <a:latin typeface="Segoe UI Semibold"/>
              </a:rPr>
              <a:t>14</a:t>
            </a:r>
            <a:endParaRPr sz="800" b="0" i="0" u="none">
              <a:solidFill>
                <a:srgbClr val="2371FF"/>
              </a:solidFill>
              <a:latin typeface="Segoe UI Semibold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rcRect t="714" b="715"/>
          <a:stretch>
            <a:fillRect/>
          </a:stretch>
        </p:blipFill>
        <p:spPr>
          <a:xfrm>
            <a:off x="0" y="0"/>
            <a:ext cx="9144000" cy="6161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11700" y="796148"/>
            <a:ext cx="8520600" cy="2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 u="none">
                <a:solidFill>
                  <a:srgbClr val="2371FF"/>
                </a:solidFill>
                <a:latin typeface="Segoe UI Semibold"/>
              </a:rPr>
              <a:t>PYTHON E 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1700" y="1056148"/>
            <a:ext cx="8520600" cy="5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0" i="0" u="none">
                <a:solidFill>
                  <a:srgbClr val="181C23"/>
                </a:solidFill>
                <a:latin typeface="Segoe UI Semibold"/>
              </a:rPr>
              <a:t>IA: pesos e datasets também são dependências</a:t>
            </a:r>
          </a:p>
        </p:txBody>
      </p:sp>
      <p:sp>
        <p:nvSpPr>
          <p:cNvPr id="5" name="Rectangle 4"/>
          <p:cNvSpPr/>
          <p:nvPr/>
        </p:nvSpPr>
        <p:spPr>
          <a:xfrm>
            <a:off x="311700" y="1616148"/>
            <a:ext cx="900000" cy="55000"/>
          </a:xfrm>
          <a:prstGeom prst="rect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11700" y="1746148"/>
            <a:ext cx="8520600" cy="3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 u="none">
                <a:solidFill>
                  <a:srgbClr val="6A707D"/>
                </a:solidFill>
                <a:latin typeface="Segoe UI"/>
              </a:rPr>
              <a:t>pip-audit só enxerga pacotes Python — mas um sistema de IA carrega 3 tipos de artefato que precisam de tratamento próprio:</a:t>
            </a:r>
          </a:p>
        </p:txBody>
      </p:sp>
      <p:sp>
        <p:nvSpPr>
          <p:cNvPr id="7" name="Oval 6"/>
          <p:cNvSpPr/>
          <p:nvPr/>
        </p:nvSpPr>
        <p:spPr>
          <a:xfrm>
            <a:off x="311700" y="2156148"/>
            <a:ext cx="300000" cy="300000"/>
          </a:xfrm>
          <a:prstGeom prst="ellipse">
            <a:avLst/>
          </a:prstGeom>
          <a:solidFill>
            <a:srgbClr val="FF2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11700" y="2156148"/>
            <a:ext cx="300000" cy="30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 u="none">
                <a:solidFill>
                  <a:srgbClr val="FFFDF8"/>
                </a:solidFill>
                <a:latin typeface="Segoe UI Semibold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1700" y="2126148"/>
            <a:ext cx="8020600" cy="51183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 u="none">
                <a:solidFill>
                  <a:srgbClr val="181C23"/>
                </a:solidFill>
                <a:latin typeface="Segoe UI Semibold"/>
              </a:rPr>
              <a:t>Pesos do modelo (.safetensors): </a:t>
            </a:r>
            <a:r>
              <a:rPr sz="1400" b="0" i="0" u="none">
                <a:solidFill>
                  <a:srgbClr val="6A707D"/>
                </a:solidFill>
                <a:latin typeface="Segoe UI"/>
              </a:rPr>
              <a:t>arquivo binário baixado de fora; sem hash + assinatura + fonte verificada, pode vir adulterado e o SCA não detecta</a:t>
            </a:r>
          </a:p>
        </p:txBody>
      </p:sp>
      <p:sp>
        <p:nvSpPr>
          <p:cNvPr id="10" name="Oval 9"/>
          <p:cNvSpPr/>
          <p:nvPr/>
        </p:nvSpPr>
        <p:spPr>
          <a:xfrm>
            <a:off x="311700" y="2667986"/>
            <a:ext cx="300000" cy="300000"/>
          </a:xfrm>
          <a:prstGeom prst="ellipse">
            <a:avLst/>
          </a:prstGeom>
          <a:solidFill>
            <a:srgbClr val="FFB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11700" y="2667986"/>
            <a:ext cx="300000" cy="30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 u="none">
                <a:solidFill>
                  <a:srgbClr val="FFFDF8"/>
                </a:solidFill>
                <a:latin typeface="Segoe UI Semibold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1700" y="2637986"/>
            <a:ext cx="8020600" cy="51183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 u="none">
                <a:solidFill>
                  <a:srgbClr val="181C23"/>
                </a:solidFill>
                <a:latin typeface="Segoe UI Semibold"/>
              </a:rPr>
              <a:t>Datasets de treino: </a:t>
            </a:r>
            <a:r>
              <a:rPr sz="1400" b="0" i="0" u="none">
                <a:solidFill>
                  <a:srgbClr val="6A707D"/>
                </a:solidFill>
                <a:latin typeface="Segoe UI"/>
              </a:rPr>
              <a:t>também vêm de fora do seu código; exigem SBOM estendido + hash do conteúdo porque dado também é dependência</a:t>
            </a:r>
          </a:p>
        </p:txBody>
      </p:sp>
      <p:sp>
        <p:nvSpPr>
          <p:cNvPr id="13" name="Oval 12"/>
          <p:cNvSpPr/>
          <p:nvPr/>
        </p:nvSpPr>
        <p:spPr>
          <a:xfrm>
            <a:off x="311700" y="3179824"/>
            <a:ext cx="300000" cy="300000"/>
          </a:xfrm>
          <a:prstGeom prst="ellipse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11700" y="3179824"/>
            <a:ext cx="300000" cy="30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 u="none">
                <a:solidFill>
                  <a:srgbClr val="FFFDF8"/>
                </a:solidFill>
                <a:latin typeface="Segoe UI Semibold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1700" y="3149824"/>
            <a:ext cx="8020600" cy="51183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 u="none">
                <a:solidFill>
                  <a:srgbClr val="181C23"/>
                </a:solidFill>
                <a:latin typeface="Segoe UI Semibold"/>
              </a:rPr>
              <a:t>Frameworks (PyTorch, TF): </a:t>
            </a:r>
            <a:r>
              <a:rPr sz="1400" b="0" i="0" u="none">
                <a:solidFill>
                  <a:srgbClr val="6A707D"/>
                </a:solidFill>
                <a:latin typeface="Segoe UI"/>
              </a:rPr>
              <a:t>são bibliotecas Python normais — já cobertos pelo SCA tradicional, igual a qualquer outro pacote</a:t>
            </a:r>
          </a:p>
        </p:txBody>
      </p:sp>
      <p:sp>
        <p:nvSpPr>
          <p:cNvPr id="16" name="Oval 15"/>
          <p:cNvSpPr/>
          <p:nvPr/>
        </p:nvSpPr>
        <p:spPr>
          <a:xfrm>
            <a:off x="311700" y="3691662"/>
            <a:ext cx="300000" cy="30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11700" y="3691662"/>
            <a:ext cx="300000" cy="30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 u="none">
                <a:solidFill>
                  <a:srgbClr val="FFFDF8"/>
                </a:solidFill>
                <a:latin typeface="Segoe UI Semibold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1700" y="3661662"/>
            <a:ext cx="8020600" cy="51183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 u="none">
                <a:solidFill>
                  <a:srgbClr val="181C23"/>
                </a:solidFill>
                <a:latin typeface="Segoe UI Semibold"/>
              </a:rPr>
              <a:t>Regra de ouro: </a:t>
            </a:r>
            <a:r>
              <a:rPr sz="1400" b="0" i="0" u="none">
                <a:solidFill>
                  <a:srgbClr val="6A707D"/>
                </a:solidFill>
                <a:latin typeface="Segoe UI"/>
              </a:rPr>
              <a:t>modelo e dataset são dependências de 1ª classe, não arquivos soltos — exigem procedência rastreável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11700" y="4323500"/>
            <a:ext cx="8520600" cy="460000"/>
          </a:xfrm>
          <a:prstGeom prst="roundRect">
            <a:avLst>
              <a:gd name="adj" fmla="val 6000"/>
            </a:avLst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11700" y="4403500"/>
            <a:ext cx="81206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 u="none">
                <a:solidFill>
                  <a:srgbClr val="2371FF"/>
                </a:solidFill>
                <a:latin typeface="Segoe UI Semibold"/>
              </a:rPr>
              <a:t>GLOSSÁRIO  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1700" y="4593500"/>
            <a:ext cx="8120600" cy="13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 i="0" u="none">
                <a:solidFill>
                  <a:srgbClr val="6A707D"/>
                </a:solidFill>
                <a:latin typeface="Segoe UI"/>
              </a:rPr>
              <a:t>SBOM — Software Bill of Materials   ·   SCA — Software Composition Analysis   ·   TF — TensorFlow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11700" y="4843500"/>
            <a:ext cx="8520600" cy="6000"/>
          </a:xfrm>
          <a:prstGeom prst="rect">
            <a:avLst/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311700" y="4883500"/>
            <a:ext cx="7920600" cy="22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0" i="0" u="none">
                <a:solidFill>
                  <a:srgbClr val="6A707D"/>
                </a:solidFill>
                <a:latin typeface="Segoe UI"/>
              </a:rPr>
              <a:t>Ada · CY-SE-013 - Supply Chain Security · Análise de SBOM e Gestão de Dependências | Everton J Benedicto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32300" y="4931944"/>
            <a:ext cx="500000" cy="12311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lang="pt-PT" sz="800" b="0" i="0" u="none">
                <a:solidFill>
                  <a:srgbClr val="2371FF"/>
                </a:solidFill>
                <a:latin typeface="Segoe UI Semibold"/>
              </a:rPr>
              <a:t>15</a:t>
            </a:r>
            <a:endParaRPr sz="800" b="0" i="0" u="none">
              <a:solidFill>
                <a:srgbClr val="2371FF"/>
              </a:solidFill>
              <a:latin typeface="Segoe UI Semibold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rcRect t="714" b="715"/>
          <a:stretch>
            <a:fillRect/>
          </a:stretch>
        </p:blipFill>
        <p:spPr>
          <a:xfrm>
            <a:off x="0" y="0"/>
            <a:ext cx="9144000" cy="6161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11700" y="796148"/>
            <a:ext cx="8520600" cy="2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 u="none">
                <a:solidFill>
                  <a:srgbClr val="2371FF"/>
                </a:solidFill>
                <a:latin typeface="Segoe UI Semibold"/>
              </a:rPr>
              <a:t>MÃO NA MASSA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1700" y="1056148"/>
            <a:ext cx="8520600" cy="5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0" i="0" u="none">
                <a:solidFill>
                  <a:srgbClr val="181C23"/>
                </a:solidFill>
                <a:latin typeface="Segoe UI Semibold"/>
              </a:rPr>
              <a:t>Laboratório: do SBOM ao gate de pipeline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311700" y="1616148"/>
            <a:ext cx="900000" cy="55000"/>
          </a:xfrm>
          <a:prstGeom prst="rect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311700" y="1746148"/>
            <a:ext cx="8520600" cy="363470"/>
          </a:xfrm>
          <a:prstGeom prst="roundRect">
            <a:avLst>
              <a:gd name="adj" fmla="val 8000"/>
            </a:avLst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461700" y="1787883"/>
            <a:ext cx="280000" cy="28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61700" y="1787883"/>
            <a:ext cx="280000" cy="28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 u="none">
                <a:solidFill>
                  <a:srgbClr val="FFFDF8"/>
                </a:solidFill>
                <a:latin typeface="Segoe UI Semibold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1700" y="1746148"/>
            <a:ext cx="7780600" cy="36347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 u="none">
                <a:solidFill>
                  <a:srgbClr val="181C23"/>
                </a:solidFill>
                <a:latin typeface="Segoe UI Semibold"/>
              </a:rPr>
              <a:t>Subir: </a:t>
            </a:r>
            <a:r>
              <a:rPr sz="1300" b="0" i="0" u="none">
                <a:solidFill>
                  <a:srgbClr val="6A707D"/>
                </a:solidFill>
                <a:latin typeface="Segoe UI"/>
              </a:rPr>
              <a:t>Dependency-Track via Docker Compose; trocar senha; gerar API key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11700" y="2199618"/>
            <a:ext cx="8520600" cy="363470"/>
          </a:xfrm>
          <a:prstGeom prst="roundRect">
            <a:avLst>
              <a:gd name="adj" fmla="val 8000"/>
            </a:avLst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461700" y="2241353"/>
            <a:ext cx="280000" cy="28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61700" y="2241353"/>
            <a:ext cx="280000" cy="28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 u="none">
                <a:solidFill>
                  <a:srgbClr val="FFFDF8"/>
                </a:solidFill>
                <a:latin typeface="Segoe UI Semibold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1700" y="2199618"/>
            <a:ext cx="7780600" cy="36347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 u="none">
                <a:solidFill>
                  <a:srgbClr val="181C23"/>
                </a:solidFill>
                <a:latin typeface="Segoe UI Semibold"/>
              </a:rPr>
              <a:t>Gerar e enviar: </a:t>
            </a:r>
            <a:r>
              <a:rPr sz="1300" b="0" i="0" u="none">
                <a:solidFill>
                  <a:srgbClr val="6A707D"/>
                </a:solidFill>
                <a:latin typeface="Segoe UI"/>
              </a:rPr>
              <a:t>syft node:14-alpine → POST /api/v1/bom (lab-node14)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11700" y="2653088"/>
            <a:ext cx="8520600" cy="363470"/>
          </a:xfrm>
          <a:prstGeom prst="roundRect">
            <a:avLst>
              <a:gd name="adj" fmla="val 8000"/>
            </a:avLst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461700" y="2694823"/>
            <a:ext cx="280000" cy="28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61700" y="2694823"/>
            <a:ext cx="280000" cy="28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 u="none">
                <a:solidFill>
                  <a:srgbClr val="FFFDF8"/>
                </a:solidFill>
                <a:latin typeface="Segoe UI Semibold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1700" y="2653088"/>
            <a:ext cx="7780600" cy="36347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 u="none">
                <a:solidFill>
                  <a:srgbClr val="181C23"/>
                </a:solidFill>
                <a:latin typeface="Segoe UI Semibold"/>
              </a:rPr>
              <a:t>Observar: </a:t>
            </a:r>
            <a:r>
              <a:rPr sz="1300" b="0" i="0" u="none">
                <a:solidFill>
                  <a:srgbClr val="6A707D"/>
                </a:solidFill>
                <a:latin typeface="Segoe UI"/>
              </a:rPr>
              <a:t>vulnerabilidades correlacionadas no projeto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11700" y="3106558"/>
            <a:ext cx="8520600" cy="363470"/>
          </a:xfrm>
          <a:prstGeom prst="roundRect">
            <a:avLst>
              <a:gd name="adj" fmla="val 8000"/>
            </a:avLst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461700" y="3148293"/>
            <a:ext cx="280000" cy="28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61700" y="3148293"/>
            <a:ext cx="280000" cy="28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 u="none">
                <a:solidFill>
                  <a:srgbClr val="FFFDF8"/>
                </a:solidFill>
                <a:latin typeface="Segoe UI Semibold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1700" y="3106558"/>
            <a:ext cx="7780600" cy="36347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 u="none">
                <a:solidFill>
                  <a:srgbClr val="181C23"/>
                </a:solidFill>
                <a:latin typeface="Segoe UI Semibold"/>
              </a:rPr>
              <a:t>Policy: </a:t>
            </a:r>
            <a:r>
              <a:rPr sz="1300" b="0" i="0" u="none">
                <a:solidFill>
                  <a:srgbClr val="6A707D"/>
                </a:solidFill>
                <a:latin typeface="Segoe UI"/>
              </a:rPr>
              <a:t>Severity is CRITICAL → FAIL; ver violações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11700" y="3560028"/>
            <a:ext cx="8520600" cy="363470"/>
          </a:xfrm>
          <a:prstGeom prst="roundRect">
            <a:avLst>
              <a:gd name="adj" fmla="val 8000"/>
            </a:avLst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461700" y="3601763"/>
            <a:ext cx="280000" cy="28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61700" y="3601763"/>
            <a:ext cx="280000" cy="28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 u="none">
                <a:solidFill>
                  <a:srgbClr val="FFFDF8"/>
                </a:solidFill>
                <a:latin typeface="Segoe UI Semibold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1700" y="3560028"/>
            <a:ext cx="7780600" cy="36347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 u="none">
                <a:solidFill>
                  <a:srgbClr val="181C23"/>
                </a:solidFill>
                <a:latin typeface="Segoe UI Semibold"/>
              </a:rPr>
              <a:t>Gate: </a:t>
            </a:r>
            <a:r>
              <a:rPr sz="1300" b="0" i="0" u="none">
                <a:solidFill>
                  <a:srgbClr val="6A707D"/>
                </a:solidFill>
                <a:latin typeface="Segoe UI"/>
              </a:rPr>
              <a:t>script via API retorna exit 1; opcional: Dependabot e pip-audit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11700" y="4163500"/>
            <a:ext cx="8520600" cy="620000"/>
          </a:xfrm>
          <a:prstGeom prst="roundRect">
            <a:avLst>
              <a:gd name="adj" fmla="val 6000"/>
            </a:avLst>
          </a:prstGeom>
          <a:solidFill>
            <a:srgbClr val="DAF9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311700" y="4163500"/>
            <a:ext cx="70000" cy="620000"/>
          </a:xfrm>
          <a:prstGeom prst="roundRect">
            <a:avLst>
              <a:gd name="adj" fmla="val 50000"/>
            </a:avLst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11700" y="4233500"/>
            <a:ext cx="81206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 u="none">
                <a:solidFill>
                  <a:srgbClr val="2371FF"/>
                </a:solidFill>
                <a:latin typeface="Segoe UI Semibold"/>
              </a:rPr>
              <a:t>✅ ENTREGÁVEL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1700" y="4453500"/>
            <a:ext cx="8120600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1" u="none">
                <a:solidFill>
                  <a:srgbClr val="181C23"/>
                </a:solidFill>
                <a:latin typeface="Segoe UI"/>
              </a:rPr>
              <a:t>SBOM, evidência da ingestão, policy configurada e saída do gate. Runbook: labs/Aula_05_Runbook.md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11700" y="4843500"/>
            <a:ext cx="8520600" cy="6000"/>
          </a:xfrm>
          <a:prstGeom prst="rect">
            <a:avLst/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311700" y="4883500"/>
            <a:ext cx="7920600" cy="22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0" i="0" u="none">
                <a:solidFill>
                  <a:srgbClr val="6A707D"/>
                </a:solidFill>
                <a:latin typeface="Segoe UI"/>
              </a:rPr>
              <a:t>Ada · CY-SE-013 - Supply Chain Security · Análise de SBOM e Gestão de Dependências | Everton J Benedicto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32300" y="4931944"/>
            <a:ext cx="500000" cy="12311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lang="pt-PT" sz="800" b="0" i="0" u="none">
                <a:solidFill>
                  <a:srgbClr val="2371FF"/>
                </a:solidFill>
                <a:latin typeface="Segoe UI Semibold"/>
              </a:rPr>
              <a:t>16</a:t>
            </a:r>
            <a:endParaRPr sz="800" b="0" i="0" u="none">
              <a:solidFill>
                <a:srgbClr val="2371FF"/>
              </a:solidFill>
              <a:latin typeface="Segoe UI Semibold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rcRect t="714" b="715"/>
          <a:stretch>
            <a:fillRect/>
          </a:stretch>
        </p:blipFill>
        <p:spPr>
          <a:xfrm>
            <a:off x="0" y="0"/>
            <a:ext cx="9144000" cy="6161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11700" y="796148"/>
            <a:ext cx="8520600" cy="2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 u="none">
                <a:solidFill>
                  <a:srgbClr val="2371FF"/>
                </a:solidFill>
                <a:latin typeface="Segoe UI Semibold"/>
              </a:rPr>
              <a:t>RESUMO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1700" y="1056148"/>
            <a:ext cx="8520600" cy="5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0" i="0" u="none">
                <a:solidFill>
                  <a:srgbClr val="181C23"/>
                </a:solidFill>
                <a:latin typeface="Segoe UI Semibold"/>
              </a:rPr>
              <a:t>Recapitulando a Aula</a:t>
            </a:r>
          </a:p>
        </p:txBody>
      </p:sp>
      <p:sp>
        <p:nvSpPr>
          <p:cNvPr id="5" name="Rectangle 4"/>
          <p:cNvSpPr/>
          <p:nvPr/>
        </p:nvSpPr>
        <p:spPr>
          <a:xfrm>
            <a:off x="311700" y="1616148"/>
            <a:ext cx="900000" cy="55000"/>
          </a:xfrm>
          <a:prstGeom prst="rect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311700" y="1746148"/>
            <a:ext cx="8520600" cy="570000"/>
          </a:xfrm>
          <a:prstGeom prst="roundRect">
            <a:avLst>
              <a:gd name="adj" fmla="val 8000"/>
            </a:avLst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311700" y="1746148"/>
            <a:ext cx="70000" cy="570000"/>
          </a:xfrm>
          <a:prstGeom prst="roundRect">
            <a:avLst>
              <a:gd name="adj" fmla="val 50000"/>
            </a:avLst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491700" y="1881148"/>
            <a:ext cx="300000" cy="30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91700" y="1881148"/>
            <a:ext cx="300000" cy="30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i="0" u="none">
                <a:solidFill>
                  <a:srgbClr val="FFFDF8"/>
                </a:solidFill>
                <a:latin typeface="Segoe UI Semibol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700" y="1746148"/>
            <a:ext cx="7680600" cy="57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 u="none">
                <a:solidFill>
                  <a:srgbClr val="181C23"/>
                </a:solidFill>
                <a:latin typeface="Segoe UI"/>
              </a:rPr>
              <a:t>Dependency-Track ingere SBOMs e correlaciona PURLs com NVD, OSV e GitHub Advisory.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11700" y="2446148"/>
            <a:ext cx="8520600" cy="570000"/>
          </a:xfrm>
          <a:prstGeom prst="roundRect">
            <a:avLst>
              <a:gd name="adj" fmla="val 8000"/>
            </a:avLst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311700" y="2446148"/>
            <a:ext cx="70000" cy="570000"/>
          </a:xfrm>
          <a:prstGeom prst="roundRect">
            <a:avLst>
              <a:gd name="adj" fmla="val 50000"/>
            </a:avLst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491700" y="2581148"/>
            <a:ext cx="300000" cy="30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91700" y="2581148"/>
            <a:ext cx="300000" cy="30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i="0" u="none">
                <a:solidFill>
                  <a:srgbClr val="FFFDF8"/>
                </a:solidFill>
                <a:latin typeface="Segoe UI Semibold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1700" y="2446148"/>
            <a:ext cx="7680600" cy="57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 u="none">
                <a:solidFill>
                  <a:srgbClr val="181C23"/>
                </a:solidFill>
                <a:latin typeface="Segoe UI"/>
              </a:rPr>
              <a:t>Policies (severidade, idade, licença) viram gate via API — descoberta sem remediação é só visibilidade.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11700" y="3146148"/>
            <a:ext cx="8520600" cy="570000"/>
          </a:xfrm>
          <a:prstGeom prst="roundRect">
            <a:avLst>
              <a:gd name="adj" fmla="val 8000"/>
            </a:avLst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311700" y="3146148"/>
            <a:ext cx="70000" cy="570000"/>
          </a:xfrm>
          <a:prstGeom prst="roundRect">
            <a:avLst>
              <a:gd name="adj" fmla="val 50000"/>
            </a:avLst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491700" y="3281148"/>
            <a:ext cx="300000" cy="30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91700" y="3281148"/>
            <a:ext cx="300000" cy="30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i="0" u="none">
                <a:solidFill>
                  <a:srgbClr val="FFFDF8"/>
                </a:solidFill>
                <a:latin typeface="Segoe UI Semibold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1700" y="3146148"/>
            <a:ext cx="7680600" cy="57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 u="none">
                <a:solidFill>
                  <a:srgbClr val="181C23"/>
                </a:solidFill>
                <a:latin typeface="Segoe UI"/>
              </a:rPr>
              <a:t>Dependabot e Renovate fecham o ciclo com PRs automáticos validados pelo pipeline.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11700" y="3846148"/>
            <a:ext cx="8520600" cy="570000"/>
          </a:xfrm>
          <a:prstGeom prst="roundRect">
            <a:avLst>
              <a:gd name="adj" fmla="val 8000"/>
            </a:avLst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311700" y="3846148"/>
            <a:ext cx="70000" cy="570000"/>
          </a:xfrm>
          <a:prstGeom prst="roundRect">
            <a:avLst>
              <a:gd name="adj" fmla="val 50000"/>
            </a:avLst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491700" y="3981148"/>
            <a:ext cx="300000" cy="30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91700" y="3981148"/>
            <a:ext cx="300000" cy="30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i="0" u="none">
                <a:solidFill>
                  <a:srgbClr val="FFFDF8"/>
                </a:solidFill>
                <a:latin typeface="Segoe UI Semibold"/>
              </a:rPr>
              <a:t>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1700" y="3846148"/>
            <a:ext cx="7680600" cy="57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 u="none">
                <a:solidFill>
                  <a:srgbClr val="181C23"/>
                </a:solidFill>
                <a:latin typeface="Segoe UI"/>
              </a:rPr>
              <a:t>Python e IA: lockfiles com hash, pip-audit e modelos como dependências de primeira classe.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11700" y="4843500"/>
            <a:ext cx="8520600" cy="6000"/>
          </a:xfrm>
          <a:prstGeom prst="rect">
            <a:avLst/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11700" y="4883500"/>
            <a:ext cx="7920600" cy="22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0" i="0" u="none">
                <a:solidFill>
                  <a:srgbClr val="6A707D"/>
                </a:solidFill>
                <a:latin typeface="Segoe UI"/>
              </a:rPr>
              <a:t>Ada · CY-SE-013 - Supply Chain Security · Análise de SBOM e Gestão de Dependências | Everton J Benedicto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32300" y="4931944"/>
            <a:ext cx="500000" cy="12311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lang="pt-PT" sz="800" b="0" i="0" u="none">
                <a:solidFill>
                  <a:srgbClr val="2371FF"/>
                </a:solidFill>
                <a:latin typeface="Segoe UI Semibold"/>
              </a:rPr>
              <a:t>17</a:t>
            </a:r>
            <a:endParaRPr sz="800" b="0" i="0" u="none">
              <a:solidFill>
                <a:srgbClr val="2371FF"/>
              </a:solidFill>
              <a:latin typeface="Segoe UI Semibold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rcRect t="714" b="715"/>
          <a:stretch>
            <a:fillRect/>
          </a:stretch>
        </p:blipFill>
        <p:spPr>
          <a:xfrm>
            <a:off x="0" y="0"/>
            <a:ext cx="9144000" cy="616148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72000" y="987004"/>
            <a:ext cx="3800000" cy="256949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0" y="1871750"/>
            <a:ext cx="9144000" cy="8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4400" b="0" i="0" u="none">
                <a:solidFill>
                  <a:srgbClr val="181C23"/>
                </a:solidFill>
                <a:latin typeface="Segoe UI Semibold"/>
              </a:rPr>
              <a:t>Obrigado!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2671750"/>
            <a:ext cx="9144000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0" i="1" u="none">
                <a:solidFill>
                  <a:srgbClr val="6A707D"/>
                </a:solidFill>
                <a:latin typeface="Segoe UI Light"/>
              </a:rPr>
              <a:t>Próxima aula: Supply Chain Security — Ataques e Frameworks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72000" y="4025287"/>
            <a:ext cx="1000000" cy="61821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0" y="4803500"/>
            <a:ext cx="9144000" cy="24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0" i="0" u="none">
                <a:solidFill>
                  <a:srgbClr val="6A707D"/>
                </a:solidFill>
                <a:latin typeface="Segoe UI Semibold"/>
              </a:rPr>
              <a:t>Prof.: Everton J Benedicto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181C23"/>
      </a:dk1>
      <a:lt1>
        <a:srgbClr val="FFFDF8"/>
      </a:lt1>
      <a:dk2>
        <a:srgbClr val="2371FF"/>
      </a:dk2>
      <a:lt2>
        <a:srgbClr val="50E550"/>
      </a:lt2>
      <a:accent1>
        <a:srgbClr val="DAF9DA"/>
      </a:accent1>
      <a:accent2>
        <a:srgbClr val="2371FF"/>
      </a:accent2>
      <a:accent3>
        <a:srgbClr val="DAF9DA"/>
      </a:accent3>
      <a:accent4>
        <a:srgbClr val="ECEDF3"/>
      </a:accent4>
      <a:accent5>
        <a:srgbClr val="C4D2F8"/>
      </a:accent5>
      <a:accent6>
        <a:srgbClr val="9DF09D"/>
      </a:accent6>
      <a:hlink>
        <a:srgbClr val="2371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9d258917-277f-42cd-a3cd-14c4e9ee58bc}" enabled="1" method="Standard" siteId="{38ae3bcd-9579-4fd4-adda-b42e1495d55a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187</TotalTime>
  <Words>2774</Words>
  <Application>Microsoft Office PowerPoint</Application>
  <PresentationFormat>On-screen Show (16:9)</PresentationFormat>
  <Paragraphs>328</Paragraphs>
  <Slides>18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8" baseType="lpstr">
      <vt:lpstr>Segoe UI</vt:lpstr>
      <vt:lpstr>Ubuntu Medium</vt:lpstr>
      <vt:lpstr>Arial</vt:lpstr>
      <vt:lpstr>Ubuntu</vt:lpstr>
      <vt:lpstr>Segoe UI Semibold</vt:lpstr>
      <vt:lpstr>Ubuntu Light</vt:lpstr>
      <vt:lpstr>Lato</vt:lpstr>
      <vt:lpstr>Segoe UI Light</vt:lpstr>
      <vt:lpstr>Consolas</vt:lpstr>
      <vt:lpstr>Simple Light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Benedicto, Everton Jose (SI B IT PES PLT)</dc:creator>
  <cp:lastModifiedBy>Benedicto, Everton Jose (SI B IT PES PLT)</cp:lastModifiedBy>
  <cp:revision>1</cp:revision>
  <dcterms:modified xsi:type="dcterms:W3CDTF">2026-10-26T21:04:57Z</dcterms:modified>
</cp:coreProperties>
</file>