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1"/>
  </p:notesMasterIdLst>
  <p:sldIdLst>
    <p:sldId id="256" r:id="rId2"/>
    <p:sldId id="262" r:id="rId3"/>
    <p:sldId id="257" r:id="rId4"/>
    <p:sldId id="327" r:id="rId5"/>
    <p:sldId id="328" r:id="rId6"/>
    <p:sldId id="329" r:id="rId7"/>
    <p:sldId id="330" r:id="rId8"/>
    <p:sldId id="268" r:id="rId9"/>
    <p:sldId id="261" r:id="rId10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2"/>
      <p:bold r:id="rId13"/>
    </p:embeddedFont>
    <p:embeddedFont>
      <p:font typeface="Ubuntu" panose="020B0504030602030204" pitchFamily="34" charset="0"/>
      <p:regular r:id="rId14"/>
      <p:bold r:id="rId15"/>
      <p:italic r:id="rId16"/>
      <p:boldItalic r:id="rId17"/>
    </p:embeddedFont>
    <p:embeddedFont>
      <p:font typeface="Ubuntu Light" panose="020B0304030602030204" pitchFamily="34" charset="0"/>
      <p:regular r:id="rId18"/>
      <p: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8F99F-44A7-0F8B-9A97-88BECF28B341}" v="1087" dt="2024-12-09T16:07:07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708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5EE26E9D-A29F-5A83-4A89-A01F6EDEE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87A1CA16-CAC0-C990-4C49-F343FAFE72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36F0ED37-6271-FFF9-E023-6E846FB5BC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68390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A405A5AE-42D7-98FE-8DCF-4063A66F2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779BEEE1-710B-3B21-3580-302E9881F0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BCFCADF0-9139-EB1D-514A-2C6BA762A7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1119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A0A09E97-BA1F-AB67-6BD0-E6F859CEF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B95C7ED7-3E44-E57B-524F-87BFBE54A0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A1B66AEA-4316-2243-FD20-2FB428D520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7364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D9C4AD72-FB74-38FB-EB52-A52ED4DB6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D51CF0AC-1CBA-17E3-99AF-A05A057CA1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986F2698-CDB6-A034-7586-D2B55E7E2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13987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1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9.png"/><Relationship Id="rId5" Type="http://schemas.openxmlformats.org/officeDocument/2006/relationships/image" Target="../media/image17.png"/><Relationship Id="rId10" Type="http://schemas.openxmlformats.org/officeDocument/2006/relationships/image" Target="../media/image8.png"/><Relationship Id="rId4" Type="http://schemas.openxmlformats.org/officeDocument/2006/relationships/image" Target="../media/image16.pn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6.png"/><Relationship Id="rId15" Type="http://schemas.openxmlformats.org/officeDocument/2006/relationships/image" Target="../media/image7.png"/><Relationship Id="rId10" Type="http://schemas.openxmlformats.org/officeDocument/2006/relationships/image" Target="../media/image16.png"/><Relationship Id="rId19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4197981" y="3731617"/>
            <a:ext cx="5024274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09 |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 Preparação para entrevistas de </a:t>
            </a:r>
            <a:r>
              <a:rPr lang="pt-PT" sz="1500" dirty="0" err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System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 Design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41E96825-65C5-6CCC-642F-5CEC20F1091B}"/>
              </a:ext>
            </a:extLst>
          </p:cNvPr>
          <p:cNvSpPr txBox="1"/>
          <p:nvPr/>
        </p:nvSpPr>
        <p:spPr>
          <a:xfrm>
            <a:off x="243551" y="191491"/>
            <a:ext cx="418041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400" b="0" i="0" u="none" strike="noStrike" cap="none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vamos aprender?</a:t>
            </a:r>
            <a:endParaRPr lang="pt-PT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17" name="Google Shape;74;p14">
            <a:extLst>
              <a:ext uri="{FF2B5EF4-FFF2-40B4-BE49-F238E27FC236}">
                <a16:creationId xmlns:a16="http://schemas.microsoft.com/office/drawing/2014/main" id="{38EB1F19-5A96-7625-D2A5-80FA81A253A8}"/>
              </a:ext>
            </a:extLst>
          </p:cNvPr>
          <p:cNvGrpSpPr/>
          <p:nvPr/>
        </p:nvGrpSpPr>
        <p:grpSpPr>
          <a:xfrm>
            <a:off x="1137371" y="2430725"/>
            <a:ext cx="457200" cy="457200"/>
            <a:chOff x="1249800" y="282500"/>
            <a:chExt cx="4839225" cy="4809625"/>
          </a:xfrm>
        </p:grpSpPr>
        <p:sp>
          <p:nvSpPr>
            <p:cNvPr id="14" name="Google Shape;75;p14">
              <a:extLst>
                <a:ext uri="{FF2B5EF4-FFF2-40B4-BE49-F238E27FC236}">
                  <a16:creationId xmlns:a16="http://schemas.microsoft.com/office/drawing/2014/main" id="{A9B46A0D-A028-E123-1636-B9CA86E2675E}"/>
                </a:ext>
              </a:extLst>
            </p:cNvPr>
            <p:cNvSpPr/>
            <p:nvPr/>
          </p:nvSpPr>
          <p:spPr>
            <a:xfrm>
              <a:off x="1249800" y="2825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1840"/>
                  </a:moveTo>
                  <a:cubicBezTo>
                    <a:pt x="142661" y="11840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1840"/>
                    <a:pt x="96193" y="11840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5" name="Google Shape;76;p14">
              <a:extLst>
                <a:ext uri="{FF2B5EF4-FFF2-40B4-BE49-F238E27FC236}">
                  <a16:creationId xmlns:a16="http://schemas.microsoft.com/office/drawing/2014/main" id="{0516AAFA-09B7-04AF-95F1-B08CFB6AA9B6}"/>
                </a:ext>
              </a:extLst>
            </p:cNvPr>
            <p:cNvSpPr/>
            <p:nvPr/>
          </p:nvSpPr>
          <p:spPr>
            <a:xfrm>
              <a:off x="2241325" y="282500"/>
              <a:ext cx="3847700" cy="4809625"/>
            </a:xfrm>
            <a:custGeom>
              <a:avLst/>
              <a:gdLst/>
              <a:ahLst/>
              <a:cxnLst/>
              <a:rect l="l" t="t" r="r" b="b"/>
              <a:pathLst>
                <a:path w="153908" h="192385" extrusionOk="0">
                  <a:moveTo>
                    <a:pt x="56532" y="1"/>
                  </a:moveTo>
                  <a:lnTo>
                    <a:pt x="56532" y="11840"/>
                  </a:lnTo>
                  <a:cubicBezTo>
                    <a:pt x="69850" y="11840"/>
                    <a:pt x="82873" y="15096"/>
                    <a:pt x="94712" y="21015"/>
                  </a:cubicBezTo>
                  <a:cubicBezTo>
                    <a:pt x="106551" y="27231"/>
                    <a:pt x="116910" y="35814"/>
                    <a:pt x="124606" y="46765"/>
                  </a:cubicBezTo>
                  <a:cubicBezTo>
                    <a:pt x="132597" y="57420"/>
                    <a:pt x="137629" y="69851"/>
                    <a:pt x="139700" y="82874"/>
                  </a:cubicBezTo>
                  <a:cubicBezTo>
                    <a:pt x="141772" y="96193"/>
                    <a:pt x="140588" y="109511"/>
                    <a:pt x="136741" y="122238"/>
                  </a:cubicBezTo>
                  <a:cubicBezTo>
                    <a:pt x="132597" y="134669"/>
                    <a:pt x="125494" y="146212"/>
                    <a:pt x="116022" y="155683"/>
                  </a:cubicBezTo>
                  <a:cubicBezTo>
                    <a:pt x="106551" y="165155"/>
                    <a:pt x="95304" y="171962"/>
                    <a:pt x="82577" y="176106"/>
                  </a:cubicBezTo>
                  <a:cubicBezTo>
                    <a:pt x="73960" y="178911"/>
                    <a:pt x="65072" y="180360"/>
                    <a:pt x="56187" y="180360"/>
                  </a:cubicBezTo>
                  <a:cubicBezTo>
                    <a:pt x="51950" y="180360"/>
                    <a:pt x="47714" y="180030"/>
                    <a:pt x="43509" y="179361"/>
                  </a:cubicBezTo>
                  <a:cubicBezTo>
                    <a:pt x="30190" y="177290"/>
                    <a:pt x="17759" y="171962"/>
                    <a:pt x="7104" y="164267"/>
                  </a:cubicBezTo>
                  <a:lnTo>
                    <a:pt x="0" y="174034"/>
                  </a:lnTo>
                  <a:cubicBezTo>
                    <a:pt x="12431" y="182913"/>
                    <a:pt x="26638" y="188833"/>
                    <a:pt x="41437" y="191200"/>
                  </a:cubicBezTo>
                  <a:cubicBezTo>
                    <a:pt x="46468" y="191990"/>
                    <a:pt x="51533" y="192384"/>
                    <a:pt x="56586" y="192384"/>
                  </a:cubicBezTo>
                  <a:cubicBezTo>
                    <a:pt x="66693" y="192384"/>
                    <a:pt x="76756" y="190806"/>
                    <a:pt x="86425" y="187649"/>
                  </a:cubicBezTo>
                  <a:cubicBezTo>
                    <a:pt x="100632" y="182913"/>
                    <a:pt x="113951" y="174922"/>
                    <a:pt x="124606" y="164267"/>
                  </a:cubicBezTo>
                  <a:cubicBezTo>
                    <a:pt x="135261" y="153316"/>
                    <a:pt x="143252" y="140293"/>
                    <a:pt x="147988" y="125790"/>
                  </a:cubicBezTo>
                  <a:cubicBezTo>
                    <a:pt x="152723" y="111287"/>
                    <a:pt x="153907" y="96193"/>
                    <a:pt x="151539" y="81098"/>
                  </a:cubicBezTo>
                  <a:cubicBezTo>
                    <a:pt x="149172" y="66003"/>
                    <a:pt x="143252" y="51796"/>
                    <a:pt x="134373" y="39661"/>
                  </a:cubicBezTo>
                  <a:cubicBezTo>
                    <a:pt x="125494" y="27231"/>
                    <a:pt x="113655" y="17167"/>
                    <a:pt x="100336" y="10360"/>
                  </a:cubicBezTo>
                  <a:cubicBezTo>
                    <a:pt x="86721" y="3553"/>
                    <a:pt x="71626" y="1"/>
                    <a:pt x="56532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6" name="Google Shape;77;p14">
              <a:extLst>
                <a:ext uri="{FF2B5EF4-FFF2-40B4-BE49-F238E27FC236}">
                  <a16:creationId xmlns:a16="http://schemas.microsoft.com/office/drawing/2014/main" id="{2DD2EC3A-3CC3-F56F-1309-A5CA03A8934A}"/>
                </a:ext>
              </a:extLst>
            </p:cNvPr>
            <p:cNvSpPr/>
            <p:nvPr/>
          </p:nvSpPr>
          <p:spPr>
            <a:xfrm>
              <a:off x="2966450" y="1910375"/>
              <a:ext cx="1331925" cy="1605675"/>
            </a:xfrm>
            <a:custGeom>
              <a:avLst/>
              <a:gdLst/>
              <a:ahLst/>
              <a:cxnLst/>
              <a:rect l="l" t="t" r="r" b="b"/>
              <a:pathLst>
                <a:path w="53277" h="64227" extrusionOk="0">
                  <a:moveTo>
                    <a:pt x="13320" y="0"/>
                  </a:moveTo>
                  <a:lnTo>
                    <a:pt x="12432" y="4144"/>
                  </a:lnTo>
                  <a:lnTo>
                    <a:pt x="46173" y="4144"/>
                  </a:lnTo>
                  <a:lnTo>
                    <a:pt x="22791" y="28118"/>
                  </a:lnTo>
                  <a:lnTo>
                    <a:pt x="21903" y="31670"/>
                  </a:lnTo>
                  <a:lnTo>
                    <a:pt x="25455" y="31670"/>
                  </a:lnTo>
                  <a:cubicBezTo>
                    <a:pt x="36702" y="31670"/>
                    <a:pt x="42029" y="35813"/>
                    <a:pt x="42029" y="43804"/>
                  </a:cubicBezTo>
                  <a:cubicBezTo>
                    <a:pt x="42029" y="53572"/>
                    <a:pt x="34334" y="60083"/>
                    <a:pt x="21607" y="60083"/>
                  </a:cubicBezTo>
                  <a:cubicBezTo>
                    <a:pt x="12728" y="60083"/>
                    <a:pt x="5920" y="56531"/>
                    <a:pt x="2665" y="52092"/>
                  </a:cubicBezTo>
                  <a:lnTo>
                    <a:pt x="1" y="55643"/>
                  </a:lnTo>
                  <a:cubicBezTo>
                    <a:pt x="3553" y="60675"/>
                    <a:pt x="11544" y="64227"/>
                    <a:pt x="21607" y="64227"/>
                  </a:cubicBezTo>
                  <a:cubicBezTo>
                    <a:pt x="36702" y="64227"/>
                    <a:pt x="46765" y="55939"/>
                    <a:pt x="46765" y="43804"/>
                  </a:cubicBezTo>
                  <a:cubicBezTo>
                    <a:pt x="46765" y="34037"/>
                    <a:pt x="40549" y="28414"/>
                    <a:pt x="28710" y="27822"/>
                  </a:cubicBezTo>
                  <a:lnTo>
                    <a:pt x="52684" y="3256"/>
                  </a:lnTo>
                  <a:lnTo>
                    <a:pt x="53276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2" name="Google Shape;78;p14">
            <a:extLst>
              <a:ext uri="{FF2B5EF4-FFF2-40B4-BE49-F238E27FC236}">
                <a16:creationId xmlns:a16="http://schemas.microsoft.com/office/drawing/2014/main" id="{8103873E-9B9F-4052-1975-D61AA785F4AB}"/>
              </a:ext>
            </a:extLst>
          </p:cNvPr>
          <p:cNvGrpSpPr/>
          <p:nvPr/>
        </p:nvGrpSpPr>
        <p:grpSpPr>
          <a:xfrm>
            <a:off x="1158144" y="3090601"/>
            <a:ext cx="457200" cy="457200"/>
            <a:chOff x="1212800" y="289900"/>
            <a:chExt cx="4883625" cy="4809625"/>
          </a:xfrm>
        </p:grpSpPr>
        <p:sp>
          <p:nvSpPr>
            <p:cNvPr id="19" name="Google Shape;79;p14">
              <a:extLst>
                <a:ext uri="{FF2B5EF4-FFF2-40B4-BE49-F238E27FC236}">
                  <a16:creationId xmlns:a16="http://schemas.microsoft.com/office/drawing/2014/main" id="{8543AE75-53D4-2C5E-66C7-E5FFEAAAF0DE}"/>
                </a:ext>
              </a:extLst>
            </p:cNvPr>
            <p:cNvSpPr/>
            <p:nvPr/>
          </p:nvSpPr>
          <p:spPr>
            <a:xfrm>
              <a:off x="1249800" y="2899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0" name="Google Shape;80;p14">
              <a:extLst>
                <a:ext uri="{FF2B5EF4-FFF2-40B4-BE49-F238E27FC236}">
                  <a16:creationId xmlns:a16="http://schemas.microsoft.com/office/drawing/2014/main" id="{5F18C28A-6F6D-9B86-0A77-FE1F67022A75}"/>
                </a:ext>
              </a:extLst>
            </p:cNvPr>
            <p:cNvSpPr/>
            <p:nvPr/>
          </p:nvSpPr>
          <p:spPr>
            <a:xfrm>
              <a:off x="1212800" y="289900"/>
              <a:ext cx="4883625" cy="4809625"/>
            </a:xfrm>
            <a:custGeom>
              <a:avLst/>
              <a:gdLst/>
              <a:ahLst/>
              <a:cxnLst/>
              <a:rect l="l" t="t" r="r" b="b"/>
              <a:pathLst>
                <a:path w="195345" h="192385" extrusionOk="0">
                  <a:moveTo>
                    <a:pt x="97673" y="1"/>
                  </a:moveTo>
                  <a:lnTo>
                    <a:pt x="97673" y="12136"/>
                  </a:lnTo>
                  <a:cubicBezTo>
                    <a:pt x="115431" y="12136"/>
                    <a:pt x="132894" y="17759"/>
                    <a:pt x="147100" y="28118"/>
                  </a:cubicBezTo>
                  <a:cubicBezTo>
                    <a:pt x="161603" y="38478"/>
                    <a:pt x="172258" y="53276"/>
                    <a:pt x="177882" y="70147"/>
                  </a:cubicBezTo>
                  <a:cubicBezTo>
                    <a:pt x="183209" y="87017"/>
                    <a:pt x="183209" y="105368"/>
                    <a:pt x="177882" y="122238"/>
                  </a:cubicBezTo>
                  <a:cubicBezTo>
                    <a:pt x="172258" y="139109"/>
                    <a:pt x="161603" y="153908"/>
                    <a:pt x="147100" y="164267"/>
                  </a:cubicBezTo>
                  <a:cubicBezTo>
                    <a:pt x="132894" y="174626"/>
                    <a:pt x="115431" y="180249"/>
                    <a:pt x="97673" y="180249"/>
                  </a:cubicBezTo>
                  <a:cubicBezTo>
                    <a:pt x="79914" y="180249"/>
                    <a:pt x="62748" y="174626"/>
                    <a:pt x="48245" y="164267"/>
                  </a:cubicBezTo>
                  <a:cubicBezTo>
                    <a:pt x="33742" y="153908"/>
                    <a:pt x="23087" y="139109"/>
                    <a:pt x="17759" y="122238"/>
                  </a:cubicBezTo>
                  <a:cubicBezTo>
                    <a:pt x="12136" y="105368"/>
                    <a:pt x="12136" y="87017"/>
                    <a:pt x="17759" y="70147"/>
                  </a:cubicBezTo>
                  <a:lnTo>
                    <a:pt x="6216" y="66595"/>
                  </a:lnTo>
                  <a:cubicBezTo>
                    <a:pt x="1" y="85833"/>
                    <a:pt x="1" y="106552"/>
                    <a:pt x="6216" y="126086"/>
                  </a:cubicBezTo>
                  <a:cubicBezTo>
                    <a:pt x="12432" y="145324"/>
                    <a:pt x="24863" y="162195"/>
                    <a:pt x="41141" y="174034"/>
                  </a:cubicBezTo>
                  <a:cubicBezTo>
                    <a:pt x="57716" y="185873"/>
                    <a:pt x="77250" y="192384"/>
                    <a:pt x="97673" y="192384"/>
                  </a:cubicBezTo>
                  <a:cubicBezTo>
                    <a:pt x="118095" y="192384"/>
                    <a:pt x="137925" y="185873"/>
                    <a:pt x="154204" y="174034"/>
                  </a:cubicBezTo>
                  <a:cubicBezTo>
                    <a:pt x="170778" y="162195"/>
                    <a:pt x="182913" y="145324"/>
                    <a:pt x="189129" y="126086"/>
                  </a:cubicBezTo>
                  <a:cubicBezTo>
                    <a:pt x="195344" y="106552"/>
                    <a:pt x="195344" y="85833"/>
                    <a:pt x="189129" y="66595"/>
                  </a:cubicBezTo>
                  <a:cubicBezTo>
                    <a:pt x="182913" y="47061"/>
                    <a:pt x="170778" y="30486"/>
                    <a:pt x="154204" y="18351"/>
                  </a:cubicBezTo>
                  <a:cubicBezTo>
                    <a:pt x="137925" y="6512"/>
                    <a:pt x="118095" y="1"/>
                    <a:pt x="9767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1" name="Google Shape;81;p14">
              <a:extLst>
                <a:ext uri="{FF2B5EF4-FFF2-40B4-BE49-F238E27FC236}">
                  <a16:creationId xmlns:a16="http://schemas.microsoft.com/office/drawing/2014/main" id="{C7B0CC13-64CC-BBBE-7F53-947151A27C03}"/>
                </a:ext>
              </a:extLst>
            </p:cNvPr>
            <p:cNvSpPr/>
            <p:nvPr/>
          </p:nvSpPr>
          <p:spPr>
            <a:xfrm>
              <a:off x="2981250" y="1917775"/>
              <a:ext cx="1383725" cy="1598275"/>
            </a:xfrm>
            <a:custGeom>
              <a:avLst/>
              <a:gdLst/>
              <a:ahLst/>
              <a:cxnLst/>
              <a:rect l="l" t="t" r="r" b="b"/>
              <a:pathLst>
                <a:path w="55349" h="63931" extrusionOk="0">
                  <a:moveTo>
                    <a:pt x="43509" y="0"/>
                  </a:moveTo>
                  <a:lnTo>
                    <a:pt x="889" y="42917"/>
                  </a:lnTo>
                  <a:lnTo>
                    <a:pt x="1" y="46172"/>
                  </a:lnTo>
                  <a:lnTo>
                    <a:pt x="36406" y="46172"/>
                  </a:lnTo>
                  <a:lnTo>
                    <a:pt x="32854" y="63931"/>
                  </a:lnTo>
                  <a:lnTo>
                    <a:pt x="37590" y="63931"/>
                  </a:lnTo>
                  <a:lnTo>
                    <a:pt x="41141" y="46172"/>
                  </a:lnTo>
                  <a:lnTo>
                    <a:pt x="54460" y="46172"/>
                  </a:lnTo>
                  <a:lnTo>
                    <a:pt x="55348" y="42029"/>
                  </a:lnTo>
                  <a:lnTo>
                    <a:pt x="42029" y="42029"/>
                  </a:lnTo>
                  <a:lnTo>
                    <a:pt x="44989" y="26342"/>
                  </a:lnTo>
                  <a:lnTo>
                    <a:pt x="40549" y="26342"/>
                  </a:lnTo>
                  <a:lnTo>
                    <a:pt x="37294" y="42029"/>
                  </a:lnTo>
                  <a:lnTo>
                    <a:pt x="7104" y="42029"/>
                  </a:lnTo>
                  <a:lnTo>
                    <a:pt x="49133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7" name="Google Shape;82;p14">
            <a:extLst>
              <a:ext uri="{FF2B5EF4-FFF2-40B4-BE49-F238E27FC236}">
                <a16:creationId xmlns:a16="http://schemas.microsoft.com/office/drawing/2014/main" id="{F5830BA0-5D9F-61A0-036D-F68BCC09D986}"/>
              </a:ext>
            </a:extLst>
          </p:cNvPr>
          <p:cNvGrpSpPr/>
          <p:nvPr/>
        </p:nvGrpSpPr>
        <p:grpSpPr>
          <a:xfrm>
            <a:off x="1153034" y="1770849"/>
            <a:ext cx="457200" cy="457200"/>
            <a:chOff x="1249800" y="260300"/>
            <a:chExt cx="4846625" cy="4809625"/>
          </a:xfrm>
        </p:grpSpPr>
        <p:sp>
          <p:nvSpPr>
            <p:cNvPr id="24" name="Google Shape;83;p14">
              <a:extLst>
                <a:ext uri="{FF2B5EF4-FFF2-40B4-BE49-F238E27FC236}">
                  <a16:creationId xmlns:a16="http://schemas.microsoft.com/office/drawing/2014/main" id="{163C9035-933D-45BD-AAC4-68E7FFE6A9E6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5" name="Google Shape;84;p14">
              <a:extLst>
                <a:ext uri="{FF2B5EF4-FFF2-40B4-BE49-F238E27FC236}">
                  <a16:creationId xmlns:a16="http://schemas.microsoft.com/office/drawing/2014/main" id="{31AA322B-8004-7869-753F-3A70695AC03E}"/>
                </a:ext>
              </a:extLst>
            </p:cNvPr>
            <p:cNvSpPr/>
            <p:nvPr/>
          </p:nvSpPr>
          <p:spPr>
            <a:xfrm>
              <a:off x="3654600" y="260300"/>
              <a:ext cx="2441825" cy="4350850"/>
            </a:xfrm>
            <a:custGeom>
              <a:avLst/>
              <a:gdLst/>
              <a:ahLst/>
              <a:cxnLst/>
              <a:rect l="l" t="t" r="r" b="b"/>
              <a:pathLst>
                <a:path w="97673" h="174034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cubicBezTo>
                    <a:pt x="85537" y="87017"/>
                    <a:pt x="85537" y="105368"/>
                    <a:pt x="80210" y="122238"/>
                  </a:cubicBezTo>
                  <a:cubicBezTo>
                    <a:pt x="74586" y="139109"/>
                    <a:pt x="63931" y="153908"/>
                    <a:pt x="49428" y="164267"/>
                  </a:cubicBezTo>
                  <a:lnTo>
                    <a:pt x="56532" y="174034"/>
                  </a:lnTo>
                  <a:cubicBezTo>
                    <a:pt x="73106" y="161899"/>
                    <a:pt x="85241" y="145028"/>
                    <a:pt x="91457" y="125790"/>
                  </a:cubicBezTo>
                  <a:cubicBezTo>
                    <a:pt x="97672" y="106552"/>
                    <a:pt x="97672" y="85834"/>
                    <a:pt x="91457" y="66299"/>
                  </a:cubicBez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6" name="Google Shape;85;p14">
              <a:extLst>
                <a:ext uri="{FF2B5EF4-FFF2-40B4-BE49-F238E27FC236}">
                  <a16:creationId xmlns:a16="http://schemas.microsoft.com/office/drawing/2014/main" id="{A44F6A6C-14ED-7BEC-E284-5E14AC7C8F32}"/>
                </a:ext>
              </a:extLst>
            </p:cNvPr>
            <p:cNvSpPr/>
            <p:nvPr/>
          </p:nvSpPr>
          <p:spPr>
            <a:xfrm>
              <a:off x="2981250" y="1888175"/>
              <a:ext cx="1265325" cy="1605675"/>
            </a:xfrm>
            <a:custGeom>
              <a:avLst/>
              <a:gdLst/>
              <a:ahLst/>
              <a:cxnLst/>
              <a:rect l="l" t="t" r="r" b="b"/>
              <a:pathLst>
                <a:path w="50613" h="64227" extrusionOk="0">
                  <a:moveTo>
                    <a:pt x="31670" y="0"/>
                  </a:moveTo>
                  <a:cubicBezTo>
                    <a:pt x="22791" y="0"/>
                    <a:pt x="14504" y="3256"/>
                    <a:pt x="9176" y="8880"/>
                  </a:cubicBezTo>
                  <a:lnTo>
                    <a:pt x="12432" y="11543"/>
                  </a:lnTo>
                  <a:cubicBezTo>
                    <a:pt x="16871" y="6808"/>
                    <a:pt x="23975" y="4144"/>
                    <a:pt x="31078" y="4144"/>
                  </a:cubicBezTo>
                  <a:cubicBezTo>
                    <a:pt x="41141" y="4144"/>
                    <a:pt x="45877" y="8584"/>
                    <a:pt x="45877" y="15391"/>
                  </a:cubicBezTo>
                  <a:cubicBezTo>
                    <a:pt x="45877" y="21311"/>
                    <a:pt x="43213" y="26342"/>
                    <a:pt x="33446" y="34333"/>
                  </a:cubicBezTo>
                  <a:lnTo>
                    <a:pt x="593" y="60971"/>
                  </a:lnTo>
                  <a:lnTo>
                    <a:pt x="1" y="64227"/>
                  </a:lnTo>
                  <a:lnTo>
                    <a:pt x="44101" y="64227"/>
                  </a:lnTo>
                  <a:lnTo>
                    <a:pt x="44693" y="60083"/>
                  </a:lnTo>
                  <a:lnTo>
                    <a:pt x="8288" y="60083"/>
                  </a:lnTo>
                  <a:lnTo>
                    <a:pt x="36702" y="36997"/>
                  </a:lnTo>
                  <a:cubicBezTo>
                    <a:pt x="47357" y="28414"/>
                    <a:pt x="50613" y="21902"/>
                    <a:pt x="50613" y="14799"/>
                  </a:cubicBezTo>
                  <a:cubicBezTo>
                    <a:pt x="50613" y="5920"/>
                    <a:pt x="44101" y="0"/>
                    <a:pt x="31670" y="0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2" name="Google Shape;86;p14">
            <a:extLst>
              <a:ext uri="{FF2B5EF4-FFF2-40B4-BE49-F238E27FC236}">
                <a16:creationId xmlns:a16="http://schemas.microsoft.com/office/drawing/2014/main" id="{3ABA7813-2D47-8D12-99BE-D3FCC73FC7A4}"/>
              </a:ext>
            </a:extLst>
          </p:cNvPr>
          <p:cNvGrpSpPr/>
          <p:nvPr/>
        </p:nvGrpSpPr>
        <p:grpSpPr>
          <a:xfrm>
            <a:off x="1154549" y="1110973"/>
            <a:ext cx="457200" cy="457200"/>
            <a:chOff x="1249800" y="260300"/>
            <a:chExt cx="4809625" cy="4809625"/>
          </a:xfrm>
        </p:grpSpPr>
        <p:sp>
          <p:nvSpPr>
            <p:cNvPr id="29" name="Google Shape;87;p14">
              <a:extLst>
                <a:ext uri="{FF2B5EF4-FFF2-40B4-BE49-F238E27FC236}">
                  <a16:creationId xmlns:a16="http://schemas.microsoft.com/office/drawing/2014/main" id="{FED135AB-8780-C719-08CA-1E502207D5A2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0" name="Google Shape;88;p14">
              <a:extLst>
                <a:ext uri="{FF2B5EF4-FFF2-40B4-BE49-F238E27FC236}">
                  <a16:creationId xmlns:a16="http://schemas.microsoft.com/office/drawing/2014/main" id="{193F2A82-CE4A-51F3-8580-87831057D124}"/>
                </a:ext>
              </a:extLst>
            </p:cNvPr>
            <p:cNvSpPr/>
            <p:nvPr/>
          </p:nvSpPr>
          <p:spPr>
            <a:xfrm>
              <a:off x="3654600" y="260300"/>
              <a:ext cx="2286425" cy="1753675"/>
            </a:xfrm>
            <a:custGeom>
              <a:avLst/>
              <a:gdLst/>
              <a:ahLst/>
              <a:cxnLst/>
              <a:rect l="l" t="t" r="r" b="b"/>
              <a:pathLst>
                <a:path w="91457" h="70147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lnTo>
                    <a:pt x="91457" y="66595"/>
                  </a:ln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1" name="Google Shape;89;p14">
              <a:extLst>
                <a:ext uri="{FF2B5EF4-FFF2-40B4-BE49-F238E27FC236}">
                  <a16:creationId xmlns:a16="http://schemas.microsoft.com/office/drawing/2014/main" id="{D5A6CF78-AC12-D586-D698-0C2455FE0CBA}"/>
                </a:ext>
              </a:extLst>
            </p:cNvPr>
            <p:cNvSpPr/>
            <p:nvPr/>
          </p:nvSpPr>
          <p:spPr>
            <a:xfrm>
              <a:off x="3395625" y="1888175"/>
              <a:ext cx="525375" cy="1598275"/>
            </a:xfrm>
            <a:custGeom>
              <a:avLst/>
              <a:gdLst/>
              <a:ahLst/>
              <a:cxnLst/>
              <a:rect l="l" t="t" r="r" b="b"/>
              <a:pathLst>
                <a:path w="21015" h="63931" extrusionOk="0">
                  <a:moveTo>
                    <a:pt x="888" y="0"/>
                  </a:moveTo>
                  <a:lnTo>
                    <a:pt x="0" y="4144"/>
                  </a:lnTo>
                  <a:lnTo>
                    <a:pt x="15391" y="4144"/>
                  </a:lnTo>
                  <a:lnTo>
                    <a:pt x="3552" y="63931"/>
                  </a:lnTo>
                  <a:lnTo>
                    <a:pt x="8288" y="63931"/>
                  </a:lnTo>
                  <a:lnTo>
                    <a:pt x="21015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7" name="Google Shape;90;p14">
            <a:extLst>
              <a:ext uri="{FF2B5EF4-FFF2-40B4-BE49-F238E27FC236}">
                <a16:creationId xmlns:a16="http://schemas.microsoft.com/office/drawing/2014/main" id="{DC85C384-F303-3136-B350-98CC10BC3539}"/>
              </a:ext>
            </a:extLst>
          </p:cNvPr>
          <p:cNvGrpSpPr/>
          <p:nvPr/>
        </p:nvGrpSpPr>
        <p:grpSpPr>
          <a:xfrm>
            <a:off x="1145248" y="3750476"/>
            <a:ext cx="457200" cy="457200"/>
            <a:chOff x="1249800" y="297300"/>
            <a:chExt cx="4809625" cy="4809625"/>
          </a:xfrm>
        </p:grpSpPr>
        <p:sp>
          <p:nvSpPr>
            <p:cNvPr id="34" name="Google Shape;91;p14">
              <a:extLst>
                <a:ext uri="{FF2B5EF4-FFF2-40B4-BE49-F238E27FC236}">
                  <a16:creationId xmlns:a16="http://schemas.microsoft.com/office/drawing/2014/main" id="{56EB96B5-6474-0BC9-864B-59CDAEF3623C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5" name="Google Shape;92;p14">
              <a:extLst>
                <a:ext uri="{FF2B5EF4-FFF2-40B4-BE49-F238E27FC236}">
                  <a16:creationId xmlns:a16="http://schemas.microsoft.com/office/drawing/2014/main" id="{8EDDF46F-D18A-0894-B63F-0C0CE7708B34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6" name="Google Shape;93;p14">
              <a:extLst>
                <a:ext uri="{FF2B5EF4-FFF2-40B4-BE49-F238E27FC236}">
                  <a16:creationId xmlns:a16="http://schemas.microsoft.com/office/drawing/2014/main" id="{726B0E0B-46B3-3FE5-AC22-A215577A5080}"/>
                </a:ext>
              </a:extLst>
            </p:cNvPr>
            <p:cNvSpPr/>
            <p:nvPr/>
          </p:nvSpPr>
          <p:spPr>
            <a:xfrm>
              <a:off x="2996050" y="1925175"/>
              <a:ext cx="1309725" cy="1613075"/>
            </a:xfrm>
            <a:custGeom>
              <a:avLst/>
              <a:gdLst/>
              <a:ahLst/>
              <a:cxnLst/>
              <a:rect l="l" t="t" r="r" b="b"/>
              <a:pathLst>
                <a:path w="52389" h="64523" extrusionOk="0">
                  <a:moveTo>
                    <a:pt x="18351" y="0"/>
                  </a:moveTo>
                  <a:lnTo>
                    <a:pt x="8880" y="31078"/>
                  </a:lnTo>
                  <a:lnTo>
                    <a:pt x="23087" y="31078"/>
                  </a:lnTo>
                  <a:cubicBezTo>
                    <a:pt x="36998" y="31078"/>
                    <a:pt x="42325" y="35813"/>
                    <a:pt x="42325" y="43804"/>
                  </a:cubicBezTo>
                  <a:cubicBezTo>
                    <a:pt x="42325" y="54164"/>
                    <a:pt x="34630" y="60083"/>
                    <a:pt x="21903" y="60083"/>
                  </a:cubicBezTo>
                  <a:cubicBezTo>
                    <a:pt x="12728" y="60083"/>
                    <a:pt x="5920" y="56827"/>
                    <a:pt x="2961" y="52388"/>
                  </a:cubicBezTo>
                  <a:lnTo>
                    <a:pt x="1" y="55643"/>
                  </a:lnTo>
                  <a:cubicBezTo>
                    <a:pt x="3552" y="60971"/>
                    <a:pt x="11544" y="64523"/>
                    <a:pt x="21607" y="64523"/>
                  </a:cubicBezTo>
                  <a:cubicBezTo>
                    <a:pt x="36998" y="64523"/>
                    <a:pt x="47061" y="56235"/>
                    <a:pt x="47061" y="43508"/>
                  </a:cubicBezTo>
                  <a:cubicBezTo>
                    <a:pt x="47061" y="33149"/>
                    <a:pt x="39957" y="26934"/>
                    <a:pt x="23975" y="26934"/>
                  </a:cubicBezTo>
                  <a:lnTo>
                    <a:pt x="14800" y="26934"/>
                  </a:lnTo>
                  <a:lnTo>
                    <a:pt x="21903" y="4144"/>
                  </a:lnTo>
                  <a:lnTo>
                    <a:pt x="51500" y="4144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67A718C-8145-D8F7-0D0F-A89CE750AE0D}"/>
              </a:ext>
            </a:extLst>
          </p:cNvPr>
          <p:cNvSpPr txBox="1"/>
          <p:nvPr/>
        </p:nvSpPr>
        <p:spPr>
          <a:xfrm>
            <a:off x="1644184" y="1208768"/>
            <a:ext cx="697489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Quem precisa se preparar para uma entrevista de </a:t>
            </a:r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System</a:t>
            </a: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Design?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306F0E9-B41C-4B7E-3418-E09900A809D4}"/>
              </a:ext>
            </a:extLst>
          </p:cNvPr>
          <p:cNvSpPr txBox="1"/>
          <p:nvPr/>
        </p:nvSpPr>
        <p:spPr>
          <a:xfrm>
            <a:off x="1678456" y="1865598"/>
            <a:ext cx="694061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 que os entrevistadores querem avaliar.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324433-DEB7-CCA9-A042-647C66B3B71E}"/>
              </a:ext>
            </a:extLst>
          </p:cNvPr>
          <p:cNvSpPr txBox="1"/>
          <p:nvPr/>
        </p:nvSpPr>
        <p:spPr>
          <a:xfrm>
            <a:off x="1644184" y="3165312"/>
            <a:ext cx="5879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Como estruturar a resposta.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4132CC5-F6D0-6013-783E-4FC51F43D1E3}"/>
              </a:ext>
            </a:extLst>
          </p:cNvPr>
          <p:cNvSpPr txBox="1"/>
          <p:nvPr/>
        </p:nvSpPr>
        <p:spPr>
          <a:xfrm>
            <a:off x="1644184" y="3853596"/>
            <a:ext cx="419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Conclusão e reflexão.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27170B4-15B4-932B-A6EA-D4557355A49F}"/>
              </a:ext>
            </a:extLst>
          </p:cNvPr>
          <p:cNvSpPr txBox="1"/>
          <p:nvPr/>
        </p:nvSpPr>
        <p:spPr>
          <a:xfrm>
            <a:off x="243550" y="403166"/>
            <a:ext cx="4700157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09 | Preparação para entrevistas de </a:t>
            </a:r>
            <a:r>
              <a:rPr lang="pt-PT" sz="9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System</a:t>
            </a:r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 Design</a:t>
            </a:r>
          </a:p>
        </p:txBody>
      </p:sp>
      <p:sp>
        <p:nvSpPr>
          <p:cNvPr id="2" name="CaixaDeTexto 41">
            <a:extLst>
              <a:ext uri="{FF2B5EF4-FFF2-40B4-BE49-F238E27FC236}">
                <a16:creationId xmlns:a16="http://schemas.microsoft.com/office/drawing/2014/main" id="{E955987F-B6D3-1A84-2CB9-7B01818851A5}"/>
              </a:ext>
            </a:extLst>
          </p:cNvPr>
          <p:cNvSpPr txBox="1"/>
          <p:nvPr/>
        </p:nvSpPr>
        <p:spPr>
          <a:xfrm>
            <a:off x="1644184" y="2505436"/>
            <a:ext cx="700916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System</a:t>
            </a: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Design mais comuns.</a:t>
            </a:r>
          </a:p>
        </p:txBody>
      </p:sp>
    </p:spTree>
    <p:extLst>
      <p:ext uri="{BB962C8B-B14F-4D97-AF65-F5344CB8AC3E}">
        <p14:creationId xmlns:p14="http://schemas.microsoft.com/office/powerpoint/2010/main" val="189079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2" grpId="0"/>
      <p:bldP spid="43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Quem precisa se preparar para uma entrevista de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System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 Design?</a:t>
            </a:r>
          </a:p>
        </p:txBody>
      </p:sp>
      <p:sp>
        <p:nvSpPr>
          <p:cNvPr id="51" name="Google Shape;51;p13"/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09 | Preparação para entrevistas de </a:t>
            </a:r>
            <a:r>
              <a:rPr lang="pt-PT" sz="9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System</a:t>
            </a:r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 Design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60F7F2-6972-7E20-A4F6-EA70842765CC}"/>
              </a:ext>
            </a:extLst>
          </p:cNvPr>
          <p:cNvSpPr txBox="1"/>
          <p:nvPr/>
        </p:nvSpPr>
        <p:spPr>
          <a:xfrm>
            <a:off x="240548" y="833709"/>
            <a:ext cx="8461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System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Design é essencial em grandes empresas de tecnologia.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DB0904-D677-5FA5-9966-66329E78AD66}"/>
              </a:ext>
            </a:extLst>
          </p:cNvPr>
          <p:cNvSpPr txBox="1"/>
          <p:nvPr/>
        </p:nvSpPr>
        <p:spPr>
          <a:xfrm>
            <a:off x="537810" y="3025102"/>
            <a:ext cx="178312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Perfis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Especialistas.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Seniors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Plenos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Juniors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F8581E-609D-C866-AFDB-835F2E021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362" y="1540653"/>
            <a:ext cx="617010" cy="6170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ED8889-CF71-719F-3D1E-8E435257BD5E}"/>
              </a:ext>
            </a:extLst>
          </p:cNvPr>
          <p:cNvSpPr txBox="1"/>
          <p:nvPr/>
        </p:nvSpPr>
        <p:spPr>
          <a:xfrm>
            <a:off x="375459" y="2157663"/>
            <a:ext cx="14908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0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Software </a:t>
            </a:r>
            <a:r>
              <a:rPr lang="pt-PT" sz="10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Engineer</a:t>
            </a:r>
            <a:endParaRPr lang="pt-PT" sz="10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103426-882F-8EC3-AEE8-F071F61AA1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0779" y="1540653"/>
            <a:ext cx="617009" cy="6170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B7E417-9E98-74AE-60AB-4BA412197C99}"/>
              </a:ext>
            </a:extLst>
          </p:cNvPr>
          <p:cNvSpPr txBox="1"/>
          <p:nvPr/>
        </p:nvSpPr>
        <p:spPr>
          <a:xfrm>
            <a:off x="2349945" y="2171117"/>
            <a:ext cx="14186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0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System</a:t>
            </a:r>
            <a:r>
              <a:rPr lang="pt-PT" sz="10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sz="10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Architect</a:t>
            </a:r>
            <a:endParaRPr lang="pt-PT" sz="10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C70FE1C-FDD0-5820-808C-FE260274FF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3017" y="1554107"/>
            <a:ext cx="617010" cy="61701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FE733A4-35E7-986D-EB4E-047B770C43FB}"/>
              </a:ext>
            </a:extLst>
          </p:cNvPr>
          <p:cNvSpPr txBox="1"/>
          <p:nvPr/>
        </p:nvSpPr>
        <p:spPr>
          <a:xfrm>
            <a:off x="4036114" y="2157663"/>
            <a:ext cx="14908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0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Backend</a:t>
            </a:r>
            <a:r>
              <a:rPr lang="pt-PT" sz="10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sz="10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Developer</a:t>
            </a:r>
            <a:endParaRPr lang="pt-PT" sz="10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A60BBA-E28D-AE5A-B4FD-FF221F56A9D7}"/>
              </a:ext>
            </a:extLst>
          </p:cNvPr>
          <p:cNvSpPr txBox="1"/>
          <p:nvPr/>
        </p:nvSpPr>
        <p:spPr>
          <a:xfrm>
            <a:off x="2667544" y="3394433"/>
            <a:ext cx="5938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Comuns em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Big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Techs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e empresas com sistemas complexos.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5" grpId="0"/>
      <p:bldP spid="10" grpId="0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D5111993-BDE1-1DF8-4F25-D2A798224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5027CBB6-A0B3-1764-47F6-EF7F37448714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os entrevistadores avaliam?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7517873C-33D9-FAF0-7FEA-6EC48FEDFBD6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09 | Preparação para entrevistas de </a:t>
            </a:r>
            <a:r>
              <a:rPr lang="pt-PT" sz="9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System</a:t>
            </a:r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 Design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BD133D-250F-5911-3487-2C559ACEEA96}"/>
              </a:ext>
            </a:extLst>
          </p:cNvPr>
          <p:cNvSpPr txBox="1"/>
          <p:nvPr/>
        </p:nvSpPr>
        <p:spPr>
          <a:xfrm>
            <a:off x="240548" y="833709"/>
            <a:ext cx="8461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Foco nas habilidades é o que os entrevistadores procuram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2710BB-E0BD-5B3D-6189-84B4645504B7}"/>
              </a:ext>
            </a:extLst>
          </p:cNvPr>
          <p:cNvSpPr txBox="1"/>
          <p:nvPr/>
        </p:nvSpPr>
        <p:spPr>
          <a:xfrm>
            <a:off x="654608" y="2691856"/>
            <a:ext cx="10486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0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Scalability</a:t>
            </a:r>
            <a:endParaRPr lang="pt-PT" sz="10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14AF53-A55C-4D5E-FC58-FA616F7DA2CD}"/>
              </a:ext>
            </a:extLst>
          </p:cNvPr>
          <p:cNvSpPr txBox="1"/>
          <p:nvPr/>
        </p:nvSpPr>
        <p:spPr>
          <a:xfrm>
            <a:off x="2508050" y="2691856"/>
            <a:ext cx="10486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0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Reliability</a:t>
            </a:r>
            <a:endParaRPr lang="pt-PT" sz="10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3DA528-C80C-AF96-690B-BB688D9D43D8}"/>
              </a:ext>
            </a:extLst>
          </p:cNvPr>
          <p:cNvSpPr txBox="1"/>
          <p:nvPr/>
        </p:nvSpPr>
        <p:spPr>
          <a:xfrm>
            <a:off x="4286113" y="2689271"/>
            <a:ext cx="8356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0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Security</a:t>
            </a:r>
            <a:endParaRPr lang="pt-PT" sz="10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565BDC-87A7-8307-3B33-B26F574C8F68}"/>
              </a:ext>
            </a:extLst>
          </p:cNvPr>
          <p:cNvSpPr txBox="1"/>
          <p:nvPr/>
        </p:nvSpPr>
        <p:spPr>
          <a:xfrm>
            <a:off x="809009" y="3701731"/>
            <a:ext cx="7525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“Não se trata apenas de saber a resposta, mas de como você chega lá”.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B4EB5B-7EE3-1CEC-7BD4-132B95F15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608" y="1905139"/>
            <a:ext cx="756609" cy="7566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DFA1B5-3D0B-5EE5-BD45-F29C3D8BBF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4050" y="1971499"/>
            <a:ext cx="756609" cy="7566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9BD214A-9051-BA96-431F-99F13DE24F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654" y="1905139"/>
            <a:ext cx="756609" cy="75660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44031FB-E20C-FEE5-3BC0-7D9D569F3C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5259" y="1971499"/>
            <a:ext cx="756609" cy="75660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B05AA4F-3A0F-6926-9800-6272FDD0665C}"/>
              </a:ext>
            </a:extLst>
          </p:cNvPr>
          <p:cNvSpPr txBox="1"/>
          <p:nvPr/>
        </p:nvSpPr>
        <p:spPr>
          <a:xfrm>
            <a:off x="5750120" y="2689271"/>
            <a:ext cx="10268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0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Performance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2B7CF1E-F1F3-3E61-64CA-8E774A006A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5323" y="1932661"/>
            <a:ext cx="756610" cy="75661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4EF1004-9726-5A91-1AA6-663709E38D74}"/>
              </a:ext>
            </a:extLst>
          </p:cNvPr>
          <p:cNvSpPr txBox="1"/>
          <p:nvPr/>
        </p:nvSpPr>
        <p:spPr>
          <a:xfrm>
            <a:off x="7330146" y="2689270"/>
            <a:ext cx="11748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0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Communication</a:t>
            </a:r>
            <a:endParaRPr lang="pt-PT" sz="10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032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  <p:bldP spid="10" grpId="0"/>
      <p:bldP spid="15" grpId="0"/>
      <p:bldP spid="16" grpId="0"/>
      <p:bldP spid="19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FD94661E-20A1-EA7B-C493-1109E9C8C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FB2B1CC2-665A-8443-503E-E96489EC303D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System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 design mais comuns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DAD48E4F-DA68-5420-B7C6-B5FDCFA7E192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09 | Preparação para entrevistas de </a:t>
            </a:r>
            <a:r>
              <a:rPr lang="pt-PT" sz="9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System</a:t>
            </a:r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 Design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430F6E-D414-0E73-93EB-ED9A9EAE181D}"/>
              </a:ext>
            </a:extLst>
          </p:cNvPr>
          <p:cNvSpPr txBox="1"/>
          <p:nvPr/>
        </p:nvSpPr>
        <p:spPr>
          <a:xfrm>
            <a:off x="240548" y="833709"/>
            <a:ext cx="8461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Exemplos Práticos: Cenários de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system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design comuns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CF93D-76C8-96B7-0FA9-052E2AE4D786}"/>
              </a:ext>
            </a:extLst>
          </p:cNvPr>
          <p:cNvSpPr txBox="1"/>
          <p:nvPr/>
        </p:nvSpPr>
        <p:spPr>
          <a:xfrm>
            <a:off x="809009" y="2638596"/>
            <a:ext cx="9384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0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News</a:t>
            </a:r>
            <a:r>
              <a:rPr lang="pt-PT" sz="10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sz="10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feed</a:t>
            </a:r>
            <a:endParaRPr lang="pt-PT" sz="10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FC4621-C61F-FAFC-F794-FCDBB50C6F61}"/>
              </a:ext>
            </a:extLst>
          </p:cNvPr>
          <p:cNvSpPr txBox="1"/>
          <p:nvPr/>
        </p:nvSpPr>
        <p:spPr>
          <a:xfrm>
            <a:off x="2613591" y="2641182"/>
            <a:ext cx="11748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0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Realtime</a:t>
            </a:r>
            <a:r>
              <a:rPr lang="pt-PT" sz="10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chat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9DA0E2-3D7F-E4A8-4E51-8AE04F1707F9}"/>
              </a:ext>
            </a:extLst>
          </p:cNvPr>
          <p:cNvSpPr txBox="1"/>
          <p:nvPr/>
        </p:nvSpPr>
        <p:spPr>
          <a:xfrm>
            <a:off x="4183121" y="2633897"/>
            <a:ext cx="1252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92D050"/>
              </a:buClr>
            </a:pPr>
            <a:r>
              <a:rPr lang="pt-PT" sz="10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Recommendation</a:t>
            </a:r>
            <a:endParaRPr lang="pt-PT" sz="10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algn="ctr">
              <a:buClr>
                <a:srgbClr val="92D050"/>
              </a:buClr>
            </a:pPr>
            <a:r>
              <a:rPr lang="pt-PT" sz="10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System</a:t>
            </a:r>
            <a:endParaRPr lang="pt-PT" sz="10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B6D073-5F70-96BA-0401-AA615D1388E9}"/>
              </a:ext>
            </a:extLst>
          </p:cNvPr>
          <p:cNvSpPr txBox="1"/>
          <p:nvPr/>
        </p:nvSpPr>
        <p:spPr>
          <a:xfrm>
            <a:off x="809009" y="3701731"/>
            <a:ext cx="7525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“Entender esses cenários é um ótimo ponto de partida.”.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30D6F9-6605-0117-A542-1D446463A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776" y="1809209"/>
            <a:ext cx="675354" cy="7030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F12DDA-05E2-5B6B-86CE-9DB8120DC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9014" y="1809209"/>
            <a:ext cx="756609" cy="7566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EB53AD-2883-5C7A-CE9D-853753DC17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1194" y="1862639"/>
            <a:ext cx="756609" cy="75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139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  <p:bldP spid="10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CF5D8856-8810-19C2-2EF6-7913AABBE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57BA6BA1-9215-B5A3-2EB8-FF4481722020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Como estruturar a resposta?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387BFFBA-33A2-82E2-E224-9D3F1A5C4E84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09 | Preparação para entrevistas de </a:t>
            </a:r>
            <a:r>
              <a:rPr lang="pt-PT" sz="9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System</a:t>
            </a:r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 Design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50D7C1-751F-2B75-5CE8-DEBBE17D37E6}"/>
              </a:ext>
            </a:extLst>
          </p:cNvPr>
          <p:cNvSpPr txBox="1"/>
          <p:nvPr/>
        </p:nvSpPr>
        <p:spPr>
          <a:xfrm>
            <a:off x="240548" y="833709"/>
            <a:ext cx="8461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 estrutura ideal: como abordar um problema de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system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design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2F8A4D-85B4-9A9D-7E9D-DD4ECACBD8D2}"/>
              </a:ext>
            </a:extLst>
          </p:cNvPr>
          <p:cNvSpPr txBox="1"/>
          <p:nvPr/>
        </p:nvSpPr>
        <p:spPr>
          <a:xfrm>
            <a:off x="549574" y="2644095"/>
            <a:ext cx="8998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0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Flowchart</a:t>
            </a:r>
            <a:endParaRPr lang="pt-PT" sz="10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7A492C-1C88-0408-DA20-BEF1009CC426}"/>
              </a:ext>
            </a:extLst>
          </p:cNvPr>
          <p:cNvSpPr txBox="1"/>
          <p:nvPr/>
        </p:nvSpPr>
        <p:spPr>
          <a:xfrm>
            <a:off x="1740456" y="2644095"/>
            <a:ext cx="1133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0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Requirements</a:t>
            </a:r>
            <a:endParaRPr lang="pt-PT" sz="10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D07383-725D-8562-AE7D-6823B58DD01F}"/>
              </a:ext>
            </a:extLst>
          </p:cNvPr>
          <p:cNvSpPr txBox="1"/>
          <p:nvPr/>
        </p:nvSpPr>
        <p:spPr>
          <a:xfrm>
            <a:off x="3165417" y="2644095"/>
            <a:ext cx="11339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92D050"/>
              </a:buClr>
            </a:pPr>
            <a:r>
              <a:rPr lang="pt-PT" sz="10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Restrictions</a:t>
            </a:r>
            <a:endParaRPr lang="pt-PT" sz="10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5DC065-09A0-61FB-AD6F-07CD2EB2AAC6}"/>
              </a:ext>
            </a:extLst>
          </p:cNvPr>
          <p:cNvSpPr txBox="1"/>
          <p:nvPr/>
        </p:nvSpPr>
        <p:spPr>
          <a:xfrm>
            <a:off x="809009" y="3701731"/>
            <a:ext cx="7525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“Uma abordagem estruturada demonstra clareza e organização”.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72DB39-8564-76A0-A0D9-BDAC86218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74" y="1862639"/>
            <a:ext cx="756609" cy="7566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0AFD60-552E-3EA2-478E-32D251CF14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9126" y="1887486"/>
            <a:ext cx="756609" cy="7566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3B67EF8-A35B-E6D5-52CE-8A1F4B461E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4088" y="1887486"/>
            <a:ext cx="756609" cy="75660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EC3219A-F063-3631-6399-38A1419355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9050" y="1901758"/>
            <a:ext cx="756609" cy="75660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4A69362-1475-3B4E-00F0-E7118E9F87BC}"/>
              </a:ext>
            </a:extLst>
          </p:cNvPr>
          <p:cNvSpPr txBox="1"/>
          <p:nvPr/>
        </p:nvSpPr>
        <p:spPr>
          <a:xfrm>
            <a:off x="4684714" y="2644095"/>
            <a:ext cx="945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92D050"/>
              </a:buClr>
            </a:pPr>
            <a:r>
              <a:rPr lang="pt-PT" sz="10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High</a:t>
            </a:r>
            <a:r>
              <a:rPr lang="pt-PT" sz="10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sz="10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level</a:t>
            </a:r>
            <a:endParaRPr lang="pt-PT" sz="10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algn="ctr">
              <a:buClr>
                <a:srgbClr val="92D050"/>
              </a:buClr>
            </a:pPr>
            <a:r>
              <a:rPr lang="pt-PT" sz="10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Project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C7FA05A-1270-CB9A-A378-90ADC0EE94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5340" y="1901758"/>
            <a:ext cx="756609" cy="75660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EBBED1D-6735-BA4B-61CF-5A2C6C7093EC}"/>
              </a:ext>
            </a:extLst>
          </p:cNvPr>
          <p:cNvSpPr txBox="1"/>
          <p:nvPr/>
        </p:nvSpPr>
        <p:spPr>
          <a:xfrm>
            <a:off x="5921004" y="2695859"/>
            <a:ext cx="945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92D050"/>
              </a:buClr>
            </a:pPr>
            <a:r>
              <a:rPr lang="pt-PT" sz="10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Detailed</a:t>
            </a:r>
            <a:endParaRPr lang="pt-PT" sz="10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algn="ctr">
              <a:buClr>
                <a:srgbClr val="92D050"/>
              </a:buClr>
            </a:pPr>
            <a:r>
              <a:rPr lang="pt-PT" sz="10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Project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29F5F25-C425-FD93-683D-1594384964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7294" y="1935868"/>
            <a:ext cx="756609" cy="75660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8F38D09-FAC7-5C85-E39F-0FD092D94D77}"/>
              </a:ext>
            </a:extLst>
          </p:cNvPr>
          <p:cNvSpPr txBox="1"/>
          <p:nvPr/>
        </p:nvSpPr>
        <p:spPr>
          <a:xfrm>
            <a:off x="7080148" y="2695859"/>
            <a:ext cx="1272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92D050"/>
              </a:buClr>
            </a:pPr>
            <a:r>
              <a:rPr lang="pt-PT" sz="10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Final</a:t>
            </a:r>
          </a:p>
          <a:p>
            <a:pPr algn="ctr">
              <a:buClr>
                <a:srgbClr val="92D050"/>
              </a:buClr>
            </a:pPr>
            <a:r>
              <a:rPr lang="pt-PT" sz="10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Considerations</a:t>
            </a:r>
            <a:endParaRPr lang="pt-PT" sz="10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D759ED5-4842-CD79-A8CD-AEFACD9639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8896" y="1778717"/>
            <a:ext cx="224306" cy="22430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5B2A850-61FF-69BD-E2BD-CBC64F9A19E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13903" y="2048021"/>
            <a:ext cx="224306" cy="22430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365FE88-A0B1-49C9-7E9F-A88CA9FE504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13903" y="2347444"/>
            <a:ext cx="224306" cy="22430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A59DA6E-9B42-8849-33D2-410F2BD3085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40235" y="2225409"/>
            <a:ext cx="224306" cy="22430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5ECD083-CF27-8E42-A66D-665982736A9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40235" y="1930162"/>
            <a:ext cx="224306" cy="22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086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500"/>
                            </p:stCondLst>
                            <p:childTnLst>
                              <p:par>
                                <p:cTn id="9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  <p:bldP spid="10" grpId="0"/>
      <p:bldP spid="15" grpId="0"/>
      <p:bldP spid="16" grpId="0"/>
      <p:bldP spid="18" grpId="0"/>
      <p:bldP spid="21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AFED6842-28E1-B9C9-3A16-78CDC709F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1D67792B-6434-6B54-5AAB-364CB2D5ADFF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Demonstração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9C8F6616-B8C5-7334-97BC-E4E0EE285396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09 | Preparação para entrevistas de </a:t>
            </a:r>
            <a:r>
              <a:rPr lang="pt-PT" sz="9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System</a:t>
            </a:r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 Design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105DD7-46A5-7AD2-9D1D-1D149CBD7BD6}"/>
              </a:ext>
            </a:extLst>
          </p:cNvPr>
          <p:cNvSpPr txBox="1"/>
          <p:nvPr/>
        </p:nvSpPr>
        <p:spPr>
          <a:xfrm>
            <a:off x="240548" y="833709"/>
            <a:ext cx="8461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Exemplo prático: Analisando caso de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system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design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37409B-7122-5448-03CE-EF2CBDBA2358}"/>
              </a:ext>
            </a:extLst>
          </p:cNvPr>
          <p:cNvSpPr txBox="1"/>
          <p:nvPr/>
        </p:nvSpPr>
        <p:spPr>
          <a:xfrm>
            <a:off x="3529102" y="2868021"/>
            <a:ext cx="11748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0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Realtime</a:t>
            </a:r>
            <a:r>
              <a:rPr lang="pt-PT" sz="10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chat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7144D0-C15E-9A9F-16B3-91ABA47C5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525" y="2036048"/>
            <a:ext cx="756609" cy="7566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284359-361F-29F2-D5E3-CE65FD321F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6680" y="3479216"/>
            <a:ext cx="1539927" cy="153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348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/>
        </p:nvSpPr>
        <p:spPr>
          <a:xfrm>
            <a:off x="583197" y="2048545"/>
            <a:ext cx="7118760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Quem precisa se preparar para uma entrevista de </a:t>
            </a:r>
            <a:r>
              <a:rPr lang="pt-PT" sz="1400" b="1" i="0" u="none" strike="noStrike" cap="none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System</a:t>
            </a: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 Design?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O que os entrevistadores querem avaliar.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System</a:t>
            </a: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 Design mais comuns.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Como estruturar a resposta.</a:t>
            </a:r>
          </a:p>
        </p:txBody>
      </p:sp>
      <p:sp>
        <p:nvSpPr>
          <p:cNvPr id="2" name="Google Shape;50;p13">
            <a:extLst>
              <a:ext uri="{FF2B5EF4-FFF2-40B4-BE49-F238E27FC236}">
                <a16:creationId xmlns:a16="http://schemas.microsoft.com/office/drawing/2014/main" id="{F18BA85D-2531-1CFB-C2E5-EFC5AD82FE85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Conclusão e reflexão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Google Shape;51;p13">
            <a:extLst>
              <a:ext uri="{FF2B5EF4-FFF2-40B4-BE49-F238E27FC236}">
                <a16:creationId xmlns:a16="http://schemas.microsoft.com/office/drawing/2014/main" id="{3F372C72-6415-430B-784D-CD1C9A3A6A3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09 | Preparação para entrevistas de </a:t>
            </a:r>
            <a:r>
              <a:rPr lang="pt-PT" sz="9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System</a:t>
            </a:r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 Design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88D49E-5732-AAD8-A027-2E82845AE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144" y="748100"/>
            <a:ext cx="617010" cy="6170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0BC2F2-ADC2-4697-69C2-56C8F1F2A4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63" y="751475"/>
            <a:ext cx="617009" cy="6170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D73D47-ED6F-14F2-0890-5804918ED7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3381" y="791304"/>
            <a:ext cx="617010" cy="6170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35F4EC-DF08-FCEB-BFA1-AD3E1D50AB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4561" y="959435"/>
            <a:ext cx="675354" cy="7030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EB04BC-1BE1-8A63-0547-0CE29BAA94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7741" y="2015180"/>
            <a:ext cx="756609" cy="7566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655B4F8-6703-D3E5-F8EC-3FBF4BA975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37741" y="3028523"/>
            <a:ext cx="756609" cy="7566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6E7D0EA-FDFA-59D7-7614-B19684916B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10391" y="4327349"/>
            <a:ext cx="545298" cy="5452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B17020-CED7-7E83-1362-984E97478AA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69519" y="4352196"/>
            <a:ext cx="545298" cy="5452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F2E5BA3-F351-3AF3-B4A1-144A9C7D033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56892" y="4361189"/>
            <a:ext cx="545298" cy="5452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4047C23-AE7E-6769-55E3-C7C115F646B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39090" y="4378841"/>
            <a:ext cx="545298" cy="5452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D1A5D50-4E0A-26F4-36E5-3073863FB14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84388" y="4405086"/>
            <a:ext cx="545298" cy="54529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916CCF9-AD99-768E-CF2B-1B29A246714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94358" y="4401741"/>
            <a:ext cx="545298" cy="54529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F9D0E62-BB17-6488-3026-51B4C4FC318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17171" y="4297992"/>
            <a:ext cx="161660" cy="16166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E669281-B755-43B1-8507-35E86AD3120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37188" y="4522326"/>
            <a:ext cx="161660" cy="1616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904AB2B-5D4D-9DBE-39F0-C92FFDBFB17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22198" y="4739304"/>
            <a:ext cx="161660" cy="16166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2033361-2F1E-9A30-BC35-4BD3291D66B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18550" y="4669734"/>
            <a:ext cx="161660" cy="16166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05443A6-8C0A-3F75-835E-CA44383E796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11055" y="4449437"/>
            <a:ext cx="161660" cy="161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5857</TotalTime>
  <Words>298</Words>
  <Application>Microsoft Office PowerPoint</Application>
  <PresentationFormat>On-screen Show (16:9)</PresentationFormat>
  <Paragraphs>61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Fira Code</vt:lpstr>
      <vt:lpstr>Wingdings</vt:lpstr>
      <vt:lpstr>Ubuntu Light</vt:lpstr>
      <vt:lpstr>Ubuntu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446</cp:revision>
  <dcterms:modified xsi:type="dcterms:W3CDTF">2025-04-12T14:45:21Z</dcterms:modified>
</cp:coreProperties>
</file>