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62" r:id="rId3"/>
    <p:sldId id="307" r:id="rId4"/>
    <p:sldId id="309" r:id="rId5"/>
    <p:sldId id="308" r:id="rId6"/>
    <p:sldId id="310" r:id="rId7"/>
    <p:sldId id="268" r:id="rId8"/>
    <p:sldId id="261" r:id="rId9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Fira Code Light" panose="020B0809050000020004" pitchFamily="49" charset="0"/>
      <p:regular r:id="rId13"/>
    </p:embeddedFont>
    <p:embeddedFont>
      <p:font typeface="Ubuntu" panose="020B0504030602030204" pitchFamily="34" charset="0"/>
      <p:regular r:id="rId14"/>
      <p:bold r:id="rId15"/>
      <p:italic r:id="rId16"/>
      <p:boldItalic r:id="rId17"/>
    </p:embeddedFont>
    <p:embeddedFont>
      <p:font typeface="Ubuntu Light" panose="020B0304030602030204" pitchFamily="34" charset="0"/>
      <p:regular r:id="rId18"/>
      <p:italic r:id="rId19"/>
    </p:embeddedFont>
    <p:embeddedFont>
      <p:font typeface="Ubuntu Medium" panose="020B0604030602030204" pitchFamily="34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55538-8FF2-E591-4F6A-0CA3FF5452A0}" v="3647" dt="2025-02-13T14:48:32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a64a41d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21a64a41d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ACID é um conjunto de propriedades que garantem que as transações sejam processadas de forma consistente e confiável. Este slide explica cada propriedade com exemplos do dia a dia.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6AC1E6D-9145-118A-D859-E3636E36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a64a41dd_0_9:notes">
            <a:extLst>
              <a:ext uri="{FF2B5EF4-FFF2-40B4-BE49-F238E27FC236}">
                <a16:creationId xmlns:a16="http://schemas.microsoft.com/office/drawing/2014/main" id="{6F94249E-9A71-5E3D-A3DE-8C8BB80A8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21a64a41dd_0_9:notes">
            <a:extLst>
              <a:ext uri="{FF2B5EF4-FFF2-40B4-BE49-F238E27FC236}">
                <a16:creationId xmlns:a16="http://schemas.microsoft.com/office/drawing/2014/main" id="{782A2239-3B83-433C-5888-2827934E2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ACID é um conjunto de propriedades que garantem que as transações sejam processadas de forma consistente e confiável. Este slide explica cada propriedade com exemplos do dia a dia.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9378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55E67F6-FBFE-05C9-2CC7-523ADF0B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a64a41dd_0_9:notes">
            <a:extLst>
              <a:ext uri="{FF2B5EF4-FFF2-40B4-BE49-F238E27FC236}">
                <a16:creationId xmlns:a16="http://schemas.microsoft.com/office/drawing/2014/main" id="{13AFAA4F-F1DE-821B-C3EB-3DBC7C1ED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21a64a41dd_0_9:notes">
            <a:extLst>
              <a:ext uri="{FF2B5EF4-FFF2-40B4-BE49-F238E27FC236}">
                <a16:creationId xmlns:a16="http://schemas.microsoft.com/office/drawing/2014/main" id="{98C6321A-3425-DEC4-EBB6-956A11AD0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ACID é um conjunto de propriedades que garantem que as transações sejam processadas de forma consistente e confiável. Este slide explica cada propriedade com exemplos do dia a dia.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1412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17CEF7E-13D6-74B3-F462-6AD8F75D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a64a41dd_0_9:notes">
            <a:extLst>
              <a:ext uri="{FF2B5EF4-FFF2-40B4-BE49-F238E27FC236}">
                <a16:creationId xmlns:a16="http://schemas.microsoft.com/office/drawing/2014/main" id="{FEF6EA92-51D1-4271-0411-534DC9EF7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21a64a41dd_0_9:notes">
            <a:extLst>
              <a:ext uri="{FF2B5EF4-FFF2-40B4-BE49-F238E27FC236}">
                <a16:creationId xmlns:a16="http://schemas.microsoft.com/office/drawing/2014/main" id="{C2CF9264-A5F8-A17C-5017-B94BC427B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ACID é um conjunto de propriedades que garantem que as transações sejam processadas de forma consistente e confiável. Este slide explica cada propriedade com exemplos do dia a dia.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845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348334" y="3731617"/>
            <a:ext cx="287392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06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CAP, ACID e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Sharding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Banco relacionais e as transações ACID.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Réplicas de dados e sincronização.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Sharding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 de dados.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Conclusão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CAP, ACID e Sharding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Bancos não-relacionais e o teorema de CAP.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a64a41dd_0_9"/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ACID</a:t>
            </a:r>
            <a:endParaRPr/>
          </a:p>
        </p:txBody>
      </p:sp>
      <p:sp>
        <p:nvSpPr>
          <p:cNvPr id="107" name="Google Shape;107;g321a64a41dd_0_9"/>
          <p:cNvSpPr txBox="1"/>
          <p:nvPr/>
        </p:nvSpPr>
        <p:spPr>
          <a:xfrm>
            <a:off x="240549" y="396113"/>
            <a:ext cx="4215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CAP, ACID e Sharding</a:t>
            </a:r>
          </a:p>
        </p:txBody>
      </p:sp>
      <p:grpSp>
        <p:nvGrpSpPr>
          <p:cNvPr id="108" name="Google Shape;108;g321a64a41dd_0_9"/>
          <p:cNvGrpSpPr/>
          <p:nvPr/>
        </p:nvGrpSpPr>
        <p:grpSpPr>
          <a:xfrm>
            <a:off x="4818513" y="1089027"/>
            <a:ext cx="3559725" cy="1616125"/>
            <a:chOff x="4818513" y="1089027"/>
            <a:chExt cx="3559725" cy="1616125"/>
          </a:xfrm>
        </p:grpSpPr>
        <p:pic>
          <p:nvPicPr>
            <p:cNvPr id="109" name="Google Shape;109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8513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g321a64a41dd_0_9"/>
            <p:cNvSpPr txBox="1"/>
            <p:nvPr/>
          </p:nvSpPr>
          <p:spPr>
            <a:xfrm>
              <a:off x="5030913" y="19565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C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1" name="Google Shape;111;g321a64a41dd_0_9"/>
            <p:cNvSpPr txBox="1"/>
            <p:nvPr/>
          </p:nvSpPr>
          <p:spPr>
            <a:xfrm>
              <a:off x="5640263" y="1226699"/>
              <a:ext cx="2469600" cy="115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Consistência</a:t>
              </a:r>
              <a:endParaRPr sz="11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o sistema mantenha as regras definidas. Exemplo: código único de um registro na tabela.</a:t>
              </a:r>
              <a:endParaRPr sz="11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</p:grpSp>
      <p:grpSp>
        <p:nvGrpSpPr>
          <p:cNvPr id="112" name="Google Shape;112;g321a64a41dd_0_9"/>
          <p:cNvGrpSpPr/>
          <p:nvPr/>
        </p:nvGrpSpPr>
        <p:grpSpPr>
          <a:xfrm>
            <a:off x="4889363" y="3146427"/>
            <a:ext cx="3559725" cy="1616125"/>
            <a:chOff x="4889363" y="3146427"/>
            <a:chExt cx="3559725" cy="1616125"/>
          </a:xfrm>
        </p:grpSpPr>
        <p:pic>
          <p:nvPicPr>
            <p:cNvPr id="113" name="Google Shape;113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9363" y="31464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g321a64a41dd_0_9"/>
            <p:cNvSpPr txBox="1"/>
            <p:nvPr/>
          </p:nvSpPr>
          <p:spPr>
            <a:xfrm>
              <a:off x="5101763" y="40139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D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5" name="Google Shape;115;g321a64a41dd_0_9"/>
            <p:cNvSpPr txBox="1"/>
            <p:nvPr/>
          </p:nvSpPr>
          <p:spPr>
            <a:xfrm>
              <a:off x="5711113" y="3284100"/>
              <a:ext cx="2469600" cy="997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Durabilidade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as transações confirmadas permaneçam permanentes. Exemplo: pagamento em loja virtual.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  <p:grpSp>
        <p:nvGrpSpPr>
          <p:cNvPr id="116" name="Google Shape;116;g321a64a41dd_0_9"/>
          <p:cNvGrpSpPr/>
          <p:nvPr/>
        </p:nvGrpSpPr>
        <p:grpSpPr>
          <a:xfrm>
            <a:off x="694900" y="1089027"/>
            <a:ext cx="3559725" cy="1616125"/>
            <a:chOff x="694900" y="1089027"/>
            <a:chExt cx="3559725" cy="1616125"/>
          </a:xfrm>
        </p:grpSpPr>
        <p:pic>
          <p:nvPicPr>
            <p:cNvPr id="117" name="Google Shape;117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900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g321a64a41dd_0_9"/>
            <p:cNvSpPr txBox="1"/>
            <p:nvPr/>
          </p:nvSpPr>
          <p:spPr>
            <a:xfrm>
              <a:off x="907300" y="19565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A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9" name="Google Shape;119;g321a64a41dd_0_9"/>
            <p:cNvSpPr txBox="1"/>
            <p:nvPr/>
          </p:nvSpPr>
          <p:spPr>
            <a:xfrm>
              <a:off x="1516650" y="1226700"/>
              <a:ext cx="2469600" cy="996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Atomicidade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Atomicidade garante que as transações sejam tratadas como uma única unidade indivisível.</a:t>
              </a: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  <p:grpSp>
        <p:nvGrpSpPr>
          <p:cNvPr id="120" name="Google Shape;120;g321a64a41dd_0_9"/>
          <p:cNvGrpSpPr/>
          <p:nvPr/>
        </p:nvGrpSpPr>
        <p:grpSpPr>
          <a:xfrm>
            <a:off x="734425" y="3146427"/>
            <a:ext cx="3559725" cy="1616125"/>
            <a:chOff x="734425" y="3146427"/>
            <a:chExt cx="3559725" cy="1616125"/>
          </a:xfrm>
        </p:grpSpPr>
        <p:pic>
          <p:nvPicPr>
            <p:cNvPr id="121" name="Google Shape;121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4425" y="31464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g321a64a41dd_0_9"/>
            <p:cNvSpPr txBox="1"/>
            <p:nvPr/>
          </p:nvSpPr>
          <p:spPr>
            <a:xfrm>
              <a:off x="946825" y="40139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I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23" name="Google Shape;123;g321a64a41dd_0_9"/>
            <p:cNvSpPr txBox="1"/>
            <p:nvPr/>
          </p:nvSpPr>
          <p:spPr>
            <a:xfrm>
              <a:off x="1556175" y="3284099"/>
              <a:ext cx="2469600" cy="1354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Isolamento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as transações em execução sejam isoladas de outras transações em execução simultânea. Exemplo: Débito na conta de um cliente.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4C2B231-9285-A386-58AE-833056AC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a64a41dd_0_9">
            <a:extLst>
              <a:ext uri="{FF2B5EF4-FFF2-40B4-BE49-F238E27FC236}">
                <a16:creationId xmlns:a16="http://schemas.microsoft.com/office/drawing/2014/main" id="{EB4234C4-61DA-B49A-56AE-005202EB8FB6}"/>
              </a:ext>
            </a:extLst>
          </p:cNvPr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Replica de dados e sincronização</a:t>
            </a:r>
            <a:endParaRPr dirty="0"/>
          </a:p>
        </p:txBody>
      </p:sp>
      <p:sp>
        <p:nvSpPr>
          <p:cNvPr id="107" name="Google Shape;107;g321a64a41dd_0_9">
            <a:extLst>
              <a:ext uri="{FF2B5EF4-FFF2-40B4-BE49-F238E27FC236}">
                <a16:creationId xmlns:a16="http://schemas.microsoft.com/office/drawing/2014/main" id="{AE2238E4-5FD3-97D1-C6DD-28761EF0E907}"/>
              </a:ext>
            </a:extLst>
          </p:cNvPr>
          <p:cNvSpPr txBox="1"/>
          <p:nvPr/>
        </p:nvSpPr>
        <p:spPr>
          <a:xfrm>
            <a:off x="240549" y="396113"/>
            <a:ext cx="4215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CAP, ACID e Sharding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21C887-5650-D65A-C987-E7D2D6E1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180178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9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979625F-BF86-9972-9AC4-49926FC9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a64a41dd_0_9">
            <a:extLst>
              <a:ext uri="{FF2B5EF4-FFF2-40B4-BE49-F238E27FC236}">
                <a16:creationId xmlns:a16="http://schemas.microsoft.com/office/drawing/2014/main" id="{5351ED32-0E87-38D0-57FC-381141D7C120}"/>
              </a:ext>
            </a:extLst>
          </p:cNvPr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Teorema CAP</a:t>
            </a:r>
            <a:endParaRPr dirty="0"/>
          </a:p>
        </p:txBody>
      </p:sp>
      <p:sp>
        <p:nvSpPr>
          <p:cNvPr id="107" name="Google Shape;107;g321a64a41dd_0_9">
            <a:extLst>
              <a:ext uri="{FF2B5EF4-FFF2-40B4-BE49-F238E27FC236}">
                <a16:creationId xmlns:a16="http://schemas.microsoft.com/office/drawing/2014/main" id="{0184A353-E1B9-E7E9-231A-063F5CFFE221}"/>
              </a:ext>
            </a:extLst>
          </p:cNvPr>
          <p:cNvSpPr txBox="1"/>
          <p:nvPr/>
        </p:nvSpPr>
        <p:spPr>
          <a:xfrm>
            <a:off x="240549" y="396113"/>
            <a:ext cx="4215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CAP, ACID e Sharding</a:t>
            </a:r>
          </a:p>
        </p:txBody>
      </p:sp>
      <p:grpSp>
        <p:nvGrpSpPr>
          <p:cNvPr id="108" name="Google Shape;108;g321a64a41dd_0_9">
            <a:extLst>
              <a:ext uri="{FF2B5EF4-FFF2-40B4-BE49-F238E27FC236}">
                <a16:creationId xmlns:a16="http://schemas.microsoft.com/office/drawing/2014/main" id="{267F6E63-F8E2-14E6-F2D0-B5C95EB7F754}"/>
              </a:ext>
            </a:extLst>
          </p:cNvPr>
          <p:cNvGrpSpPr/>
          <p:nvPr/>
        </p:nvGrpSpPr>
        <p:grpSpPr>
          <a:xfrm>
            <a:off x="734424" y="1124757"/>
            <a:ext cx="3559725" cy="1616125"/>
            <a:chOff x="4818513" y="1089027"/>
            <a:chExt cx="3559725" cy="1616125"/>
          </a:xfrm>
        </p:grpSpPr>
        <p:pic>
          <p:nvPicPr>
            <p:cNvPr id="109" name="Google Shape;109;g321a64a41dd_0_9">
              <a:extLst>
                <a:ext uri="{FF2B5EF4-FFF2-40B4-BE49-F238E27FC236}">
                  <a16:creationId xmlns:a16="http://schemas.microsoft.com/office/drawing/2014/main" id="{20D17AB2-B098-D707-10A2-0BF1425D783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8513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g321a64a41dd_0_9">
              <a:extLst>
                <a:ext uri="{FF2B5EF4-FFF2-40B4-BE49-F238E27FC236}">
                  <a16:creationId xmlns:a16="http://schemas.microsoft.com/office/drawing/2014/main" id="{B1A45771-7286-3566-9E78-3419281677ED}"/>
                </a:ext>
              </a:extLst>
            </p:cNvPr>
            <p:cNvSpPr txBox="1"/>
            <p:nvPr/>
          </p:nvSpPr>
          <p:spPr>
            <a:xfrm>
              <a:off x="5030913" y="19565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 dirty="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C</a:t>
              </a:r>
              <a:endParaRPr sz="3000" dirty="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1" name="Google Shape;111;g321a64a41dd_0_9">
              <a:extLst>
                <a:ext uri="{FF2B5EF4-FFF2-40B4-BE49-F238E27FC236}">
                  <a16:creationId xmlns:a16="http://schemas.microsoft.com/office/drawing/2014/main" id="{3FDB4ED5-D81F-916B-626D-696C53C74CBE}"/>
                </a:ext>
              </a:extLst>
            </p:cNvPr>
            <p:cNvSpPr txBox="1"/>
            <p:nvPr/>
          </p:nvSpPr>
          <p:spPr>
            <a:xfrm>
              <a:off x="5640263" y="1226699"/>
              <a:ext cx="2469600" cy="115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 err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Consistency</a:t>
              </a:r>
              <a:endParaRPr sz="11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o sistema mantenha as regras definidas. Exemplo: código único de um registro na tabela.</a:t>
              </a:r>
              <a:endParaRPr sz="11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</p:grpSp>
      <p:grpSp>
        <p:nvGrpSpPr>
          <p:cNvPr id="116" name="Google Shape;116;g321a64a41dd_0_9">
            <a:extLst>
              <a:ext uri="{FF2B5EF4-FFF2-40B4-BE49-F238E27FC236}">
                <a16:creationId xmlns:a16="http://schemas.microsoft.com/office/drawing/2014/main" id="{1F890880-D4C1-68DA-D94E-E16511720833}"/>
              </a:ext>
            </a:extLst>
          </p:cNvPr>
          <p:cNvGrpSpPr/>
          <p:nvPr/>
        </p:nvGrpSpPr>
        <p:grpSpPr>
          <a:xfrm>
            <a:off x="5030913" y="1124756"/>
            <a:ext cx="3559725" cy="1616125"/>
            <a:chOff x="694900" y="1089027"/>
            <a:chExt cx="3559725" cy="1616125"/>
          </a:xfrm>
        </p:grpSpPr>
        <p:pic>
          <p:nvPicPr>
            <p:cNvPr id="117" name="Google Shape;117;g321a64a41dd_0_9">
              <a:extLst>
                <a:ext uri="{FF2B5EF4-FFF2-40B4-BE49-F238E27FC236}">
                  <a16:creationId xmlns:a16="http://schemas.microsoft.com/office/drawing/2014/main" id="{ACFB5E4F-3D64-4689-3D76-4765D64B3E6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900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g321a64a41dd_0_9">
              <a:extLst>
                <a:ext uri="{FF2B5EF4-FFF2-40B4-BE49-F238E27FC236}">
                  <a16:creationId xmlns:a16="http://schemas.microsoft.com/office/drawing/2014/main" id="{A1F76BF4-C35D-04B0-A052-C9BD9C9310BE}"/>
                </a:ext>
              </a:extLst>
            </p:cNvPr>
            <p:cNvSpPr txBox="1"/>
            <p:nvPr/>
          </p:nvSpPr>
          <p:spPr>
            <a:xfrm>
              <a:off x="907300" y="19565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A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9" name="Google Shape;119;g321a64a41dd_0_9">
              <a:extLst>
                <a:ext uri="{FF2B5EF4-FFF2-40B4-BE49-F238E27FC236}">
                  <a16:creationId xmlns:a16="http://schemas.microsoft.com/office/drawing/2014/main" id="{5706444F-BCBE-26E1-583D-645D34FBA6C4}"/>
                </a:ext>
              </a:extLst>
            </p:cNvPr>
            <p:cNvSpPr txBox="1"/>
            <p:nvPr/>
          </p:nvSpPr>
          <p:spPr>
            <a:xfrm>
              <a:off x="1516650" y="1226700"/>
              <a:ext cx="2469600" cy="996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 err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Availability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Alta disponibilidade dos dados.</a:t>
              </a: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  <p:grpSp>
        <p:nvGrpSpPr>
          <p:cNvPr id="120" name="Google Shape;120;g321a64a41dd_0_9">
            <a:extLst>
              <a:ext uri="{FF2B5EF4-FFF2-40B4-BE49-F238E27FC236}">
                <a16:creationId xmlns:a16="http://schemas.microsoft.com/office/drawing/2014/main" id="{3679CFE4-75C6-B1DD-170C-5192E48F22C5}"/>
              </a:ext>
            </a:extLst>
          </p:cNvPr>
          <p:cNvGrpSpPr/>
          <p:nvPr/>
        </p:nvGrpSpPr>
        <p:grpSpPr>
          <a:xfrm>
            <a:off x="734423" y="3210680"/>
            <a:ext cx="3559725" cy="1616125"/>
            <a:chOff x="734425" y="3146427"/>
            <a:chExt cx="3559725" cy="1616125"/>
          </a:xfrm>
        </p:grpSpPr>
        <p:pic>
          <p:nvPicPr>
            <p:cNvPr id="121" name="Google Shape;121;g321a64a41dd_0_9">
              <a:extLst>
                <a:ext uri="{FF2B5EF4-FFF2-40B4-BE49-F238E27FC236}">
                  <a16:creationId xmlns:a16="http://schemas.microsoft.com/office/drawing/2014/main" id="{D6DACE51-ECEA-38AC-A462-7356946CFB8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4425" y="31464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g321a64a41dd_0_9">
              <a:extLst>
                <a:ext uri="{FF2B5EF4-FFF2-40B4-BE49-F238E27FC236}">
                  <a16:creationId xmlns:a16="http://schemas.microsoft.com/office/drawing/2014/main" id="{DEAB4989-5141-BA3A-E169-3F2ACE6B3C83}"/>
                </a:ext>
              </a:extLst>
            </p:cNvPr>
            <p:cNvSpPr txBox="1"/>
            <p:nvPr/>
          </p:nvSpPr>
          <p:spPr>
            <a:xfrm>
              <a:off x="946825" y="40139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 dirty="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P</a:t>
              </a:r>
              <a:endParaRPr sz="3000" dirty="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23" name="Google Shape;123;g321a64a41dd_0_9">
              <a:extLst>
                <a:ext uri="{FF2B5EF4-FFF2-40B4-BE49-F238E27FC236}">
                  <a16:creationId xmlns:a16="http://schemas.microsoft.com/office/drawing/2014/main" id="{249B8DDA-DED7-A15D-0480-CD3B8E20647B}"/>
                </a:ext>
              </a:extLst>
            </p:cNvPr>
            <p:cNvSpPr txBox="1"/>
            <p:nvPr/>
          </p:nvSpPr>
          <p:spPr>
            <a:xfrm>
              <a:off x="1556175" y="3284099"/>
              <a:ext cx="2469600" cy="1354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 err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Partition</a:t>
              </a: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 </a:t>
              </a:r>
              <a:r>
                <a:rPr lang="pt-PT" sz="1100" b="1" dirty="0" err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Tolerance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os meus dados estejam disponíveis mesmo que haja interrupção de rede ou indisponibilidade do servidor.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Pode ser vários </a:t>
              </a:r>
              <a:r>
                <a:rPr lang="pt-PT" sz="1100" dirty="0" err="1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HDs</a:t>
              </a: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 ou maquinas (clusters).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2D78D2-9103-30B1-4CC5-731FCC502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707" y="2657445"/>
            <a:ext cx="2570383" cy="244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F1EFB-A708-C1C3-BF61-86F5A35C7BB3}"/>
              </a:ext>
            </a:extLst>
          </p:cNvPr>
          <p:cNvSpPr txBox="1"/>
          <p:nvPr/>
        </p:nvSpPr>
        <p:spPr>
          <a:xfrm>
            <a:off x="5732741" y="3461123"/>
            <a:ext cx="1267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7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</a:rPr>
              <a:t>Tá todo mundo vendo a mesma coisa?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4C72D-2783-3285-0C5C-7DAC84290E44}"/>
              </a:ext>
            </a:extLst>
          </p:cNvPr>
          <p:cNvSpPr txBox="1"/>
          <p:nvPr/>
        </p:nvSpPr>
        <p:spPr>
          <a:xfrm>
            <a:off x="6950057" y="3458391"/>
            <a:ext cx="1267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7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</a:rPr>
              <a:t>Tá todo mundo conseguindo </a:t>
            </a:r>
            <a:r>
              <a:rPr lang="pt-PT" sz="7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</a:rPr>
              <a:t>acessar</a:t>
            </a:r>
            <a:r>
              <a:rPr lang="pt-PT" sz="7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6FF99-5C9A-6727-D702-CFF888A16DC1}"/>
              </a:ext>
            </a:extLst>
          </p:cNvPr>
          <p:cNvSpPr txBox="1"/>
          <p:nvPr/>
        </p:nvSpPr>
        <p:spPr>
          <a:xfrm>
            <a:off x="6366573" y="4486410"/>
            <a:ext cx="1267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7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</a:rPr>
              <a:t>A parada continua a funcionar?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F5FDC7-4273-DF66-8C7C-1011448FA78D}"/>
              </a:ext>
            </a:extLst>
          </p:cNvPr>
          <p:cNvSpPr/>
          <p:nvPr/>
        </p:nvSpPr>
        <p:spPr>
          <a:xfrm>
            <a:off x="3440247" y="197502"/>
            <a:ext cx="2469600" cy="792028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Google Shape;111;g321a64a41dd_0_9">
            <a:extLst>
              <a:ext uri="{FF2B5EF4-FFF2-40B4-BE49-F238E27FC236}">
                <a16:creationId xmlns:a16="http://schemas.microsoft.com/office/drawing/2014/main" id="{9547D9D7-DD62-58F9-EA00-9646F0ABE08A}"/>
              </a:ext>
            </a:extLst>
          </p:cNvPr>
          <p:cNvSpPr txBox="1"/>
          <p:nvPr/>
        </p:nvSpPr>
        <p:spPr>
          <a:xfrm>
            <a:off x="3440247" y="175956"/>
            <a:ext cx="2469600" cy="79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11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Manter a </a:t>
            </a:r>
            <a:r>
              <a:rPr lang="pt-PT" sz="1100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consistência</a:t>
            </a:r>
            <a:r>
              <a:rPr lang="pt-PT" sz="11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pode custar aumento de </a:t>
            </a:r>
            <a:r>
              <a:rPr lang="pt-PT" sz="1100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latência</a:t>
            </a:r>
            <a:r>
              <a:rPr lang="pt-PT" sz="11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e a </a:t>
            </a:r>
            <a:r>
              <a:rPr lang="pt-PT" sz="1100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disponibilidade</a:t>
            </a:r>
            <a:r>
              <a:rPr lang="pt-PT" sz="11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passa a ser reduzida.</a:t>
            </a:r>
            <a:endParaRPr sz="11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E5114E-21A8-17B1-86DE-D669438FB5F9}"/>
              </a:ext>
            </a:extLst>
          </p:cNvPr>
          <p:cNvCxnSpPr>
            <a:stCxn id="6" idx="1"/>
            <a:endCxn id="111" idx="0"/>
          </p:cNvCxnSpPr>
          <p:nvPr/>
        </p:nvCxnSpPr>
        <p:spPr>
          <a:xfrm flipH="1">
            <a:off x="2790974" y="571970"/>
            <a:ext cx="649273" cy="69045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37F1F6F-4AAB-5C8A-8D22-159B0CEF86A0}"/>
              </a:ext>
            </a:extLst>
          </p:cNvPr>
          <p:cNvSpPr/>
          <p:nvPr/>
        </p:nvSpPr>
        <p:spPr>
          <a:xfrm>
            <a:off x="6433851" y="184199"/>
            <a:ext cx="2469600" cy="792028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Google Shape;111;g321a64a41dd_0_9">
            <a:extLst>
              <a:ext uri="{FF2B5EF4-FFF2-40B4-BE49-F238E27FC236}">
                <a16:creationId xmlns:a16="http://schemas.microsoft.com/office/drawing/2014/main" id="{EE6F9613-8EC7-FE11-F7B9-DFA7560BA76E}"/>
              </a:ext>
            </a:extLst>
          </p:cNvPr>
          <p:cNvSpPr txBox="1"/>
          <p:nvPr/>
        </p:nvSpPr>
        <p:spPr>
          <a:xfrm>
            <a:off x="6433851" y="162653"/>
            <a:ext cx="2469600" cy="79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11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Manter a </a:t>
            </a:r>
            <a:r>
              <a:rPr lang="pt-PT" sz="1100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disponibilidade</a:t>
            </a:r>
            <a:r>
              <a:rPr lang="pt-PT" sz="11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pode levar a inconsistência ou conflitos de dados.</a:t>
            </a:r>
            <a:endParaRPr sz="11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159F14-82DB-39D8-93E2-01FCFDF3B442}"/>
              </a:ext>
            </a:extLst>
          </p:cNvPr>
          <p:cNvCxnSpPr>
            <a:cxnSpLocks/>
            <a:stCxn id="9" idx="2"/>
            <a:endCxn id="119" idx="0"/>
          </p:cNvCxnSpPr>
          <p:nvPr/>
        </p:nvCxnSpPr>
        <p:spPr>
          <a:xfrm flipH="1">
            <a:off x="7087463" y="976227"/>
            <a:ext cx="581188" cy="286202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23;g321a64a41dd_0_9">
            <a:extLst>
              <a:ext uri="{FF2B5EF4-FFF2-40B4-BE49-F238E27FC236}">
                <a16:creationId xmlns:a16="http://schemas.microsoft.com/office/drawing/2014/main" id="{3328B7D0-63D5-3985-0CA6-906601CC2CAB}"/>
              </a:ext>
            </a:extLst>
          </p:cNvPr>
          <p:cNvSpPr txBox="1"/>
          <p:nvPr/>
        </p:nvSpPr>
        <p:spPr>
          <a:xfrm>
            <a:off x="4696027" y="2786487"/>
            <a:ext cx="954048" cy="37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CA </a:t>
            </a:r>
            <a:r>
              <a:rPr lang="pt-PT" sz="800" b="1" dirty="0" err="1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Category</a:t>
            </a: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RDBMS</a:t>
            </a: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rgbClr val="A6F750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CE2150-0E02-4CEC-D09F-1C2979EDC0DB}"/>
              </a:ext>
            </a:extLst>
          </p:cNvPr>
          <p:cNvCxnSpPr>
            <a:cxnSpLocks/>
          </p:cNvCxnSpPr>
          <p:nvPr/>
        </p:nvCxnSpPr>
        <p:spPr>
          <a:xfrm>
            <a:off x="5516380" y="2959216"/>
            <a:ext cx="1348811" cy="3599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23;g321a64a41dd_0_9">
            <a:extLst>
              <a:ext uri="{FF2B5EF4-FFF2-40B4-BE49-F238E27FC236}">
                <a16:creationId xmlns:a16="http://schemas.microsoft.com/office/drawing/2014/main" id="{34BD2A5B-21AC-E9FF-EEDE-43B29C97965A}"/>
              </a:ext>
            </a:extLst>
          </p:cNvPr>
          <p:cNvSpPr txBox="1"/>
          <p:nvPr/>
        </p:nvSpPr>
        <p:spPr>
          <a:xfrm>
            <a:off x="8217722" y="2582210"/>
            <a:ext cx="954048" cy="37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AP </a:t>
            </a:r>
            <a:r>
              <a:rPr lang="pt-PT" sz="800" b="1" dirty="0" err="1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Category</a:t>
            </a: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Dynamo</a:t>
            </a:r>
            <a:endParaRPr lang="pt-PT" sz="8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Voldemort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Cassandra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CouchDB</a:t>
            </a: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rgbClr val="A6F750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2CD55B-39F4-41D6-1F81-5ACD6A609DDA}"/>
              </a:ext>
            </a:extLst>
          </p:cNvPr>
          <p:cNvCxnSpPr>
            <a:cxnSpLocks/>
          </p:cNvCxnSpPr>
          <p:nvPr/>
        </p:nvCxnSpPr>
        <p:spPr>
          <a:xfrm flipH="1">
            <a:off x="7270230" y="2876107"/>
            <a:ext cx="1022991" cy="9599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123;g321a64a41dd_0_9">
            <a:extLst>
              <a:ext uri="{FF2B5EF4-FFF2-40B4-BE49-F238E27FC236}">
                <a16:creationId xmlns:a16="http://schemas.microsoft.com/office/drawing/2014/main" id="{E450D996-4E86-7D47-E2F6-33ACFABE056C}"/>
              </a:ext>
            </a:extLst>
          </p:cNvPr>
          <p:cNvSpPr txBox="1"/>
          <p:nvPr/>
        </p:nvSpPr>
        <p:spPr>
          <a:xfrm>
            <a:off x="4734379" y="4036647"/>
            <a:ext cx="954048" cy="37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CP </a:t>
            </a:r>
            <a:r>
              <a:rPr lang="pt-PT" sz="800" b="1" dirty="0" err="1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Category</a:t>
            </a: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Big</a:t>
            </a:r>
            <a:r>
              <a:rPr lang="pt-PT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</a:t>
            </a:r>
            <a:r>
              <a:rPr lang="pt-PT" sz="8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Table</a:t>
            </a:r>
            <a:endParaRPr lang="pt-PT" sz="8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Hbase</a:t>
            </a:r>
            <a:endParaRPr lang="pt-PT" sz="8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MongoDB</a:t>
            </a:r>
            <a:endParaRPr lang="pt-PT" sz="8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Redis</a:t>
            </a: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rgbClr val="A6F750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BA2B78A-5D90-C8BD-D9C5-539B5B93A2FC}"/>
              </a:ext>
            </a:extLst>
          </p:cNvPr>
          <p:cNvCxnSpPr>
            <a:cxnSpLocks/>
          </p:cNvCxnSpPr>
          <p:nvPr/>
        </p:nvCxnSpPr>
        <p:spPr>
          <a:xfrm flipV="1">
            <a:off x="5414526" y="3910886"/>
            <a:ext cx="1188229" cy="3927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08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9" grpId="0" animBg="1"/>
      <p:bldP spid="10" grpId="0"/>
      <p:bldP spid="17" grpId="0"/>
      <p:bldP spid="20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C3456EB-EB2B-BB59-DD72-00CC71E6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a64a41dd_0_9">
            <a:extLst>
              <a:ext uri="{FF2B5EF4-FFF2-40B4-BE49-F238E27FC236}">
                <a16:creationId xmlns:a16="http://schemas.microsoft.com/office/drawing/2014/main" id="{9DAC5A7D-CAA1-0047-AD04-0B495D130EC4}"/>
              </a:ext>
            </a:extLst>
          </p:cNvPr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 dirty="0" err="1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Sharding</a:t>
            </a:r>
            <a:r>
              <a:rPr lang="pt-PT" sz="1600" b="0" i="0" u="none" strike="noStrike" cap="none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 de dados</a:t>
            </a:r>
            <a:endParaRPr dirty="0"/>
          </a:p>
        </p:txBody>
      </p:sp>
      <p:sp>
        <p:nvSpPr>
          <p:cNvPr id="107" name="Google Shape;107;g321a64a41dd_0_9">
            <a:extLst>
              <a:ext uri="{FF2B5EF4-FFF2-40B4-BE49-F238E27FC236}">
                <a16:creationId xmlns:a16="http://schemas.microsoft.com/office/drawing/2014/main" id="{BC586A52-40F5-1CD6-D405-BCB76CAD17C2}"/>
              </a:ext>
            </a:extLst>
          </p:cNvPr>
          <p:cNvSpPr txBox="1"/>
          <p:nvPr/>
        </p:nvSpPr>
        <p:spPr>
          <a:xfrm>
            <a:off x="240549" y="396113"/>
            <a:ext cx="4215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CAP, ACID e Sharding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E77E1D-8916-496D-0A03-B7183B20A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180178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5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9" y="1740784"/>
            <a:ext cx="5255943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ACID</a:t>
            </a: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Replicação de dados.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Teorema de CAP.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 err="1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Sharding</a:t>
            </a: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 de dados.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D0B34D-59D4-1BC4-40BE-F3F0DF8AB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414" y="818739"/>
            <a:ext cx="3218825" cy="3218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446</Words>
  <Application>Microsoft Office PowerPoint</Application>
  <PresentationFormat>On-screen Show (16:9)</PresentationFormat>
  <Paragraphs>66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Ubuntu</vt:lpstr>
      <vt:lpstr>Arial</vt:lpstr>
      <vt:lpstr>Fira Code</vt:lpstr>
      <vt:lpstr>Ubuntu Medium</vt:lpstr>
      <vt:lpstr>Ubuntu Light</vt:lpstr>
      <vt:lpstr>Fira Code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291</cp:revision>
  <dcterms:modified xsi:type="dcterms:W3CDTF">2025-04-05T12:45:02Z</dcterms:modified>
</cp:coreProperties>
</file>