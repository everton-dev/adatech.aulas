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2"/>
  </p:notesMasterIdLst>
  <p:sldIdLst>
    <p:sldId id="256" r:id="rId2"/>
    <p:sldId id="262" r:id="rId3"/>
    <p:sldId id="257" r:id="rId4"/>
    <p:sldId id="289" r:id="rId5"/>
    <p:sldId id="291" r:id="rId6"/>
    <p:sldId id="290" r:id="rId7"/>
    <p:sldId id="292" r:id="rId8"/>
    <p:sldId id="293" r:id="rId9"/>
    <p:sldId id="268" r:id="rId10"/>
    <p:sldId id="261" r:id="rId11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3"/>
      <p:bold r:id="rId14"/>
    </p:embeddedFont>
    <p:embeddedFont>
      <p:font typeface="Ubuntu" panose="020B0504030602030204" pitchFamily="34" charset="0"/>
      <p:regular r:id="rId15"/>
      <p:bold r:id="rId16"/>
      <p:italic r:id="rId17"/>
      <p:boldItalic r:id="rId18"/>
    </p:embeddedFont>
    <p:embeddedFont>
      <p:font typeface="Ubuntu Light" panose="020B0304030602030204" pitchFamily="34" charset="0"/>
      <p:regular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F7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ED5EEB52-9DB1-5807-B193-9EBC40A6A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39ABC4C3-4A80-564E-9C71-761577201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C1F05FCA-C619-DEE4-5F44-CBE8831EB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9338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F815A10-0AB3-91E6-D8E0-2967BA895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A48F9F69-79E4-3C7D-9204-AB8C2E146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C62B619-368C-D543-5E3F-361F22168E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743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2C69C932-014A-5E13-2ADA-94943FD6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7B1A28CC-4C87-200A-6DA1-AF674A4CB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4B7331DA-B065-7144-282C-45AA207E3F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102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DBBC561-C342-BF39-6670-6D032573A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E2BDEE82-A7CA-58F0-A8FE-9A33DE065D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07ADB69A-7B29-ABF4-7F0A-D0F1EFC53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9177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3BCE530-7E0C-27B7-B5A2-E83C66C1F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CD97C71B-9F88-4D00-CFCD-6DFAEA59F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BC49C74-CA75-2E4B-DEAA-4699B83AE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4231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6925456" y="3731617"/>
            <a:ext cx="2296798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02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Escalabilidade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 vertical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 horizontal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Balanceamento de carga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Escalabilidade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Como escalar dinamicamente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é escalabilidade?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Escalabilidade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C5BF2-6BFF-B924-7A1E-757AFFB391CD}"/>
              </a:ext>
            </a:extLst>
          </p:cNvPr>
          <p:cNvSpPr txBox="1"/>
          <p:nvPr/>
        </p:nvSpPr>
        <p:spPr>
          <a:xfrm>
            <a:off x="240548" y="1014662"/>
            <a:ext cx="8723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Capacidade de um sistema suportar um aumento de carga total quando os recursos assim requisitam.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FC30A7-19F7-E543-19F7-E8D7D5BA0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186" y="2571750"/>
            <a:ext cx="558071" cy="5580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E4E46A-78DF-AA5A-B87C-FAB14F999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186" y="2552480"/>
            <a:ext cx="1206708" cy="12067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C41EB8-6BE2-AE83-DDAA-C4DA44EE1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2186" y="3444615"/>
            <a:ext cx="558071" cy="5580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E50E1E-34C0-5389-5E10-73B19AB36F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5432" y="2772752"/>
            <a:ext cx="830997" cy="8309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0F40DF-9973-7AC6-E7E7-ED7FE29077C0}"/>
              </a:ext>
            </a:extLst>
          </p:cNvPr>
          <p:cNvSpPr txBox="1"/>
          <p:nvPr/>
        </p:nvSpPr>
        <p:spPr>
          <a:xfrm>
            <a:off x="5069401" y="3131691"/>
            <a:ext cx="10236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Processador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9D9043-5CA1-D458-B997-3CCB61D1A827}"/>
              </a:ext>
            </a:extLst>
          </p:cNvPr>
          <p:cNvSpPr txBox="1"/>
          <p:nvPr/>
        </p:nvSpPr>
        <p:spPr>
          <a:xfrm>
            <a:off x="5069401" y="3844083"/>
            <a:ext cx="10236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Memória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A9ADDF2-4AB1-F646-76CC-F64D4F57A36B}"/>
              </a:ext>
            </a:extLst>
          </p:cNvPr>
          <p:cNvSpPr/>
          <p:nvPr/>
        </p:nvSpPr>
        <p:spPr>
          <a:xfrm>
            <a:off x="2396104" y="3030854"/>
            <a:ext cx="639938" cy="314794"/>
          </a:xfrm>
          <a:prstGeom prst="rightArrow">
            <a:avLst/>
          </a:prstGeom>
          <a:solidFill>
            <a:srgbClr val="A6F750"/>
          </a:solidFill>
          <a:ln>
            <a:solidFill>
              <a:srgbClr val="A6F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9" name="Google Shape;61;p14">
            <a:extLst>
              <a:ext uri="{FF2B5EF4-FFF2-40B4-BE49-F238E27FC236}">
                <a16:creationId xmlns:a16="http://schemas.microsoft.com/office/drawing/2014/main" id="{A02B3E4A-7813-BD52-2A94-7EFA9C039081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9401" y="2428306"/>
            <a:ext cx="1023637" cy="170053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FD632635-DBFB-3CA4-6549-FCC375BCC623}"/>
              </a:ext>
            </a:extLst>
          </p:cNvPr>
          <p:cNvSpPr/>
          <p:nvPr/>
        </p:nvSpPr>
        <p:spPr>
          <a:xfrm>
            <a:off x="4205819" y="3030854"/>
            <a:ext cx="639938" cy="314794"/>
          </a:xfrm>
          <a:prstGeom prst="rightArrow">
            <a:avLst/>
          </a:prstGeom>
          <a:solidFill>
            <a:srgbClr val="A6F750"/>
          </a:solidFill>
          <a:ln>
            <a:solidFill>
              <a:srgbClr val="A6F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88991CD-FC2B-4EDD-C6FF-C0B10B333B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6124" y="2217630"/>
            <a:ext cx="669699" cy="6696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B901C69-747C-E942-77FF-A54CD8959132}"/>
              </a:ext>
            </a:extLst>
          </p:cNvPr>
          <p:cNvSpPr txBox="1"/>
          <p:nvPr/>
        </p:nvSpPr>
        <p:spPr>
          <a:xfrm>
            <a:off x="6325823" y="3018973"/>
            <a:ext cx="439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OU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FA900E0-F0A8-0BB8-6B53-97DD6C0DFB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4445" y="2618002"/>
            <a:ext cx="1023637" cy="10236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17" grpId="0"/>
      <p:bldP spid="18" grpId="0" animBg="1"/>
      <p:bldP spid="20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C3D255F2-5E4D-2E91-8CAD-0746800BC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6A2E2BC3-ED33-40C9-1643-D886D9CA9404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Tipos de escalabilidade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5F5E5C3-8597-89A7-D8B2-2F7F5269B73D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Escalabilidade</a:t>
            </a:r>
          </a:p>
        </p:txBody>
      </p:sp>
      <p:pic>
        <p:nvPicPr>
          <p:cNvPr id="1026" name="Picture 2" descr="Azure platform resiliency - .NET | Microsoft Learn">
            <a:extLst>
              <a:ext uri="{FF2B5EF4-FFF2-40B4-BE49-F238E27FC236}">
                <a16:creationId xmlns:a16="http://schemas.microsoft.com/office/drawing/2014/main" id="{A206BB27-ED36-E712-0EB0-E362D5518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2300"/>
            <a:ext cx="91440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EE9037-2E4B-231A-3389-99735EDD044C}"/>
              </a:ext>
            </a:extLst>
          </p:cNvPr>
          <p:cNvSpPr txBox="1"/>
          <p:nvPr/>
        </p:nvSpPr>
        <p:spPr>
          <a:xfrm>
            <a:off x="240548" y="1014662"/>
            <a:ext cx="8723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Vamos começar!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Existem dois tipos de escalabilidades.</a:t>
            </a:r>
          </a:p>
        </p:txBody>
      </p:sp>
    </p:spTree>
    <p:extLst>
      <p:ext uri="{BB962C8B-B14F-4D97-AF65-F5344CB8AC3E}">
        <p14:creationId xmlns:p14="http://schemas.microsoft.com/office/powerpoint/2010/main" val="183020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275B1FB-CF9E-4FCD-A10A-15CB76CF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CBAFB1B-BE62-631E-6798-8EED0A6CBA2C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Escala Vertical (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Scale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Up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/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Down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)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34612398-B38F-A9A0-1A0D-56B6AA9C4A8F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Escalabilidade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DB0EF8-5C2E-9BA8-76A3-E1AF06EB3F80}"/>
              </a:ext>
            </a:extLst>
          </p:cNvPr>
          <p:cNvSpPr txBox="1"/>
          <p:nvPr/>
        </p:nvSpPr>
        <p:spPr>
          <a:xfrm>
            <a:off x="240548" y="1014662"/>
            <a:ext cx="87235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escala vertical é usada quando você precisa reagir rapidamente para consertar um problema de desempenho que não pode ser resolvido usando técnicas clássicas de otimização do banco de dados.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D7CD7F-39CE-FD59-7B3A-8357AE56A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2588911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8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D808D7C6-52B5-B53F-8606-CBB6BDC7D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B6FCE257-EDEA-396E-6368-841108AE9C51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Escala horizontal (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Scale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Out/In)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70723996-3F1F-025E-483C-FE717C428FF7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Escalabilidade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17034-9A58-30ED-0307-398830A14F55}"/>
              </a:ext>
            </a:extLst>
          </p:cNvPr>
          <p:cNvSpPr txBox="1"/>
          <p:nvPr/>
        </p:nvSpPr>
        <p:spPr>
          <a:xfrm>
            <a:off x="240548" y="1014662"/>
            <a:ext cx="87235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Escalar horizontalmente ou expandir, é quando não conseguimos obter recursos suficientes para as cargas de trabalho, mesmo operando nos níveis de desempenho mais altos.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9AA956-D312-0881-A6B0-972C4FD36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2588911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36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6537478-2D51-4D0D-9C47-01E1CD99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3234EB9-EE32-F13A-B6AC-5FD8A4CC4F98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Escalar dinamicamente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929E35E5-6704-117B-702B-CF1283C174B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Escalabilidade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502036-934F-6F83-A0E2-03D95CD327D9}"/>
              </a:ext>
            </a:extLst>
          </p:cNvPr>
          <p:cNvSpPr txBox="1"/>
          <p:nvPr/>
        </p:nvSpPr>
        <p:spPr>
          <a:xfrm>
            <a:off x="240548" y="1014662"/>
            <a:ext cx="87235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Facilita a sobrecarga de gerenciamento reduzindo a necessidade de os operadores do sistema tomarem decisões sobre a adição ou remoção de recursos ou a verificação do desempenho do sistema constantemente.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552EC8-87AD-A3E9-3ABF-38F2AC685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2588911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63A5216-32BD-275E-C3C0-11939A0F6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879722E1-D453-65B2-2559-16EA279A6589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Balanceamento de carga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C60D796-AC96-95C9-5D3D-E087458BB327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Escalabilidade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8FAE7-6D73-F293-405E-A1A35E81D7B4}"/>
              </a:ext>
            </a:extLst>
          </p:cNvPr>
          <p:cNvSpPr txBox="1"/>
          <p:nvPr/>
        </p:nvSpPr>
        <p:spPr>
          <a:xfrm>
            <a:off x="240548" y="1014662"/>
            <a:ext cx="87235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É a distribuição de cargas de trabalho em vários recursos de computação. O balanceamento de carga visa otimizar o uso de recursos, maximizar a taxa de transferência, minimizar o tempo de resposta e evitar sobrecarregar qualquer recurso único.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16BCF3-A654-24F4-F4B0-12DE6D1BA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2588911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3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301418" y="1178486"/>
            <a:ext cx="5255943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O que é Escalabilidade.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Escala vertical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Escala horizontal.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Escala dinâmica.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Balanceamento de carga.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02 | Escalabilidade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0D2383-73B2-D22B-BD7E-C2E2E8BAC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091" y="1260912"/>
            <a:ext cx="449440" cy="449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88E3F0-F627-DA7C-5D7A-1BC383D28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371" y="1198045"/>
            <a:ext cx="971818" cy="9718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98B6A0-CB39-E8C9-8B01-C03047FA1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325" y="1803902"/>
            <a:ext cx="449440" cy="449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10F0E1-A78B-3FF1-7295-085760D95E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3736" y="1442036"/>
            <a:ext cx="669240" cy="669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82D485-7D92-C712-2ED0-F7580E99D0BF}"/>
              </a:ext>
            </a:extLst>
          </p:cNvPr>
          <p:cNvSpPr txBox="1"/>
          <p:nvPr/>
        </p:nvSpPr>
        <p:spPr>
          <a:xfrm>
            <a:off x="6234264" y="1649405"/>
            <a:ext cx="10720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Processador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A0F5C-9887-92A1-1A26-0A0770FB7DFE}"/>
              </a:ext>
            </a:extLst>
          </p:cNvPr>
          <p:cNvSpPr txBox="1"/>
          <p:nvPr/>
        </p:nvSpPr>
        <p:spPr>
          <a:xfrm>
            <a:off x="6430533" y="2097071"/>
            <a:ext cx="6170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Memória</a:t>
            </a:r>
          </a:p>
        </p:txBody>
      </p:sp>
      <p:pic>
        <p:nvPicPr>
          <p:cNvPr id="12" name="Google Shape;61;p14">
            <a:extLst>
              <a:ext uri="{FF2B5EF4-FFF2-40B4-BE49-F238E27FC236}">
                <a16:creationId xmlns:a16="http://schemas.microsoft.com/office/drawing/2014/main" id="{6E0EB703-8443-3F2C-D74B-6F3F5E41ED56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9222" y="1213740"/>
            <a:ext cx="725836" cy="109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B5242DD9-4912-C218-F81C-271E63C68E11}"/>
              </a:ext>
            </a:extLst>
          </p:cNvPr>
          <p:cNvSpPr/>
          <p:nvPr/>
        </p:nvSpPr>
        <p:spPr>
          <a:xfrm>
            <a:off x="4810442" y="1676419"/>
            <a:ext cx="267141" cy="253518"/>
          </a:xfrm>
          <a:prstGeom prst="rightArrow">
            <a:avLst/>
          </a:prstGeom>
          <a:solidFill>
            <a:srgbClr val="A6F750"/>
          </a:solidFill>
          <a:ln>
            <a:solidFill>
              <a:srgbClr val="A6F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EB96247-9BF1-37B6-F1BE-B6D53F7A05C8}"/>
              </a:ext>
            </a:extLst>
          </p:cNvPr>
          <p:cNvSpPr/>
          <p:nvPr/>
        </p:nvSpPr>
        <p:spPr>
          <a:xfrm>
            <a:off x="6001043" y="1690867"/>
            <a:ext cx="267141" cy="253518"/>
          </a:xfrm>
          <a:prstGeom prst="rightArrow">
            <a:avLst/>
          </a:prstGeom>
          <a:solidFill>
            <a:srgbClr val="A6F750"/>
          </a:solidFill>
          <a:ln>
            <a:solidFill>
              <a:srgbClr val="A6F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BD6B90-B702-38B2-8657-C4B7543311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7897" y="1066310"/>
            <a:ext cx="414321" cy="4143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1CC691-94D3-28E2-EAB0-42278359D703}"/>
              </a:ext>
            </a:extLst>
          </p:cNvPr>
          <p:cNvSpPr txBox="1"/>
          <p:nvPr/>
        </p:nvSpPr>
        <p:spPr>
          <a:xfrm>
            <a:off x="7240161" y="1741738"/>
            <a:ext cx="3382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10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8D7F5E-E989-7EFA-B440-24AB7D795B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6231" y="1364465"/>
            <a:ext cx="824382" cy="824382"/>
          </a:xfrm>
          <a:prstGeom prst="rect">
            <a:avLst/>
          </a:prstGeom>
        </p:spPr>
      </p:pic>
      <p:pic>
        <p:nvPicPr>
          <p:cNvPr id="17" name="Picture 2" descr="Azure platform resiliency - .NET | Microsoft Learn">
            <a:extLst>
              <a:ext uri="{FF2B5EF4-FFF2-40B4-BE49-F238E27FC236}">
                <a16:creationId xmlns:a16="http://schemas.microsoft.com/office/drawing/2014/main" id="{25EBA846-155F-2C32-9C39-736B044C2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96" y="2957785"/>
            <a:ext cx="5196961" cy="184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583C914-A054-A771-85DF-EECA21AB67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3486" y="3309979"/>
            <a:ext cx="1072084" cy="10720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/>
      <p:bldP spid="9" grpId="0"/>
      <p:bldP spid="10" grpId="0"/>
      <p:bldP spid="11" grpId="0" animBg="1"/>
      <p:bldP spid="13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2898</TotalTime>
  <Words>278</Words>
  <Application>Microsoft Office PowerPoint</Application>
  <PresentationFormat>On-screen Show (16:9)</PresentationFormat>
  <Paragraphs>46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Fira Code</vt:lpstr>
      <vt:lpstr>Ubuntu Light</vt:lpstr>
      <vt:lpstr>Ubuntu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329</cp:revision>
  <dcterms:modified xsi:type="dcterms:W3CDTF">2025-03-16T20:19:57Z</dcterms:modified>
</cp:coreProperties>
</file>