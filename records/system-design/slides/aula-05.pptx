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8"/>
  </p:notesMasterIdLst>
  <p:sldIdLst>
    <p:sldId id="256" r:id="rId2"/>
    <p:sldId id="262" r:id="rId3"/>
    <p:sldId id="296" r:id="rId4"/>
    <p:sldId id="265" r:id="rId5"/>
    <p:sldId id="268" r:id="rId6"/>
    <p:sldId id="261" r:id="rId7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9"/>
      <p:bold r:id="rId10"/>
    </p:embeddedFont>
    <p:embeddedFont>
      <p:font typeface="Fira Code Light" panose="020B0809050000020004" pitchFamily="49" charset="0"/>
      <p:regular r:id="rId11"/>
    </p:embeddedFont>
    <p:embeddedFont>
      <p:font typeface="Ubuntu" panose="020B0504030602030204" pitchFamily="34" charset="0"/>
      <p:regular r:id="rId12"/>
      <p:bold r:id="rId13"/>
      <p:italic r:id="rId14"/>
      <p:boldItalic r:id="rId15"/>
    </p:embeddedFont>
    <p:embeddedFont>
      <p:font typeface="Ubuntu Light" panose="020B0304030602030204" pitchFamily="34" charset="0"/>
      <p:regular r:id="rId16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1F66E8F0-23AE-7846-C32E-7401E63F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694BC94-8871-A8AC-4FB0-916FAEA22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5B202E88-BA38-BF9E-886B-C449196ED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542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Este slide apresenta uma tabela comparativa simples com as principais diferenças entre bancos de dados relacionais e não relacionais.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6678118" y="3731617"/>
            <a:ext cx="2544136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05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Bancos de dados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Banco de dados relacionais.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Banco de dados não-relacionais.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Dados de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geolocalização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Banco de dados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Dados não-estruturados.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E7C560E3-5032-AD57-DA81-DDF542DB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905E9FE-1358-C067-E8CB-D41D23EE892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Banco de dados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84676C41-EB65-F970-591B-A14F737EF95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Banco de dados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F0BF11-BFB1-B25E-198E-DD607E2C4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1801786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2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/>
        </p:nvSpPr>
        <p:spPr>
          <a:xfrm>
            <a:off x="240549" y="124357"/>
            <a:ext cx="338802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Relacionais vs. Não Relacionais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240549" y="396113"/>
            <a:ext cx="4298906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Banco de dados</a:t>
            </a:r>
          </a:p>
        </p:txBody>
      </p:sp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661" y="3586534"/>
            <a:ext cx="8476434" cy="457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0"/>
          <p:cNvGrpSpPr/>
          <p:nvPr/>
        </p:nvGrpSpPr>
        <p:grpSpPr>
          <a:xfrm>
            <a:off x="240549" y="1657423"/>
            <a:ext cx="8582546" cy="1913091"/>
            <a:chOff x="243550" y="1397650"/>
            <a:chExt cx="7128250" cy="5398111"/>
          </a:xfrm>
        </p:grpSpPr>
        <p:sp>
          <p:nvSpPr>
            <p:cNvPr id="172" name="Google Shape;172;p10"/>
            <p:cNvSpPr/>
            <p:nvPr/>
          </p:nvSpPr>
          <p:spPr>
            <a:xfrm>
              <a:off x="243550" y="2629876"/>
              <a:ext cx="7128250" cy="4165885"/>
            </a:xfrm>
            <a:custGeom>
              <a:avLst/>
              <a:gdLst/>
              <a:ahLst/>
              <a:cxnLst/>
              <a:rect l="l" t="t" r="r" b="b"/>
              <a:pathLst>
                <a:path w="285130" h="67034" extrusionOk="0">
                  <a:moveTo>
                    <a:pt x="0" y="1"/>
                  </a:moveTo>
                  <a:lnTo>
                    <a:pt x="0" y="63311"/>
                  </a:lnTo>
                  <a:cubicBezTo>
                    <a:pt x="0" y="65359"/>
                    <a:pt x="1675" y="67034"/>
                    <a:pt x="3722" y="67034"/>
                  </a:cubicBezTo>
                  <a:lnTo>
                    <a:pt x="281407" y="67034"/>
                  </a:lnTo>
                  <a:cubicBezTo>
                    <a:pt x="283455" y="67034"/>
                    <a:pt x="285130" y="65359"/>
                    <a:pt x="285130" y="63311"/>
                  </a:cubicBezTo>
                  <a:lnTo>
                    <a:pt x="285130" y="1"/>
                  </a:ln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43550" y="2029650"/>
              <a:ext cx="7128250" cy="600250"/>
            </a:xfrm>
            <a:custGeom>
              <a:avLst/>
              <a:gdLst/>
              <a:ahLst/>
              <a:cxnLst/>
              <a:rect l="l" t="t" r="r" b="b"/>
              <a:pathLst>
                <a:path w="285130" h="24010" extrusionOk="0">
                  <a:moveTo>
                    <a:pt x="0" y="1"/>
                  </a:moveTo>
                  <a:lnTo>
                    <a:pt x="0" y="24010"/>
                  </a:lnTo>
                  <a:lnTo>
                    <a:pt x="285130" y="24010"/>
                  </a:lnTo>
                  <a:lnTo>
                    <a:pt x="285130" y="1"/>
                  </a:lnTo>
                  <a:close/>
                </a:path>
              </a:pathLst>
            </a:custGeom>
            <a:solidFill>
              <a:srgbClr val="383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243550" y="1397650"/>
              <a:ext cx="7128250" cy="632025"/>
            </a:xfrm>
            <a:custGeom>
              <a:avLst/>
              <a:gdLst/>
              <a:ahLst/>
              <a:cxnLst/>
              <a:rect l="l" t="t" r="r" b="b"/>
              <a:pathLst>
                <a:path w="285130" h="25281" extrusionOk="0">
                  <a:moveTo>
                    <a:pt x="3722" y="0"/>
                  </a:moveTo>
                  <a:cubicBezTo>
                    <a:pt x="1675" y="0"/>
                    <a:pt x="0" y="1644"/>
                    <a:pt x="0" y="3691"/>
                  </a:cubicBezTo>
                  <a:lnTo>
                    <a:pt x="0" y="25281"/>
                  </a:lnTo>
                  <a:lnTo>
                    <a:pt x="285130" y="25281"/>
                  </a:lnTo>
                  <a:lnTo>
                    <a:pt x="285130" y="3691"/>
                  </a:lnTo>
                  <a:cubicBezTo>
                    <a:pt x="285130" y="1644"/>
                    <a:pt x="283455" y="0"/>
                    <a:pt x="281407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5" name="Google Shape;175;p10"/>
          <p:cNvCxnSpPr/>
          <p:nvPr/>
        </p:nvCxnSpPr>
        <p:spPr>
          <a:xfrm>
            <a:off x="4539455" y="1881404"/>
            <a:ext cx="9092" cy="1689110"/>
          </a:xfrm>
          <a:prstGeom prst="straightConnector1">
            <a:avLst/>
          </a:prstGeom>
          <a:noFill/>
          <a:ln w="9525" cap="flat" cmpd="sng">
            <a:solidFill>
              <a:srgbClr val="6A6A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10"/>
          <p:cNvSpPr txBox="1"/>
          <p:nvPr/>
        </p:nvSpPr>
        <p:spPr>
          <a:xfrm>
            <a:off x="3917049" y="1615800"/>
            <a:ext cx="114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1200" b="1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Comparação</a:t>
            </a:r>
            <a:endParaRPr sz="1200" b="1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376391" y="1838975"/>
            <a:ext cx="402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1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Bancos Relacionais </a:t>
            </a:r>
            <a:endParaRPr sz="1000" b="1" i="0" u="none" strike="noStrike" cap="none">
              <a:solidFill>
                <a:schemeClr val="l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6062576" y="1838975"/>
            <a:ext cx="208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1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Bancos Não Relacionais</a:t>
            </a:r>
            <a:endParaRPr sz="1000" b="1" i="0" u="none" strike="noStrike" cap="none">
              <a:solidFill>
                <a:schemeClr val="l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4771750" y="2200950"/>
            <a:ext cx="3828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1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Vantagens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Flexibilidade de esquema;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Escalabilidade horizontal;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Diversidade de modelos para diferentes necessidades.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1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Desvantagens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Consistência eventual em alguns modelos;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Complexidade devido à diversidade de opções.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475549" y="2154750"/>
            <a:ext cx="3828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Vantagens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0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Integridade e segurança dos dados;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0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Padronização e ampla adoção da SQL.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00" b="0" i="0" u="none" strike="noStrike" cap="none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Desvantagens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0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Escalabilidade limitada;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0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Rigidez de esquema.</a:t>
            </a:r>
            <a:endParaRPr sz="1000" b="0" i="0" u="none" strike="noStrike" cap="none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8" y="1554212"/>
            <a:ext cx="5255943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Banco de dados relacional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Banco de dados nã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o 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relacional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Dados não estruturado.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Dados de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geolocalização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endParaRPr lang="pt-PT" b="1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 Light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Banco de dados</a:t>
            </a:r>
          </a:p>
        </p:txBody>
      </p:sp>
      <p:sp>
        <p:nvSpPr>
          <p:cNvPr id="4" name="Google Shape;194;p12">
            <a:extLst>
              <a:ext uri="{FF2B5EF4-FFF2-40B4-BE49-F238E27FC236}">
                <a16:creationId xmlns:a16="http://schemas.microsoft.com/office/drawing/2014/main" id="{E1BCB11D-E551-8054-970B-384D3ABBFAF4}"/>
              </a:ext>
            </a:extLst>
          </p:cNvPr>
          <p:cNvSpPr txBox="1"/>
          <p:nvPr/>
        </p:nvSpPr>
        <p:spPr>
          <a:xfrm>
            <a:off x="428789" y="3709238"/>
            <a:ext cx="525594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</a:pPr>
            <a:r>
              <a:rPr lang="pt-PT" b="1" i="1" u="sng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“Existe um banco de dados para resolver todos os nossos problemas?</a:t>
            </a:r>
          </a:p>
        </p:txBody>
      </p:sp>
      <p:pic>
        <p:nvPicPr>
          <p:cNvPr id="1028" name="Picture 4" descr="Características e tipos de banco de dados">
            <a:extLst>
              <a:ext uri="{FF2B5EF4-FFF2-40B4-BE49-F238E27FC236}">
                <a16:creationId xmlns:a16="http://schemas.microsoft.com/office/drawing/2014/main" id="{FE56BE83-2524-67B3-187B-374D264C2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976" y="899264"/>
            <a:ext cx="2571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3458</TotalTime>
  <Words>177</Words>
  <Application>Microsoft Office PowerPoint</Application>
  <PresentationFormat>On-screen Show (16:9)</PresentationFormat>
  <Paragraphs>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Ubuntu Light</vt:lpstr>
      <vt:lpstr>Fira Code Light</vt:lpstr>
      <vt:lpstr>Ubuntu</vt:lpstr>
      <vt:lpstr>Arial</vt:lpstr>
      <vt:lpstr>Fira Code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369</cp:revision>
  <dcterms:modified xsi:type="dcterms:W3CDTF">2025-04-05T09:46:34Z</dcterms:modified>
</cp:coreProperties>
</file>