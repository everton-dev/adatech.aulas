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6"/>
      <p:bold r:id="rId17"/>
    </p:embeddedFont>
    <p:embeddedFont>
      <p:font typeface="Fira Code Light" panose="020B0809050000020004" pitchFamily="49" charset="0"/>
      <p:regular r:id="rId18"/>
      <p:bold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Ubuntu Light" panose="020B0304030602030204" pitchFamily="34" charset="0"/>
      <p:regular r:id="rId24"/>
      <p:bold r:id="rId25"/>
      <p:italic r:id="rId26"/>
      <p:boldItalic r:id="rId27"/>
    </p:embeddedFont>
    <p:embeddedFont>
      <p:font typeface="Ubuntu Medium" panose="020B0604030602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rohcIT7dtgfDPOlCla7WAXRzk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Um banco de dados é uma coleção organizada de dados que permite a recuperação, atualização e análise eficiente dos dados. Este slide apresenta a analogia da biblioteca para explicar o conceito de banco de dados e alguns exemplos de uso em diferentes áreas.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O modelo relacional é um modelo de dados que organiza as informações em tabelas com linhas e colunas. Este slide apresenta um diagrama ER simples para ilustrar o conceito de tabelas, linhas, colunas e chaves.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1a64a41d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21a64a41d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SQL é a linguagem usada para gerenciar bancos de dados relacionais. Este slide apresenta exemplos práticos de consultas SQL com resultados visíveis.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ACID é um conjunto de propriedades que garantem que as transações sejam processadas de forma consistente e confiável. Este slide explica cada propriedade com exemplos do dia a dia.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1a64a41d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21a64a41d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Bancos de dados não relacionais possuem diferentes modelos de dados, como chave-valor, documento, coluna e grafo. Este slide apresenta diagramas simples para cada modelo.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Bancos de dados não relacionais são muito utilizados em Big Data, IoT, jogos, entre outras áreas. Este slide apresenta imagens ou ícones representando os principais casos de uso.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Este slide apresenta uma tabela comparativa detalhada, considerando volume de dados, velocidade, complexidade, consistência e esquema, para ajudar na escolha entre bancos de dados relacionais e não relacionais. Também inclui um exemplo prático de escolha de banco de dados em um cenário real.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Este slide apresenta uma tabela comparativa simples com as principais diferenças entre bancos de dados relacionais e não relacionais.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PT"/>
              <a:t>Este slide reforça as principais diferenças entre bancos de dados relacionais e não relacionais e apresenta um fluxograma simples para auxiliar na tomada de decisão. Também discute brevemente o futuro dos bancos de dados e a importância crescente dos NoSQL.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15"/>
          <p:cNvPicPr preferRelativeResize="0"/>
          <p:nvPr/>
        </p:nvPicPr>
        <p:blipFill rotWithShape="1">
          <a:blip r:embed="rId2">
            <a:alphaModFix/>
          </a:blip>
          <a:srcRect l="1341" t="11272" r="1342" b="11255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2">
            <a:alphaModFix/>
          </a:blip>
          <a:srcRect t="11380" b="-11378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7"/>
          <p:cNvPicPr preferRelativeResize="0"/>
          <p:nvPr/>
        </p:nvPicPr>
        <p:blipFill rotWithShape="1">
          <a:blip r:embed="rId2">
            <a:alphaModFix/>
          </a:blip>
          <a:srcRect t="10190" b="10197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8"/>
          <p:cNvPicPr preferRelativeResize="0"/>
          <p:nvPr/>
        </p:nvPicPr>
        <p:blipFill rotWithShape="1">
          <a:blip r:embed="rId2">
            <a:alphaModFix/>
          </a:blip>
          <a:srcRect t="10222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/>
        </p:nvSpPr>
        <p:spPr>
          <a:xfrm>
            <a:off x="4206525" y="3665342"/>
            <a:ext cx="4937475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Comparação entre bancos de dados relacionais e não relacionais</a:t>
            </a:r>
            <a:endParaRPr sz="1600" b="0" i="0" u="none" strike="noStrike" cap="none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"/>
            </a:endParaRPr>
          </a:p>
        </p:txBody>
      </p:sp>
      <p:grpSp>
        <p:nvGrpSpPr>
          <p:cNvPr id="43" name="Google Shape;43;p1"/>
          <p:cNvGrpSpPr/>
          <p:nvPr/>
        </p:nvGrpSpPr>
        <p:grpSpPr>
          <a:xfrm>
            <a:off x="4284425" y="4267792"/>
            <a:ext cx="4942500" cy="0"/>
            <a:chOff x="4251700" y="5140900"/>
            <a:chExt cx="4942500" cy="0"/>
          </a:xfrm>
        </p:grpSpPr>
        <p:cxnSp>
          <p:nvCxnSpPr>
            <p:cNvPr id="44" name="Google Shape;44;p1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2"/>
          <p:cNvGrpSpPr/>
          <p:nvPr/>
        </p:nvGrpSpPr>
        <p:grpSpPr>
          <a:xfrm>
            <a:off x="1288394" y="2427068"/>
            <a:ext cx="445693" cy="357355"/>
            <a:chOff x="1249800" y="282500"/>
            <a:chExt cx="4839225" cy="4809625"/>
          </a:xfrm>
        </p:grpSpPr>
        <p:sp>
          <p:nvSpPr>
            <p:cNvPr id="51" name="Google Shape;51;p2"/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1288557" y="2923802"/>
            <a:ext cx="445875" cy="353988"/>
            <a:chOff x="1212800" y="289900"/>
            <a:chExt cx="4883625" cy="4809625"/>
          </a:xfrm>
        </p:grpSpPr>
        <p:sp>
          <p:nvSpPr>
            <p:cNvPr id="55" name="Google Shape;55;p2"/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1304271" y="1955798"/>
            <a:ext cx="414871" cy="331383"/>
            <a:chOff x="1249800" y="260300"/>
            <a:chExt cx="4846625" cy="4809625"/>
          </a:xfrm>
        </p:grpSpPr>
        <p:sp>
          <p:nvSpPr>
            <p:cNvPr id="59" name="Google Shape;59;p2"/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1288334" y="1497717"/>
            <a:ext cx="445852" cy="359279"/>
            <a:chOff x="1249800" y="260300"/>
            <a:chExt cx="4809625" cy="4809625"/>
          </a:xfrm>
        </p:grpSpPr>
        <p:sp>
          <p:nvSpPr>
            <p:cNvPr id="63" name="Google Shape;63;p2"/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1288334" y="3365833"/>
            <a:ext cx="445852" cy="359279"/>
            <a:chOff x="1249800" y="297300"/>
            <a:chExt cx="4809625" cy="4809625"/>
          </a:xfrm>
        </p:grpSpPr>
        <p:sp>
          <p:nvSpPr>
            <p:cNvPr id="67" name="Google Shape;67;p2"/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endParaRPr>
            </a:p>
          </p:txBody>
        </p:sp>
      </p:grpSp>
      <p:sp>
        <p:nvSpPr>
          <p:cNvPr id="70" name="Google Shape;70;p2"/>
          <p:cNvSpPr txBox="1"/>
          <p:nvPr/>
        </p:nvSpPr>
        <p:spPr>
          <a:xfrm>
            <a:off x="1790532" y="1497724"/>
            <a:ext cx="5323941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Modelo 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r</a:t>
            </a: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elacional</a:t>
            </a:r>
            <a:endParaRPr sz="17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790532" y="1979366"/>
            <a:ext cx="532394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SQL – </a:t>
            </a:r>
            <a:r>
              <a:rPr lang="pt-PT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Structured</a:t>
            </a: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 </a:t>
            </a:r>
            <a:r>
              <a:rPr lang="pt-PT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Query</a:t>
            </a: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 </a:t>
            </a:r>
            <a:r>
              <a:rPr lang="pt-PT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Language</a:t>
            </a:r>
            <a:endParaRPr b="1" i="0" u="none" strike="noStrike" cap="none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Quattrocento Sans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790531" y="2431330"/>
            <a:ext cx="5323945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Modelos de 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d</a:t>
            </a: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ados não relacionais</a:t>
            </a:r>
            <a:endParaRPr sz="17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1790532" y="2946900"/>
            <a:ext cx="5323944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Relacionais vs. Não 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r</a:t>
            </a: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elacionais</a:t>
            </a:r>
            <a:endParaRPr sz="17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790531" y="3390994"/>
            <a:ext cx="5323943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Quattrocento Sans"/>
              </a:rPr>
              <a:t>Conclusão</a:t>
            </a:r>
            <a:endParaRPr sz="17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240549" y="396113"/>
            <a:ext cx="5810846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Aula 02 - </a:t>
            </a:r>
            <a:r>
              <a:rPr lang="pt-PT" sz="900" b="0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Comparação entre bancos de dados relacionais e não relacionais</a:t>
            </a:r>
            <a:endParaRPr sz="900" b="0" i="0" u="none" strike="noStrike" cap="none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Introdução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240549" y="396113"/>
            <a:ext cx="4331451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240549" y="1509936"/>
            <a:ext cx="4810422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PT" sz="1400" b="1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Analogia da Biblioteca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PT" sz="14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Um banco de dados pode ser visto como uma biblioteca, onde os dados são livros e as consultas são os empréstimos.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Exemplos de uso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PT" sz="14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Os bancos de dados são amplamente utilizados em várias áreas, incluindo finanças, saúde, logística e varejo.</a:t>
            </a:r>
            <a:endParaRPr/>
          </a:p>
        </p:txBody>
      </p:sp>
      <p:pic>
        <p:nvPicPr>
          <p:cNvPr id="84" name="Google Shape;84;p3" descr="Close-up de livros de capa dura em várias cores em pé verticalmente tiro de cima"/>
          <p:cNvPicPr preferRelativeResize="0"/>
          <p:nvPr/>
        </p:nvPicPr>
        <p:blipFill rotWithShape="1">
          <a:blip r:embed="rId3">
            <a:alphaModFix/>
          </a:blip>
          <a:srcRect l="19922" r="1436" b="-2"/>
          <a:stretch/>
        </p:blipFill>
        <p:spPr>
          <a:xfrm>
            <a:off x="5057637" y="939546"/>
            <a:ext cx="3845814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/>
        </p:nvSpPr>
        <p:spPr>
          <a:xfrm>
            <a:off x="240549" y="124357"/>
            <a:ext cx="449836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Modelo Relacional</a:t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240549" y="396113"/>
            <a:ext cx="493379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12624" y="2156100"/>
            <a:ext cx="4116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modelo relacional é um modelo de dados que organiza as informações em </a:t>
            </a:r>
            <a:r>
              <a:rPr lang="pt-PT" sz="1400" b="1" i="0" u="none" strike="noStrike" cap="none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tabelas 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 linhas, colunas e relacionamentos.</a:t>
            </a:r>
            <a:endParaRPr dirty="0"/>
          </a:p>
        </p:txBody>
      </p:sp>
      <p:pic>
        <p:nvPicPr>
          <p:cNvPr id="92" name="Google Shape;92;p4" descr="As bolhas de comunicação vermelhas com espaço de cópia são conectadas umas às outras com setas pretas. Esta imagem mostra as mídias sociais e a comunicação online entre as pessoas."/>
          <p:cNvPicPr preferRelativeResize="0"/>
          <p:nvPr/>
        </p:nvPicPr>
        <p:blipFill rotWithShape="1">
          <a:blip r:embed="rId3">
            <a:alphaModFix/>
          </a:blip>
          <a:srcRect l="3792" r="17567" b="-2"/>
          <a:stretch/>
        </p:blipFill>
        <p:spPr>
          <a:xfrm>
            <a:off x="4628937" y="939546"/>
            <a:ext cx="3845816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a64a41dd_0_1"/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SQL – Structured Query Language</a:t>
            </a:r>
            <a:endParaRPr sz="1600" b="0" i="0" u="none" strike="noStrike" cap="none">
              <a:solidFill>
                <a:srgbClr val="A6F750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98" name="Google Shape;98;g321a64a41dd_0_1"/>
          <p:cNvSpPr txBox="1"/>
          <p:nvPr/>
        </p:nvSpPr>
        <p:spPr>
          <a:xfrm>
            <a:off x="240549" y="396113"/>
            <a:ext cx="464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99" name="Google Shape;99;g321a64a41dd_0_1"/>
          <p:cNvSpPr txBox="1"/>
          <p:nvPr/>
        </p:nvSpPr>
        <p:spPr>
          <a:xfrm>
            <a:off x="240550" y="1433000"/>
            <a:ext cx="43749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PT" sz="1400" b="1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Bancos de Dados Relacionais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PT" sz="135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SQL é uma linguagem usada para gerenciar bancos de dados relacionais. </a:t>
            </a:r>
            <a:endParaRPr/>
          </a:p>
        </p:txBody>
      </p:sp>
      <p:pic>
        <p:nvPicPr>
          <p:cNvPr id="100" name="Google Shape;100;g321a64a41dd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750" y="2528525"/>
            <a:ext cx="5466500" cy="2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21a64a41dd_0_1"/>
          <p:cNvSpPr txBox="1"/>
          <p:nvPr/>
        </p:nvSpPr>
        <p:spPr>
          <a:xfrm>
            <a:off x="5051050" y="1359800"/>
            <a:ext cx="38493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PT" b="1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Instruções SQL</a:t>
            </a:r>
            <a:endParaRPr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 consulta SQL é usada para recuperar informações de um banco de dados.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/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ACID</a:t>
            </a:r>
            <a:endParaRPr/>
          </a:p>
        </p:txBody>
      </p:sp>
      <p:sp>
        <p:nvSpPr>
          <p:cNvPr id="107" name="Google Shape;107;g321a64a41dd_0_9"/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grpSp>
        <p:nvGrpSpPr>
          <p:cNvPr id="108" name="Google Shape;108;g321a64a41dd_0_9"/>
          <p:cNvGrpSpPr/>
          <p:nvPr/>
        </p:nvGrpSpPr>
        <p:grpSpPr>
          <a:xfrm>
            <a:off x="4818513" y="1089027"/>
            <a:ext cx="3559725" cy="1616125"/>
            <a:chOff x="4818513" y="1089027"/>
            <a:chExt cx="3559725" cy="1616125"/>
          </a:xfrm>
        </p:grpSpPr>
        <p:pic>
          <p:nvPicPr>
            <p:cNvPr id="109" name="Google Shape;109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8513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g321a64a41dd_0_9"/>
            <p:cNvSpPr txBox="1"/>
            <p:nvPr/>
          </p:nvSpPr>
          <p:spPr>
            <a:xfrm>
              <a:off x="5030913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C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1" name="Google Shape;111;g321a64a41dd_0_9"/>
            <p:cNvSpPr txBox="1"/>
            <p:nvPr/>
          </p:nvSpPr>
          <p:spPr>
            <a:xfrm>
              <a:off x="5640263" y="1226699"/>
              <a:ext cx="2469600" cy="115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Consistência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o sistema mantenha as regras definidas. Exemplo: código único de um registro na tabela.</a:t>
              </a:r>
              <a:endParaRPr sz="11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</p:grpSp>
      <p:grpSp>
        <p:nvGrpSpPr>
          <p:cNvPr id="112" name="Google Shape;112;g321a64a41dd_0_9"/>
          <p:cNvGrpSpPr/>
          <p:nvPr/>
        </p:nvGrpSpPr>
        <p:grpSpPr>
          <a:xfrm>
            <a:off x="4889363" y="3146427"/>
            <a:ext cx="3559725" cy="1616125"/>
            <a:chOff x="4889363" y="3146427"/>
            <a:chExt cx="3559725" cy="1616125"/>
          </a:xfrm>
        </p:grpSpPr>
        <p:pic>
          <p:nvPicPr>
            <p:cNvPr id="113" name="Google Shape;113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9363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g321a64a41dd_0_9"/>
            <p:cNvSpPr txBox="1"/>
            <p:nvPr/>
          </p:nvSpPr>
          <p:spPr>
            <a:xfrm>
              <a:off x="5101763" y="40139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D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5" name="Google Shape;115;g321a64a41dd_0_9"/>
            <p:cNvSpPr txBox="1"/>
            <p:nvPr/>
          </p:nvSpPr>
          <p:spPr>
            <a:xfrm>
              <a:off x="5711113" y="3284100"/>
              <a:ext cx="2469600" cy="99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Durabilidade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as transações confirmadas permaneçam permanentes. Exemplo: pagamento em loja virtual.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grpSp>
        <p:nvGrpSpPr>
          <p:cNvPr id="116" name="Google Shape;116;g321a64a41dd_0_9"/>
          <p:cNvGrpSpPr/>
          <p:nvPr/>
        </p:nvGrpSpPr>
        <p:grpSpPr>
          <a:xfrm>
            <a:off x="694900" y="1089027"/>
            <a:ext cx="3559725" cy="1616125"/>
            <a:chOff x="694900" y="1089027"/>
            <a:chExt cx="3559725" cy="1616125"/>
          </a:xfrm>
        </p:grpSpPr>
        <p:pic>
          <p:nvPicPr>
            <p:cNvPr id="117" name="Google Shape;117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900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g321a64a41dd_0_9"/>
            <p:cNvSpPr txBox="1"/>
            <p:nvPr/>
          </p:nvSpPr>
          <p:spPr>
            <a:xfrm>
              <a:off x="907300" y="19565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A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19" name="Google Shape;119;g321a64a41dd_0_9"/>
            <p:cNvSpPr txBox="1"/>
            <p:nvPr/>
          </p:nvSpPr>
          <p:spPr>
            <a:xfrm>
              <a:off x="1516650" y="1226700"/>
              <a:ext cx="2469600" cy="996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Atomicidade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Atomicidade garante que as transações sejam tratadas como uma única unidade indivisível.</a:t>
              </a: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  <p:grpSp>
        <p:nvGrpSpPr>
          <p:cNvPr id="120" name="Google Shape;120;g321a64a41dd_0_9"/>
          <p:cNvGrpSpPr/>
          <p:nvPr/>
        </p:nvGrpSpPr>
        <p:grpSpPr>
          <a:xfrm>
            <a:off x="734425" y="3146427"/>
            <a:ext cx="3559725" cy="1616125"/>
            <a:chOff x="734425" y="3146427"/>
            <a:chExt cx="3559725" cy="1616125"/>
          </a:xfrm>
        </p:grpSpPr>
        <p:pic>
          <p:nvPicPr>
            <p:cNvPr id="121" name="Google Shape;121;g321a64a41dd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4425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21a64a41dd_0_9"/>
            <p:cNvSpPr txBox="1"/>
            <p:nvPr/>
          </p:nvSpPr>
          <p:spPr>
            <a:xfrm>
              <a:off x="946825" y="4013950"/>
              <a:ext cx="3876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000">
                  <a:solidFill>
                    <a:srgbClr val="A6F750"/>
                  </a:solidFill>
                  <a:latin typeface="Ubuntu Medium"/>
                  <a:ea typeface="Ubuntu Medium"/>
                  <a:cs typeface="Ubuntu Medium"/>
                  <a:sym typeface="Ubuntu Medium"/>
                </a:rPr>
                <a:t>I</a:t>
              </a:r>
              <a:endParaRPr sz="3000">
                <a:solidFill>
                  <a:srgbClr val="A6F750"/>
                </a:solidFill>
                <a:latin typeface="Ubuntu Medium"/>
                <a:ea typeface="Ubuntu Medium"/>
                <a:cs typeface="Ubuntu Medium"/>
                <a:sym typeface="Ubuntu Medium"/>
              </a:endParaRPr>
            </a:p>
          </p:txBody>
        </p:sp>
        <p:sp>
          <p:nvSpPr>
            <p:cNvPr id="123" name="Google Shape;123;g321a64a41dd_0_9"/>
            <p:cNvSpPr txBox="1"/>
            <p:nvPr/>
          </p:nvSpPr>
          <p:spPr>
            <a:xfrm>
              <a:off x="1556175" y="3284099"/>
              <a:ext cx="2469600" cy="135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Isolamento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Garante que as transações em execução sejam isoladas de outras transações em execução simultânea. Exemplo: Débito na conta de um cliente.</a:t>
              </a:r>
              <a:endParaRPr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1a64a41dd_0_38"/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Modelos de Dados - </a:t>
            </a:r>
            <a:r>
              <a:rPr lang="pt-PT" sz="1600" b="0" i="0" u="none" strike="noStrike" cap="none" dirty="0" err="1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NoSQL</a:t>
            </a:r>
            <a:endParaRPr dirty="0"/>
          </a:p>
        </p:txBody>
      </p:sp>
      <p:sp>
        <p:nvSpPr>
          <p:cNvPr id="129" name="Google Shape;129;g321a64a41dd_0_38"/>
          <p:cNvSpPr txBox="1"/>
          <p:nvPr/>
        </p:nvSpPr>
        <p:spPr>
          <a:xfrm>
            <a:off x="240550" y="396113"/>
            <a:ext cx="433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grpSp>
        <p:nvGrpSpPr>
          <p:cNvPr id="130" name="Google Shape;130;g321a64a41dd_0_38"/>
          <p:cNvGrpSpPr/>
          <p:nvPr/>
        </p:nvGrpSpPr>
        <p:grpSpPr>
          <a:xfrm>
            <a:off x="1656050" y="3947263"/>
            <a:ext cx="6811125" cy="812875"/>
            <a:chOff x="1656050" y="3947263"/>
            <a:chExt cx="6811125" cy="812875"/>
          </a:xfrm>
        </p:grpSpPr>
        <p:sp>
          <p:nvSpPr>
            <p:cNvPr id="131" name="Google Shape;131;g321a64a41dd_0_38"/>
            <p:cNvSpPr txBox="1"/>
            <p:nvPr/>
          </p:nvSpPr>
          <p:spPr>
            <a:xfrm>
              <a:off x="1656050" y="4007350"/>
              <a:ext cx="5922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 b="1" i="0" u="none" strike="noStrike" cap="none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Modelo de Grafo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 b="0" i="0" u="none" strike="noStrike" cap="none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É um modelo ideal para dados altamente conectados, como redes sociais e sistemas de recomendação.</a:t>
              </a:r>
              <a:endParaRPr/>
            </a:p>
          </p:txBody>
        </p:sp>
        <p:pic>
          <p:nvPicPr>
            <p:cNvPr id="132" name="Google Shape;132;g321a64a41dd_0_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54300" y="3947263"/>
              <a:ext cx="812875" cy="812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g321a64a41dd_0_38"/>
          <p:cNvGrpSpPr/>
          <p:nvPr/>
        </p:nvGrpSpPr>
        <p:grpSpPr>
          <a:xfrm>
            <a:off x="525050" y="1109400"/>
            <a:ext cx="7007625" cy="813000"/>
            <a:chOff x="525050" y="1109400"/>
            <a:chExt cx="7007625" cy="813000"/>
          </a:xfrm>
        </p:grpSpPr>
        <p:pic>
          <p:nvPicPr>
            <p:cNvPr id="134" name="Google Shape;134;g321a64a41dd_0_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050" y="1109450"/>
              <a:ext cx="812875" cy="81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g321a64a41dd_0_38"/>
            <p:cNvSpPr txBox="1"/>
            <p:nvPr/>
          </p:nvSpPr>
          <p:spPr>
            <a:xfrm>
              <a:off x="1609775" y="1109400"/>
              <a:ext cx="5922900" cy="8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Modelo de Chave-Valor</a:t>
              </a:r>
              <a:endParaRPr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Este modelo armazena dados em pares de chave-valor, tornando-o eficiente para armazenar e recuperar dados simples.</a:t>
              </a:r>
              <a:endParaRPr/>
            </a:p>
          </p:txBody>
        </p:sp>
      </p:grpSp>
      <p:grpSp>
        <p:nvGrpSpPr>
          <p:cNvPr id="136" name="Google Shape;136;g321a64a41dd_0_38"/>
          <p:cNvGrpSpPr/>
          <p:nvPr/>
        </p:nvGrpSpPr>
        <p:grpSpPr>
          <a:xfrm>
            <a:off x="1609850" y="2074800"/>
            <a:ext cx="6857325" cy="812875"/>
            <a:chOff x="1609850" y="2074800"/>
            <a:chExt cx="6857325" cy="812875"/>
          </a:xfrm>
        </p:grpSpPr>
        <p:pic>
          <p:nvPicPr>
            <p:cNvPr id="137" name="Google Shape;137;g321a64a41dd_0_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654300" y="2074800"/>
              <a:ext cx="812875" cy="81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g321a64a41dd_0_38"/>
            <p:cNvSpPr txBox="1"/>
            <p:nvPr/>
          </p:nvSpPr>
          <p:spPr>
            <a:xfrm>
              <a:off x="1609850" y="2146300"/>
              <a:ext cx="59229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Modelo de Documento</a:t>
              </a:r>
              <a:endParaRPr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É um modelo flexível que armazena dados em documentos semelhantes a JSON. Este modelo é ideal para armazenar dados semiestruturados. </a:t>
              </a:r>
              <a:endParaRPr/>
            </a:p>
          </p:txBody>
        </p:sp>
      </p:grpSp>
      <p:grpSp>
        <p:nvGrpSpPr>
          <p:cNvPr id="139" name="Google Shape;139;g321a64a41dd_0_38"/>
          <p:cNvGrpSpPr/>
          <p:nvPr/>
        </p:nvGrpSpPr>
        <p:grpSpPr>
          <a:xfrm>
            <a:off x="525048" y="3098025"/>
            <a:ext cx="7053902" cy="812875"/>
            <a:chOff x="525048" y="3098025"/>
            <a:chExt cx="7053902" cy="812875"/>
          </a:xfrm>
        </p:grpSpPr>
        <p:pic>
          <p:nvPicPr>
            <p:cNvPr id="140" name="Google Shape;140;g321a64a41dd_0_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5048" y="3098025"/>
              <a:ext cx="812875" cy="81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g321a64a41dd_0_38"/>
            <p:cNvSpPr txBox="1"/>
            <p:nvPr/>
          </p:nvSpPr>
          <p:spPr>
            <a:xfrm>
              <a:off x="1656050" y="3205962"/>
              <a:ext cx="59229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Modelo de Coluna (“Tabelão”)</a:t>
              </a:r>
              <a:endParaRPr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É um modelo otimizado para consultas analíticas em larga escala.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Use Cases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240550" y="396113"/>
            <a:ext cx="422985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grpSp>
        <p:nvGrpSpPr>
          <p:cNvPr id="148" name="Google Shape;148;p8"/>
          <p:cNvGrpSpPr/>
          <p:nvPr/>
        </p:nvGrpSpPr>
        <p:grpSpPr>
          <a:xfrm>
            <a:off x="1150025" y="925900"/>
            <a:ext cx="6804575" cy="785100"/>
            <a:chOff x="1150025" y="925900"/>
            <a:chExt cx="6804575" cy="785100"/>
          </a:xfrm>
        </p:grpSpPr>
        <p:sp>
          <p:nvSpPr>
            <p:cNvPr id="149" name="Google Shape;149;p8"/>
            <p:cNvSpPr txBox="1"/>
            <p:nvPr/>
          </p:nvSpPr>
          <p:spPr>
            <a:xfrm>
              <a:off x="2317000" y="925900"/>
              <a:ext cx="56376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300" b="1" i="0" u="none" strike="noStrike" cap="none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Big Data</a:t>
              </a:r>
              <a:endParaRPr sz="13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300" b="0" i="0" u="none" strike="noStrike" cap="none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Bancos de dados não relacionais são amplamente utilizados em Big Data.</a:t>
              </a:r>
              <a:endParaRPr sz="1300"/>
            </a:p>
          </p:txBody>
        </p:sp>
        <p:pic>
          <p:nvPicPr>
            <p:cNvPr id="150" name="Google Shape;150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50025" y="935825"/>
              <a:ext cx="734875" cy="734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8"/>
          <p:cNvGrpSpPr/>
          <p:nvPr/>
        </p:nvGrpSpPr>
        <p:grpSpPr>
          <a:xfrm>
            <a:off x="1150025" y="1906725"/>
            <a:ext cx="6804575" cy="1178100"/>
            <a:chOff x="1150025" y="1906725"/>
            <a:chExt cx="6804575" cy="1178100"/>
          </a:xfrm>
        </p:grpSpPr>
        <p:pic>
          <p:nvPicPr>
            <p:cNvPr id="152" name="Google Shape;1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50025" y="2128344"/>
              <a:ext cx="734863" cy="734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8"/>
            <p:cNvSpPr txBox="1"/>
            <p:nvPr/>
          </p:nvSpPr>
          <p:spPr>
            <a:xfrm>
              <a:off x="2317000" y="1906725"/>
              <a:ext cx="5637600" cy="117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300" b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IoT</a:t>
              </a:r>
              <a:endParaRPr sz="1300" b="1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30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Bancos de dados não relacionais são ideais para armazenar e gerenciar dados de IoT, que podem ser altamente complexos, variáveis e em volume maciço, oferecendo alta escalabilidade e flexibilidade.</a:t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150025" y="3280550"/>
            <a:ext cx="6804575" cy="1413900"/>
            <a:chOff x="1150025" y="3280550"/>
            <a:chExt cx="6804575" cy="1413900"/>
          </a:xfrm>
        </p:grpSpPr>
        <p:pic>
          <p:nvPicPr>
            <p:cNvPr id="155" name="Google Shape;155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50025" y="3620063"/>
              <a:ext cx="734875" cy="734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8"/>
            <p:cNvSpPr txBox="1"/>
            <p:nvPr/>
          </p:nvSpPr>
          <p:spPr>
            <a:xfrm>
              <a:off x="2317000" y="3280550"/>
              <a:ext cx="5637600" cy="14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300" b="1">
                  <a:solidFill>
                    <a:srgbClr val="A6F750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Jogos</a:t>
              </a:r>
              <a:endParaRPr sz="13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300">
                  <a:solidFill>
                    <a:schemeClr val="lt1"/>
                  </a:solidFill>
                  <a:latin typeface="Fira Code Light"/>
                  <a:ea typeface="Fira Code Light"/>
                  <a:cs typeface="Fira Code Light"/>
                  <a:sym typeface="Fira Code Light"/>
                </a:rPr>
                <a:t>Bancos de dados não relacionais são amplamente utilizados em jogos, para armazenar e gerenciar informações do jogador, como pontuações, conquistas, níveis, itens, entre outros, oferecendo alta escalabilidade e desempenho.</a:t>
              </a:r>
              <a:endParaRPr sz="13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Quando Usar Qual Tipo?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240550" y="396113"/>
            <a:ext cx="433145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70450" y="1094100"/>
            <a:ext cx="6803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 escolha entre bancos de dados relacionais e não relacionais pode ser baseada em vários fatores, </a:t>
            </a:r>
            <a:r>
              <a:rPr lang="pt-PT" sz="20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como: </a:t>
            </a: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==&gt; </a:t>
            </a:r>
            <a:r>
              <a:rPr lang="pt-PT" sz="2000" b="0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volume </a:t>
            </a: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 dados</a:t>
            </a:r>
            <a:r>
              <a:rPr lang="pt-PT" sz="20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;</a:t>
            </a: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==&gt; </a:t>
            </a:r>
            <a:r>
              <a:rPr lang="pt-PT" sz="2000" b="0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velocidade</a:t>
            </a:r>
            <a:r>
              <a:rPr lang="pt-PT" sz="20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;</a:t>
            </a: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==&gt;</a:t>
            </a: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</a:t>
            </a:r>
            <a:r>
              <a:rPr lang="pt-PT" sz="2000" b="0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complexidade</a:t>
            </a:r>
            <a:r>
              <a:rPr lang="pt-PT" sz="20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;</a:t>
            </a: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==&gt;</a:t>
            </a: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</a:t>
            </a:r>
            <a:r>
              <a:rPr lang="pt-PT" sz="2000" b="0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consistência</a:t>
            </a:r>
            <a:r>
              <a:rPr lang="pt-PT" sz="20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;</a:t>
            </a:r>
            <a:endParaRPr sz="200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==&gt;</a:t>
            </a: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</a:t>
            </a:r>
            <a:r>
              <a:rPr lang="pt-PT" sz="2000" b="0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esquema</a:t>
            </a:r>
            <a:r>
              <a:rPr lang="pt-PT" sz="20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240549" y="124357"/>
            <a:ext cx="338802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Relacionais vs. Não Relacionais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240549" y="396113"/>
            <a:ext cx="4298906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661" y="3586534"/>
            <a:ext cx="8476434" cy="45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0"/>
          <p:cNvGrpSpPr/>
          <p:nvPr/>
        </p:nvGrpSpPr>
        <p:grpSpPr>
          <a:xfrm>
            <a:off x="240549" y="1657423"/>
            <a:ext cx="8582546" cy="1913091"/>
            <a:chOff x="243550" y="1397650"/>
            <a:chExt cx="7128250" cy="5398111"/>
          </a:xfrm>
        </p:grpSpPr>
        <p:sp>
          <p:nvSpPr>
            <p:cNvPr id="172" name="Google Shape;172;p10"/>
            <p:cNvSpPr/>
            <p:nvPr/>
          </p:nvSpPr>
          <p:spPr>
            <a:xfrm>
              <a:off x="243550" y="2629876"/>
              <a:ext cx="7128250" cy="4165885"/>
            </a:xfrm>
            <a:custGeom>
              <a:avLst/>
              <a:gdLst/>
              <a:ahLst/>
              <a:cxnLst/>
              <a:rect l="l" t="t" r="r" b="b"/>
              <a:pathLst>
                <a:path w="285130" h="67034" extrusionOk="0">
                  <a:moveTo>
                    <a:pt x="0" y="1"/>
                  </a:moveTo>
                  <a:lnTo>
                    <a:pt x="0" y="63311"/>
                  </a:lnTo>
                  <a:cubicBezTo>
                    <a:pt x="0" y="65359"/>
                    <a:pt x="1675" y="67034"/>
                    <a:pt x="3722" y="67034"/>
                  </a:cubicBezTo>
                  <a:lnTo>
                    <a:pt x="281407" y="67034"/>
                  </a:lnTo>
                  <a:cubicBezTo>
                    <a:pt x="283455" y="67034"/>
                    <a:pt x="285130" y="65359"/>
                    <a:pt x="285130" y="63311"/>
                  </a:cubicBezTo>
                  <a:lnTo>
                    <a:pt x="285130" y="1"/>
                  </a:ln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43550" y="2029650"/>
              <a:ext cx="7128250" cy="600250"/>
            </a:xfrm>
            <a:custGeom>
              <a:avLst/>
              <a:gdLst/>
              <a:ahLst/>
              <a:cxnLst/>
              <a:rect l="l" t="t" r="r" b="b"/>
              <a:pathLst>
                <a:path w="285130" h="24010" extrusionOk="0">
                  <a:moveTo>
                    <a:pt x="0" y="1"/>
                  </a:moveTo>
                  <a:lnTo>
                    <a:pt x="0" y="24010"/>
                  </a:lnTo>
                  <a:lnTo>
                    <a:pt x="285130" y="24010"/>
                  </a:lnTo>
                  <a:lnTo>
                    <a:pt x="285130" y="1"/>
                  </a:lnTo>
                  <a:close/>
                </a:path>
              </a:pathLst>
            </a:custGeom>
            <a:solidFill>
              <a:srgbClr val="383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243550" y="1397650"/>
              <a:ext cx="7128250" cy="632025"/>
            </a:xfrm>
            <a:custGeom>
              <a:avLst/>
              <a:gdLst/>
              <a:ahLst/>
              <a:cxnLst/>
              <a:rect l="l" t="t" r="r" b="b"/>
              <a:pathLst>
                <a:path w="285130" h="25281" extrusionOk="0">
                  <a:moveTo>
                    <a:pt x="3722" y="0"/>
                  </a:moveTo>
                  <a:cubicBezTo>
                    <a:pt x="1675" y="0"/>
                    <a:pt x="0" y="1644"/>
                    <a:pt x="0" y="3691"/>
                  </a:cubicBezTo>
                  <a:lnTo>
                    <a:pt x="0" y="25281"/>
                  </a:lnTo>
                  <a:lnTo>
                    <a:pt x="285130" y="25281"/>
                  </a:lnTo>
                  <a:lnTo>
                    <a:pt x="285130" y="3691"/>
                  </a:lnTo>
                  <a:cubicBezTo>
                    <a:pt x="285130" y="1644"/>
                    <a:pt x="283455" y="0"/>
                    <a:pt x="281407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5" name="Google Shape;175;p10"/>
          <p:cNvCxnSpPr/>
          <p:nvPr/>
        </p:nvCxnSpPr>
        <p:spPr>
          <a:xfrm>
            <a:off x="4539455" y="1881404"/>
            <a:ext cx="9092" cy="1689110"/>
          </a:xfrm>
          <a:prstGeom prst="straightConnector1">
            <a:avLst/>
          </a:prstGeom>
          <a:noFill/>
          <a:ln w="9525" cap="flat" cmpd="sng">
            <a:solidFill>
              <a:srgbClr val="6A6A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10"/>
          <p:cNvSpPr txBox="1"/>
          <p:nvPr/>
        </p:nvSpPr>
        <p:spPr>
          <a:xfrm>
            <a:off x="3917049" y="1615800"/>
            <a:ext cx="114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1200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Comparação</a:t>
            </a:r>
            <a:endParaRPr sz="1200" b="1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76391" y="1838975"/>
            <a:ext cx="40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Bancos Relacionais </a:t>
            </a:r>
            <a:endParaRPr sz="1000" b="1" i="0" u="none" strike="noStrike" cap="none">
              <a:solidFill>
                <a:schemeClr val="l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6062576" y="1838975"/>
            <a:ext cx="208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Bancos Não Relacionais</a:t>
            </a:r>
            <a:endParaRPr sz="1000" b="1" i="0" u="none" strike="noStrike" cap="none">
              <a:solidFill>
                <a:schemeClr val="l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4771750" y="2200950"/>
            <a:ext cx="3828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1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Vantagens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Flexibilidade de esquema;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 horizontal;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Diversidade de modelos para diferentes necessidades.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1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Desvantagens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Consistência eventual em alguns modelos;</a:t>
            </a:r>
            <a:endParaRPr sz="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Complexidade devido à diversidade de opções.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475549" y="2154750"/>
            <a:ext cx="382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Vantagens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Integridade e segurança dos dados;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Padronização e ampla adoção da SQL.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00" b="0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Desvantagens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 limitada;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PT" sz="1000" b="0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Rigidez de esquema.</a:t>
            </a:r>
            <a:endParaRPr sz="1000" b="0" i="0" u="none" strike="noStrike" cap="none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240549" y="124357"/>
            <a:ext cx="563773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Conclusão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240550" y="396113"/>
            <a:ext cx="443305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Aula 02 - </a:t>
            </a:r>
            <a:r>
              <a:rPr lang="pt-PT" sz="9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Comparação entre bancos de dados relacionais e não relacionais</a:t>
            </a:r>
            <a:endParaRPr sz="9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240550" y="2017650"/>
            <a:ext cx="8531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Diferenças entre bancos de dados relacionais e não relacionais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 escolha do tipo de banco de dados depende das necessidades do projeto.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A6F750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O futuro dos bancos de dados e a importância crescente dos NoSQL</a:t>
            </a:r>
            <a:endParaRPr sz="1200" b="1" i="0" u="none" strike="noStrike" cap="none">
              <a:solidFill>
                <a:srgbClr val="A6F750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 de grandes volumes de dados não estruturados</a:t>
            </a:r>
            <a:r>
              <a:rPr lang="pt-PT" sz="1200" b="0" i="0" u="none" strike="noStrike" cap="none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240549" y="124357"/>
            <a:ext cx="5637600" cy="431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 Geral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40549" y="396113"/>
            <a:ext cx="457819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PT" sz="900" b="0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Aula 02 - </a:t>
            </a:r>
            <a:r>
              <a:rPr lang="pt-PT" sz="900" b="0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Comparação entre bancos de dados relacionais e não relacionais</a:t>
            </a:r>
            <a:endParaRPr sz="900" b="0" i="0" u="none" strike="noStrike" cap="none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40549" y="1402211"/>
            <a:ext cx="48105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modelo relacional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SQL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ACID: Atomicidade, Consistência, Integridade e Durabilidade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Modelos de Dados -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NoSQL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: Chave e valor, documento, coluna e Grafo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Use Cases: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Big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Data,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IoT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e Jogos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Quando usar cada tipo de banco de dados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95" name="Google Shape;19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971" y="719239"/>
            <a:ext cx="3788229" cy="3788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/>
        </p:nvSpPr>
        <p:spPr>
          <a:xfrm>
            <a:off x="3492150" y="2210090"/>
            <a:ext cx="219745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PT" sz="3500" b="0" i="0" u="none" strike="noStrike" cap="none">
                <a:solidFill>
                  <a:srgbClr val="A6F750"/>
                </a:solidFill>
                <a:latin typeface="Ubuntu Light"/>
                <a:ea typeface="Ubuntu Light"/>
                <a:cs typeface="Ubuntu Light"/>
                <a:sym typeface="Ubuntu Light"/>
              </a:rPr>
              <a:t>Obrigado!</a:t>
            </a:r>
            <a:endParaRPr sz="3500" b="0" i="0" u="none" strike="noStrike" cap="none">
              <a:solidFill>
                <a:srgbClr val="A6F750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1097</Words>
  <Application>Microsoft Office PowerPoint</Application>
  <PresentationFormat>On-screen Show (16:9)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Fira Code</vt:lpstr>
      <vt:lpstr>Ubuntu Medium</vt:lpstr>
      <vt:lpstr>Arial</vt:lpstr>
      <vt:lpstr>Ubuntu Light</vt:lpstr>
      <vt:lpstr>Fira Code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</cp:revision>
  <dcterms:modified xsi:type="dcterms:W3CDTF">2025-01-05T12:53:51Z</dcterms:modified>
</cp:coreProperties>
</file>