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3"/>
  </p:notesMasterIdLst>
  <p:sldIdLst>
    <p:sldId id="256" r:id="rId2"/>
    <p:sldId id="262" r:id="rId3"/>
    <p:sldId id="257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61" r:id="rId12"/>
  </p:sldIdLst>
  <p:sldSz cx="9144000" cy="5143500" type="screen16x9"/>
  <p:notesSz cx="6858000" cy="9144000"/>
  <p:embeddedFontLst>
    <p:embeddedFont>
      <p:font typeface="Fira Code Light" panose="020B0809050000020004" pitchFamily="49" charset="0"/>
      <p:regular r:id="rId14"/>
      <p:bold r:id="rId15"/>
    </p:embeddedFont>
    <p:embeddedFont>
      <p:font typeface="Segoe UI" panose="020B0502040204020203" pitchFamily="34" charset="0"/>
      <p:regular r:id="rId16"/>
      <p:bold r:id="rId17"/>
      <p:italic r:id="rId18"/>
      <p:boldItalic r:id="rId19"/>
    </p:embeddedFont>
    <p:embeddedFont>
      <p:font typeface="Ubuntu" panose="020B0504030602030204" pitchFamily="34" charset="0"/>
      <p:regular r:id="rId20"/>
      <p:bold r:id="rId21"/>
      <p:italic r:id="rId22"/>
      <p:boldItalic r:id="rId23"/>
    </p:embeddedFont>
    <p:embeddedFont>
      <p:font typeface="Ubuntu Light" panose="020B03040306020302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F7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2" d="100"/>
          <a:sy n="132" d="100"/>
        </p:scale>
        <p:origin x="101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37e3f2783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37e3f2783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pt-PT" dirty="0"/>
              <a:t>Um banco de dados é como uma biblioteca digital organizada. Nele, você armazena informações de forma estruturada e fácil de encontrar. Uma planilha do Excel é um exemplo simples de banco de dados.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0">
              <a:buNone/>
            </a:pPr>
            <a:r>
              <a:rPr lang="pt-PT" dirty="0"/>
              <a:t>A nuvem é um conjunto de servidores conectados à internet. Você armazena seus dados na nuvem e </a:t>
            </a:r>
            <a:r>
              <a:rPr lang="pt-PT" dirty="0" err="1"/>
              <a:t>acessa</a:t>
            </a:r>
            <a:r>
              <a:rPr lang="pt-PT" dirty="0"/>
              <a:t> de qualquer lugar. O Google Drive é um serviço de armazenamento em nuvem.</a:t>
            </a:r>
          </a:p>
        </p:txBody>
      </p:sp>
    </p:spTree>
    <p:extLst>
      <p:ext uri="{BB962C8B-B14F-4D97-AF65-F5344CB8AC3E}">
        <p14:creationId xmlns:p14="http://schemas.microsoft.com/office/powerpoint/2010/main" val="787727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pt-PT" dirty="0"/>
              <a:t>Existem muitos serviços em nuvem que você pode usar no seu dia a dia, como e-mail (</a:t>
            </a:r>
            <a:r>
              <a:rPr lang="pt-PT" dirty="0" err="1"/>
              <a:t>Gmail</a:t>
            </a:r>
            <a:r>
              <a:rPr lang="pt-PT" dirty="0"/>
              <a:t>, Outlook), documentos (Google </a:t>
            </a:r>
            <a:r>
              <a:rPr lang="pt-PT" dirty="0" err="1"/>
              <a:t>Docs</a:t>
            </a:r>
            <a:r>
              <a:rPr lang="pt-PT" dirty="0"/>
              <a:t>, Microsoft Word Online) e fotos (Google Fotos, Dropbox).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976802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pt-PT" dirty="0"/>
              <a:t>Os bancos de dados na nuvem combinam as vantagens dos bancos de dados com a flexibilidade da nuvem. Por exemplo, um banco de dados de clientes armazenado na nuvem pode ser </a:t>
            </a:r>
            <a:r>
              <a:rPr lang="pt-PT" dirty="0" err="1"/>
              <a:t>acessado</a:t>
            </a:r>
            <a:r>
              <a:rPr lang="pt-PT" dirty="0"/>
              <a:t> por diferentes equipes.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196495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0">
              <a:buNone/>
            </a:pPr>
            <a:r>
              <a:rPr lang="pt-PT" dirty="0"/>
              <a:t>Os bancos de dados na nuvem oferecem várias vantagens em relação aos bancos de dados tradicionais. Eles são altamente acessíveis, escaláveis, econômicos e seguros. Isso significa que as empresas podem </a:t>
            </a:r>
            <a:r>
              <a:rPr lang="pt-PT" dirty="0" err="1"/>
              <a:t>acessar</a:t>
            </a:r>
            <a:r>
              <a:rPr lang="pt-PT" dirty="0"/>
              <a:t> e armazenar seus dados de forma fácil e segura sem gastar muito dinheiro.</a:t>
            </a:r>
          </a:p>
        </p:txBody>
      </p:sp>
    </p:spTree>
    <p:extLst>
      <p:ext uri="{BB962C8B-B14F-4D97-AF65-F5344CB8AC3E}">
        <p14:creationId xmlns:p14="http://schemas.microsoft.com/office/powerpoint/2010/main" val="3773728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pt-PT" dirty="0"/>
              <a:t>Embora haja muitas vantagens em usar bancos de dados na nuvem, há alguns desafios a serem considerados. A dependência da internet pode ser um problema, bem como a segurança e os custos a longo prazo. É importante escolher um provedor confiável e garantir que seus dados estejam seguros.</a:t>
            </a:r>
          </a:p>
        </p:txBody>
      </p:sp>
    </p:spTree>
    <p:extLst>
      <p:ext uri="{BB962C8B-B14F-4D97-AF65-F5344CB8AC3E}">
        <p14:creationId xmlns:p14="http://schemas.microsoft.com/office/powerpoint/2010/main" val="36536754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pt-PT" dirty="0"/>
              <a:t>Os bancos de dados na nuvem são particularmente úteis em cenários de e-commerce e aplicativos móveis. Eles permitem que as empresas armazenem dados de produtos, clientes e usuários de forma eficiente e segura, o que é essencial para o sucesso nesses mercados altamente competitivos.</a:t>
            </a:r>
          </a:p>
        </p:txBody>
      </p:sp>
    </p:spTree>
    <p:extLst>
      <p:ext uri="{BB962C8B-B14F-4D97-AF65-F5344CB8AC3E}">
        <p14:creationId xmlns:p14="http://schemas.microsoft.com/office/powerpoint/2010/main" val="18261042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pt-PT" dirty="0"/>
              <a:t>Os bancos de dados na nuvem são particularmente úteis em cenários de e-commerce e aplicativos móveis. Eles permitem que as empresas armazenem dados de produtos, clientes e usuários de forma eficiente e segura, o que é essencial para o sucesso nesses mercados altamente competitivos.</a:t>
            </a:r>
          </a:p>
        </p:txBody>
      </p:sp>
    </p:spTree>
    <p:extLst>
      <p:ext uri="{BB962C8B-B14F-4D97-AF65-F5344CB8AC3E}">
        <p14:creationId xmlns:p14="http://schemas.microsoft.com/office/powerpoint/2010/main" val="38638087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7e3f2783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37e3f2783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capa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2"/>
          <p:cNvPicPr preferRelativeResize="0"/>
          <p:nvPr/>
        </p:nvPicPr>
        <p:blipFill rotWithShape="1">
          <a:blip r:embed="rId2">
            <a:alphaModFix/>
          </a:blip>
          <a:srcRect t="10223" b="10215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000" y="780750"/>
            <a:ext cx="2012820" cy="124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l="1342" t="11272" r="1342" b="11256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2">
            <a:alphaModFix/>
          </a:blip>
          <a:srcRect t="11380" b="-11379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t="10190" b="10198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/>
        </p:nvSpPr>
        <p:spPr>
          <a:xfrm>
            <a:off x="4206524" y="3861285"/>
            <a:ext cx="4937475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Aula 01 | </a:t>
            </a:r>
            <a:r>
              <a:rPr lang="pt-PT" sz="16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O que são bancos de dados na nuvem</a:t>
            </a:r>
            <a:endParaRPr sz="1600" dirty="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grpSp>
        <p:nvGrpSpPr>
          <p:cNvPr id="43" name="Google Shape;43;p12"/>
          <p:cNvGrpSpPr/>
          <p:nvPr/>
        </p:nvGrpSpPr>
        <p:grpSpPr>
          <a:xfrm>
            <a:off x="4284425" y="4267792"/>
            <a:ext cx="4942500" cy="0"/>
            <a:chOff x="4251700" y="5140900"/>
            <a:chExt cx="4942500" cy="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74;p14">
            <a:extLst>
              <a:ext uri="{FF2B5EF4-FFF2-40B4-BE49-F238E27FC236}">
                <a16:creationId xmlns:a16="http://schemas.microsoft.com/office/drawing/2014/main" id="{38EB1F19-5A96-7625-D2A5-80FA81A253A8}"/>
              </a:ext>
            </a:extLst>
          </p:cNvPr>
          <p:cNvGrpSpPr/>
          <p:nvPr/>
        </p:nvGrpSpPr>
        <p:grpSpPr>
          <a:xfrm>
            <a:off x="1288428" y="2380666"/>
            <a:ext cx="379395" cy="339560"/>
            <a:chOff x="1249800" y="282500"/>
            <a:chExt cx="4839225" cy="4809625"/>
          </a:xfrm>
        </p:grpSpPr>
        <p:sp>
          <p:nvSpPr>
            <p:cNvPr id="14" name="Google Shape;75;p14">
              <a:extLst>
                <a:ext uri="{FF2B5EF4-FFF2-40B4-BE49-F238E27FC236}">
                  <a16:creationId xmlns:a16="http://schemas.microsoft.com/office/drawing/2014/main" id="{A9B46A0D-A028-E123-1636-B9CA86E2675E}"/>
                </a:ext>
              </a:extLst>
            </p:cNvPr>
            <p:cNvSpPr/>
            <p:nvPr/>
          </p:nvSpPr>
          <p:spPr>
            <a:xfrm>
              <a:off x="1249800" y="2825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1840"/>
                  </a:moveTo>
                  <a:cubicBezTo>
                    <a:pt x="142661" y="11840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1840"/>
                    <a:pt x="96193" y="11840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6;p14">
              <a:extLst>
                <a:ext uri="{FF2B5EF4-FFF2-40B4-BE49-F238E27FC236}">
                  <a16:creationId xmlns:a16="http://schemas.microsoft.com/office/drawing/2014/main" id="{0516AAFA-09B7-04AF-95F1-B08CFB6AA9B6}"/>
                </a:ext>
              </a:extLst>
            </p:cNvPr>
            <p:cNvSpPr/>
            <p:nvPr/>
          </p:nvSpPr>
          <p:spPr>
            <a:xfrm>
              <a:off x="2241325" y="282500"/>
              <a:ext cx="3847700" cy="4809625"/>
            </a:xfrm>
            <a:custGeom>
              <a:avLst/>
              <a:gdLst/>
              <a:ahLst/>
              <a:cxnLst/>
              <a:rect l="l" t="t" r="r" b="b"/>
              <a:pathLst>
                <a:path w="153908" h="192385" extrusionOk="0">
                  <a:moveTo>
                    <a:pt x="56532" y="1"/>
                  </a:moveTo>
                  <a:lnTo>
                    <a:pt x="56532" y="11840"/>
                  </a:lnTo>
                  <a:cubicBezTo>
                    <a:pt x="69850" y="11840"/>
                    <a:pt x="82873" y="15096"/>
                    <a:pt x="94712" y="21015"/>
                  </a:cubicBezTo>
                  <a:cubicBezTo>
                    <a:pt x="106551" y="27231"/>
                    <a:pt x="116910" y="35814"/>
                    <a:pt x="124606" y="46765"/>
                  </a:cubicBezTo>
                  <a:cubicBezTo>
                    <a:pt x="132597" y="57420"/>
                    <a:pt x="137629" y="69851"/>
                    <a:pt x="139700" y="82874"/>
                  </a:cubicBezTo>
                  <a:cubicBezTo>
                    <a:pt x="141772" y="96193"/>
                    <a:pt x="140588" y="109511"/>
                    <a:pt x="136741" y="122238"/>
                  </a:cubicBezTo>
                  <a:cubicBezTo>
                    <a:pt x="132597" y="134669"/>
                    <a:pt x="125494" y="146212"/>
                    <a:pt x="116022" y="155683"/>
                  </a:cubicBezTo>
                  <a:cubicBezTo>
                    <a:pt x="106551" y="165155"/>
                    <a:pt x="95304" y="171962"/>
                    <a:pt x="82577" y="176106"/>
                  </a:cubicBezTo>
                  <a:cubicBezTo>
                    <a:pt x="73960" y="178911"/>
                    <a:pt x="65072" y="180360"/>
                    <a:pt x="56187" y="180360"/>
                  </a:cubicBezTo>
                  <a:cubicBezTo>
                    <a:pt x="51950" y="180360"/>
                    <a:pt x="47714" y="180030"/>
                    <a:pt x="43509" y="179361"/>
                  </a:cubicBezTo>
                  <a:cubicBezTo>
                    <a:pt x="30190" y="177290"/>
                    <a:pt x="17759" y="171962"/>
                    <a:pt x="7104" y="164267"/>
                  </a:cubicBezTo>
                  <a:lnTo>
                    <a:pt x="0" y="174034"/>
                  </a:lnTo>
                  <a:cubicBezTo>
                    <a:pt x="12431" y="182913"/>
                    <a:pt x="26638" y="188833"/>
                    <a:pt x="41437" y="191200"/>
                  </a:cubicBezTo>
                  <a:cubicBezTo>
                    <a:pt x="46468" y="191990"/>
                    <a:pt x="51533" y="192384"/>
                    <a:pt x="56586" y="192384"/>
                  </a:cubicBezTo>
                  <a:cubicBezTo>
                    <a:pt x="66693" y="192384"/>
                    <a:pt x="76756" y="190806"/>
                    <a:pt x="86425" y="187649"/>
                  </a:cubicBezTo>
                  <a:cubicBezTo>
                    <a:pt x="100632" y="182913"/>
                    <a:pt x="113951" y="174922"/>
                    <a:pt x="124606" y="164267"/>
                  </a:cubicBezTo>
                  <a:cubicBezTo>
                    <a:pt x="135261" y="153316"/>
                    <a:pt x="143252" y="140293"/>
                    <a:pt x="147988" y="125790"/>
                  </a:cubicBezTo>
                  <a:cubicBezTo>
                    <a:pt x="152723" y="111287"/>
                    <a:pt x="153907" y="96193"/>
                    <a:pt x="151539" y="81098"/>
                  </a:cubicBezTo>
                  <a:cubicBezTo>
                    <a:pt x="149172" y="66003"/>
                    <a:pt x="143252" y="51796"/>
                    <a:pt x="134373" y="39661"/>
                  </a:cubicBezTo>
                  <a:cubicBezTo>
                    <a:pt x="125494" y="27231"/>
                    <a:pt x="113655" y="17167"/>
                    <a:pt x="100336" y="10360"/>
                  </a:cubicBezTo>
                  <a:cubicBezTo>
                    <a:pt x="86721" y="3553"/>
                    <a:pt x="71626" y="1"/>
                    <a:pt x="56532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7;p14">
              <a:extLst>
                <a:ext uri="{FF2B5EF4-FFF2-40B4-BE49-F238E27FC236}">
                  <a16:creationId xmlns:a16="http://schemas.microsoft.com/office/drawing/2014/main" id="{2DD2EC3A-3CC3-F56F-1309-A5CA03A8934A}"/>
                </a:ext>
              </a:extLst>
            </p:cNvPr>
            <p:cNvSpPr/>
            <p:nvPr/>
          </p:nvSpPr>
          <p:spPr>
            <a:xfrm>
              <a:off x="2966450" y="1910375"/>
              <a:ext cx="1331925" cy="1605675"/>
            </a:xfrm>
            <a:custGeom>
              <a:avLst/>
              <a:gdLst/>
              <a:ahLst/>
              <a:cxnLst/>
              <a:rect l="l" t="t" r="r" b="b"/>
              <a:pathLst>
                <a:path w="53277" h="64227" extrusionOk="0">
                  <a:moveTo>
                    <a:pt x="13320" y="0"/>
                  </a:moveTo>
                  <a:lnTo>
                    <a:pt x="12432" y="4144"/>
                  </a:lnTo>
                  <a:lnTo>
                    <a:pt x="46173" y="4144"/>
                  </a:lnTo>
                  <a:lnTo>
                    <a:pt x="22791" y="28118"/>
                  </a:lnTo>
                  <a:lnTo>
                    <a:pt x="21903" y="31670"/>
                  </a:lnTo>
                  <a:lnTo>
                    <a:pt x="25455" y="31670"/>
                  </a:lnTo>
                  <a:cubicBezTo>
                    <a:pt x="36702" y="31670"/>
                    <a:pt x="42029" y="35813"/>
                    <a:pt x="42029" y="43804"/>
                  </a:cubicBezTo>
                  <a:cubicBezTo>
                    <a:pt x="42029" y="53572"/>
                    <a:pt x="34334" y="60083"/>
                    <a:pt x="21607" y="60083"/>
                  </a:cubicBezTo>
                  <a:cubicBezTo>
                    <a:pt x="12728" y="60083"/>
                    <a:pt x="5920" y="56531"/>
                    <a:pt x="2665" y="52092"/>
                  </a:cubicBezTo>
                  <a:lnTo>
                    <a:pt x="1" y="55643"/>
                  </a:lnTo>
                  <a:cubicBezTo>
                    <a:pt x="3553" y="60675"/>
                    <a:pt x="11544" y="64227"/>
                    <a:pt x="21607" y="64227"/>
                  </a:cubicBezTo>
                  <a:cubicBezTo>
                    <a:pt x="36702" y="64227"/>
                    <a:pt x="46765" y="55939"/>
                    <a:pt x="46765" y="43804"/>
                  </a:cubicBezTo>
                  <a:cubicBezTo>
                    <a:pt x="46765" y="34037"/>
                    <a:pt x="40549" y="28414"/>
                    <a:pt x="28710" y="27822"/>
                  </a:cubicBezTo>
                  <a:lnTo>
                    <a:pt x="52684" y="3256"/>
                  </a:lnTo>
                  <a:lnTo>
                    <a:pt x="53276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78;p14">
            <a:extLst>
              <a:ext uri="{FF2B5EF4-FFF2-40B4-BE49-F238E27FC236}">
                <a16:creationId xmlns:a16="http://schemas.microsoft.com/office/drawing/2014/main" id="{8103873E-9B9F-4052-1975-D61AA785F4AB}"/>
              </a:ext>
            </a:extLst>
          </p:cNvPr>
          <p:cNvGrpSpPr/>
          <p:nvPr/>
        </p:nvGrpSpPr>
        <p:grpSpPr>
          <a:xfrm>
            <a:off x="1288542" y="2852584"/>
            <a:ext cx="379458" cy="336193"/>
            <a:chOff x="1212800" y="289900"/>
            <a:chExt cx="4883625" cy="4809625"/>
          </a:xfrm>
        </p:grpSpPr>
        <p:sp>
          <p:nvSpPr>
            <p:cNvPr id="19" name="Google Shape;79;p14">
              <a:extLst>
                <a:ext uri="{FF2B5EF4-FFF2-40B4-BE49-F238E27FC236}">
                  <a16:creationId xmlns:a16="http://schemas.microsoft.com/office/drawing/2014/main" id="{8543AE75-53D4-2C5E-66C7-E5FFEAAAF0DE}"/>
                </a:ext>
              </a:extLst>
            </p:cNvPr>
            <p:cNvSpPr/>
            <p:nvPr/>
          </p:nvSpPr>
          <p:spPr>
            <a:xfrm>
              <a:off x="1249800" y="2899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0;p14">
              <a:extLst>
                <a:ext uri="{FF2B5EF4-FFF2-40B4-BE49-F238E27FC236}">
                  <a16:creationId xmlns:a16="http://schemas.microsoft.com/office/drawing/2014/main" id="{5F18C28A-6F6D-9B86-0A77-FE1F67022A75}"/>
                </a:ext>
              </a:extLst>
            </p:cNvPr>
            <p:cNvSpPr/>
            <p:nvPr/>
          </p:nvSpPr>
          <p:spPr>
            <a:xfrm>
              <a:off x="1212800" y="289900"/>
              <a:ext cx="4883625" cy="4809625"/>
            </a:xfrm>
            <a:custGeom>
              <a:avLst/>
              <a:gdLst/>
              <a:ahLst/>
              <a:cxnLst/>
              <a:rect l="l" t="t" r="r" b="b"/>
              <a:pathLst>
                <a:path w="195345" h="192385" extrusionOk="0">
                  <a:moveTo>
                    <a:pt x="97673" y="1"/>
                  </a:moveTo>
                  <a:lnTo>
                    <a:pt x="97673" y="12136"/>
                  </a:lnTo>
                  <a:cubicBezTo>
                    <a:pt x="115431" y="12136"/>
                    <a:pt x="132894" y="17759"/>
                    <a:pt x="147100" y="28118"/>
                  </a:cubicBezTo>
                  <a:cubicBezTo>
                    <a:pt x="161603" y="38478"/>
                    <a:pt x="172258" y="53276"/>
                    <a:pt x="177882" y="70147"/>
                  </a:cubicBezTo>
                  <a:cubicBezTo>
                    <a:pt x="183209" y="87017"/>
                    <a:pt x="183209" y="105368"/>
                    <a:pt x="177882" y="122238"/>
                  </a:cubicBezTo>
                  <a:cubicBezTo>
                    <a:pt x="172258" y="139109"/>
                    <a:pt x="161603" y="153908"/>
                    <a:pt x="147100" y="164267"/>
                  </a:cubicBezTo>
                  <a:cubicBezTo>
                    <a:pt x="132894" y="174626"/>
                    <a:pt x="115431" y="180249"/>
                    <a:pt x="97673" y="180249"/>
                  </a:cubicBezTo>
                  <a:cubicBezTo>
                    <a:pt x="79914" y="180249"/>
                    <a:pt x="62748" y="174626"/>
                    <a:pt x="48245" y="164267"/>
                  </a:cubicBezTo>
                  <a:cubicBezTo>
                    <a:pt x="33742" y="153908"/>
                    <a:pt x="23087" y="139109"/>
                    <a:pt x="17759" y="122238"/>
                  </a:cubicBezTo>
                  <a:cubicBezTo>
                    <a:pt x="12136" y="105368"/>
                    <a:pt x="12136" y="87017"/>
                    <a:pt x="17759" y="70147"/>
                  </a:cubicBezTo>
                  <a:lnTo>
                    <a:pt x="6216" y="66595"/>
                  </a:lnTo>
                  <a:cubicBezTo>
                    <a:pt x="1" y="85833"/>
                    <a:pt x="1" y="106552"/>
                    <a:pt x="6216" y="126086"/>
                  </a:cubicBezTo>
                  <a:cubicBezTo>
                    <a:pt x="12432" y="145324"/>
                    <a:pt x="24863" y="162195"/>
                    <a:pt x="41141" y="174034"/>
                  </a:cubicBezTo>
                  <a:cubicBezTo>
                    <a:pt x="57716" y="185873"/>
                    <a:pt x="77250" y="192384"/>
                    <a:pt x="97673" y="192384"/>
                  </a:cubicBezTo>
                  <a:cubicBezTo>
                    <a:pt x="118095" y="192384"/>
                    <a:pt x="137925" y="185873"/>
                    <a:pt x="154204" y="174034"/>
                  </a:cubicBezTo>
                  <a:cubicBezTo>
                    <a:pt x="170778" y="162195"/>
                    <a:pt x="182913" y="145324"/>
                    <a:pt x="189129" y="126086"/>
                  </a:cubicBezTo>
                  <a:cubicBezTo>
                    <a:pt x="195344" y="106552"/>
                    <a:pt x="195344" y="85833"/>
                    <a:pt x="189129" y="66595"/>
                  </a:cubicBezTo>
                  <a:cubicBezTo>
                    <a:pt x="182913" y="47061"/>
                    <a:pt x="170778" y="30486"/>
                    <a:pt x="154204" y="18351"/>
                  </a:cubicBezTo>
                  <a:cubicBezTo>
                    <a:pt x="137925" y="6512"/>
                    <a:pt x="118095" y="1"/>
                    <a:pt x="9767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1;p14">
              <a:extLst>
                <a:ext uri="{FF2B5EF4-FFF2-40B4-BE49-F238E27FC236}">
                  <a16:creationId xmlns:a16="http://schemas.microsoft.com/office/drawing/2014/main" id="{C7B0CC13-64CC-BBBE-7F53-947151A27C03}"/>
                </a:ext>
              </a:extLst>
            </p:cNvPr>
            <p:cNvSpPr/>
            <p:nvPr/>
          </p:nvSpPr>
          <p:spPr>
            <a:xfrm>
              <a:off x="2981250" y="1917775"/>
              <a:ext cx="1383725" cy="1598275"/>
            </a:xfrm>
            <a:custGeom>
              <a:avLst/>
              <a:gdLst/>
              <a:ahLst/>
              <a:cxnLst/>
              <a:rect l="l" t="t" r="r" b="b"/>
              <a:pathLst>
                <a:path w="55349" h="63931" extrusionOk="0">
                  <a:moveTo>
                    <a:pt x="43509" y="0"/>
                  </a:moveTo>
                  <a:lnTo>
                    <a:pt x="889" y="42917"/>
                  </a:lnTo>
                  <a:lnTo>
                    <a:pt x="1" y="46172"/>
                  </a:lnTo>
                  <a:lnTo>
                    <a:pt x="36406" y="46172"/>
                  </a:lnTo>
                  <a:lnTo>
                    <a:pt x="32854" y="63931"/>
                  </a:lnTo>
                  <a:lnTo>
                    <a:pt x="37590" y="63931"/>
                  </a:lnTo>
                  <a:lnTo>
                    <a:pt x="41141" y="46172"/>
                  </a:lnTo>
                  <a:lnTo>
                    <a:pt x="54460" y="46172"/>
                  </a:lnTo>
                  <a:lnTo>
                    <a:pt x="55348" y="42029"/>
                  </a:lnTo>
                  <a:lnTo>
                    <a:pt x="42029" y="42029"/>
                  </a:lnTo>
                  <a:lnTo>
                    <a:pt x="44989" y="26342"/>
                  </a:lnTo>
                  <a:lnTo>
                    <a:pt x="40549" y="26342"/>
                  </a:lnTo>
                  <a:lnTo>
                    <a:pt x="37294" y="42029"/>
                  </a:lnTo>
                  <a:lnTo>
                    <a:pt x="7104" y="42029"/>
                  </a:lnTo>
                  <a:lnTo>
                    <a:pt x="49133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" name="Google Shape;82;p14">
            <a:extLst>
              <a:ext uri="{FF2B5EF4-FFF2-40B4-BE49-F238E27FC236}">
                <a16:creationId xmlns:a16="http://schemas.microsoft.com/office/drawing/2014/main" id="{F5830BA0-5D9F-61A0-036D-F68BCC09D986}"/>
              </a:ext>
            </a:extLst>
          </p:cNvPr>
          <p:cNvGrpSpPr/>
          <p:nvPr/>
        </p:nvGrpSpPr>
        <p:grpSpPr>
          <a:xfrm>
            <a:off x="1301849" y="1932937"/>
            <a:ext cx="352834" cy="315030"/>
            <a:chOff x="1249800" y="260300"/>
            <a:chExt cx="4846625" cy="4809625"/>
          </a:xfrm>
        </p:grpSpPr>
        <p:sp>
          <p:nvSpPr>
            <p:cNvPr id="24" name="Google Shape;83;p14">
              <a:extLst>
                <a:ext uri="{FF2B5EF4-FFF2-40B4-BE49-F238E27FC236}">
                  <a16:creationId xmlns:a16="http://schemas.microsoft.com/office/drawing/2014/main" id="{163C9035-933D-45BD-AAC4-68E7FFE6A9E6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4;p14">
              <a:extLst>
                <a:ext uri="{FF2B5EF4-FFF2-40B4-BE49-F238E27FC236}">
                  <a16:creationId xmlns:a16="http://schemas.microsoft.com/office/drawing/2014/main" id="{31AA322B-8004-7869-753F-3A70695AC03E}"/>
                </a:ext>
              </a:extLst>
            </p:cNvPr>
            <p:cNvSpPr/>
            <p:nvPr/>
          </p:nvSpPr>
          <p:spPr>
            <a:xfrm>
              <a:off x="3654600" y="260300"/>
              <a:ext cx="2441825" cy="4350850"/>
            </a:xfrm>
            <a:custGeom>
              <a:avLst/>
              <a:gdLst/>
              <a:ahLst/>
              <a:cxnLst/>
              <a:rect l="l" t="t" r="r" b="b"/>
              <a:pathLst>
                <a:path w="97673" h="174034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cubicBezTo>
                    <a:pt x="85537" y="87017"/>
                    <a:pt x="85537" y="105368"/>
                    <a:pt x="80210" y="122238"/>
                  </a:cubicBezTo>
                  <a:cubicBezTo>
                    <a:pt x="74586" y="139109"/>
                    <a:pt x="63931" y="153908"/>
                    <a:pt x="49428" y="164267"/>
                  </a:cubicBezTo>
                  <a:lnTo>
                    <a:pt x="56532" y="174034"/>
                  </a:lnTo>
                  <a:cubicBezTo>
                    <a:pt x="73106" y="161899"/>
                    <a:pt x="85241" y="145028"/>
                    <a:pt x="91457" y="125790"/>
                  </a:cubicBezTo>
                  <a:cubicBezTo>
                    <a:pt x="97672" y="106552"/>
                    <a:pt x="97672" y="85834"/>
                    <a:pt x="91457" y="66299"/>
                  </a:cubicBez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5;p14">
              <a:extLst>
                <a:ext uri="{FF2B5EF4-FFF2-40B4-BE49-F238E27FC236}">
                  <a16:creationId xmlns:a16="http://schemas.microsoft.com/office/drawing/2014/main" id="{A44F6A6C-14ED-7BEC-E284-5E14AC7C8F32}"/>
                </a:ext>
              </a:extLst>
            </p:cNvPr>
            <p:cNvSpPr/>
            <p:nvPr/>
          </p:nvSpPr>
          <p:spPr>
            <a:xfrm>
              <a:off x="2981250" y="1888175"/>
              <a:ext cx="1265325" cy="1605675"/>
            </a:xfrm>
            <a:custGeom>
              <a:avLst/>
              <a:gdLst/>
              <a:ahLst/>
              <a:cxnLst/>
              <a:rect l="l" t="t" r="r" b="b"/>
              <a:pathLst>
                <a:path w="50613" h="64227" extrusionOk="0">
                  <a:moveTo>
                    <a:pt x="31670" y="0"/>
                  </a:moveTo>
                  <a:cubicBezTo>
                    <a:pt x="22791" y="0"/>
                    <a:pt x="14504" y="3256"/>
                    <a:pt x="9176" y="8880"/>
                  </a:cubicBezTo>
                  <a:lnTo>
                    <a:pt x="12432" y="11543"/>
                  </a:lnTo>
                  <a:cubicBezTo>
                    <a:pt x="16871" y="6808"/>
                    <a:pt x="23975" y="4144"/>
                    <a:pt x="31078" y="4144"/>
                  </a:cubicBezTo>
                  <a:cubicBezTo>
                    <a:pt x="41141" y="4144"/>
                    <a:pt x="45877" y="8584"/>
                    <a:pt x="45877" y="15391"/>
                  </a:cubicBezTo>
                  <a:cubicBezTo>
                    <a:pt x="45877" y="21311"/>
                    <a:pt x="43213" y="26342"/>
                    <a:pt x="33446" y="34333"/>
                  </a:cubicBezTo>
                  <a:lnTo>
                    <a:pt x="593" y="60971"/>
                  </a:lnTo>
                  <a:lnTo>
                    <a:pt x="1" y="64227"/>
                  </a:lnTo>
                  <a:lnTo>
                    <a:pt x="44101" y="64227"/>
                  </a:lnTo>
                  <a:lnTo>
                    <a:pt x="44693" y="60083"/>
                  </a:lnTo>
                  <a:lnTo>
                    <a:pt x="8288" y="60083"/>
                  </a:lnTo>
                  <a:lnTo>
                    <a:pt x="36702" y="36997"/>
                  </a:lnTo>
                  <a:cubicBezTo>
                    <a:pt x="47357" y="28414"/>
                    <a:pt x="50613" y="21902"/>
                    <a:pt x="50613" y="14799"/>
                  </a:cubicBezTo>
                  <a:cubicBezTo>
                    <a:pt x="50613" y="5920"/>
                    <a:pt x="44101" y="0"/>
                    <a:pt x="31670" y="0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" name="Google Shape;86;p14">
            <a:extLst>
              <a:ext uri="{FF2B5EF4-FFF2-40B4-BE49-F238E27FC236}">
                <a16:creationId xmlns:a16="http://schemas.microsoft.com/office/drawing/2014/main" id="{3ABA7813-2D47-8D12-99BE-D3FCC73FC7A4}"/>
              </a:ext>
            </a:extLst>
          </p:cNvPr>
          <p:cNvGrpSpPr/>
          <p:nvPr/>
        </p:nvGrpSpPr>
        <p:grpSpPr>
          <a:xfrm>
            <a:off x="1288364" y="1497728"/>
            <a:ext cx="379479" cy="341483"/>
            <a:chOff x="1249800" y="260300"/>
            <a:chExt cx="4809625" cy="4809625"/>
          </a:xfrm>
        </p:grpSpPr>
        <p:sp>
          <p:nvSpPr>
            <p:cNvPr id="29" name="Google Shape;87;p14">
              <a:extLst>
                <a:ext uri="{FF2B5EF4-FFF2-40B4-BE49-F238E27FC236}">
                  <a16:creationId xmlns:a16="http://schemas.microsoft.com/office/drawing/2014/main" id="{FED135AB-8780-C719-08CA-1E502207D5A2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8;p14">
              <a:extLst>
                <a:ext uri="{FF2B5EF4-FFF2-40B4-BE49-F238E27FC236}">
                  <a16:creationId xmlns:a16="http://schemas.microsoft.com/office/drawing/2014/main" id="{193F2A82-CE4A-51F3-8580-87831057D124}"/>
                </a:ext>
              </a:extLst>
            </p:cNvPr>
            <p:cNvSpPr/>
            <p:nvPr/>
          </p:nvSpPr>
          <p:spPr>
            <a:xfrm>
              <a:off x="3654600" y="260300"/>
              <a:ext cx="2286425" cy="1753675"/>
            </a:xfrm>
            <a:custGeom>
              <a:avLst/>
              <a:gdLst/>
              <a:ahLst/>
              <a:cxnLst/>
              <a:rect l="l" t="t" r="r" b="b"/>
              <a:pathLst>
                <a:path w="91457" h="70147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lnTo>
                    <a:pt x="91457" y="66595"/>
                  </a:ln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89;p14">
              <a:extLst>
                <a:ext uri="{FF2B5EF4-FFF2-40B4-BE49-F238E27FC236}">
                  <a16:creationId xmlns:a16="http://schemas.microsoft.com/office/drawing/2014/main" id="{D5A6CF78-AC12-D586-D698-0C2455FE0CBA}"/>
                </a:ext>
              </a:extLst>
            </p:cNvPr>
            <p:cNvSpPr/>
            <p:nvPr/>
          </p:nvSpPr>
          <p:spPr>
            <a:xfrm>
              <a:off x="3395625" y="1888175"/>
              <a:ext cx="525375" cy="1598275"/>
            </a:xfrm>
            <a:custGeom>
              <a:avLst/>
              <a:gdLst/>
              <a:ahLst/>
              <a:cxnLst/>
              <a:rect l="l" t="t" r="r" b="b"/>
              <a:pathLst>
                <a:path w="21015" h="63931" extrusionOk="0">
                  <a:moveTo>
                    <a:pt x="888" y="0"/>
                  </a:moveTo>
                  <a:lnTo>
                    <a:pt x="0" y="4144"/>
                  </a:lnTo>
                  <a:lnTo>
                    <a:pt x="15391" y="4144"/>
                  </a:lnTo>
                  <a:lnTo>
                    <a:pt x="3552" y="63931"/>
                  </a:lnTo>
                  <a:lnTo>
                    <a:pt x="8288" y="63931"/>
                  </a:lnTo>
                  <a:lnTo>
                    <a:pt x="21015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" name="Google Shape;90;p14">
            <a:extLst>
              <a:ext uri="{FF2B5EF4-FFF2-40B4-BE49-F238E27FC236}">
                <a16:creationId xmlns:a16="http://schemas.microsoft.com/office/drawing/2014/main" id="{DC85C384-F303-3136-B350-98CC10BC3539}"/>
              </a:ext>
            </a:extLst>
          </p:cNvPr>
          <p:cNvGrpSpPr/>
          <p:nvPr/>
        </p:nvGrpSpPr>
        <p:grpSpPr>
          <a:xfrm>
            <a:off x="1288364" y="3272558"/>
            <a:ext cx="379479" cy="341483"/>
            <a:chOff x="1249800" y="297300"/>
            <a:chExt cx="4809625" cy="4809625"/>
          </a:xfrm>
        </p:grpSpPr>
        <p:sp>
          <p:nvSpPr>
            <p:cNvPr id="34" name="Google Shape;91;p14">
              <a:extLst>
                <a:ext uri="{FF2B5EF4-FFF2-40B4-BE49-F238E27FC236}">
                  <a16:creationId xmlns:a16="http://schemas.microsoft.com/office/drawing/2014/main" id="{56EB96B5-6474-0BC9-864B-59CDAEF3623C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92;p14">
              <a:extLst>
                <a:ext uri="{FF2B5EF4-FFF2-40B4-BE49-F238E27FC236}">
                  <a16:creationId xmlns:a16="http://schemas.microsoft.com/office/drawing/2014/main" id="{8EDDF46F-D18A-0894-B63F-0C0CE7708B34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3;p14">
              <a:extLst>
                <a:ext uri="{FF2B5EF4-FFF2-40B4-BE49-F238E27FC236}">
                  <a16:creationId xmlns:a16="http://schemas.microsoft.com/office/drawing/2014/main" id="{726B0E0B-46B3-3FE5-AC22-A215577A5080}"/>
                </a:ext>
              </a:extLst>
            </p:cNvPr>
            <p:cNvSpPr/>
            <p:nvPr/>
          </p:nvSpPr>
          <p:spPr>
            <a:xfrm>
              <a:off x="2996050" y="1925175"/>
              <a:ext cx="1309725" cy="1613075"/>
            </a:xfrm>
            <a:custGeom>
              <a:avLst/>
              <a:gdLst/>
              <a:ahLst/>
              <a:cxnLst/>
              <a:rect l="l" t="t" r="r" b="b"/>
              <a:pathLst>
                <a:path w="52389" h="64523" extrusionOk="0">
                  <a:moveTo>
                    <a:pt x="18351" y="0"/>
                  </a:moveTo>
                  <a:lnTo>
                    <a:pt x="8880" y="31078"/>
                  </a:lnTo>
                  <a:lnTo>
                    <a:pt x="23087" y="31078"/>
                  </a:lnTo>
                  <a:cubicBezTo>
                    <a:pt x="36998" y="31078"/>
                    <a:pt x="42325" y="35813"/>
                    <a:pt x="42325" y="43804"/>
                  </a:cubicBezTo>
                  <a:cubicBezTo>
                    <a:pt x="42325" y="54164"/>
                    <a:pt x="34630" y="60083"/>
                    <a:pt x="21903" y="60083"/>
                  </a:cubicBezTo>
                  <a:cubicBezTo>
                    <a:pt x="12728" y="60083"/>
                    <a:pt x="5920" y="56827"/>
                    <a:pt x="2961" y="52388"/>
                  </a:cubicBezTo>
                  <a:lnTo>
                    <a:pt x="1" y="55643"/>
                  </a:lnTo>
                  <a:cubicBezTo>
                    <a:pt x="3552" y="60971"/>
                    <a:pt x="11544" y="64523"/>
                    <a:pt x="21607" y="64523"/>
                  </a:cubicBezTo>
                  <a:cubicBezTo>
                    <a:pt x="36998" y="64523"/>
                    <a:pt x="47061" y="56235"/>
                    <a:pt x="47061" y="43508"/>
                  </a:cubicBezTo>
                  <a:cubicBezTo>
                    <a:pt x="47061" y="33149"/>
                    <a:pt x="39957" y="26934"/>
                    <a:pt x="23975" y="26934"/>
                  </a:cubicBezTo>
                  <a:lnTo>
                    <a:pt x="14800" y="26934"/>
                  </a:lnTo>
                  <a:lnTo>
                    <a:pt x="21903" y="4144"/>
                  </a:lnTo>
                  <a:lnTo>
                    <a:pt x="51500" y="4144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67A718C-8145-D8F7-0D0F-A89CE750AE0D}"/>
              </a:ext>
            </a:extLst>
          </p:cNvPr>
          <p:cNvSpPr txBox="1"/>
          <p:nvPr/>
        </p:nvSpPr>
        <p:spPr>
          <a:xfrm>
            <a:off x="1725083" y="1571624"/>
            <a:ext cx="3986287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PT" sz="1100" b="1" dirty="0">
                <a:solidFill>
                  <a:schemeClr val="bg1"/>
                </a:solidFill>
                <a:latin typeface="Segoe UI"/>
                <a:cs typeface="Segoe UI"/>
              </a:rPr>
              <a:t>O que é um banco de dados?</a:t>
            </a:r>
          </a:p>
          <a:p>
            <a:pPr algn="l"/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306F0E9-B41C-4B7E-3418-E09900A809D4}"/>
              </a:ext>
            </a:extLst>
          </p:cNvPr>
          <p:cNvSpPr txBox="1"/>
          <p:nvPr/>
        </p:nvSpPr>
        <p:spPr>
          <a:xfrm>
            <a:off x="1725083" y="1989666"/>
            <a:ext cx="3444875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1100" b="1" dirty="0">
                <a:solidFill>
                  <a:schemeClr val="bg1"/>
                </a:solidFill>
                <a:latin typeface="Segoe UI"/>
                <a:cs typeface="Segoe UI"/>
              </a:rPr>
              <a:t>A Nuvem: seu depósito virtual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285BEAFD-161A-AF11-A80C-E4FCBE20C006}"/>
              </a:ext>
            </a:extLst>
          </p:cNvPr>
          <p:cNvSpPr txBox="1"/>
          <p:nvPr/>
        </p:nvSpPr>
        <p:spPr>
          <a:xfrm>
            <a:off x="1725082" y="2418292"/>
            <a:ext cx="4078513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1100" b="1" dirty="0">
                <a:solidFill>
                  <a:schemeClr val="bg1"/>
                </a:solidFill>
                <a:latin typeface="Segoe UI"/>
                <a:cs typeface="Segoe UI"/>
              </a:rPr>
              <a:t>Bancos de dados na Nuvem: O Melhor dos dois Mundos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8324433-DEB7-CCA9-A042-647C66B3B71E}"/>
              </a:ext>
            </a:extLst>
          </p:cNvPr>
          <p:cNvSpPr txBox="1"/>
          <p:nvPr/>
        </p:nvSpPr>
        <p:spPr>
          <a:xfrm>
            <a:off x="1725082" y="2889875"/>
            <a:ext cx="4813603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1100" b="1" dirty="0">
                <a:solidFill>
                  <a:schemeClr val="bg1"/>
                </a:solidFill>
                <a:latin typeface="Segoe UI"/>
                <a:cs typeface="Segoe UI"/>
              </a:rPr>
              <a:t>Por que usar bancos de dados na nuvem?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4132CC5-F6D0-6013-783E-4FC51F43D1E3}"/>
              </a:ext>
            </a:extLst>
          </p:cNvPr>
          <p:cNvSpPr txBox="1"/>
          <p:nvPr/>
        </p:nvSpPr>
        <p:spPr>
          <a:xfrm>
            <a:off x="1725082" y="3312494"/>
            <a:ext cx="4078514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PT" sz="1100" b="1" dirty="0">
                <a:solidFill>
                  <a:schemeClr val="bg1"/>
                </a:solidFill>
                <a:latin typeface="Segoe UI"/>
                <a:cs typeface="Segoe UI"/>
              </a:rPr>
              <a:t>Onde os bancos de dados na nuvem fazem a diferença</a:t>
            </a:r>
          </a:p>
        </p:txBody>
      </p:sp>
      <p:sp>
        <p:nvSpPr>
          <p:cNvPr id="2" name="Google Shape;50;p13">
            <a:extLst>
              <a:ext uri="{FF2B5EF4-FFF2-40B4-BE49-F238E27FC236}">
                <a16:creationId xmlns:a16="http://schemas.microsoft.com/office/drawing/2014/main" id="{D0A8CB10-55C0-485F-5F93-7A093FF5E00D}"/>
              </a:ext>
            </a:extLst>
          </p:cNvPr>
          <p:cNvSpPr txBox="1"/>
          <p:nvPr/>
        </p:nvSpPr>
        <p:spPr>
          <a:xfrm>
            <a:off x="240549" y="124357"/>
            <a:ext cx="3388021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 dirty="0">
                <a:solidFill>
                  <a:srgbClr val="A6F750"/>
                </a:solidFill>
                <a:latin typeface="Ubuntu Light"/>
                <a:ea typeface="Ubuntu Light"/>
                <a:cs typeface="Ubuntu Light"/>
                <a:sym typeface="Ubuntu Light"/>
              </a:rPr>
              <a:t>O que vamos aprender?</a:t>
            </a:r>
          </a:p>
        </p:txBody>
      </p:sp>
      <p:sp>
        <p:nvSpPr>
          <p:cNvPr id="3" name="Google Shape;51;p13">
            <a:extLst>
              <a:ext uri="{FF2B5EF4-FFF2-40B4-BE49-F238E27FC236}">
                <a16:creationId xmlns:a16="http://schemas.microsoft.com/office/drawing/2014/main" id="{B9C00369-7100-96D8-D665-FEFD9E279A78}"/>
              </a:ext>
            </a:extLst>
          </p:cNvPr>
          <p:cNvSpPr txBox="1"/>
          <p:nvPr/>
        </p:nvSpPr>
        <p:spPr>
          <a:xfrm>
            <a:off x="240550" y="396113"/>
            <a:ext cx="338802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Banco de dados e SQL em ambiente Azure</a:t>
            </a:r>
            <a:endParaRPr sz="900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</p:spTree>
    <p:extLst>
      <p:ext uri="{BB962C8B-B14F-4D97-AF65-F5344CB8AC3E}">
        <p14:creationId xmlns:p14="http://schemas.microsoft.com/office/powerpoint/2010/main" val="1890794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/>
        </p:nvSpPr>
        <p:spPr>
          <a:xfrm>
            <a:off x="240549" y="124357"/>
            <a:ext cx="3388021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 dirty="0">
                <a:solidFill>
                  <a:srgbClr val="A6F750"/>
                </a:solidFill>
                <a:latin typeface="Ubuntu Light"/>
                <a:ea typeface="Ubuntu Light"/>
                <a:cs typeface="Ubuntu Light"/>
                <a:sym typeface="Ubuntu Light"/>
              </a:rPr>
              <a:t>O que é um banco de dados?</a:t>
            </a:r>
          </a:p>
        </p:txBody>
      </p:sp>
      <p:sp>
        <p:nvSpPr>
          <p:cNvPr id="51" name="Google Shape;51;p13"/>
          <p:cNvSpPr txBox="1"/>
          <p:nvPr/>
        </p:nvSpPr>
        <p:spPr>
          <a:xfrm>
            <a:off x="240550" y="396113"/>
            <a:ext cx="338802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Banco de dados e SQL em ambiente Azure</a:t>
            </a:r>
            <a:endParaRPr sz="900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sp>
        <p:nvSpPr>
          <p:cNvPr id="52" name="Google Shape;52;p13"/>
          <p:cNvSpPr txBox="1"/>
          <p:nvPr/>
        </p:nvSpPr>
        <p:spPr>
          <a:xfrm>
            <a:off x="240549" y="1257857"/>
            <a:ext cx="4810422" cy="320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dirty="0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Armazenamento Estruturado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Um banco de dados é uma ferramenta usada para armazenar informações de forma organizada e estruturada, facilitando a busca e recuperação de informações relevantes.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dirty="0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Biblioteca Digital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Um banco de dados é como uma biblioteca digital.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dirty="0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Planilha do Excel como Banco de Dados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Uma planilha do Excel é um exemplo simples de um banco de dados.</a:t>
            </a:r>
          </a:p>
        </p:txBody>
      </p:sp>
      <p:pic>
        <p:nvPicPr>
          <p:cNvPr id="2" name="Picture 1" descr="Organizadores coloridos nas prateleiras">
            <a:extLst>
              <a:ext uri="{FF2B5EF4-FFF2-40B4-BE49-F238E27FC236}">
                <a16:creationId xmlns:a16="http://schemas.microsoft.com/office/drawing/2014/main" id="{2FBB6CC6-87C1-4DE6-8C6F-78DC4EA29A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" r="20422" b="-3"/>
          <a:stretch/>
        </p:blipFill>
        <p:spPr>
          <a:xfrm>
            <a:off x="5057637" y="1226076"/>
            <a:ext cx="3845814" cy="3264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/>
        </p:nvSpPr>
        <p:spPr>
          <a:xfrm>
            <a:off x="240549" y="124357"/>
            <a:ext cx="3388021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 dirty="0">
                <a:solidFill>
                  <a:srgbClr val="A6F750"/>
                </a:solidFill>
                <a:latin typeface="Ubuntu Light"/>
                <a:ea typeface="Ubuntu Light"/>
                <a:cs typeface="Ubuntu Light"/>
                <a:sym typeface="Ubuntu Light"/>
              </a:rPr>
              <a:t>A Nuvem: seu depósito virtual</a:t>
            </a:r>
          </a:p>
        </p:txBody>
      </p:sp>
      <p:sp>
        <p:nvSpPr>
          <p:cNvPr id="51" name="Google Shape;51;p13"/>
          <p:cNvSpPr txBox="1"/>
          <p:nvPr/>
        </p:nvSpPr>
        <p:spPr>
          <a:xfrm>
            <a:off x="240550" y="396113"/>
            <a:ext cx="338802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Banco de dados e SQL em ambiente Azure</a:t>
            </a:r>
            <a:endParaRPr sz="900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sp>
        <p:nvSpPr>
          <p:cNvPr id="52" name="Google Shape;52;p13"/>
          <p:cNvSpPr txBox="1"/>
          <p:nvPr/>
        </p:nvSpPr>
        <p:spPr>
          <a:xfrm>
            <a:off x="240549" y="1509936"/>
            <a:ext cx="4810422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b="1" dirty="0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Armazenamento em nuvem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A nuvem é um conjunto de servidores conectados à internet.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b="1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  <a:p>
            <a:pPr marL="0" lvl="0" indent="0">
              <a:buFont typeface="Arial"/>
              <a:buNone/>
            </a:pPr>
            <a:r>
              <a:rPr lang="pt-PT" b="1" dirty="0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Google Drive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O Google Drive é um serviço popular de armazenamento em nuvem que permite aos usuários armazenar e </a:t>
            </a:r>
            <a:r>
              <a:rPr lang="pt-PT" dirty="0" err="1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acessar</a:t>
            </a:r>
            <a:r>
              <a:rPr lang="pt-PT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 seus arquivos de qualquer lugar.</a:t>
            </a:r>
          </a:p>
        </p:txBody>
      </p:sp>
      <p:pic>
        <p:nvPicPr>
          <p:cNvPr id="3" name="Picture 2" descr="Rede de computação em nuvem">
            <a:extLst>
              <a:ext uri="{FF2B5EF4-FFF2-40B4-BE49-F238E27FC236}">
                <a16:creationId xmlns:a16="http://schemas.microsoft.com/office/drawing/2014/main" id="{7FAE499B-45A5-4222-830D-62A8B6C893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340" r="12389" b="-3"/>
          <a:stretch/>
        </p:blipFill>
        <p:spPr>
          <a:xfrm>
            <a:off x="5057637" y="902911"/>
            <a:ext cx="3845814" cy="32644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5399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/>
        </p:nvSpPr>
        <p:spPr>
          <a:xfrm>
            <a:off x="240549" y="124357"/>
            <a:ext cx="4498365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 dirty="0">
                <a:solidFill>
                  <a:srgbClr val="A6F750"/>
                </a:solidFill>
                <a:latin typeface="Ubuntu Light"/>
                <a:ea typeface="Ubuntu Light"/>
                <a:cs typeface="Ubuntu Light"/>
                <a:sym typeface="Ubuntu Light"/>
              </a:rPr>
              <a:t>Serviços em Nuvem que você já usa</a:t>
            </a:r>
          </a:p>
        </p:txBody>
      </p:sp>
      <p:sp>
        <p:nvSpPr>
          <p:cNvPr id="51" name="Google Shape;51;p13"/>
          <p:cNvSpPr txBox="1"/>
          <p:nvPr/>
        </p:nvSpPr>
        <p:spPr>
          <a:xfrm>
            <a:off x="240550" y="396113"/>
            <a:ext cx="338802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Banco de dados e SQL em ambiente Azure</a:t>
            </a:r>
            <a:endParaRPr sz="900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sp>
        <p:nvSpPr>
          <p:cNvPr id="52" name="Google Shape;52;p13"/>
          <p:cNvSpPr txBox="1"/>
          <p:nvPr/>
        </p:nvSpPr>
        <p:spPr>
          <a:xfrm>
            <a:off x="247215" y="1688744"/>
            <a:ext cx="4810422" cy="2554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b="1" dirty="0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Serviços de E-mail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Os serviços de e-mail em nuvem, como o </a:t>
            </a:r>
            <a:r>
              <a:rPr lang="pt-PT" dirty="0" err="1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Gmail</a:t>
            </a:r>
            <a:r>
              <a:rPr lang="pt-PT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 e o Outlook.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  <a:p>
            <a:pPr marL="0" lvl="0" indent="0">
              <a:buFont typeface="Arial"/>
              <a:buNone/>
            </a:pPr>
            <a:r>
              <a:rPr lang="pt-PT" b="1" dirty="0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Serviços de Documentos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Os serviços de documentos em nuvem, como o Google </a:t>
            </a:r>
            <a:r>
              <a:rPr lang="pt-PT" dirty="0" err="1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Docs</a:t>
            </a:r>
            <a:r>
              <a:rPr lang="pt-PT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 e o Microsoft Word Online..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dirty="0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Serviços de Armazenamento de Fotos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Os serviços de armazenamento de fotos em nuvem, como o Google Fotos e o Dropbox..</a:t>
            </a:r>
          </a:p>
        </p:txBody>
      </p:sp>
      <p:pic>
        <p:nvPicPr>
          <p:cNvPr id="2" name="Picture 1" descr="Conceito de computação em nuvem">
            <a:extLst>
              <a:ext uri="{FF2B5EF4-FFF2-40B4-BE49-F238E27FC236}">
                <a16:creationId xmlns:a16="http://schemas.microsoft.com/office/drawing/2014/main" id="{D9EC0FB7-694C-4DFD-BB80-4BE2B4FD5D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80" r="8859" b="-3"/>
          <a:stretch/>
        </p:blipFill>
        <p:spPr>
          <a:xfrm>
            <a:off x="5050971" y="1333798"/>
            <a:ext cx="3845814" cy="32644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912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/>
        </p:nvSpPr>
        <p:spPr>
          <a:xfrm>
            <a:off x="240549" y="124357"/>
            <a:ext cx="5637737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 dirty="0">
                <a:solidFill>
                  <a:srgbClr val="A6F750"/>
                </a:solidFill>
                <a:latin typeface="Ubuntu Light"/>
                <a:ea typeface="Ubuntu Light"/>
                <a:cs typeface="Ubuntu Light"/>
                <a:sym typeface="Ubuntu Light"/>
              </a:rPr>
              <a:t>Bancos de dados na Nuvem: O Melhor dos dois Mundos</a:t>
            </a:r>
          </a:p>
        </p:txBody>
      </p:sp>
      <p:sp>
        <p:nvSpPr>
          <p:cNvPr id="51" name="Google Shape;51;p13"/>
          <p:cNvSpPr txBox="1"/>
          <p:nvPr/>
        </p:nvSpPr>
        <p:spPr>
          <a:xfrm>
            <a:off x="240550" y="396113"/>
            <a:ext cx="338802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Banco de dados e SQL em ambiente Azure</a:t>
            </a:r>
            <a:endParaRPr sz="900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sp>
        <p:nvSpPr>
          <p:cNvPr id="52" name="Google Shape;52;p13"/>
          <p:cNvSpPr txBox="1"/>
          <p:nvPr/>
        </p:nvSpPr>
        <p:spPr>
          <a:xfrm>
            <a:off x="247215" y="1117521"/>
            <a:ext cx="4810422" cy="2908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dirty="0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Acessibilidade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5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Bancos de dados na nuvem são altamente acessíveis (Internet).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sz="1350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  <a:p>
            <a:r>
              <a:rPr lang="pt-PT" b="1" dirty="0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Flexibilidade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5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Os bancos de dados na nuvem possuem uma grande flexibilidade em termos de armazenamento, processamento e memória.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sz="1350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  <a:p>
            <a:pPr marL="0" lvl="0" indent="0">
              <a:buFont typeface="Arial"/>
              <a:buNone/>
            </a:pPr>
            <a:r>
              <a:rPr lang="pt-PT" b="1" dirty="0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Segurança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5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Os bancos de dados na nuvem oferecem maior segurança e proteção aos dados do que os bancos de dados tradicionais..</a:t>
            </a:r>
          </a:p>
        </p:txBody>
      </p:sp>
      <p:pic>
        <p:nvPicPr>
          <p:cNvPr id="3" name="Picture 2" descr="Computação em nuvem">
            <a:extLst>
              <a:ext uri="{FF2B5EF4-FFF2-40B4-BE49-F238E27FC236}">
                <a16:creationId xmlns:a16="http://schemas.microsoft.com/office/drawing/2014/main" id="{1F6B3DE9-A19E-429B-8241-4ED7A43D89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639" b="-3"/>
          <a:stretch/>
        </p:blipFill>
        <p:spPr>
          <a:xfrm>
            <a:off x="5057637" y="939546"/>
            <a:ext cx="3845814" cy="32644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07554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/>
        </p:nvSpPr>
        <p:spPr>
          <a:xfrm>
            <a:off x="240549" y="124357"/>
            <a:ext cx="5637737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 dirty="0">
                <a:solidFill>
                  <a:srgbClr val="A6F750"/>
                </a:solidFill>
                <a:latin typeface="Ubuntu Light"/>
                <a:ea typeface="Ubuntu Light"/>
                <a:cs typeface="Ubuntu Light"/>
                <a:sym typeface="Ubuntu Light"/>
              </a:rPr>
              <a:t>Por que usar bancos de dados na nuvem?</a:t>
            </a:r>
          </a:p>
        </p:txBody>
      </p:sp>
      <p:sp>
        <p:nvSpPr>
          <p:cNvPr id="51" name="Google Shape;51;p13"/>
          <p:cNvSpPr txBox="1"/>
          <p:nvPr/>
        </p:nvSpPr>
        <p:spPr>
          <a:xfrm>
            <a:off x="240550" y="396113"/>
            <a:ext cx="338802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Banco de dados e SQL em ambiente Azure</a:t>
            </a:r>
            <a:endParaRPr sz="900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sp>
        <p:nvSpPr>
          <p:cNvPr id="52" name="Google Shape;52;p13"/>
          <p:cNvSpPr txBox="1"/>
          <p:nvPr/>
        </p:nvSpPr>
        <p:spPr>
          <a:xfrm>
            <a:off x="240549" y="1336811"/>
            <a:ext cx="4810422" cy="2554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pt-PT" b="1" dirty="0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Acessibilidade</a:t>
            </a:r>
            <a:r>
              <a:rPr lang="pt-PT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: </a:t>
            </a:r>
            <a:r>
              <a:rPr lang="pt-PT" dirty="0" err="1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Acesse</a:t>
            </a:r>
            <a:r>
              <a:rPr lang="pt-PT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 seus dados de qualquer lugar com internet.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</a:pPr>
            <a:endParaRPr lang="pt-PT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pt-PT" b="1" dirty="0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Escalabilidade</a:t>
            </a:r>
            <a:r>
              <a:rPr lang="pt-PT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: Ajuste o armazenamento conforme sua necessidade.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</a:pPr>
            <a:endParaRPr lang="pt-PT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pt-PT" b="1" dirty="0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Custo-benefício</a:t>
            </a:r>
            <a:r>
              <a:rPr lang="pt-PT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: Pague apenas pelo que usar.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</a:pPr>
            <a:endParaRPr lang="pt-PT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pt-PT" b="1" dirty="0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Segurança</a:t>
            </a:r>
            <a:r>
              <a:rPr lang="pt-PT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: Alta segurança com criptografia e backups.</a:t>
            </a:r>
          </a:p>
        </p:txBody>
      </p:sp>
      <p:pic>
        <p:nvPicPr>
          <p:cNvPr id="2" name="Picture 1" descr="Cadeia de papel de pessoas unidas ao redor da terra">
            <a:extLst>
              <a:ext uri="{FF2B5EF4-FFF2-40B4-BE49-F238E27FC236}">
                <a16:creationId xmlns:a16="http://schemas.microsoft.com/office/drawing/2014/main" id="{79E5EB46-B69F-484D-A778-19142C47BD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77" r="15783" b="-2"/>
          <a:stretch/>
        </p:blipFill>
        <p:spPr>
          <a:xfrm>
            <a:off x="5057637" y="939545"/>
            <a:ext cx="3845814" cy="32644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0666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/>
        </p:nvSpPr>
        <p:spPr>
          <a:xfrm>
            <a:off x="240549" y="124357"/>
            <a:ext cx="5637737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 dirty="0">
                <a:solidFill>
                  <a:srgbClr val="A6F750"/>
                </a:solidFill>
                <a:latin typeface="Ubuntu Light"/>
                <a:ea typeface="Ubuntu Light"/>
                <a:cs typeface="Ubuntu Light"/>
                <a:sym typeface="Ubuntu Light"/>
              </a:rPr>
              <a:t>Desafios a considerar</a:t>
            </a:r>
          </a:p>
        </p:txBody>
      </p:sp>
      <p:sp>
        <p:nvSpPr>
          <p:cNvPr id="51" name="Google Shape;51;p13"/>
          <p:cNvSpPr txBox="1"/>
          <p:nvPr/>
        </p:nvSpPr>
        <p:spPr>
          <a:xfrm>
            <a:off x="240550" y="396113"/>
            <a:ext cx="338802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Banco de dados e SQL em ambiente Azure</a:t>
            </a:r>
            <a:endParaRPr sz="900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sp>
        <p:nvSpPr>
          <p:cNvPr id="52" name="Google Shape;52;p13"/>
          <p:cNvSpPr txBox="1"/>
          <p:nvPr/>
        </p:nvSpPr>
        <p:spPr>
          <a:xfrm>
            <a:off x="247215" y="1725378"/>
            <a:ext cx="4810422" cy="1692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pt-PT" b="1" dirty="0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Dependência da internet</a:t>
            </a:r>
            <a:r>
              <a:rPr lang="pt-PT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: Necessidade de uma conexão estável.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</a:pPr>
            <a:endParaRPr lang="pt-PT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pt-PT" b="1" dirty="0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Segurança</a:t>
            </a:r>
            <a:r>
              <a:rPr lang="pt-PT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: Risco de vazamento de dados.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</a:pPr>
            <a:endParaRPr lang="pt-PT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pt-PT" b="1" dirty="0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Custos a longo prazo</a:t>
            </a:r>
            <a:r>
              <a:rPr lang="pt-PT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: Custos podem aumentar com o tempo.</a:t>
            </a:r>
          </a:p>
        </p:txBody>
      </p:sp>
      <p:pic>
        <p:nvPicPr>
          <p:cNvPr id="3" name="Picture 2" descr="Cadeado transparente">
            <a:extLst>
              <a:ext uri="{FF2B5EF4-FFF2-40B4-BE49-F238E27FC236}">
                <a16:creationId xmlns:a16="http://schemas.microsoft.com/office/drawing/2014/main" id="{37081E46-7E4A-402C-A174-B3EC906A2F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837" b="3"/>
          <a:stretch/>
        </p:blipFill>
        <p:spPr>
          <a:xfrm>
            <a:off x="5050971" y="939544"/>
            <a:ext cx="3845814" cy="32644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0626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/>
        </p:nvSpPr>
        <p:spPr>
          <a:xfrm>
            <a:off x="240549" y="124357"/>
            <a:ext cx="5637737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 dirty="0">
                <a:solidFill>
                  <a:srgbClr val="A6F750"/>
                </a:solidFill>
                <a:latin typeface="Ubuntu Light"/>
                <a:ea typeface="Ubuntu Light"/>
                <a:cs typeface="Ubuntu Light"/>
                <a:sym typeface="Ubuntu Light"/>
              </a:rPr>
              <a:t>Onde os bancos de dados na nuvem fazem a diferença</a:t>
            </a:r>
          </a:p>
        </p:txBody>
      </p:sp>
      <p:sp>
        <p:nvSpPr>
          <p:cNvPr id="51" name="Google Shape;51;p13"/>
          <p:cNvSpPr txBox="1"/>
          <p:nvPr/>
        </p:nvSpPr>
        <p:spPr>
          <a:xfrm>
            <a:off x="240550" y="396113"/>
            <a:ext cx="338802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Banco de dados e SQL em ambiente Azure</a:t>
            </a:r>
            <a:endParaRPr sz="900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sp>
        <p:nvSpPr>
          <p:cNvPr id="52" name="Google Shape;52;p13"/>
          <p:cNvSpPr txBox="1"/>
          <p:nvPr/>
        </p:nvSpPr>
        <p:spPr>
          <a:xfrm>
            <a:off x="247215" y="1940821"/>
            <a:ext cx="4810422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pt-PT" b="1" dirty="0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E-commerce</a:t>
            </a:r>
            <a:r>
              <a:rPr lang="pt-PT" b="1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: Armazenamento de dados de produtos e clientes.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</a:pPr>
            <a:endParaRPr lang="pt-PT" b="1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pt-PT" b="1" dirty="0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Aplicativos móveis</a:t>
            </a:r>
            <a:r>
              <a:rPr lang="pt-PT" b="1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: Armazenamento de dados do usuário.</a:t>
            </a:r>
          </a:p>
        </p:txBody>
      </p:sp>
      <p:pic>
        <p:nvPicPr>
          <p:cNvPr id="2" name="Picture 1" descr="Chave de compras">
            <a:extLst>
              <a:ext uri="{FF2B5EF4-FFF2-40B4-BE49-F238E27FC236}">
                <a16:creationId xmlns:a16="http://schemas.microsoft.com/office/drawing/2014/main" id="{689E952C-91CD-4139-89BD-72E2AA0464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99" r="5" b="11760"/>
          <a:stretch/>
        </p:blipFill>
        <p:spPr>
          <a:xfrm>
            <a:off x="5146221" y="939544"/>
            <a:ext cx="3750564" cy="32644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55650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/>
        </p:nvSpPr>
        <p:spPr>
          <a:xfrm>
            <a:off x="240549" y="124357"/>
            <a:ext cx="5637737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 dirty="0">
                <a:solidFill>
                  <a:srgbClr val="A6F750"/>
                </a:solidFill>
                <a:latin typeface="Ubuntu Light"/>
                <a:ea typeface="Ubuntu Light"/>
                <a:cs typeface="Ubuntu Light"/>
                <a:sym typeface="Ubuntu Light"/>
              </a:rPr>
              <a:t>Recapitulação Geral</a:t>
            </a:r>
          </a:p>
        </p:txBody>
      </p:sp>
      <p:sp>
        <p:nvSpPr>
          <p:cNvPr id="51" name="Google Shape;51;p13"/>
          <p:cNvSpPr txBox="1"/>
          <p:nvPr/>
        </p:nvSpPr>
        <p:spPr>
          <a:xfrm>
            <a:off x="240550" y="396113"/>
            <a:ext cx="338802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Banco de dados e SQL em ambiente Azure</a:t>
            </a:r>
            <a:endParaRPr sz="900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sp>
        <p:nvSpPr>
          <p:cNvPr id="52" name="Google Shape;52;p13"/>
          <p:cNvSpPr txBox="1"/>
          <p:nvPr/>
        </p:nvSpPr>
        <p:spPr>
          <a:xfrm>
            <a:off x="240549" y="1402211"/>
            <a:ext cx="4810422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pt-PT" b="1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Bancos de Dados na Nuvem: Uma Revolução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Wingdings" panose="05000000000000000000" pitchFamily="2" charset="2"/>
              <a:buChar char="ü"/>
            </a:pPr>
            <a:endParaRPr lang="pt-PT" b="1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pt-PT" b="1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Benefícios dos Bancos de Dados na Nuvem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Wingdings" panose="05000000000000000000" pitchFamily="2" charset="2"/>
              <a:buChar char="ü"/>
            </a:pPr>
            <a:endParaRPr lang="pt-PT" b="1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pt-PT" b="1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Serviços Comuns na Nuvem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Wingdings" panose="05000000000000000000" pitchFamily="2" charset="2"/>
              <a:buChar char="ü"/>
            </a:pPr>
            <a:endParaRPr lang="pt-PT" b="1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pt-PT" b="1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Desafios a Considerar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Wingdings" panose="05000000000000000000" pitchFamily="2" charset="2"/>
              <a:buChar char="ü"/>
            </a:pPr>
            <a:endParaRPr lang="pt-PT" b="1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pt-PT" b="1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Onde os Bancos de Dados na Nuvem Fazem a Diferença</a:t>
            </a:r>
          </a:p>
        </p:txBody>
      </p:sp>
      <p:pic>
        <p:nvPicPr>
          <p:cNvPr id="3" name="Picture 2" descr="Disco rígido em forma de nuvem com cabos">
            <a:extLst>
              <a:ext uri="{FF2B5EF4-FFF2-40B4-BE49-F238E27FC236}">
                <a16:creationId xmlns:a16="http://schemas.microsoft.com/office/drawing/2014/main" id="{A1414A92-F17A-147D-711A-3B9288B913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49" r="25464" b="3"/>
          <a:stretch/>
        </p:blipFill>
        <p:spPr>
          <a:xfrm>
            <a:off x="5152887" y="939543"/>
            <a:ext cx="3750564" cy="32644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47654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3492150" y="2210090"/>
            <a:ext cx="2197450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rgbClr val="A6F750"/>
                </a:solidFill>
                <a:latin typeface="Ubuntu Light"/>
                <a:ea typeface="Ubuntu Light"/>
                <a:cs typeface="Ubuntu Light"/>
                <a:sym typeface="Ubuntu Light"/>
              </a:rPr>
              <a:t>Obrigado!</a:t>
            </a:r>
            <a:endParaRPr sz="3500" dirty="0">
              <a:solidFill>
                <a:srgbClr val="A6F750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629</TotalTime>
  <Words>868</Words>
  <Application>Microsoft Office PowerPoint</Application>
  <PresentationFormat>On-screen Show (16:9)</PresentationFormat>
  <Paragraphs>86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Ubuntu Light</vt:lpstr>
      <vt:lpstr>Arial</vt:lpstr>
      <vt:lpstr>Fira Code Light</vt:lpstr>
      <vt:lpstr>Ubuntu</vt:lpstr>
      <vt:lpstr>Segoe UI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6</cp:revision>
  <dcterms:modified xsi:type="dcterms:W3CDTF">2024-12-20T13:05:47Z</dcterms:modified>
</cp:coreProperties>
</file>