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4"/>
  </p:notesMasterIdLst>
  <p:sldIdLst>
    <p:sldId id="256" r:id="rId2"/>
    <p:sldId id="262" r:id="rId3"/>
    <p:sldId id="257" r:id="rId4"/>
    <p:sldId id="278" r:id="rId5"/>
    <p:sldId id="279" r:id="rId6"/>
    <p:sldId id="280" r:id="rId7"/>
    <p:sldId id="281" r:id="rId8"/>
    <p:sldId id="282" r:id="rId9"/>
    <p:sldId id="283" r:id="rId10"/>
    <p:sldId id="267" r:id="rId11"/>
    <p:sldId id="268" r:id="rId12"/>
    <p:sldId id="261" r:id="rId13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5"/>
      <p:bold r:id="rId16"/>
    </p:embeddedFont>
    <p:embeddedFont>
      <p:font typeface="Fira Code Light" panose="020B0809050000020004" pitchFamily="49" charset="0"/>
      <p:regular r:id="rId17"/>
    </p:embeddedFont>
    <p:embeddedFont>
      <p:font typeface="Ubuntu" panose="020B0504030602030204" pitchFamily="34" charset="0"/>
      <p:regular r:id="rId18"/>
      <p:bold r:id="rId19"/>
      <p:italic r:id="rId20"/>
      <p:boldItalic r:id="rId21"/>
    </p:embeddedFont>
    <p:embeddedFont>
      <p:font typeface="Ubuntu Light" panose="020B0304030602030204" pitchFamily="34" charset="0"/>
      <p:regular r:id="rId22"/>
      <p: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08F99F-44A7-0F8B-9A97-88BECF28B341}" v="1087" dt="2024-12-09T16:07:07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104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EA884736-F235-A8B0-8AE1-EC04F8D25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04D8C4C0-83DB-2EB5-2D39-C6FC78110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11ED6BF5-6DED-7055-15A2-16BCCE7EB0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6605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27AFEA08-6F10-CB52-0257-3CD780C2F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E4863BDC-48DA-F990-7095-F741963D0D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A04B8690-6143-BDB7-D348-3164135A34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26048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A495834B-945E-2DA1-2438-59091D4F1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F400E4E6-4CF9-858C-E8B7-026BFAA1A8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FEDB183E-E575-1DD4-B120-F244793E88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2703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EDFE4A03-36EE-CE0F-6C2C-91080BEA8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E34868C9-92AC-EFFA-06C6-2242C37133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C7FC8D54-14D1-BD8F-A0E6-A6BBA5B888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91033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D6747036-1FC2-114E-210F-04A7E9BCD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90700B18-EDCD-8793-D973-B8CC9035BE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CCE1788A-F04D-5B4B-0CAB-7F312B35E8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77634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6935356C-78F3-7A5D-6B3A-58F897552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9324AD18-B87E-61C0-DD6E-35EBF2BDD3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6ACCF2E4-4751-3B88-82E1-DE736FF522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3694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capa" type="title">
  <p:cSld name="slide capa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/>
          <p:cNvPicPr preferRelativeResize="0"/>
          <p:nvPr/>
        </p:nvPicPr>
        <p:blipFill rotWithShape="1">
          <a:blip r:embed="rId2">
            <a:alphaModFix/>
          </a:blip>
          <a:srcRect t="10223" b="10215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000" y="780750"/>
            <a:ext cx="2012820" cy="1244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7612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5099824" y="3731617"/>
            <a:ext cx="4122429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09 | 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Transações e índices em </a:t>
            </a:r>
            <a:r>
              <a:rPr lang="pt-PT" sz="1500" dirty="0" err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Azure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SQL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41E96825-65C5-6CCC-642F-5CEC20F1091B}"/>
              </a:ext>
            </a:extLst>
          </p:cNvPr>
          <p:cNvSpPr txBox="1"/>
          <p:nvPr/>
        </p:nvSpPr>
        <p:spPr>
          <a:xfrm>
            <a:off x="243551" y="191491"/>
            <a:ext cx="418041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400" b="0" i="0" u="none" strike="noStrike" cap="none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 que vamos aprender?</a:t>
            </a:r>
            <a:endParaRPr lang="pt-PT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grpSp>
        <p:nvGrpSpPr>
          <p:cNvPr id="17" name="Google Shape;74;p14">
            <a:extLst>
              <a:ext uri="{FF2B5EF4-FFF2-40B4-BE49-F238E27FC236}">
                <a16:creationId xmlns:a16="http://schemas.microsoft.com/office/drawing/2014/main" id="{38EB1F19-5A96-7625-D2A5-80FA81A253A8}"/>
              </a:ext>
            </a:extLst>
          </p:cNvPr>
          <p:cNvGrpSpPr/>
          <p:nvPr/>
        </p:nvGrpSpPr>
        <p:grpSpPr>
          <a:xfrm>
            <a:off x="1137371" y="2430725"/>
            <a:ext cx="457200" cy="457200"/>
            <a:chOff x="1249800" y="282500"/>
            <a:chExt cx="4839225" cy="4809625"/>
          </a:xfrm>
        </p:grpSpPr>
        <p:sp>
          <p:nvSpPr>
            <p:cNvPr id="14" name="Google Shape;75;p14">
              <a:extLst>
                <a:ext uri="{FF2B5EF4-FFF2-40B4-BE49-F238E27FC236}">
                  <a16:creationId xmlns:a16="http://schemas.microsoft.com/office/drawing/2014/main" id="{A9B46A0D-A028-E123-1636-B9CA86E2675E}"/>
                </a:ext>
              </a:extLst>
            </p:cNvPr>
            <p:cNvSpPr/>
            <p:nvPr/>
          </p:nvSpPr>
          <p:spPr>
            <a:xfrm>
              <a:off x="1249800" y="2825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1840"/>
                  </a:moveTo>
                  <a:cubicBezTo>
                    <a:pt x="142661" y="11840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1840"/>
                    <a:pt x="96193" y="11840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5" name="Google Shape;76;p14">
              <a:extLst>
                <a:ext uri="{FF2B5EF4-FFF2-40B4-BE49-F238E27FC236}">
                  <a16:creationId xmlns:a16="http://schemas.microsoft.com/office/drawing/2014/main" id="{0516AAFA-09B7-04AF-95F1-B08CFB6AA9B6}"/>
                </a:ext>
              </a:extLst>
            </p:cNvPr>
            <p:cNvSpPr/>
            <p:nvPr/>
          </p:nvSpPr>
          <p:spPr>
            <a:xfrm>
              <a:off x="2241325" y="282500"/>
              <a:ext cx="3847700" cy="4809625"/>
            </a:xfrm>
            <a:custGeom>
              <a:avLst/>
              <a:gdLst/>
              <a:ahLst/>
              <a:cxnLst/>
              <a:rect l="l" t="t" r="r" b="b"/>
              <a:pathLst>
                <a:path w="153908" h="192385" extrusionOk="0">
                  <a:moveTo>
                    <a:pt x="56532" y="1"/>
                  </a:moveTo>
                  <a:lnTo>
                    <a:pt x="56532" y="11840"/>
                  </a:lnTo>
                  <a:cubicBezTo>
                    <a:pt x="69850" y="11840"/>
                    <a:pt x="82873" y="15096"/>
                    <a:pt x="94712" y="21015"/>
                  </a:cubicBezTo>
                  <a:cubicBezTo>
                    <a:pt x="106551" y="27231"/>
                    <a:pt x="116910" y="35814"/>
                    <a:pt x="124606" y="46765"/>
                  </a:cubicBezTo>
                  <a:cubicBezTo>
                    <a:pt x="132597" y="57420"/>
                    <a:pt x="137629" y="69851"/>
                    <a:pt x="139700" y="82874"/>
                  </a:cubicBezTo>
                  <a:cubicBezTo>
                    <a:pt x="141772" y="96193"/>
                    <a:pt x="140588" y="109511"/>
                    <a:pt x="136741" y="122238"/>
                  </a:cubicBezTo>
                  <a:cubicBezTo>
                    <a:pt x="132597" y="134669"/>
                    <a:pt x="125494" y="146212"/>
                    <a:pt x="116022" y="155683"/>
                  </a:cubicBezTo>
                  <a:cubicBezTo>
                    <a:pt x="106551" y="165155"/>
                    <a:pt x="95304" y="171962"/>
                    <a:pt x="82577" y="176106"/>
                  </a:cubicBezTo>
                  <a:cubicBezTo>
                    <a:pt x="73960" y="178911"/>
                    <a:pt x="65072" y="180360"/>
                    <a:pt x="56187" y="180360"/>
                  </a:cubicBezTo>
                  <a:cubicBezTo>
                    <a:pt x="51950" y="180360"/>
                    <a:pt x="47714" y="180030"/>
                    <a:pt x="43509" y="179361"/>
                  </a:cubicBezTo>
                  <a:cubicBezTo>
                    <a:pt x="30190" y="177290"/>
                    <a:pt x="17759" y="171962"/>
                    <a:pt x="7104" y="164267"/>
                  </a:cubicBezTo>
                  <a:lnTo>
                    <a:pt x="0" y="174034"/>
                  </a:lnTo>
                  <a:cubicBezTo>
                    <a:pt x="12431" y="182913"/>
                    <a:pt x="26638" y="188833"/>
                    <a:pt x="41437" y="191200"/>
                  </a:cubicBezTo>
                  <a:cubicBezTo>
                    <a:pt x="46468" y="191990"/>
                    <a:pt x="51533" y="192384"/>
                    <a:pt x="56586" y="192384"/>
                  </a:cubicBezTo>
                  <a:cubicBezTo>
                    <a:pt x="66693" y="192384"/>
                    <a:pt x="76756" y="190806"/>
                    <a:pt x="86425" y="187649"/>
                  </a:cubicBezTo>
                  <a:cubicBezTo>
                    <a:pt x="100632" y="182913"/>
                    <a:pt x="113951" y="174922"/>
                    <a:pt x="124606" y="164267"/>
                  </a:cubicBezTo>
                  <a:cubicBezTo>
                    <a:pt x="135261" y="153316"/>
                    <a:pt x="143252" y="140293"/>
                    <a:pt x="147988" y="125790"/>
                  </a:cubicBezTo>
                  <a:cubicBezTo>
                    <a:pt x="152723" y="111287"/>
                    <a:pt x="153907" y="96193"/>
                    <a:pt x="151539" y="81098"/>
                  </a:cubicBezTo>
                  <a:cubicBezTo>
                    <a:pt x="149172" y="66003"/>
                    <a:pt x="143252" y="51796"/>
                    <a:pt x="134373" y="39661"/>
                  </a:cubicBezTo>
                  <a:cubicBezTo>
                    <a:pt x="125494" y="27231"/>
                    <a:pt x="113655" y="17167"/>
                    <a:pt x="100336" y="10360"/>
                  </a:cubicBezTo>
                  <a:cubicBezTo>
                    <a:pt x="86721" y="3553"/>
                    <a:pt x="71626" y="1"/>
                    <a:pt x="56532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16" name="Google Shape;77;p14">
              <a:extLst>
                <a:ext uri="{FF2B5EF4-FFF2-40B4-BE49-F238E27FC236}">
                  <a16:creationId xmlns:a16="http://schemas.microsoft.com/office/drawing/2014/main" id="{2DD2EC3A-3CC3-F56F-1309-A5CA03A8934A}"/>
                </a:ext>
              </a:extLst>
            </p:cNvPr>
            <p:cNvSpPr/>
            <p:nvPr/>
          </p:nvSpPr>
          <p:spPr>
            <a:xfrm>
              <a:off x="2966450" y="1910375"/>
              <a:ext cx="1331925" cy="1605675"/>
            </a:xfrm>
            <a:custGeom>
              <a:avLst/>
              <a:gdLst/>
              <a:ahLst/>
              <a:cxnLst/>
              <a:rect l="l" t="t" r="r" b="b"/>
              <a:pathLst>
                <a:path w="53277" h="64227" extrusionOk="0">
                  <a:moveTo>
                    <a:pt x="13320" y="0"/>
                  </a:moveTo>
                  <a:lnTo>
                    <a:pt x="12432" y="4144"/>
                  </a:lnTo>
                  <a:lnTo>
                    <a:pt x="46173" y="4144"/>
                  </a:lnTo>
                  <a:lnTo>
                    <a:pt x="22791" y="28118"/>
                  </a:lnTo>
                  <a:lnTo>
                    <a:pt x="21903" y="31670"/>
                  </a:lnTo>
                  <a:lnTo>
                    <a:pt x="25455" y="31670"/>
                  </a:lnTo>
                  <a:cubicBezTo>
                    <a:pt x="36702" y="31670"/>
                    <a:pt x="42029" y="35813"/>
                    <a:pt x="42029" y="43804"/>
                  </a:cubicBezTo>
                  <a:cubicBezTo>
                    <a:pt x="42029" y="53572"/>
                    <a:pt x="34334" y="60083"/>
                    <a:pt x="21607" y="60083"/>
                  </a:cubicBezTo>
                  <a:cubicBezTo>
                    <a:pt x="12728" y="60083"/>
                    <a:pt x="5920" y="56531"/>
                    <a:pt x="2665" y="52092"/>
                  </a:cubicBezTo>
                  <a:lnTo>
                    <a:pt x="1" y="55643"/>
                  </a:lnTo>
                  <a:cubicBezTo>
                    <a:pt x="3553" y="60675"/>
                    <a:pt x="11544" y="64227"/>
                    <a:pt x="21607" y="64227"/>
                  </a:cubicBezTo>
                  <a:cubicBezTo>
                    <a:pt x="36702" y="64227"/>
                    <a:pt x="46765" y="55939"/>
                    <a:pt x="46765" y="43804"/>
                  </a:cubicBezTo>
                  <a:cubicBezTo>
                    <a:pt x="46765" y="34037"/>
                    <a:pt x="40549" y="28414"/>
                    <a:pt x="28710" y="27822"/>
                  </a:cubicBezTo>
                  <a:lnTo>
                    <a:pt x="52684" y="3256"/>
                  </a:lnTo>
                  <a:lnTo>
                    <a:pt x="53276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2" name="Google Shape;78;p14">
            <a:extLst>
              <a:ext uri="{FF2B5EF4-FFF2-40B4-BE49-F238E27FC236}">
                <a16:creationId xmlns:a16="http://schemas.microsoft.com/office/drawing/2014/main" id="{8103873E-9B9F-4052-1975-D61AA785F4AB}"/>
              </a:ext>
            </a:extLst>
          </p:cNvPr>
          <p:cNvGrpSpPr/>
          <p:nvPr/>
        </p:nvGrpSpPr>
        <p:grpSpPr>
          <a:xfrm>
            <a:off x="1158144" y="3090601"/>
            <a:ext cx="457200" cy="457200"/>
            <a:chOff x="1212800" y="289900"/>
            <a:chExt cx="4883625" cy="4809625"/>
          </a:xfrm>
        </p:grpSpPr>
        <p:sp>
          <p:nvSpPr>
            <p:cNvPr id="19" name="Google Shape;79;p14">
              <a:extLst>
                <a:ext uri="{FF2B5EF4-FFF2-40B4-BE49-F238E27FC236}">
                  <a16:creationId xmlns:a16="http://schemas.microsoft.com/office/drawing/2014/main" id="{8543AE75-53D4-2C5E-66C7-E5FFEAAAF0DE}"/>
                </a:ext>
              </a:extLst>
            </p:cNvPr>
            <p:cNvSpPr/>
            <p:nvPr/>
          </p:nvSpPr>
          <p:spPr>
            <a:xfrm>
              <a:off x="1249800" y="2899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0" name="Google Shape;80;p14">
              <a:extLst>
                <a:ext uri="{FF2B5EF4-FFF2-40B4-BE49-F238E27FC236}">
                  <a16:creationId xmlns:a16="http://schemas.microsoft.com/office/drawing/2014/main" id="{5F18C28A-6F6D-9B86-0A77-FE1F67022A75}"/>
                </a:ext>
              </a:extLst>
            </p:cNvPr>
            <p:cNvSpPr/>
            <p:nvPr/>
          </p:nvSpPr>
          <p:spPr>
            <a:xfrm>
              <a:off x="1212800" y="289900"/>
              <a:ext cx="4883625" cy="4809625"/>
            </a:xfrm>
            <a:custGeom>
              <a:avLst/>
              <a:gdLst/>
              <a:ahLst/>
              <a:cxnLst/>
              <a:rect l="l" t="t" r="r" b="b"/>
              <a:pathLst>
                <a:path w="195345" h="192385" extrusionOk="0">
                  <a:moveTo>
                    <a:pt x="97673" y="1"/>
                  </a:moveTo>
                  <a:lnTo>
                    <a:pt x="97673" y="12136"/>
                  </a:lnTo>
                  <a:cubicBezTo>
                    <a:pt x="115431" y="12136"/>
                    <a:pt x="132894" y="17759"/>
                    <a:pt x="147100" y="28118"/>
                  </a:cubicBezTo>
                  <a:cubicBezTo>
                    <a:pt x="161603" y="38478"/>
                    <a:pt x="172258" y="53276"/>
                    <a:pt x="177882" y="70147"/>
                  </a:cubicBezTo>
                  <a:cubicBezTo>
                    <a:pt x="183209" y="87017"/>
                    <a:pt x="183209" y="105368"/>
                    <a:pt x="177882" y="122238"/>
                  </a:cubicBezTo>
                  <a:cubicBezTo>
                    <a:pt x="172258" y="139109"/>
                    <a:pt x="161603" y="153908"/>
                    <a:pt x="147100" y="164267"/>
                  </a:cubicBezTo>
                  <a:cubicBezTo>
                    <a:pt x="132894" y="174626"/>
                    <a:pt x="115431" y="180249"/>
                    <a:pt x="97673" y="180249"/>
                  </a:cubicBezTo>
                  <a:cubicBezTo>
                    <a:pt x="79914" y="180249"/>
                    <a:pt x="62748" y="174626"/>
                    <a:pt x="48245" y="164267"/>
                  </a:cubicBezTo>
                  <a:cubicBezTo>
                    <a:pt x="33742" y="153908"/>
                    <a:pt x="23087" y="139109"/>
                    <a:pt x="17759" y="122238"/>
                  </a:cubicBezTo>
                  <a:cubicBezTo>
                    <a:pt x="12136" y="105368"/>
                    <a:pt x="12136" y="87017"/>
                    <a:pt x="17759" y="70147"/>
                  </a:cubicBezTo>
                  <a:lnTo>
                    <a:pt x="6216" y="66595"/>
                  </a:lnTo>
                  <a:cubicBezTo>
                    <a:pt x="1" y="85833"/>
                    <a:pt x="1" y="106552"/>
                    <a:pt x="6216" y="126086"/>
                  </a:cubicBezTo>
                  <a:cubicBezTo>
                    <a:pt x="12432" y="145324"/>
                    <a:pt x="24863" y="162195"/>
                    <a:pt x="41141" y="174034"/>
                  </a:cubicBezTo>
                  <a:cubicBezTo>
                    <a:pt x="57716" y="185873"/>
                    <a:pt x="77250" y="192384"/>
                    <a:pt x="97673" y="192384"/>
                  </a:cubicBezTo>
                  <a:cubicBezTo>
                    <a:pt x="118095" y="192384"/>
                    <a:pt x="137925" y="185873"/>
                    <a:pt x="154204" y="174034"/>
                  </a:cubicBezTo>
                  <a:cubicBezTo>
                    <a:pt x="170778" y="162195"/>
                    <a:pt x="182913" y="145324"/>
                    <a:pt x="189129" y="126086"/>
                  </a:cubicBezTo>
                  <a:cubicBezTo>
                    <a:pt x="195344" y="106552"/>
                    <a:pt x="195344" y="85833"/>
                    <a:pt x="189129" y="66595"/>
                  </a:cubicBezTo>
                  <a:cubicBezTo>
                    <a:pt x="182913" y="47061"/>
                    <a:pt x="170778" y="30486"/>
                    <a:pt x="154204" y="18351"/>
                  </a:cubicBezTo>
                  <a:cubicBezTo>
                    <a:pt x="137925" y="6512"/>
                    <a:pt x="118095" y="1"/>
                    <a:pt x="9767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1" name="Google Shape;81;p14">
              <a:extLst>
                <a:ext uri="{FF2B5EF4-FFF2-40B4-BE49-F238E27FC236}">
                  <a16:creationId xmlns:a16="http://schemas.microsoft.com/office/drawing/2014/main" id="{C7B0CC13-64CC-BBBE-7F53-947151A27C03}"/>
                </a:ext>
              </a:extLst>
            </p:cNvPr>
            <p:cNvSpPr/>
            <p:nvPr/>
          </p:nvSpPr>
          <p:spPr>
            <a:xfrm>
              <a:off x="2981250" y="1917775"/>
              <a:ext cx="1383725" cy="1598275"/>
            </a:xfrm>
            <a:custGeom>
              <a:avLst/>
              <a:gdLst/>
              <a:ahLst/>
              <a:cxnLst/>
              <a:rect l="l" t="t" r="r" b="b"/>
              <a:pathLst>
                <a:path w="55349" h="63931" extrusionOk="0">
                  <a:moveTo>
                    <a:pt x="43509" y="0"/>
                  </a:moveTo>
                  <a:lnTo>
                    <a:pt x="889" y="42917"/>
                  </a:lnTo>
                  <a:lnTo>
                    <a:pt x="1" y="46172"/>
                  </a:lnTo>
                  <a:lnTo>
                    <a:pt x="36406" y="46172"/>
                  </a:lnTo>
                  <a:lnTo>
                    <a:pt x="32854" y="63931"/>
                  </a:lnTo>
                  <a:lnTo>
                    <a:pt x="37590" y="63931"/>
                  </a:lnTo>
                  <a:lnTo>
                    <a:pt x="41141" y="46172"/>
                  </a:lnTo>
                  <a:lnTo>
                    <a:pt x="54460" y="46172"/>
                  </a:lnTo>
                  <a:lnTo>
                    <a:pt x="55348" y="42029"/>
                  </a:lnTo>
                  <a:lnTo>
                    <a:pt x="42029" y="42029"/>
                  </a:lnTo>
                  <a:lnTo>
                    <a:pt x="44989" y="26342"/>
                  </a:lnTo>
                  <a:lnTo>
                    <a:pt x="40549" y="26342"/>
                  </a:lnTo>
                  <a:lnTo>
                    <a:pt x="37294" y="42029"/>
                  </a:lnTo>
                  <a:lnTo>
                    <a:pt x="7104" y="42029"/>
                  </a:lnTo>
                  <a:lnTo>
                    <a:pt x="49133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27" name="Google Shape;82;p14">
            <a:extLst>
              <a:ext uri="{FF2B5EF4-FFF2-40B4-BE49-F238E27FC236}">
                <a16:creationId xmlns:a16="http://schemas.microsoft.com/office/drawing/2014/main" id="{F5830BA0-5D9F-61A0-036D-F68BCC09D986}"/>
              </a:ext>
            </a:extLst>
          </p:cNvPr>
          <p:cNvGrpSpPr/>
          <p:nvPr/>
        </p:nvGrpSpPr>
        <p:grpSpPr>
          <a:xfrm>
            <a:off x="1153034" y="1770849"/>
            <a:ext cx="457200" cy="457200"/>
            <a:chOff x="1249800" y="260300"/>
            <a:chExt cx="4846625" cy="4809625"/>
          </a:xfrm>
        </p:grpSpPr>
        <p:sp>
          <p:nvSpPr>
            <p:cNvPr id="24" name="Google Shape;83;p14">
              <a:extLst>
                <a:ext uri="{FF2B5EF4-FFF2-40B4-BE49-F238E27FC236}">
                  <a16:creationId xmlns:a16="http://schemas.microsoft.com/office/drawing/2014/main" id="{163C9035-933D-45BD-AAC4-68E7FFE6A9E6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5" name="Google Shape;84;p14">
              <a:extLst>
                <a:ext uri="{FF2B5EF4-FFF2-40B4-BE49-F238E27FC236}">
                  <a16:creationId xmlns:a16="http://schemas.microsoft.com/office/drawing/2014/main" id="{31AA322B-8004-7869-753F-3A70695AC03E}"/>
                </a:ext>
              </a:extLst>
            </p:cNvPr>
            <p:cNvSpPr/>
            <p:nvPr/>
          </p:nvSpPr>
          <p:spPr>
            <a:xfrm>
              <a:off x="3654600" y="260300"/>
              <a:ext cx="2441825" cy="4350850"/>
            </a:xfrm>
            <a:custGeom>
              <a:avLst/>
              <a:gdLst/>
              <a:ahLst/>
              <a:cxnLst/>
              <a:rect l="l" t="t" r="r" b="b"/>
              <a:pathLst>
                <a:path w="97673" h="174034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cubicBezTo>
                    <a:pt x="85537" y="87017"/>
                    <a:pt x="85537" y="105368"/>
                    <a:pt x="80210" y="122238"/>
                  </a:cubicBezTo>
                  <a:cubicBezTo>
                    <a:pt x="74586" y="139109"/>
                    <a:pt x="63931" y="153908"/>
                    <a:pt x="49428" y="164267"/>
                  </a:cubicBezTo>
                  <a:lnTo>
                    <a:pt x="56532" y="174034"/>
                  </a:lnTo>
                  <a:cubicBezTo>
                    <a:pt x="73106" y="161899"/>
                    <a:pt x="85241" y="145028"/>
                    <a:pt x="91457" y="125790"/>
                  </a:cubicBezTo>
                  <a:cubicBezTo>
                    <a:pt x="97672" y="106552"/>
                    <a:pt x="97672" y="85834"/>
                    <a:pt x="91457" y="66299"/>
                  </a:cubicBez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26" name="Google Shape;85;p14">
              <a:extLst>
                <a:ext uri="{FF2B5EF4-FFF2-40B4-BE49-F238E27FC236}">
                  <a16:creationId xmlns:a16="http://schemas.microsoft.com/office/drawing/2014/main" id="{A44F6A6C-14ED-7BEC-E284-5E14AC7C8F32}"/>
                </a:ext>
              </a:extLst>
            </p:cNvPr>
            <p:cNvSpPr/>
            <p:nvPr/>
          </p:nvSpPr>
          <p:spPr>
            <a:xfrm>
              <a:off x="2981250" y="1888175"/>
              <a:ext cx="1265325" cy="1605675"/>
            </a:xfrm>
            <a:custGeom>
              <a:avLst/>
              <a:gdLst/>
              <a:ahLst/>
              <a:cxnLst/>
              <a:rect l="l" t="t" r="r" b="b"/>
              <a:pathLst>
                <a:path w="50613" h="64227" extrusionOk="0">
                  <a:moveTo>
                    <a:pt x="31670" y="0"/>
                  </a:moveTo>
                  <a:cubicBezTo>
                    <a:pt x="22791" y="0"/>
                    <a:pt x="14504" y="3256"/>
                    <a:pt x="9176" y="8880"/>
                  </a:cubicBezTo>
                  <a:lnTo>
                    <a:pt x="12432" y="11543"/>
                  </a:lnTo>
                  <a:cubicBezTo>
                    <a:pt x="16871" y="6808"/>
                    <a:pt x="23975" y="4144"/>
                    <a:pt x="31078" y="4144"/>
                  </a:cubicBezTo>
                  <a:cubicBezTo>
                    <a:pt x="41141" y="4144"/>
                    <a:pt x="45877" y="8584"/>
                    <a:pt x="45877" y="15391"/>
                  </a:cubicBezTo>
                  <a:cubicBezTo>
                    <a:pt x="45877" y="21311"/>
                    <a:pt x="43213" y="26342"/>
                    <a:pt x="33446" y="34333"/>
                  </a:cubicBezTo>
                  <a:lnTo>
                    <a:pt x="593" y="60971"/>
                  </a:lnTo>
                  <a:lnTo>
                    <a:pt x="1" y="64227"/>
                  </a:lnTo>
                  <a:lnTo>
                    <a:pt x="44101" y="64227"/>
                  </a:lnTo>
                  <a:lnTo>
                    <a:pt x="44693" y="60083"/>
                  </a:lnTo>
                  <a:lnTo>
                    <a:pt x="8288" y="60083"/>
                  </a:lnTo>
                  <a:lnTo>
                    <a:pt x="36702" y="36997"/>
                  </a:lnTo>
                  <a:cubicBezTo>
                    <a:pt x="47357" y="28414"/>
                    <a:pt x="50613" y="21902"/>
                    <a:pt x="50613" y="14799"/>
                  </a:cubicBezTo>
                  <a:cubicBezTo>
                    <a:pt x="50613" y="5920"/>
                    <a:pt x="44101" y="0"/>
                    <a:pt x="31670" y="0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2" name="Google Shape;86;p14">
            <a:extLst>
              <a:ext uri="{FF2B5EF4-FFF2-40B4-BE49-F238E27FC236}">
                <a16:creationId xmlns:a16="http://schemas.microsoft.com/office/drawing/2014/main" id="{3ABA7813-2D47-8D12-99BE-D3FCC73FC7A4}"/>
              </a:ext>
            </a:extLst>
          </p:cNvPr>
          <p:cNvGrpSpPr/>
          <p:nvPr/>
        </p:nvGrpSpPr>
        <p:grpSpPr>
          <a:xfrm>
            <a:off x="1154549" y="1110973"/>
            <a:ext cx="457200" cy="457200"/>
            <a:chOff x="1249800" y="260300"/>
            <a:chExt cx="4809625" cy="4809625"/>
          </a:xfrm>
        </p:grpSpPr>
        <p:sp>
          <p:nvSpPr>
            <p:cNvPr id="29" name="Google Shape;87;p14">
              <a:extLst>
                <a:ext uri="{FF2B5EF4-FFF2-40B4-BE49-F238E27FC236}">
                  <a16:creationId xmlns:a16="http://schemas.microsoft.com/office/drawing/2014/main" id="{FED135AB-8780-C719-08CA-1E502207D5A2}"/>
                </a:ext>
              </a:extLst>
            </p:cNvPr>
            <p:cNvSpPr/>
            <p:nvPr/>
          </p:nvSpPr>
          <p:spPr>
            <a:xfrm>
              <a:off x="1249800" y="260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661"/>
                    <a:pt x="142661" y="180249"/>
                    <a:pt x="96193" y="180249"/>
                  </a:cubicBezTo>
                  <a:cubicBezTo>
                    <a:pt x="49725" y="180249"/>
                    <a:pt x="12136" y="142661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2917"/>
                    <a:pt x="1" y="96193"/>
                  </a:cubicBezTo>
                  <a:cubicBezTo>
                    <a:pt x="1" y="149172"/>
                    <a:pt x="43213" y="192384"/>
                    <a:pt x="96193" y="192384"/>
                  </a:cubicBezTo>
                  <a:cubicBezTo>
                    <a:pt x="149468" y="192384"/>
                    <a:pt x="192384" y="149172"/>
                    <a:pt x="192384" y="96193"/>
                  </a:cubicBezTo>
                  <a:cubicBezTo>
                    <a:pt x="192384" y="42917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0" name="Google Shape;88;p14">
              <a:extLst>
                <a:ext uri="{FF2B5EF4-FFF2-40B4-BE49-F238E27FC236}">
                  <a16:creationId xmlns:a16="http://schemas.microsoft.com/office/drawing/2014/main" id="{193F2A82-CE4A-51F3-8580-87831057D124}"/>
                </a:ext>
              </a:extLst>
            </p:cNvPr>
            <p:cNvSpPr/>
            <p:nvPr/>
          </p:nvSpPr>
          <p:spPr>
            <a:xfrm>
              <a:off x="3654600" y="260300"/>
              <a:ext cx="2286425" cy="1753675"/>
            </a:xfrm>
            <a:custGeom>
              <a:avLst/>
              <a:gdLst/>
              <a:ahLst/>
              <a:cxnLst/>
              <a:rect l="l" t="t" r="r" b="b"/>
              <a:pathLst>
                <a:path w="91457" h="70147" extrusionOk="0">
                  <a:moveTo>
                    <a:pt x="1" y="1"/>
                  </a:moveTo>
                  <a:lnTo>
                    <a:pt x="1" y="12136"/>
                  </a:lnTo>
                  <a:cubicBezTo>
                    <a:pt x="17759" y="12136"/>
                    <a:pt x="35222" y="17759"/>
                    <a:pt x="49428" y="28119"/>
                  </a:cubicBezTo>
                  <a:cubicBezTo>
                    <a:pt x="63931" y="38478"/>
                    <a:pt x="74586" y="53276"/>
                    <a:pt x="80210" y="70147"/>
                  </a:cubicBezTo>
                  <a:lnTo>
                    <a:pt x="91457" y="66595"/>
                  </a:lnTo>
                  <a:cubicBezTo>
                    <a:pt x="85241" y="47061"/>
                    <a:pt x="73106" y="30190"/>
                    <a:pt x="56532" y="18351"/>
                  </a:cubicBezTo>
                  <a:cubicBezTo>
                    <a:pt x="40253" y="6512"/>
                    <a:pt x="20423" y="1"/>
                    <a:pt x="1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1" name="Google Shape;89;p14">
              <a:extLst>
                <a:ext uri="{FF2B5EF4-FFF2-40B4-BE49-F238E27FC236}">
                  <a16:creationId xmlns:a16="http://schemas.microsoft.com/office/drawing/2014/main" id="{D5A6CF78-AC12-D586-D698-0C2455FE0CBA}"/>
                </a:ext>
              </a:extLst>
            </p:cNvPr>
            <p:cNvSpPr/>
            <p:nvPr/>
          </p:nvSpPr>
          <p:spPr>
            <a:xfrm>
              <a:off x="3395625" y="1888175"/>
              <a:ext cx="525375" cy="1598275"/>
            </a:xfrm>
            <a:custGeom>
              <a:avLst/>
              <a:gdLst/>
              <a:ahLst/>
              <a:cxnLst/>
              <a:rect l="l" t="t" r="r" b="b"/>
              <a:pathLst>
                <a:path w="21015" h="63931" extrusionOk="0">
                  <a:moveTo>
                    <a:pt x="888" y="0"/>
                  </a:moveTo>
                  <a:lnTo>
                    <a:pt x="0" y="4144"/>
                  </a:lnTo>
                  <a:lnTo>
                    <a:pt x="15391" y="4144"/>
                  </a:lnTo>
                  <a:lnTo>
                    <a:pt x="3552" y="63931"/>
                  </a:lnTo>
                  <a:lnTo>
                    <a:pt x="8288" y="63931"/>
                  </a:lnTo>
                  <a:lnTo>
                    <a:pt x="21015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grpSp>
        <p:nvGrpSpPr>
          <p:cNvPr id="37" name="Google Shape;90;p14">
            <a:extLst>
              <a:ext uri="{FF2B5EF4-FFF2-40B4-BE49-F238E27FC236}">
                <a16:creationId xmlns:a16="http://schemas.microsoft.com/office/drawing/2014/main" id="{DC85C384-F303-3136-B350-98CC10BC3539}"/>
              </a:ext>
            </a:extLst>
          </p:cNvPr>
          <p:cNvGrpSpPr/>
          <p:nvPr/>
        </p:nvGrpSpPr>
        <p:grpSpPr>
          <a:xfrm>
            <a:off x="1145248" y="3750476"/>
            <a:ext cx="457200" cy="457200"/>
            <a:chOff x="1249800" y="297300"/>
            <a:chExt cx="4809625" cy="4809625"/>
          </a:xfrm>
        </p:grpSpPr>
        <p:sp>
          <p:nvSpPr>
            <p:cNvPr id="34" name="Google Shape;91;p14">
              <a:extLst>
                <a:ext uri="{FF2B5EF4-FFF2-40B4-BE49-F238E27FC236}">
                  <a16:creationId xmlns:a16="http://schemas.microsoft.com/office/drawing/2014/main" id="{56EB96B5-6474-0BC9-864B-59CDAEF3623C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5" name="Google Shape;92;p14">
              <a:extLst>
                <a:ext uri="{FF2B5EF4-FFF2-40B4-BE49-F238E27FC236}">
                  <a16:creationId xmlns:a16="http://schemas.microsoft.com/office/drawing/2014/main" id="{8EDDF46F-D18A-0894-B63F-0C0CE7708B34}"/>
                </a:ext>
              </a:extLst>
            </p:cNvPr>
            <p:cNvSpPr/>
            <p:nvPr/>
          </p:nvSpPr>
          <p:spPr>
            <a:xfrm>
              <a:off x="1249800" y="297300"/>
              <a:ext cx="4809625" cy="4809625"/>
            </a:xfrm>
            <a:custGeom>
              <a:avLst/>
              <a:gdLst/>
              <a:ahLst/>
              <a:cxnLst/>
              <a:rect l="l" t="t" r="r" b="b"/>
              <a:pathLst>
                <a:path w="192385" h="192385" extrusionOk="0">
                  <a:moveTo>
                    <a:pt x="96193" y="12136"/>
                  </a:moveTo>
                  <a:cubicBezTo>
                    <a:pt x="142661" y="12136"/>
                    <a:pt x="180249" y="49725"/>
                    <a:pt x="180249" y="96193"/>
                  </a:cubicBezTo>
                  <a:cubicBezTo>
                    <a:pt x="180249" y="142957"/>
                    <a:pt x="142661" y="180545"/>
                    <a:pt x="96193" y="180545"/>
                  </a:cubicBezTo>
                  <a:cubicBezTo>
                    <a:pt x="49725" y="180545"/>
                    <a:pt x="12136" y="142957"/>
                    <a:pt x="12136" y="96193"/>
                  </a:cubicBezTo>
                  <a:cubicBezTo>
                    <a:pt x="12136" y="49725"/>
                    <a:pt x="49725" y="12136"/>
                    <a:pt x="96193" y="12136"/>
                  </a:cubicBezTo>
                  <a:close/>
                  <a:moveTo>
                    <a:pt x="96193" y="1"/>
                  </a:moveTo>
                  <a:cubicBezTo>
                    <a:pt x="43213" y="1"/>
                    <a:pt x="1" y="43213"/>
                    <a:pt x="1" y="96193"/>
                  </a:cubicBezTo>
                  <a:cubicBezTo>
                    <a:pt x="1" y="149468"/>
                    <a:pt x="43213" y="192384"/>
                    <a:pt x="96193" y="192384"/>
                  </a:cubicBezTo>
                  <a:cubicBezTo>
                    <a:pt x="149468" y="192384"/>
                    <a:pt x="192384" y="149468"/>
                    <a:pt x="192384" y="96193"/>
                  </a:cubicBezTo>
                  <a:cubicBezTo>
                    <a:pt x="192384" y="43213"/>
                    <a:pt x="149468" y="1"/>
                    <a:pt x="96193" y="1"/>
                  </a:cubicBez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36" name="Google Shape;93;p14">
              <a:extLst>
                <a:ext uri="{FF2B5EF4-FFF2-40B4-BE49-F238E27FC236}">
                  <a16:creationId xmlns:a16="http://schemas.microsoft.com/office/drawing/2014/main" id="{726B0E0B-46B3-3FE5-AC22-A215577A5080}"/>
                </a:ext>
              </a:extLst>
            </p:cNvPr>
            <p:cNvSpPr/>
            <p:nvPr/>
          </p:nvSpPr>
          <p:spPr>
            <a:xfrm>
              <a:off x="2996050" y="1925175"/>
              <a:ext cx="1309725" cy="1613075"/>
            </a:xfrm>
            <a:custGeom>
              <a:avLst/>
              <a:gdLst/>
              <a:ahLst/>
              <a:cxnLst/>
              <a:rect l="l" t="t" r="r" b="b"/>
              <a:pathLst>
                <a:path w="52389" h="64523" extrusionOk="0">
                  <a:moveTo>
                    <a:pt x="18351" y="0"/>
                  </a:moveTo>
                  <a:lnTo>
                    <a:pt x="8880" y="31078"/>
                  </a:lnTo>
                  <a:lnTo>
                    <a:pt x="23087" y="31078"/>
                  </a:lnTo>
                  <a:cubicBezTo>
                    <a:pt x="36998" y="31078"/>
                    <a:pt x="42325" y="35813"/>
                    <a:pt x="42325" y="43804"/>
                  </a:cubicBezTo>
                  <a:cubicBezTo>
                    <a:pt x="42325" y="54164"/>
                    <a:pt x="34630" y="60083"/>
                    <a:pt x="21903" y="60083"/>
                  </a:cubicBezTo>
                  <a:cubicBezTo>
                    <a:pt x="12728" y="60083"/>
                    <a:pt x="5920" y="56827"/>
                    <a:pt x="2961" y="52388"/>
                  </a:cubicBezTo>
                  <a:lnTo>
                    <a:pt x="1" y="55643"/>
                  </a:lnTo>
                  <a:cubicBezTo>
                    <a:pt x="3552" y="60971"/>
                    <a:pt x="11544" y="64523"/>
                    <a:pt x="21607" y="64523"/>
                  </a:cubicBezTo>
                  <a:cubicBezTo>
                    <a:pt x="36998" y="64523"/>
                    <a:pt x="47061" y="56235"/>
                    <a:pt x="47061" y="43508"/>
                  </a:cubicBezTo>
                  <a:cubicBezTo>
                    <a:pt x="47061" y="33149"/>
                    <a:pt x="39957" y="26934"/>
                    <a:pt x="23975" y="26934"/>
                  </a:cubicBezTo>
                  <a:lnTo>
                    <a:pt x="14800" y="26934"/>
                  </a:lnTo>
                  <a:lnTo>
                    <a:pt x="21903" y="4144"/>
                  </a:lnTo>
                  <a:lnTo>
                    <a:pt x="51500" y="4144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67A718C-8145-D8F7-0D0F-A89CE750AE0D}"/>
              </a:ext>
            </a:extLst>
          </p:cNvPr>
          <p:cNvSpPr txBox="1"/>
          <p:nvPr/>
        </p:nvSpPr>
        <p:spPr>
          <a:xfrm>
            <a:off x="1644185" y="1208768"/>
            <a:ext cx="551489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Transações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306F0E9-B41C-4B7E-3418-E09900A809D4}"/>
              </a:ext>
            </a:extLst>
          </p:cNvPr>
          <p:cNvSpPr txBox="1"/>
          <p:nvPr/>
        </p:nvSpPr>
        <p:spPr>
          <a:xfrm>
            <a:off x="1678456" y="1865598"/>
            <a:ext cx="455879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ACID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324433-DEB7-CCA9-A042-647C66B3B71E}"/>
              </a:ext>
            </a:extLst>
          </p:cNvPr>
          <p:cNvSpPr txBox="1"/>
          <p:nvPr/>
        </p:nvSpPr>
        <p:spPr>
          <a:xfrm>
            <a:off x="1644184" y="3190237"/>
            <a:ext cx="5879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Demonstração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4132CC5-F6D0-6013-783E-4FC51F43D1E3}"/>
              </a:ext>
            </a:extLst>
          </p:cNvPr>
          <p:cNvSpPr txBox="1"/>
          <p:nvPr/>
        </p:nvSpPr>
        <p:spPr>
          <a:xfrm>
            <a:off x="1644184" y="3853596"/>
            <a:ext cx="419902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Recapitulação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127170B4-15B4-932B-A6EA-D4557355A49F}"/>
              </a:ext>
            </a:extLst>
          </p:cNvPr>
          <p:cNvSpPr txBox="1"/>
          <p:nvPr/>
        </p:nvSpPr>
        <p:spPr>
          <a:xfrm>
            <a:off x="243550" y="403166"/>
            <a:ext cx="4700157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09 | Transações e índices em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sp>
        <p:nvSpPr>
          <p:cNvPr id="2" name="CaixaDeTexto 41">
            <a:extLst>
              <a:ext uri="{FF2B5EF4-FFF2-40B4-BE49-F238E27FC236}">
                <a16:creationId xmlns:a16="http://schemas.microsoft.com/office/drawing/2014/main" id="{E955987F-B6D3-1A84-2CB9-7B01818851A5}"/>
              </a:ext>
            </a:extLst>
          </p:cNvPr>
          <p:cNvSpPr txBox="1"/>
          <p:nvPr/>
        </p:nvSpPr>
        <p:spPr>
          <a:xfrm>
            <a:off x="1644184" y="2505436"/>
            <a:ext cx="5879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PT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Índices</a:t>
            </a:r>
          </a:p>
        </p:txBody>
      </p:sp>
    </p:spTree>
    <p:extLst>
      <p:ext uri="{BB962C8B-B14F-4D97-AF65-F5344CB8AC3E}">
        <p14:creationId xmlns:p14="http://schemas.microsoft.com/office/powerpoint/2010/main" val="1890794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  <p:bldP spid="43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/>
        </p:nvSpPr>
        <p:spPr>
          <a:xfrm>
            <a:off x="240549" y="124357"/>
            <a:ext cx="53276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Transações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/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09 | Transações e índices em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2C5BF2-6BFF-B924-7A1E-757AFFB391CD}"/>
              </a:ext>
            </a:extLst>
          </p:cNvPr>
          <p:cNvSpPr txBox="1"/>
          <p:nvPr/>
        </p:nvSpPr>
        <p:spPr>
          <a:xfrm>
            <a:off x="240549" y="2033140"/>
            <a:ext cx="41827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Definição</a:t>
            </a:r>
          </a:p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Conjunto de operações que são tratadas como uma única unidade de trabalho.</a:t>
            </a:r>
          </a:p>
        </p:txBody>
      </p:sp>
      <p:pic>
        <p:nvPicPr>
          <p:cNvPr id="5" name="Picture 4" descr="A screenshot of a diagram&#10;&#10;Description automatically generated">
            <a:extLst>
              <a:ext uri="{FF2B5EF4-FFF2-40B4-BE49-F238E27FC236}">
                <a16:creationId xmlns:a16="http://schemas.microsoft.com/office/drawing/2014/main" id="{63D88BFB-FF5A-D3C5-FB6F-0EAD52ACB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342" y="269428"/>
            <a:ext cx="4022514" cy="46046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49C67E14-4A48-1CDE-C164-24000143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367C982D-27CB-FB73-D2FD-62E5C29D363B}"/>
              </a:ext>
            </a:extLst>
          </p:cNvPr>
          <p:cNvSpPr txBox="1"/>
          <p:nvPr/>
        </p:nvSpPr>
        <p:spPr>
          <a:xfrm>
            <a:off x="240549" y="124357"/>
            <a:ext cx="53276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ACID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1ABBC4F2-5C76-6F2C-0241-8031CA5CBCFA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09 | Transações e índices em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3FD071-D584-8DD8-2B28-8CEECDF8F141}"/>
              </a:ext>
            </a:extLst>
          </p:cNvPr>
          <p:cNvSpPr txBox="1"/>
          <p:nvPr/>
        </p:nvSpPr>
        <p:spPr>
          <a:xfrm>
            <a:off x="240549" y="761274"/>
            <a:ext cx="39367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Acronimo</a:t>
            </a:r>
            <a:endParaRPr lang="pt-PT" sz="16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Fira Code" panose="020B0809050000020004" pitchFamily="49" charset="0"/>
              <a:buChar char="♥"/>
            </a:pPr>
            <a:r>
              <a:rPr lang="pt-PT" sz="1600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</a:t>
            </a:r>
            <a:r>
              <a:rPr lang="pt-PT" sz="16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tomicity</a:t>
            </a: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(Atomicidade)</a:t>
            </a:r>
          </a:p>
          <a:p>
            <a:pPr marL="285750" indent="-285750">
              <a:buClr>
                <a:srgbClr val="92D050"/>
              </a:buClr>
              <a:buFont typeface="Fira Code" panose="020B0809050000020004" pitchFamily="49" charset="0"/>
              <a:buChar char="♥"/>
            </a:pPr>
            <a:r>
              <a:rPr lang="pt-PT" sz="1600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</a:t>
            </a:r>
            <a:r>
              <a:rPr lang="pt-PT" sz="16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onsistency</a:t>
            </a: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(Consistência)</a:t>
            </a:r>
          </a:p>
          <a:p>
            <a:pPr marL="285750" indent="-285750">
              <a:buClr>
                <a:srgbClr val="92D050"/>
              </a:buClr>
              <a:buFont typeface="Fira Code" panose="020B0809050000020004" pitchFamily="49" charset="0"/>
              <a:buChar char="♥"/>
            </a:pPr>
            <a:r>
              <a:rPr lang="pt-PT" sz="1600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</a:t>
            </a:r>
            <a:r>
              <a:rPr lang="pt-PT" sz="16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solation</a:t>
            </a: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(Isolamento)</a:t>
            </a:r>
          </a:p>
          <a:p>
            <a:pPr marL="285750" indent="-285750">
              <a:buClr>
                <a:srgbClr val="92D050"/>
              </a:buClr>
              <a:buFont typeface="Fira Code" panose="020B0809050000020004" pitchFamily="49" charset="0"/>
              <a:buChar char="♥"/>
            </a:pPr>
            <a:r>
              <a:rPr lang="pt-PT" sz="1600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</a:t>
            </a:r>
            <a:r>
              <a:rPr lang="pt-PT" sz="16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urability</a:t>
            </a: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(Durabilidade)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2ED8C7-A531-67C6-BBA5-5CF33109BA4E}"/>
              </a:ext>
            </a:extLst>
          </p:cNvPr>
          <p:cNvSpPr txBox="1"/>
          <p:nvPr/>
        </p:nvSpPr>
        <p:spPr>
          <a:xfrm>
            <a:off x="4572000" y="761274"/>
            <a:ext cx="39367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Presente em todos os bancos transacionais</a:t>
            </a:r>
          </a:p>
          <a:p>
            <a:pPr marL="285750" indent="-285750" fontAlgn="base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Garantia de que uma transação seja completada ou desfeita por completo.</a:t>
            </a:r>
          </a:p>
          <a:p>
            <a:pPr marL="285750" indent="-285750" fontAlgn="base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Comandos transacionais</a:t>
            </a:r>
          </a:p>
          <a:p>
            <a:pPr marL="742950" lvl="1" indent="-285750" fontAlgn="base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BEGIN TRANSACTION</a:t>
            </a:r>
          </a:p>
          <a:p>
            <a:pPr marL="742950" lvl="1" indent="-285750" fontAlgn="base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COMMIT TRANSACTION</a:t>
            </a:r>
          </a:p>
          <a:p>
            <a:pPr marL="742950" lvl="1" indent="-285750" fontAlgn="base">
              <a:buClr>
                <a:srgbClr val="92D050"/>
              </a:buClr>
              <a:buFont typeface="Wingdings" panose="05000000000000000000" pitchFamily="2" charset="2"/>
              <a:buChar char="Ø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ROLLBACK TRANSACTION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48A2FE5-74A2-21F4-EE29-82AD98D6A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169832"/>
            <a:ext cx="7144215" cy="1849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2672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E055C35B-B36D-CED4-A096-D1666A946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453FBE83-8A30-EDA4-C922-5AD5D76387BE}"/>
              </a:ext>
            </a:extLst>
          </p:cNvPr>
          <p:cNvSpPr txBox="1"/>
          <p:nvPr/>
        </p:nvSpPr>
        <p:spPr>
          <a:xfrm>
            <a:off x="240549" y="124357"/>
            <a:ext cx="53276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ACID - </a:t>
            </a: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tomicity</a:t>
            </a:r>
            <a:endParaRPr lang="pt-BR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24EF0B47-7193-7EB7-8B1E-968646747E7C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09 | Transações e índices em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grpSp>
        <p:nvGrpSpPr>
          <p:cNvPr id="3" name="Google Shape;109;p14">
            <a:extLst>
              <a:ext uri="{FF2B5EF4-FFF2-40B4-BE49-F238E27FC236}">
                <a16:creationId xmlns:a16="http://schemas.microsoft.com/office/drawing/2014/main" id="{43F0BDAE-7D13-3EF4-3141-E6FF69B5E101}"/>
              </a:ext>
            </a:extLst>
          </p:cNvPr>
          <p:cNvGrpSpPr/>
          <p:nvPr/>
        </p:nvGrpSpPr>
        <p:grpSpPr>
          <a:xfrm>
            <a:off x="240549" y="737984"/>
            <a:ext cx="8531744" cy="4067611"/>
            <a:chOff x="527225" y="1006888"/>
            <a:chExt cx="6536100" cy="3409800"/>
          </a:xfrm>
        </p:grpSpPr>
        <p:sp>
          <p:nvSpPr>
            <p:cNvPr id="4" name="Google Shape;110;p14">
              <a:extLst>
                <a:ext uri="{FF2B5EF4-FFF2-40B4-BE49-F238E27FC236}">
                  <a16:creationId xmlns:a16="http://schemas.microsoft.com/office/drawing/2014/main" id="{4DAF36D2-68B7-39E3-C257-2B4889E5846E}"/>
                </a:ext>
              </a:extLst>
            </p:cNvPr>
            <p:cNvSpPr/>
            <p:nvPr/>
          </p:nvSpPr>
          <p:spPr>
            <a:xfrm>
              <a:off x="527225" y="1006888"/>
              <a:ext cx="6536100" cy="3409800"/>
            </a:xfrm>
            <a:prstGeom prst="roundRect">
              <a:avLst>
                <a:gd name="adj" fmla="val 8123"/>
              </a:avLst>
            </a:pr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5" name="Google Shape;111;p14">
              <a:extLst>
                <a:ext uri="{FF2B5EF4-FFF2-40B4-BE49-F238E27FC236}">
                  <a16:creationId xmlns:a16="http://schemas.microsoft.com/office/drawing/2014/main" id="{4C066A06-2F25-02AE-2353-7B53E749037B}"/>
                </a:ext>
              </a:extLst>
            </p:cNvPr>
            <p:cNvSpPr/>
            <p:nvPr/>
          </p:nvSpPr>
          <p:spPr>
            <a:xfrm>
              <a:off x="527225" y="1724100"/>
              <a:ext cx="88800" cy="1972800"/>
            </a:xfrm>
            <a:prstGeom prst="rect">
              <a:avLst/>
            </a:pr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FC17EB3C-03E0-11AA-360E-0DCDE2F4D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90" y="860490"/>
            <a:ext cx="5191125" cy="381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5279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9B8CF5A8-FAE4-DE75-00BF-FF9238723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D854B1EB-21F5-98E9-B998-4E6EE916B542}"/>
              </a:ext>
            </a:extLst>
          </p:cNvPr>
          <p:cNvSpPr txBox="1"/>
          <p:nvPr/>
        </p:nvSpPr>
        <p:spPr>
          <a:xfrm>
            <a:off x="240549" y="124357"/>
            <a:ext cx="53276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ACID - </a:t>
            </a: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C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onsistency</a:t>
            </a:r>
            <a:endParaRPr lang="pt-BR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13407C8D-A217-0616-75DE-9B42CB782CE3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09 | Transações e índices em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grpSp>
        <p:nvGrpSpPr>
          <p:cNvPr id="3" name="Google Shape;109;p14">
            <a:extLst>
              <a:ext uri="{FF2B5EF4-FFF2-40B4-BE49-F238E27FC236}">
                <a16:creationId xmlns:a16="http://schemas.microsoft.com/office/drawing/2014/main" id="{1C79DC55-29DE-9045-D5CB-893563F2459F}"/>
              </a:ext>
            </a:extLst>
          </p:cNvPr>
          <p:cNvGrpSpPr/>
          <p:nvPr/>
        </p:nvGrpSpPr>
        <p:grpSpPr>
          <a:xfrm>
            <a:off x="240549" y="737984"/>
            <a:ext cx="8531744" cy="4067611"/>
            <a:chOff x="527225" y="1006888"/>
            <a:chExt cx="6536100" cy="3409800"/>
          </a:xfrm>
        </p:grpSpPr>
        <p:sp>
          <p:nvSpPr>
            <p:cNvPr id="4" name="Google Shape;110;p14">
              <a:extLst>
                <a:ext uri="{FF2B5EF4-FFF2-40B4-BE49-F238E27FC236}">
                  <a16:creationId xmlns:a16="http://schemas.microsoft.com/office/drawing/2014/main" id="{2CF9686E-7043-EA75-455B-98FA2E5DEBD0}"/>
                </a:ext>
              </a:extLst>
            </p:cNvPr>
            <p:cNvSpPr/>
            <p:nvPr/>
          </p:nvSpPr>
          <p:spPr>
            <a:xfrm>
              <a:off x="527225" y="1006888"/>
              <a:ext cx="6536100" cy="3409800"/>
            </a:xfrm>
            <a:prstGeom prst="roundRect">
              <a:avLst>
                <a:gd name="adj" fmla="val 8123"/>
              </a:avLst>
            </a:pr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5" name="Google Shape;111;p14">
              <a:extLst>
                <a:ext uri="{FF2B5EF4-FFF2-40B4-BE49-F238E27FC236}">
                  <a16:creationId xmlns:a16="http://schemas.microsoft.com/office/drawing/2014/main" id="{043DA7BF-05AE-9B85-1D63-A57F17B9AF6A}"/>
                </a:ext>
              </a:extLst>
            </p:cNvPr>
            <p:cNvSpPr/>
            <p:nvPr/>
          </p:nvSpPr>
          <p:spPr>
            <a:xfrm>
              <a:off x="527225" y="1724100"/>
              <a:ext cx="88800" cy="1972800"/>
            </a:xfrm>
            <a:prstGeom prst="rect">
              <a:avLst/>
            </a:pr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63D34FDC-6882-1618-EBBA-406CA55EDF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604" y="1608203"/>
            <a:ext cx="354330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E7C58A-9273-697F-60FA-3054AAC0D6E4}"/>
              </a:ext>
            </a:extLst>
          </p:cNvPr>
          <p:cNvSpPr txBox="1"/>
          <p:nvPr/>
        </p:nvSpPr>
        <p:spPr>
          <a:xfrm>
            <a:off x="4703959" y="1910030"/>
            <a:ext cx="39367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Integridade dos dados</a:t>
            </a:r>
          </a:p>
          <a:p>
            <a:pPr marL="285750" indent="-285750" fontAlgn="base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Transações confirmadas</a:t>
            </a:r>
          </a:p>
          <a:p>
            <a:pPr marL="285750" indent="-285750" fontAlgn="base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Garantir que as regras impostas por você no banco de dados sejam cumpridas</a:t>
            </a:r>
          </a:p>
        </p:txBody>
      </p:sp>
    </p:spTree>
    <p:extLst>
      <p:ext uri="{BB962C8B-B14F-4D97-AF65-F5344CB8AC3E}">
        <p14:creationId xmlns:p14="http://schemas.microsoft.com/office/powerpoint/2010/main" val="1999524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238DCC8A-F853-4385-4681-61C27700C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6D34B717-ECE4-D42C-8C3D-334D71347347}"/>
              </a:ext>
            </a:extLst>
          </p:cNvPr>
          <p:cNvSpPr txBox="1"/>
          <p:nvPr/>
        </p:nvSpPr>
        <p:spPr>
          <a:xfrm>
            <a:off x="240549" y="124357"/>
            <a:ext cx="53276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ACID - </a:t>
            </a: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I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solation</a:t>
            </a:r>
            <a:endParaRPr lang="pt-BR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A2D5DB26-00E9-A8CC-E190-258D09660D7C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09 | Transações e índices em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grpSp>
        <p:nvGrpSpPr>
          <p:cNvPr id="3" name="Google Shape;109;p14">
            <a:extLst>
              <a:ext uri="{FF2B5EF4-FFF2-40B4-BE49-F238E27FC236}">
                <a16:creationId xmlns:a16="http://schemas.microsoft.com/office/drawing/2014/main" id="{4A0710E0-213B-8A5D-B02E-16E9246D5E78}"/>
              </a:ext>
            </a:extLst>
          </p:cNvPr>
          <p:cNvGrpSpPr/>
          <p:nvPr/>
        </p:nvGrpSpPr>
        <p:grpSpPr>
          <a:xfrm>
            <a:off x="240549" y="737984"/>
            <a:ext cx="8531744" cy="4067611"/>
            <a:chOff x="527225" y="1006888"/>
            <a:chExt cx="6536100" cy="3409800"/>
          </a:xfrm>
        </p:grpSpPr>
        <p:sp>
          <p:nvSpPr>
            <p:cNvPr id="4" name="Google Shape;110;p14">
              <a:extLst>
                <a:ext uri="{FF2B5EF4-FFF2-40B4-BE49-F238E27FC236}">
                  <a16:creationId xmlns:a16="http://schemas.microsoft.com/office/drawing/2014/main" id="{C294EEC8-AD88-5AE8-747D-B9A2D05EFEED}"/>
                </a:ext>
              </a:extLst>
            </p:cNvPr>
            <p:cNvSpPr/>
            <p:nvPr/>
          </p:nvSpPr>
          <p:spPr>
            <a:xfrm>
              <a:off x="527225" y="1006888"/>
              <a:ext cx="6536100" cy="3409800"/>
            </a:xfrm>
            <a:prstGeom prst="roundRect">
              <a:avLst>
                <a:gd name="adj" fmla="val 8123"/>
              </a:avLst>
            </a:pr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5" name="Google Shape;111;p14">
              <a:extLst>
                <a:ext uri="{FF2B5EF4-FFF2-40B4-BE49-F238E27FC236}">
                  <a16:creationId xmlns:a16="http://schemas.microsoft.com/office/drawing/2014/main" id="{887FF74F-2C3A-BCCA-050D-977869B6523B}"/>
                </a:ext>
              </a:extLst>
            </p:cNvPr>
            <p:cNvSpPr/>
            <p:nvPr/>
          </p:nvSpPr>
          <p:spPr>
            <a:xfrm>
              <a:off x="527225" y="1724100"/>
              <a:ext cx="88800" cy="1972800"/>
            </a:xfrm>
            <a:prstGeom prst="rect">
              <a:avLst/>
            </a:pr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pic>
        <p:nvPicPr>
          <p:cNvPr id="4098" name="Picture 2">
            <a:extLst>
              <a:ext uri="{FF2B5EF4-FFF2-40B4-BE49-F238E27FC236}">
                <a16:creationId xmlns:a16="http://schemas.microsoft.com/office/drawing/2014/main" id="{00AAA6B7-6C94-831F-DE40-5CF4FDBE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950892"/>
            <a:ext cx="6424381" cy="3638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7273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09CD5EF5-C450-A37B-0FA0-6FCFB4E03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D45F7510-39D6-1626-0EE8-8B872BAD722D}"/>
              </a:ext>
            </a:extLst>
          </p:cNvPr>
          <p:cNvSpPr txBox="1"/>
          <p:nvPr/>
        </p:nvSpPr>
        <p:spPr>
          <a:xfrm>
            <a:off x="240549" y="124357"/>
            <a:ext cx="53276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ACID - </a:t>
            </a:r>
            <a:r>
              <a:rPr lang="pt-PT" b="1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D</a:t>
            </a:r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urability</a:t>
            </a:r>
            <a:endParaRPr lang="pt-BR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7B655537-65A3-46DC-9909-3B09AFB866E0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09 | Transações e índices em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grpSp>
        <p:nvGrpSpPr>
          <p:cNvPr id="3" name="Google Shape;109;p14">
            <a:extLst>
              <a:ext uri="{FF2B5EF4-FFF2-40B4-BE49-F238E27FC236}">
                <a16:creationId xmlns:a16="http://schemas.microsoft.com/office/drawing/2014/main" id="{AC235B31-B9FD-260D-C2B0-45411DCE9A93}"/>
              </a:ext>
            </a:extLst>
          </p:cNvPr>
          <p:cNvGrpSpPr/>
          <p:nvPr/>
        </p:nvGrpSpPr>
        <p:grpSpPr>
          <a:xfrm>
            <a:off x="240549" y="737984"/>
            <a:ext cx="8531744" cy="4067611"/>
            <a:chOff x="527225" y="1006888"/>
            <a:chExt cx="6536100" cy="3409800"/>
          </a:xfrm>
        </p:grpSpPr>
        <p:sp>
          <p:nvSpPr>
            <p:cNvPr id="4" name="Google Shape;110;p14">
              <a:extLst>
                <a:ext uri="{FF2B5EF4-FFF2-40B4-BE49-F238E27FC236}">
                  <a16:creationId xmlns:a16="http://schemas.microsoft.com/office/drawing/2014/main" id="{C8180EEF-25D4-8FFC-1F2B-B0C18298FA66}"/>
                </a:ext>
              </a:extLst>
            </p:cNvPr>
            <p:cNvSpPr/>
            <p:nvPr/>
          </p:nvSpPr>
          <p:spPr>
            <a:xfrm>
              <a:off x="527225" y="1006888"/>
              <a:ext cx="6536100" cy="3409800"/>
            </a:xfrm>
            <a:prstGeom prst="roundRect">
              <a:avLst>
                <a:gd name="adj" fmla="val 8123"/>
              </a:avLst>
            </a:prstGeom>
            <a:solidFill>
              <a:srgbClr val="282C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  <p:sp>
          <p:nvSpPr>
            <p:cNvPr id="5" name="Google Shape;111;p14">
              <a:extLst>
                <a:ext uri="{FF2B5EF4-FFF2-40B4-BE49-F238E27FC236}">
                  <a16:creationId xmlns:a16="http://schemas.microsoft.com/office/drawing/2014/main" id="{18957065-5BA6-9A14-738D-0DEC2CFF661A}"/>
                </a:ext>
              </a:extLst>
            </p:cNvPr>
            <p:cNvSpPr/>
            <p:nvPr/>
          </p:nvSpPr>
          <p:spPr>
            <a:xfrm>
              <a:off x="527225" y="1724100"/>
              <a:ext cx="88800" cy="1972800"/>
            </a:xfrm>
            <a:prstGeom prst="rect">
              <a:avLst/>
            </a:prstGeom>
            <a:solidFill>
              <a:srgbClr val="A6F7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7C8717B-1D0D-95FB-3115-0F0532B6709E}"/>
              </a:ext>
            </a:extLst>
          </p:cNvPr>
          <p:cNvSpPr txBox="1"/>
          <p:nvPr/>
        </p:nvSpPr>
        <p:spPr>
          <a:xfrm>
            <a:off x="1758343" y="2156251"/>
            <a:ext cx="67834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buClr>
                <a:srgbClr val="92D050"/>
              </a:buClr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Garante que as alterações de dados feitas por transações executadas com sucesso sejam preservadas, mesmo em caso de falha do sistema.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95A28D2-DC3E-24DF-F2D4-C913872A9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665" y="226695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1996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4E1798A4-2D1D-0369-38E5-F295B0AFC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7DDD4EF2-A378-028D-DF57-61BD36CEE91E}"/>
              </a:ext>
            </a:extLst>
          </p:cNvPr>
          <p:cNvSpPr txBox="1"/>
          <p:nvPr/>
        </p:nvSpPr>
        <p:spPr>
          <a:xfrm>
            <a:off x="240549" y="124357"/>
            <a:ext cx="53276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Indices</a:t>
            </a:r>
            <a:endParaRPr lang="pt-BR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6352DE7C-82D9-9B74-A281-703EDF647B21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09 | Transações e índices em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A415EF-01F4-F407-EF34-D23E3F256013}"/>
              </a:ext>
            </a:extLst>
          </p:cNvPr>
          <p:cNvSpPr txBox="1"/>
          <p:nvPr/>
        </p:nvSpPr>
        <p:spPr>
          <a:xfrm>
            <a:off x="240549" y="772221"/>
            <a:ext cx="51938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 que são?</a:t>
            </a:r>
          </a:p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Imagine um livro com índice alfabético.</a:t>
            </a:r>
          </a:p>
          <a:p>
            <a:pPr>
              <a:buClr>
                <a:srgbClr val="92D050"/>
              </a:buClr>
            </a:pPr>
            <a:endParaRPr lang="pt-PT" sz="16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DCAAC9-C63E-5ED5-49C4-D2D77B12AF9F}"/>
              </a:ext>
            </a:extLst>
          </p:cNvPr>
          <p:cNvSpPr txBox="1"/>
          <p:nvPr/>
        </p:nvSpPr>
        <p:spPr>
          <a:xfrm>
            <a:off x="240549" y="1588250"/>
            <a:ext cx="51938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Tipos de índices e suas funções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B24EF1-6AFE-7732-E53E-06631BAF9E34}"/>
              </a:ext>
            </a:extLst>
          </p:cNvPr>
          <p:cNvSpPr txBox="1"/>
          <p:nvPr/>
        </p:nvSpPr>
        <p:spPr>
          <a:xfrm>
            <a:off x="240549" y="2046825"/>
            <a:ext cx="42496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Clusterizados</a:t>
            </a:r>
            <a:endParaRPr lang="pt-PT" sz="16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Existe somente um por tabela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Ordem física de armazenamento dos dados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BF5B23-CF91-1DFE-4570-C34B7D8F097D}"/>
              </a:ext>
            </a:extLst>
          </p:cNvPr>
          <p:cNvSpPr txBox="1"/>
          <p:nvPr/>
        </p:nvSpPr>
        <p:spPr>
          <a:xfrm>
            <a:off x="240549" y="3244064"/>
            <a:ext cx="42496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Não </a:t>
            </a:r>
            <a:r>
              <a:rPr lang="pt-PT" sz="1600" dirty="0" err="1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clusterizados</a:t>
            </a:r>
            <a:endParaRPr lang="pt-PT" sz="16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“Índice alfabético separado”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Pode existir vários por tabela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Apontam para a localização física dos dados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9F43BC-5DE4-E0E0-83A0-06EA3171F85D}"/>
              </a:ext>
            </a:extLst>
          </p:cNvPr>
          <p:cNvSpPr txBox="1"/>
          <p:nvPr/>
        </p:nvSpPr>
        <p:spPr>
          <a:xfrm>
            <a:off x="4572000" y="2046825"/>
            <a:ext cx="44634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Único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Valores de uma coluna sejam únicos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Geralmente usado em chaves primárias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83D77F-471B-6908-B4BA-3A7C4017DBB2}"/>
              </a:ext>
            </a:extLst>
          </p:cNvPr>
          <p:cNvSpPr txBox="1"/>
          <p:nvPr/>
        </p:nvSpPr>
        <p:spPr>
          <a:xfrm>
            <a:off x="4653778" y="3490285"/>
            <a:ext cx="44634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92D050"/>
              </a:buClr>
            </a:pPr>
            <a:r>
              <a:rPr lang="pt-PT" sz="16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Para que servem?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Acelerar consultas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Melhorar desempenho de “</a:t>
            </a:r>
            <a:r>
              <a:rPr lang="pt-PT" sz="16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joins</a:t>
            </a: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”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6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Garantir a unicidade dos dados</a:t>
            </a:r>
          </a:p>
        </p:txBody>
      </p:sp>
    </p:spTree>
    <p:extLst>
      <p:ext uri="{BB962C8B-B14F-4D97-AF65-F5344CB8AC3E}">
        <p14:creationId xmlns:p14="http://schemas.microsoft.com/office/powerpoint/2010/main" val="3924346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58D395-4B12-FFC9-3A25-7B8C0C508DA9}"/>
              </a:ext>
            </a:extLst>
          </p:cNvPr>
          <p:cNvSpPr txBox="1"/>
          <p:nvPr/>
        </p:nvSpPr>
        <p:spPr>
          <a:xfrm>
            <a:off x="4703959" y="1879252"/>
            <a:ext cx="311816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1" dirty="0">
                <a:solidFill>
                  <a:srgbClr val="92D050"/>
                </a:solidFill>
                <a:latin typeface="Fira Code Light"/>
                <a:ea typeface="+mn-ea"/>
                <a:cs typeface="+mn-cs"/>
              </a:rPr>
              <a:t>Demostração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b="1" dirty="0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Comandos de transação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b="1" dirty="0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Criar índice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b="1" dirty="0">
                <a:solidFill>
                  <a:schemeClr val="bg1"/>
                </a:solidFill>
                <a:latin typeface="Fira Code Light"/>
                <a:ea typeface="+mn-ea"/>
                <a:cs typeface="+mn-cs"/>
              </a:rPr>
              <a:t>Comparação de performance</a:t>
            </a:r>
          </a:p>
        </p:txBody>
      </p:sp>
      <p:sp>
        <p:nvSpPr>
          <p:cNvPr id="3" name="Google Shape;50;p13">
            <a:extLst>
              <a:ext uri="{FF2B5EF4-FFF2-40B4-BE49-F238E27FC236}">
                <a16:creationId xmlns:a16="http://schemas.microsoft.com/office/drawing/2014/main" id="{C45CC126-0126-9072-1059-8CFA458712D1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Vamos praticar!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4" name="Google Shape;51;p13">
            <a:extLst>
              <a:ext uri="{FF2B5EF4-FFF2-40B4-BE49-F238E27FC236}">
                <a16:creationId xmlns:a16="http://schemas.microsoft.com/office/drawing/2014/main" id="{FBE14C4E-3F63-139D-90B7-6894ECBE4A6C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09 | Transações e índices em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</p:spTree>
    <p:extLst>
      <p:ext uri="{BB962C8B-B14F-4D97-AF65-F5344CB8AC3E}">
        <p14:creationId xmlns:p14="http://schemas.microsoft.com/office/powerpoint/2010/main" val="1245481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651512" y="1833101"/>
            <a:ext cx="481050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Transações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ACID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Índices</a:t>
            </a:r>
          </a:p>
          <a:p>
            <a:pPr marL="28575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F750"/>
              </a:buClr>
              <a:buSzPts val="1600"/>
              <a:buFont typeface="Ubuntu Light"/>
              <a:buChar char="✔"/>
            </a:pPr>
            <a:r>
              <a:rPr lang="pt-PT" sz="1400" b="1" i="0" u="none" strike="noStrike" cap="none" dirty="0">
                <a:solidFill>
                  <a:schemeClr val="lt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 Light"/>
              </a:rPr>
              <a:t>Demonstração</a:t>
            </a:r>
            <a:endParaRPr lang="pt-PT" b="1" dirty="0">
              <a:solidFill>
                <a:schemeClr val="bg1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2" name="Google Shape;50;p13">
            <a:extLst>
              <a:ext uri="{FF2B5EF4-FFF2-40B4-BE49-F238E27FC236}">
                <a16:creationId xmlns:a16="http://schemas.microsoft.com/office/drawing/2014/main" id="{F18BA85D-2531-1CFB-C2E5-EFC5AD82FE85}"/>
              </a:ext>
            </a:extLst>
          </p:cNvPr>
          <p:cNvSpPr txBox="1"/>
          <p:nvPr/>
        </p:nvSpPr>
        <p:spPr>
          <a:xfrm>
            <a:off x="240549" y="124357"/>
            <a:ext cx="563242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Recapitulação</a:t>
            </a:r>
            <a:endParaRPr lang="pt-BR" dirty="0"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Google Shape;51;p13">
            <a:extLst>
              <a:ext uri="{FF2B5EF4-FFF2-40B4-BE49-F238E27FC236}">
                <a16:creationId xmlns:a16="http://schemas.microsoft.com/office/drawing/2014/main" id="{3F372C72-6415-430B-784D-CD1C9A3A6A3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Aula 09 | Transações e índices em </a:t>
            </a:r>
            <a:r>
              <a:rPr lang="pt-PT" sz="900" dirty="0" err="1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Azure</a:t>
            </a:r>
            <a:r>
              <a:rPr lang="pt-PT" sz="900" dirty="0">
                <a:solidFill>
                  <a:srgbClr val="FFFFFF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SQL</a:t>
            </a:r>
          </a:p>
        </p:txBody>
      </p:sp>
      <p:pic>
        <p:nvPicPr>
          <p:cNvPr id="7171" name="Picture 3">
            <a:extLst>
              <a:ext uri="{FF2B5EF4-FFF2-40B4-BE49-F238E27FC236}">
                <a16:creationId xmlns:a16="http://schemas.microsoft.com/office/drawing/2014/main" id="{06286EAA-95D9-F11A-52FF-4AE5D4BE4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100" y="1907295"/>
            <a:ext cx="895350" cy="895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F785B734-39FB-3E28-10DA-3BA39FC21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4300" y="2392865"/>
            <a:ext cx="609600" cy="60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4A7C0C30-C7FF-3756-AD28-B36DC3387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200" y="1892427"/>
            <a:ext cx="457200" cy="457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1127</TotalTime>
  <Words>318</Words>
  <Application>Microsoft Office PowerPoint</Application>
  <PresentationFormat>On-screen Show (16:9)</PresentationFormat>
  <Paragraphs>69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Ubuntu Light</vt:lpstr>
      <vt:lpstr>Fira Code Light</vt:lpstr>
      <vt:lpstr>Ubuntu</vt:lpstr>
      <vt:lpstr>Fira Code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305</cp:revision>
  <dcterms:modified xsi:type="dcterms:W3CDTF">2025-01-06T00:36:55Z</dcterms:modified>
</cp:coreProperties>
</file>