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8" r:id="rId1"/>
  </p:sldMasterIdLst>
  <p:notesMasterIdLst>
    <p:notesMasterId r:id="rId11"/>
  </p:notesMasterIdLst>
  <p:sldIdLst>
    <p:sldId id="256" r:id="rId2"/>
    <p:sldId id="262" r:id="rId3"/>
    <p:sldId id="257" r:id="rId4"/>
    <p:sldId id="271" r:id="rId5"/>
    <p:sldId id="272" r:id="rId6"/>
    <p:sldId id="273" r:id="rId7"/>
    <p:sldId id="274" r:id="rId8"/>
    <p:sldId id="268" r:id="rId9"/>
    <p:sldId id="261" r:id="rId10"/>
  </p:sldIdLst>
  <p:sldSz cx="9144000" cy="5143500" type="screen16x9"/>
  <p:notesSz cx="6858000" cy="9144000"/>
  <p:embeddedFontLst>
    <p:embeddedFont>
      <p:font typeface="Fira Code" panose="020B0809050000020004" pitchFamily="49" charset="0"/>
      <p:regular r:id="rId12"/>
      <p:bold r:id="rId13"/>
    </p:embeddedFont>
    <p:embeddedFont>
      <p:font typeface="Ubuntu" panose="020B0504030602030204" pitchFamily="34" charset="0"/>
      <p:regular r:id="rId14"/>
      <p:bold r:id="rId15"/>
      <p:italic r:id="rId16"/>
      <p:boldItalic r:id="rId17"/>
    </p:embeddedFont>
    <p:embeddedFont>
      <p:font typeface="Ubuntu Light" panose="020B0304030602030204" pitchFamily="34" charset="0"/>
      <p:regular r:id="rId18"/>
      <p:italic r:id="rId1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908F99F-44A7-0F8B-9A97-88BECF28B341}" v="1087" dt="2024-12-09T16:07:07.58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29" d="100"/>
          <a:sy n="129" d="100"/>
        </p:scale>
        <p:origin x="1104" y="330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4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g137e3f2783e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" name="Google Shape;40;g137e3f2783e_0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1202c3e4d1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" name="Google Shape;48;g1202c3e4d1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">
          <a:extLst>
            <a:ext uri="{FF2B5EF4-FFF2-40B4-BE49-F238E27FC236}">
              <a16:creationId xmlns:a16="http://schemas.microsoft.com/office/drawing/2014/main" id="{5238DED5-C9A1-40DA-A99A-1C1E07B1FE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1202c3e4d11_0_0:notes">
            <a:extLst>
              <a:ext uri="{FF2B5EF4-FFF2-40B4-BE49-F238E27FC236}">
                <a16:creationId xmlns:a16="http://schemas.microsoft.com/office/drawing/2014/main" id="{6791CA1E-E96B-83A1-2ACF-6AA11BCD32F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" name="Google Shape;48;g1202c3e4d11_0_0:notes">
            <a:extLst>
              <a:ext uri="{FF2B5EF4-FFF2-40B4-BE49-F238E27FC236}">
                <a16:creationId xmlns:a16="http://schemas.microsoft.com/office/drawing/2014/main" id="{651DD669-8C89-EE78-A7C8-8624740A710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7984178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">
          <a:extLst>
            <a:ext uri="{FF2B5EF4-FFF2-40B4-BE49-F238E27FC236}">
              <a16:creationId xmlns:a16="http://schemas.microsoft.com/office/drawing/2014/main" id="{B5EE334D-601F-AB1E-5DC8-9DD83278D9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1202c3e4d11_0_0:notes">
            <a:extLst>
              <a:ext uri="{FF2B5EF4-FFF2-40B4-BE49-F238E27FC236}">
                <a16:creationId xmlns:a16="http://schemas.microsoft.com/office/drawing/2014/main" id="{E91AD7F7-0E41-2215-1800-9D7E7FEBC2D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" name="Google Shape;48;g1202c3e4d11_0_0:notes">
            <a:extLst>
              <a:ext uri="{FF2B5EF4-FFF2-40B4-BE49-F238E27FC236}">
                <a16:creationId xmlns:a16="http://schemas.microsoft.com/office/drawing/2014/main" id="{A2D31AE6-C007-82FA-F02D-8899B96255B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8652213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">
          <a:extLst>
            <a:ext uri="{FF2B5EF4-FFF2-40B4-BE49-F238E27FC236}">
              <a16:creationId xmlns:a16="http://schemas.microsoft.com/office/drawing/2014/main" id="{5863E5A5-60BC-980C-FA30-AAB88816DA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1202c3e4d11_0_0:notes">
            <a:extLst>
              <a:ext uri="{FF2B5EF4-FFF2-40B4-BE49-F238E27FC236}">
                <a16:creationId xmlns:a16="http://schemas.microsoft.com/office/drawing/2014/main" id="{E6415748-CFDC-93A4-2971-BB1282DF73B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" name="Google Shape;48;g1202c3e4d11_0_0:notes">
            <a:extLst>
              <a:ext uri="{FF2B5EF4-FFF2-40B4-BE49-F238E27FC236}">
                <a16:creationId xmlns:a16="http://schemas.microsoft.com/office/drawing/2014/main" id="{608197F4-41C6-B541-780B-4C3193184C3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8887373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">
          <a:extLst>
            <a:ext uri="{FF2B5EF4-FFF2-40B4-BE49-F238E27FC236}">
              <a16:creationId xmlns:a16="http://schemas.microsoft.com/office/drawing/2014/main" id="{C8077497-3F53-5831-DC32-957D243B1E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1202c3e4d11_0_0:notes">
            <a:extLst>
              <a:ext uri="{FF2B5EF4-FFF2-40B4-BE49-F238E27FC236}">
                <a16:creationId xmlns:a16="http://schemas.microsoft.com/office/drawing/2014/main" id="{0AC77CFE-1E85-F3EE-7A7E-B7C9265E2F6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" name="Google Shape;48;g1202c3e4d11_0_0:notes">
            <a:extLst>
              <a:ext uri="{FF2B5EF4-FFF2-40B4-BE49-F238E27FC236}">
                <a16:creationId xmlns:a16="http://schemas.microsoft.com/office/drawing/2014/main" id="{57FBCB56-F27E-95B6-85AC-CD79AA0569F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0280593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0" name="Google Shape;190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137e3f2783e_0_1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6" name="Google Shape;316;g137e3f2783e_0_1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ma | capitulo" type="tx">
  <p:cSld name="TITLE_AND_BODY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oogle Shape;11;p3"/>
          <p:cNvPicPr preferRelativeResize="0"/>
          <p:nvPr/>
        </p:nvPicPr>
        <p:blipFill rotWithShape="1">
          <a:blip r:embed="rId2">
            <a:alphaModFix/>
          </a:blip>
          <a:srcRect l="1342" t="11272" r="1342" b="11256"/>
          <a:stretch/>
        </p:blipFill>
        <p:spPr>
          <a:xfrm>
            <a:off x="-129100" y="-72625"/>
            <a:ext cx="9402202" cy="52887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da " type="twoColTx">
  <p:cSld name="TITLE_AND_TWO_COLUMNS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oogle Shape;13;p4"/>
          <p:cNvPicPr preferRelativeResize="0"/>
          <p:nvPr/>
        </p:nvPicPr>
        <p:blipFill rotWithShape="1">
          <a:blip r:embed="rId2">
            <a:alphaModFix/>
          </a:blip>
          <a:srcRect t="11380" b="-11379"/>
          <a:stretch/>
        </p:blipFill>
        <p:spPr>
          <a:xfrm>
            <a:off x="0" y="-1"/>
            <a:ext cx="9144003" cy="5802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inalização" type="titleOnly">
  <p:cSld name="TITLE_ONLY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oogle Shape;15;p5"/>
          <p:cNvPicPr preferRelativeResize="0"/>
          <p:nvPr/>
        </p:nvPicPr>
        <p:blipFill rotWithShape="1">
          <a:blip r:embed="rId2">
            <a:alphaModFix/>
          </a:blip>
          <a:srcRect t="10190" b="10198"/>
          <a:stretch/>
        </p:blipFill>
        <p:spPr>
          <a:xfrm>
            <a:off x="0" y="1"/>
            <a:ext cx="9144002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6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>
            <a:endParaRPr/>
          </a:p>
        </p:txBody>
      </p:sp>
      <p:sp>
        <p:nvSpPr>
          <p:cNvPr id="18" name="Google Shape;18;p6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19" name="Google Shape;19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7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9pPr>
          </a:lstStyle>
          <a:p>
            <a:endParaRPr/>
          </a:p>
        </p:txBody>
      </p:sp>
      <p:sp>
        <p:nvSpPr>
          <p:cNvPr id="22" name="Google Shape;22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8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" name="Google Shape;25;p8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9pPr>
          </a:lstStyle>
          <a:p>
            <a:endParaRPr/>
          </a:p>
        </p:txBody>
      </p:sp>
      <p:sp>
        <p:nvSpPr>
          <p:cNvPr id="26" name="Google Shape;26;p8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27" name="Google Shape;27;p8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8" name="Google Shape;28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9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</a:lstStyle>
          <a:p>
            <a:endParaRPr/>
          </a:p>
        </p:txBody>
      </p:sp>
      <p:sp>
        <p:nvSpPr>
          <p:cNvPr id="31" name="Google Shape;31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0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9pPr>
          </a:lstStyle>
          <a:p>
            <a:r>
              <a:t>xx%</a:t>
            </a:r>
          </a:p>
        </p:txBody>
      </p:sp>
      <p:sp>
        <p:nvSpPr>
          <p:cNvPr id="34" name="Google Shape;34;p10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5" name="Google Shape;35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2"/>
          <p:cNvSpPr txBox="1"/>
          <p:nvPr/>
        </p:nvSpPr>
        <p:spPr>
          <a:xfrm>
            <a:off x="3798849" y="3731617"/>
            <a:ext cx="5423405" cy="4154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BR" sz="1500" dirty="0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rPr>
              <a:t>Aula 06 | </a:t>
            </a:r>
            <a:r>
              <a:rPr lang="pt-PT" sz="1500" dirty="0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rPr>
              <a:t>Escalabilidade e desempenho do </a:t>
            </a:r>
            <a:r>
              <a:rPr lang="pt-PT" sz="1500" dirty="0" err="1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rPr>
              <a:t>Azure</a:t>
            </a:r>
            <a:r>
              <a:rPr lang="pt-PT" sz="1500" dirty="0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rPr>
              <a:t> Cosmos DB</a:t>
            </a:r>
            <a:endParaRPr lang="pt-BR" dirty="0">
              <a:solidFill>
                <a:schemeClr val="lt1"/>
              </a:solidFill>
            </a:endParaRPr>
          </a:p>
        </p:txBody>
      </p:sp>
      <p:grpSp>
        <p:nvGrpSpPr>
          <p:cNvPr id="43" name="Google Shape;43;p12"/>
          <p:cNvGrpSpPr/>
          <p:nvPr/>
        </p:nvGrpSpPr>
        <p:grpSpPr>
          <a:xfrm>
            <a:off x="4197980" y="4066086"/>
            <a:ext cx="4942500" cy="0"/>
            <a:chOff x="4251700" y="5140900"/>
            <a:chExt cx="4942500" cy="0"/>
          </a:xfrm>
        </p:grpSpPr>
        <p:cxnSp>
          <p:nvCxnSpPr>
            <p:cNvPr id="44" name="Google Shape;44;p12"/>
            <p:cNvCxnSpPr/>
            <p:nvPr/>
          </p:nvCxnSpPr>
          <p:spPr>
            <a:xfrm>
              <a:off x="4251700" y="5140900"/>
              <a:ext cx="3690600" cy="0"/>
            </a:xfrm>
            <a:prstGeom prst="straightConnector1">
              <a:avLst/>
            </a:prstGeom>
            <a:noFill/>
            <a:ln w="19050" cap="flat" cmpd="sng">
              <a:solidFill>
                <a:srgbClr val="A6F75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5" name="Google Shape;45;p12"/>
            <p:cNvCxnSpPr/>
            <p:nvPr/>
          </p:nvCxnSpPr>
          <p:spPr>
            <a:xfrm>
              <a:off x="7942300" y="5140900"/>
              <a:ext cx="1251900" cy="0"/>
            </a:xfrm>
            <a:prstGeom prst="straightConnector1">
              <a:avLst/>
            </a:prstGeom>
            <a:noFill/>
            <a:ln w="19050" cap="flat" cmpd="sng">
              <a:solidFill>
                <a:srgbClr val="2371FF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aixaDeTexto 11">
            <a:extLst>
              <a:ext uri="{FF2B5EF4-FFF2-40B4-BE49-F238E27FC236}">
                <a16:creationId xmlns:a16="http://schemas.microsoft.com/office/drawing/2014/main" id="{41E96825-65C5-6CCC-642F-5CEC20F1091B}"/>
              </a:ext>
            </a:extLst>
          </p:cNvPr>
          <p:cNvSpPr txBox="1"/>
          <p:nvPr/>
        </p:nvSpPr>
        <p:spPr>
          <a:xfrm>
            <a:off x="243551" y="191491"/>
            <a:ext cx="4180416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pt-PT" sz="1400" b="0" i="0" u="none" strike="noStrike" cap="none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 Light"/>
              </a:rPr>
              <a:t>O que vamos aprender?</a:t>
            </a:r>
            <a:endParaRPr lang="pt-PT" dirty="0"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</p:txBody>
      </p:sp>
      <p:grpSp>
        <p:nvGrpSpPr>
          <p:cNvPr id="17" name="Google Shape;74;p14">
            <a:extLst>
              <a:ext uri="{FF2B5EF4-FFF2-40B4-BE49-F238E27FC236}">
                <a16:creationId xmlns:a16="http://schemas.microsoft.com/office/drawing/2014/main" id="{38EB1F19-5A96-7625-D2A5-80FA81A253A8}"/>
              </a:ext>
            </a:extLst>
          </p:cNvPr>
          <p:cNvGrpSpPr/>
          <p:nvPr/>
        </p:nvGrpSpPr>
        <p:grpSpPr>
          <a:xfrm>
            <a:off x="1137371" y="2430725"/>
            <a:ext cx="457200" cy="457200"/>
            <a:chOff x="1249800" y="282500"/>
            <a:chExt cx="4839225" cy="4809625"/>
          </a:xfrm>
        </p:grpSpPr>
        <p:sp>
          <p:nvSpPr>
            <p:cNvPr id="14" name="Google Shape;75;p14">
              <a:extLst>
                <a:ext uri="{FF2B5EF4-FFF2-40B4-BE49-F238E27FC236}">
                  <a16:creationId xmlns:a16="http://schemas.microsoft.com/office/drawing/2014/main" id="{A9B46A0D-A028-E123-1636-B9CA86E2675E}"/>
                </a:ext>
              </a:extLst>
            </p:cNvPr>
            <p:cNvSpPr/>
            <p:nvPr/>
          </p:nvSpPr>
          <p:spPr>
            <a:xfrm>
              <a:off x="1249800" y="282500"/>
              <a:ext cx="4809625" cy="4809625"/>
            </a:xfrm>
            <a:custGeom>
              <a:avLst/>
              <a:gdLst/>
              <a:ahLst/>
              <a:cxnLst/>
              <a:rect l="l" t="t" r="r" b="b"/>
              <a:pathLst>
                <a:path w="192385" h="192385" extrusionOk="0">
                  <a:moveTo>
                    <a:pt x="96193" y="11840"/>
                  </a:moveTo>
                  <a:cubicBezTo>
                    <a:pt x="142661" y="11840"/>
                    <a:pt x="180249" y="49725"/>
                    <a:pt x="180249" y="96193"/>
                  </a:cubicBezTo>
                  <a:cubicBezTo>
                    <a:pt x="180249" y="142661"/>
                    <a:pt x="142661" y="180249"/>
                    <a:pt x="96193" y="180249"/>
                  </a:cubicBezTo>
                  <a:cubicBezTo>
                    <a:pt x="49725" y="180249"/>
                    <a:pt x="12136" y="142661"/>
                    <a:pt x="12136" y="96193"/>
                  </a:cubicBezTo>
                  <a:cubicBezTo>
                    <a:pt x="12136" y="49725"/>
                    <a:pt x="49725" y="11840"/>
                    <a:pt x="96193" y="11840"/>
                  </a:cubicBezTo>
                  <a:close/>
                  <a:moveTo>
                    <a:pt x="96193" y="1"/>
                  </a:moveTo>
                  <a:cubicBezTo>
                    <a:pt x="43213" y="1"/>
                    <a:pt x="1" y="42917"/>
                    <a:pt x="1" y="96193"/>
                  </a:cubicBezTo>
                  <a:cubicBezTo>
                    <a:pt x="1" y="149172"/>
                    <a:pt x="43213" y="192384"/>
                    <a:pt x="96193" y="192384"/>
                  </a:cubicBezTo>
                  <a:cubicBezTo>
                    <a:pt x="149468" y="192384"/>
                    <a:pt x="192384" y="149172"/>
                    <a:pt x="192384" y="96193"/>
                  </a:cubicBezTo>
                  <a:cubicBezTo>
                    <a:pt x="192384" y="42917"/>
                    <a:pt x="149468" y="1"/>
                    <a:pt x="96193" y="1"/>
                  </a:cubicBezTo>
                  <a:close/>
                </a:path>
              </a:pathLst>
            </a:custGeom>
            <a:solidFill>
              <a:srgbClr val="282C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  <p:sp>
          <p:nvSpPr>
            <p:cNvPr id="15" name="Google Shape;76;p14">
              <a:extLst>
                <a:ext uri="{FF2B5EF4-FFF2-40B4-BE49-F238E27FC236}">
                  <a16:creationId xmlns:a16="http://schemas.microsoft.com/office/drawing/2014/main" id="{0516AAFA-09B7-04AF-95F1-B08CFB6AA9B6}"/>
                </a:ext>
              </a:extLst>
            </p:cNvPr>
            <p:cNvSpPr/>
            <p:nvPr/>
          </p:nvSpPr>
          <p:spPr>
            <a:xfrm>
              <a:off x="2241325" y="282500"/>
              <a:ext cx="3847700" cy="4809625"/>
            </a:xfrm>
            <a:custGeom>
              <a:avLst/>
              <a:gdLst/>
              <a:ahLst/>
              <a:cxnLst/>
              <a:rect l="l" t="t" r="r" b="b"/>
              <a:pathLst>
                <a:path w="153908" h="192385" extrusionOk="0">
                  <a:moveTo>
                    <a:pt x="56532" y="1"/>
                  </a:moveTo>
                  <a:lnTo>
                    <a:pt x="56532" y="11840"/>
                  </a:lnTo>
                  <a:cubicBezTo>
                    <a:pt x="69850" y="11840"/>
                    <a:pt x="82873" y="15096"/>
                    <a:pt x="94712" y="21015"/>
                  </a:cubicBezTo>
                  <a:cubicBezTo>
                    <a:pt x="106551" y="27231"/>
                    <a:pt x="116910" y="35814"/>
                    <a:pt x="124606" y="46765"/>
                  </a:cubicBezTo>
                  <a:cubicBezTo>
                    <a:pt x="132597" y="57420"/>
                    <a:pt x="137629" y="69851"/>
                    <a:pt x="139700" y="82874"/>
                  </a:cubicBezTo>
                  <a:cubicBezTo>
                    <a:pt x="141772" y="96193"/>
                    <a:pt x="140588" y="109511"/>
                    <a:pt x="136741" y="122238"/>
                  </a:cubicBezTo>
                  <a:cubicBezTo>
                    <a:pt x="132597" y="134669"/>
                    <a:pt x="125494" y="146212"/>
                    <a:pt x="116022" y="155683"/>
                  </a:cubicBezTo>
                  <a:cubicBezTo>
                    <a:pt x="106551" y="165155"/>
                    <a:pt x="95304" y="171962"/>
                    <a:pt x="82577" y="176106"/>
                  </a:cubicBezTo>
                  <a:cubicBezTo>
                    <a:pt x="73960" y="178911"/>
                    <a:pt x="65072" y="180360"/>
                    <a:pt x="56187" y="180360"/>
                  </a:cubicBezTo>
                  <a:cubicBezTo>
                    <a:pt x="51950" y="180360"/>
                    <a:pt x="47714" y="180030"/>
                    <a:pt x="43509" y="179361"/>
                  </a:cubicBezTo>
                  <a:cubicBezTo>
                    <a:pt x="30190" y="177290"/>
                    <a:pt x="17759" y="171962"/>
                    <a:pt x="7104" y="164267"/>
                  </a:cubicBezTo>
                  <a:lnTo>
                    <a:pt x="0" y="174034"/>
                  </a:lnTo>
                  <a:cubicBezTo>
                    <a:pt x="12431" y="182913"/>
                    <a:pt x="26638" y="188833"/>
                    <a:pt x="41437" y="191200"/>
                  </a:cubicBezTo>
                  <a:cubicBezTo>
                    <a:pt x="46468" y="191990"/>
                    <a:pt x="51533" y="192384"/>
                    <a:pt x="56586" y="192384"/>
                  </a:cubicBezTo>
                  <a:cubicBezTo>
                    <a:pt x="66693" y="192384"/>
                    <a:pt x="76756" y="190806"/>
                    <a:pt x="86425" y="187649"/>
                  </a:cubicBezTo>
                  <a:cubicBezTo>
                    <a:pt x="100632" y="182913"/>
                    <a:pt x="113951" y="174922"/>
                    <a:pt x="124606" y="164267"/>
                  </a:cubicBezTo>
                  <a:cubicBezTo>
                    <a:pt x="135261" y="153316"/>
                    <a:pt x="143252" y="140293"/>
                    <a:pt x="147988" y="125790"/>
                  </a:cubicBezTo>
                  <a:cubicBezTo>
                    <a:pt x="152723" y="111287"/>
                    <a:pt x="153907" y="96193"/>
                    <a:pt x="151539" y="81098"/>
                  </a:cubicBezTo>
                  <a:cubicBezTo>
                    <a:pt x="149172" y="66003"/>
                    <a:pt x="143252" y="51796"/>
                    <a:pt x="134373" y="39661"/>
                  </a:cubicBezTo>
                  <a:cubicBezTo>
                    <a:pt x="125494" y="27231"/>
                    <a:pt x="113655" y="17167"/>
                    <a:pt x="100336" y="10360"/>
                  </a:cubicBezTo>
                  <a:cubicBezTo>
                    <a:pt x="86721" y="3553"/>
                    <a:pt x="71626" y="1"/>
                    <a:pt x="56532" y="1"/>
                  </a:cubicBezTo>
                  <a:close/>
                </a:path>
              </a:pathLst>
            </a:custGeom>
            <a:solidFill>
              <a:srgbClr val="A6F7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  <p:sp>
          <p:nvSpPr>
            <p:cNvPr id="16" name="Google Shape;77;p14">
              <a:extLst>
                <a:ext uri="{FF2B5EF4-FFF2-40B4-BE49-F238E27FC236}">
                  <a16:creationId xmlns:a16="http://schemas.microsoft.com/office/drawing/2014/main" id="{2DD2EC3A-3CC3-F56F-1309-A5CA03A8934A}"/>
                </a:ext>
              </a:extLst>
            </p:cNvPr>
            <p:cNvSpPr/>
            <p:nvPr/>
          </p:nvSpPr>
          <p:spPr>
            <a:xfrm>
              <a:off x="2966450" y="1910375"/>
              <a:ext cx="1331925" cy="1605675"/>
            </a:xfrm>
            <a:custGeom>
              <a:avLst/>
              <a:gdLst/>
              <a:ahLst/>
              <a:cxnLst/>
              <a:rect l="l" t="t" r="r" b="b"/>
              <a:pathLst>
                <a:path w="53277" h="64227" extrusionOk="0">
                  <a:moveTo>
                    <a:pt x="13320" y="0"/>
                  </a:moveTo>
                  <a:lnTo>
                    <a:pt x="12432" y="4144"/>
                  </a:lnTo>
                  <a:lnTo>
                    <a:pt x="46173" y="4144"/>
                  </a:lnTo>
                  <a:lnTo>
                    <a:pt x="22791" y="28118"/>
                  </a:lnTo>
                  <a:lnTo>
                    <a:pt x="21903" y="31670"/>
                  </a:lnTo>
                  <a:lnTo>
                    <a:pt x="25455" y="31670"/>
                  </a:lnTo>
                  <a:cubicBezTo>
                    <a:pt x="36702" y="31670"/>
                    <a:pt x="42029" y="35813"/>
                    <a:pt x="42029" y="43804"/>
                  </a:cubicBezTo>
                  <a:cubicBezTo>
                    <a:pt x="42029" y="53572"/>
                    <a:pt x="34334" y="60083"/>
                    <a:pt x="21607" y="60083"/>
                  </a:cubicBezTo>
                  <a:cubicBezTo>
                    <a:pt x="12728" y="60083"/>
                    <a:pt x="5920" y="56531"/>
                    <a:pt x="2665" y="52092"/>
                  </a:cubicBezTo>
                  <a:lnTo>
                    <a:pt x="1" y="55643"/>
                  </a:lnTo>
                  <a:cubicBezTo>
                    <a:pt x="3553" y="60675"/>
                    <a:pt x="11544" y="64227"/>
                    <a:pt x="21607" y="64227"/>
                  </a:cubicBezTo>
                  <a:cubicBezTo>
                    <a:pt x="36702" y="64227"/>
                    <a:pt x="46765" y="55939"/>
                    <a:pt x="46765" y="43804"/>
                  </a:cubicBezTo>
                  <a:cubicBezTo>
                    <a:pt x="46765" y="34037"/>
                    <a:pt x="40549" y="28414"/>
                    <a:pt x="28710" y="27822"/>
                  </a:cubicBezTo>
                  <a:lnTo>
                    <a:pt x="52684" y="3256"/>
                  </a:lnTo>
                  <a:lnTo>
                    <a:pt x="53276" y="0"/>
                  </a:lnTo>
                  <a:close/>
                </a:path>
              </a:pathLst>
            </a:custGeom>
            <a:solidFill>
              <a:srgbClr val="A6F7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</p:grpSp>
      <p:grpSp>
        <p:nvGrpSpPr>
          <p:cNvPr id="22" name="Google Shape;78;p14">
            <a:extLst>
              <a:ext uri="{FF2B5EF4-FFF2-40B4-BE49-F238E27FC236}">
                <a16:creationId xmlns:a16="http://schemas.microsoft.com/office/drawing/2014/main" id="{8103873E-9B9F-4052-1975-D61AA785F4AB}"/>
              </a:ext>
            </a:extLst>
          </p:cNvPr>
          <p:cNvGrpSpPr/>
          <p:nvPr/>
        </p:nvGrpSpPr>
        <p:grpSpPr>
          <a:xfrm>
            <a:off x="1158144" y="3090601"/>
            <a:ext cx="457200" cy="457200"/>
            <a:chOff x="1212800" y="289900"/>
            <a:chExt cx="4883625" cy="4809625"/>
          </a:xfrm>
        </p:grpSpPr>
        <p:sp>
          <p:nvSpPr>
            <p:cNvPr id="19" name="Google Shape;79;p14">
              <a:extLst>
                <a:ext uri="{FF2B5EF4-FFF2-40B4-BE49-F238E27FC236}">
                  <a16:creationId xmlns:a16="http://schemas.microsoft.com/office/drawing/2014/main" id="{8543AE75-53D4-2C5E-66C7-E5FFEAAAF0DE}"/>
                </a:ext>
              </a:extLst>
            </p:cNvPr>
            <p:cNvSpPr/>
            <p:nvPr/>
          </p:nvSpPr>
          <p:spPr>
            <a:xfrm>
              <a:off x="1249800" y="289900"/>
              <a:ext cx="4809625" cy="4809625"/>
            </a:xfrm>
            <a:custGeom>
              <a:avLst/>
              <a:gdLst/>
              <a:ahLst/>
              <a:cxnLst/>
              <a:rect l="l" t="t" r="r" b="b"/>
              <a:pathLst>
                <a:path w="192385" h="192385" extrusionOk="0">
                  <a:moveTo>
                    <a:pt x="96193" y="12136"/>
                  </a:moveTo>
                  <a:cubicBezTo>
                    <a:pt x="142661" y="12136"/>
                    <a:pt x="180249" y="49725"/>
                    <a:pt x="180249" y="96193"/>
                  </a:cubicBezTo>
                  <a:cubicBezTo>
                    <a:pt x="180249" y="142661"/>
                    <a:pt x="142661" y="180249"/>
                    <a:pt x="96193" y="180249"/>
                  </a:cubicBezTo>
                  <a:cubicBezTo>
                    <a:pt x="49725" y="180249"/>
                    <a:pt x="12136" y="142661"/>
                    <a:pt x="12136" y="96193"/>
                  </a:cubicBezTo>
                  <a:cubicBezTo>
                    <a:pt x="12136" y="49725"/>
                    <a:pt x="49725" y="12136"/>
                    <a:pt x="96193" y="12136"/>
                  </a:cubicBezTo>
                  <a:close/>
                  <a:moveTo>
                    <a:pt x="96193" y="1"/>
                  </a:moveTo>
                  <a:cubicBezTo>
                    <a:pt x="43213" y="1"/>
                    <a:pt x="1" y="43213"/>
                    <a:pt x="1" y="96193"/>
                  </a:cubicBezTo>
                  <a:cubicBezTo>
                    <a:pt x="1" y="149468"/>
                    <a:pt x="43213" y="192384"/>
                    <a:pt x="96193" y="192384"/>
                  </a:cubicBezTo>
                  <a:cubicBezTo>
                    <a:pt x="149468" y="192384"/>
                    <a:pt x="192384" y="149468"/>
                    <a:pt x="192384" y="96193"/>
                  </a:cubicBezTo>
                  <a:cubicBezTo>
                    <a:pt x="192384" y="43213"/>
                    <a:pt x="149468" y="1"/>
                    <a:pt x="96193" y="1"/>
                  </a:cubicBezTo>
                  <a:close/>
                </a:path>
              </a:pathLst>
            </a:custGeom>
            <a:solidFill>
              <a:srgbClr val="282C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  <p:sp>
          <p:nvSpPr>
            <p:cNvPr id="20" name="Google Shape;80;p14">
              <a:extLst>
                <a:ext uri="{FF2B5EF4-FFF2-40B4-BE49-F238E27FC236}">
                  <a16:creationId xmlns:a16="http://schemas.microsoft.com/office/drawing/2014/main" id="{5F18C28A-6F6D-9B86-0A77-FE1F67022A75}"/>
                </a:ext>
              </a:extLst>
            </p:cNvPr>
            <p:cNvSpPr/>
            <p:nvPr/>
          </p:nvSpPr>
          <p:spPr>
            <a:xfrm>
              <a:off x="1212800" y="289900"/>
              <a:ext cx="4883625" cy="4809625"/>
            </a:xfrm>
            <a:custGeom>
              <a:avLst/>
              <a:gdLst/>
              <a:ahLst/>
              <a:cxnLst/>
              <a:rect l="l" t="t" r="r" b="b"/>
              <a:pathLst>
                <a:path w="195345" h="192385" extrusionOk="0">
                  <a:moveTo>
                    <a:pt x="97673" y="1"/>
                  </a:moveTo>
                  <a:lnTo>
                    <a:pt x="97673" y="12136"/>
                  </a:lnTo>
                  <a:cubicBezTo>
                    <a:pt x="115431" y="12136"/>
                    <a:pt x="132894" y="17759"/>
                    <a:pt x="147100" y="28118"/>
                  </a:cubicBezTo>
                  <a:cubicBezTo>
                    <a:pt x="161603" y="38478"/>
                    <a:pt x="172258" y="53276"/>
                    <a:pt x="177882" y="70147"/>
                  </a:cubicBezTo>
                  <a:cubicBezTo>
                    <a:pt x="183209" y="87017"/>
                    <a:pt x="183209" y="105368"/>
                    <a:pt x="177882" y="122238"/>
                  </a:cubicBezTo>
                  <a:cubicBezTo>
                    <a:pt x="172258" y="139109"/>
                    <a:pt x="161603" y="153908"/>
                    <a:pt x="147100" y="164267"/>
                  </a:cubicBezTo>
                  <a:cubicBezTo>
                    <a:pt x="132894" y="174626"/>
                    <a:pt x="115431" y="180249"/>
                    <a:pt x="97673" y="180249"/>
                  </a:cubicBezTo>
                  <a:cubicBezTo>
                    <a:pt x="79914" y="180249"/>
                    <a:pt x="62748" y="174626"/>
                    <a:pt x="48245" y="164267"/>
                  </a:cubicBezTo>
                  <a:cubicBezTo>
                    <a:pt x="33742" y="153908"/>
                    <a:pt x="23087" y="139109"/>
                    <a:pt x="17759" y="122238"/>
                  </a:cubicBezTo>
                  <a:cubicBezTo>
                    <a:pt x="12136" y="105368"/>
                    <a:pt x="12136" y="87017"/>
                    <a:pt x="17759" y="70147"/>
                  </a:cubicBezTo>
                  <a:lnTo>
                    <a:pt x="6216" y="66595"/>
                  </a:lnTo>
                  <a:cubicBezTo>
                    <a:pt x="1" y="85833"/>
                    <a:pt x="1" y="106552"/>
                    <a:pt x="6216" y="126086"/>
                  </a:cubicBezTo>
                  <a:cubicBezTo>
                    <a:pt x="12432" y="145324"/>
                    <a:pt x="24863" y="162195"/>
                    <a:pt x="41141" y="174034"/>
                  </a:cubicBezTo>
                  <a:cubicBezTo>
                    <a:pt x="57716" y="185873"/>
                    <a:pt x="77250" y="192384"/>
                    <a:pt x="97673" y="192384"/>
                  </a:cubicBezTo>
                  <a:cubicBezTo>
                    <a:pt x="118095" y="192384"/>
                    <a:pt x="137925" y="185873"/>
                    <a:pt x="154204" y="174034"/>
                  </a:cubicBezTo>
                  <a:cubicBezTo>
                    <a:pt x="170778" y="162195"/>
                    <a:pt x="182913" y="145324"/>
                    <a:pt x="189129" y="126086"/>
                  </a:cubicBezTo>
                  <a:cubicBezTo>
                    <a:pt x="195344" y="106552"/>
                    <a:pt x="195344" y="85833"/>
                    <a:pt x="189129" y="66595"/>
                  </a:cubicBezTo>
                  <a:cubicBezTo>
                    <a:pt x="182913" y="47061"/>
                    <a:pt x="170778" y="30486"/>
                    <a:pt x="154204" y="18351"/>
                  </a:cubicBezTo>
                  <a:cubicBezTo>
                    <a:pt x="137925" y="6512"/>
                    <a:pt x="118095" y="1"/>
                    <a:pt x="97673" y="1"/>
                  </a:cubicBezTo>
                  <a:close/>
                </a:path>
              </a:pathLst>
            </a:custGeom>
            <a:solidFill>
              <a:srgbClr val="A6F7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  <p:sp>
          <p:nvSpPr>
            <p:cNvPr id="21" name="Google Shape;81;p14">
              <a:extLst>
                <a:ext uri="{FF2B5EF4-FFF2-40B4-BE49-F238E27FC236}">
                  <a16:creationId xmlns:a16="http://schemas.microsoft.com/office/drawing/2014/main" id="{C7B0CC13-64CC-BBBE-7F53-947151A27C03}"/>
                </a:ext>
              </a:extLst>
            </p:cNvPr>
            <p:cNvSpPr/>
            <p:nvPr/>
          </p:nvSpPr>
          <p:spPr>
            <a:xfrm>
              <a:off x="2981250" y="1917775"/>
              <a:ext cx="1383725" cy="1598275"/>
            </a:xfrm>
            <a:custGeom>
              <a:avLst/>
              <a:gdLst/>
              <a:ahLst/>
              <a:cxnLst/>
              <a:rect l="l" t="t" r="r" b="b"/>
              <a:pathLst>
                <a:path w="55349" h="63931" extrusionOk="0">
                  <a:moveTo>
                    <a:pt x="43509" y="0"/>
                  </a:moveTo>
                  <a:lnTo>
                    <a:pt x="889" y="42917"/>
                  </a:lnTo>
                  <a:lnTo>
                    <a:pt x="1" y="46172"/>
                  </a:lnTo>
                  <a:lnTo>
                    <a:pt x="36406" y="46172"/>
                  </a:lnTo>
                  <a:lnTo>
                    <a:pt x="32854" y="63931"/>
                  </a:lnTo>
                  <a:lnTo>
                    <a:pt x="37590" y="63931"/>
                  </a:lnTo>
                  <a:lnTo>
                    <a:pt x="41141" y="46172"/>
                  </a:lnTo>
                  <a:lnTo>
                    <a:pt x="54460" y="46172"/>
                  </a:lnTo>
                  <a:lnTo>
                    <a:pt x="55348" y="42029"/>
                  </a:lnTo>
                  <a:lnTo>
                    <a:pt x="42029" y="42029"/>
                  </a:lnTo>
                  <a:lnTo>
                    <a:pt x="44989" y="26342"/>
                  </a:lnTo>
                  <a:lnTo>
                    <a:pt x="40549" y="26342"/>
                  </a:lnTo>
                  <a:lnTo>
                    <a:pt x="37294" y="42029"/>
                  </a:lnTo>
                  <a:lnTo>
                    <a:pt x="7104" y="42029"/>
                  </a:lnTo>
                  <a:lnTo>
                    <a:pt x="49133" y="0"/>
                  </a:lnTo>
                  <a:close/>
                </a:path>
              </a:pathLst>
            </a:custGeom>
            <a:solidFill>
              <a:srgbClr val="A6F7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</p:grpSp>
      <p:grpSp>
        <p:nvGrpSpPr>
          <p:cNvPr id="27" name="Google Shape;82;p14">
            <a:extLst>
              <a:ext uri="{FF2B5EF4-FFF2-40B4-BE49-F238E27FC236}">
                <a16:creationId xmlns:a16="http://schemas.microsoft.com/office/drawing/2014/main" id="{F5830BA0-5D9F-61A0-036D-F68BCC09D986}"/>
              </a:ext>
            </a:extLst>
          </p:cNvPr>
          <p:cNvGrpSpPr/>
          <p:nvPr/>
        </p:nvGrpSpPr>
        <p:grpSpPr>
          <a:xfrm>
            <a:off x="1153034" y="1770849"/>
            <a:ext cx="457200" cy="457200"/>
            <a:chOff x="1249800" y="260300"/>
            <a:chExt cx="4846625" cy="4809625"/>
          </a:xfrm>
        </p:grpSpPr>
        <p:sp>
          <p:nvSpPr>
            <p:cNvPr id="24" name="Google Shape;83;p14">
              <a:extLst>
                <a:ext uri="{FF2B5EF4-FFF2-40B4-BE49-F238E27FC236}">
                  <a16:creationId xmlns:a16="http://schemas.microsoft.com/office/drawing/2014/main" id="{163C9035-933D-45BD-AAC4-68E7FFE6A9E6}"/>
                </a:ext>
              </a:extLst>
            </p:cNvPr>
            <p:cNvSpPr/>
            <p:nvPr/>
          </p:nvSpPr>
          <p:spPr>
            <a:xfrm>
              <a:off x="1249800" y="260300"/>
              <a:ext cx="4809625" cy="4809625"/>
            </a:xfrm>
            <a:custGeom>
              <a:avLst/>
              <a:gdLst/>
              <a:ahLst/>
              <a:cxnLst/>
              <a:rect l="l" t="t" r="r" b="b"/>
              <a:pathLst>
                <a:path w="192385" h="192385" extrusionOk="0">
                  <a:moveTo>
                    <a:pt x="96193" y="12136"/>
                  </a:moveTo>
                  <a:cubicBezTo>
                    <a:pt x="142661" y="12136"/>
                    <a:pt x="180249" y="49725"/>
                    <a:pt x="180249" y="96193"/>
                  </a:cubicBezTo>
                  <a:cubicBezTo>
                    <a:pt x="180249" y="142661"/>
                    <a:pt x="142661" y="180249"/>
                    <a:pt x="96193" y="180249"/>
                  </a:cubicBezTo>
                  <a:cubicBezTo>
                    <a:pt x="49725" y="180249"/>
                    <a:pt x="12136" y="142661"/>
                    <a:pt x="12136" y="96193"/>
                  </a:cubicBezTo>
                  <a:cubicBezTo>
                    <a:pt x="12136" y="49725"/>
                    <a:pt x="49725" y="12136"/>
                    <a:pt x="96193" y="12136"/>
                  </a:cubicBezTo>
                  <a:close/>
                  <a:moveTo>
                    <a:pt x="96193" y="1"/>
                  </a:moveTo>
                  <a:cubicBezTo>
                    <a:pt x="43213" y="1"/>
                    <a:pt x="1" y="42917"/>
                    <a:pt x="1" y="96193"/>
                  </a:cubicBezTo>
                  <a:cubicBezTo>
                    <a:pt x="1" y="149172"/>
                    <a:pt x="43213" y="192384"/>
                    <a:pt x="96193" y="192384"/>
                  </a:cubicBezTo>
                  <a:cubicBezTo>
                    <a:pt x="149468" y="192384"/>
                    <a:pt x="192384" y="149172"/>
                    <a:pt x="192384" y="96193"/>
                  </a:cubicBezTo>
                  <a:cubicBezTo>
                    <a:pt x="192384" y="42917"/>
                    <a:pt x="149468" y="1"/>
                    <a:pt x="96193" y="1"/>
                  </a:cubicBezTo>
                  <a:close/>
                </a:path>
              </a:pathLst>
            </a:custGeom>
            <a:solidFill>
              <a:srgbClr val="282C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  <p:sp>
          <p:nvSpPr>
            <p:cNvPr id="25" name="Google Shape;84;p14">
              <a:extLst>
                <a:ext uri="{FF2B5EF4-FFF2-40B4-BE49-F238E27FC236}">
                  <a16:creationId xmlns:a16="http://schemas.microsoft.com/office/drawing/2014/main" id="{31AA322B-8004-7869-753F-3A70695AC03E}"/>
                </a:ext>
              </a:extLst>
            </p:cNvPr>
            <p:cNvSpPr/>
            <p:nvPr/>
          </p:nvSpPr>
          <p:spPr>
            <a:xfrm>
              <a:off x="3654600" y="260300"/>
              <a:ext cx="2441825" cy="4350850"/>
            </a:xfrm>
            <a:custGeom>
              <a:avLst/>
              <a:gdLst/>
              <a:ahLst/>
              <a:cxnLst/>
              <a:rect l="l" t="t" r="r" b="b"/>
              <a:pathLst>
                <a:path w="97673" h="174034" extrusionOk="0">
                  <a:moveTo>
                    <a:pt x="1" y="1"/>
                  </a:moveTo>
                  <a:lnTo>
                    <a:pt x="1" y="12136"/>
                  </a:lnTo>
                  <a:cubicBezTo>
                    <a:pt x="17759" y="12136"/>
                    <a:pt x="35222" y="17759"/>
                    <a:pt x="49428" y="28119"/>
                  </a:cubicBezTo>
                  <a:cubicBezTo>
                    <a:pt x="63931" y="38478"/>
                    <a:pt x="74586" y="53276"/>
                    <a:pt x="80210" y="70147"/>
                  </a:cubicBezTo>
                  <a:cubicBezTo>
                    <a:pt x="85537" y="87017"/>
                    <a:pt x="85537" y="105368"/>
                    <a:pt x="80210" y="122238"/>
                  </a:cubicBezTo>
                  <a:cubicBezTo>
                    <a:pt x="74586" y="139109"/>
                    <a:pt x="63931" y="153908"/>
                    <a:pt x="49428" y="164267"/>
                  </a:cubicBezTo>
                  <a:lnTo>
                    <a:pt x="56532" y="174034"/>
                  </a:lnTo>
                  <a:cubicBezTo>
                    <a:pt x="73106" y="161899"/>
                    <a:pt x="85241" y="145028"/>
                    <a:pt x="91457" y="125790"/>
                  </a:cubicBezTo>
                  <a:cubicBezTo>
                    <a:pt x="97672" y="106552"/>
                    <a:pt x="97672" y="85834"/>
                    <a:pt x="91457" y="66299"/>
                  </a:cubicBezTo>
                  <a:cubicBezTo>
                    <a:pt x="85241" y="47061"/>
                    <a:pt x="73106" y="30190"/>
                    <a:pt x="56532" y="18351"/>
                  </a:cubicBezTo>
                  <a:cubicBezTo>
                    <a:pt x="40253" y="6512"/>
                    <a:pt x="20423" y="1"/>
                    <a:pt x="1" y="1"/>
                  </a:cubicBezTo>
                  <a:close/>
                </a:path>
              </a:pathLst>
            </a:custGeom>
            <a:solidFill>
              <a:srgbClr val="A6F7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  <p:sp>
          <p:nvSpPr>
            <p:cNvPr id="26" name="Google Shape;85;p14">
              <a:extLst>
                <a:ext uri="{FF2B5EF4-FFF2-40B4-BE49-F238E27FC236}">
                  <a16:creationId xmlns:a16="http://schemas.microsoft.com/office/drawing/2014/main" id="{A44F6A6C-14ED-7BEC-E284-5E14AC7C8F32}"/>
                </a:ext>
              </a:extLst>
            </p:cNvPr>
            <p:cNvSpPr/>
            <p:nvPr/>
          </p:nvSpPr>
          <p:spPr>
            <a:xfrm>
              <a:off x="2981250" y="1888175"/>
              <a:ext cx="1265325" cy="1605675"/>
            </a:xfrm>
            <a:custGeom>
              <a:avLst/>
              <a:gdLst/>
              <a:ahLst/>
              <a:cxnLst/>
              <a:rect l="l" t="t" r="r" b="b"/>
              <a:pathLst>
                <a:path w="50613" h="64227" extrusionOk="0">
                  <a:moveTo>
                    <a:pt x="31670" y="0"/>
                  </a:moveTo>
                  <a:cubicBezTo>
                    <a:pt x="22791" y="0"/>
                    <a:pt x="14504" y="3256"/>
                    <a:pt x="9176" y="8880"/>
                  </a:cubicBezTo>
                  <a:lnTo>
                    <a:pt x="12432" y="11543"/>
                  </a:lnTo>
                  <a:cubicBezTo>
                    <a:pt x="16871" y="6808"/>
                    <a:pt x="23975" y="4144"/>
                    <a:pt x="31078" y="4144"/>
                  </a:cubicBezTo>
                  <a:cubicBezTo>
                    <a:pt x="41141" y="4144"/>
                    <a:pt x="45877" y="8584"/>
                    <a:pt x="45877" y="15391"/>
                  </a:cubicBezTo>
                  <a:cubicBezTo>
                    <a:pt x="45877" y="21311"/>
                    <a:pt x="43213" y="26342"/>
                    <a:pt x="33446" y="34333"/>
                  </a:cubicBezTo>
                  <a:lnTo>
                    <a:pt x="593" y="60971"/>
                  </a:lnTo>
                  <a:lnTo>
                    <a:pt x="1" y="64227"/>
                  </a:lnTo>
                  <a:lnTo>
                    <a:pt x="44101" y="64227"/>
                  </a:lnTo>
                  <a:lnTo>
                    <a:pt x="44693" y="60083"/>
                  </a:lnTo>
                  <a:lnTo>
                    <a:pt x="8288" y="60083"/>
                  </a:lnTo>
                  <a:lnTo>
                    <a:pt x="36702" y="36997"/>
                  </a:lnTo>
                  <a:cubicBezTo>
                    <a:pt x="47357" y="28414"/>
                    <a:pt x="50613" y="21902"/>
                    <a:pt x="50613" y="14799"/>
                  </a:cubicBezTo>
                  <a:cubicBezTo>
                    <a:pt x="50613" y="5920"/>
                    <a:pt x="44101" y="0"/>
                    <a:pt x="31670" y="0"/>
                  </a:cubicBezTo>
                  <a:close/>
                </a:path>
              </a:pathLst>
            </a:custGeom>
            <a:solidFill>
              <a:srgbClr val="A6F7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</p:grpSp>
      <p:grpSp>
        <p:nvGrpSpPr>
          <p:cNvPr id="32" name="Google Shape;86;p14">
            <a:extLst>
              <a:ext uri="{FF2B5EF4-FFF2-40B4-BE49-F238E27FC236}">
                <a16:creationId xmlns:a16="http://schemas.microsoft.com/office/drawing/2014/main" id="{3ABA7813-2D47-8D12-99BE-D3FCC73FC7A4}"/>
              </a:ext>
            </a:extLst>
          </p:cNvPr>
          <p:cNvGrpSpPr/>
          <p:nvPr/>
        </p:nvGrpSpPr>
        <p:grpSpPr>
          <a:xfrm>
            <a:off x="1154549" y="1110973"/>
            <a:ext cx="457200" cy="457200"/>
            <a:chOff x="1249800" y="260300"/>
            <a:chExt cx="4809625" cy="4809625"/>
          </a:xfrm>
        </p:grpSpPr>
        <p:sp>
          <p:nvSpPr>
            <p:cNvPr id="29" name="Google Shape;87;p14">
              <a:extLst>
                <a:ext uri="{FF2B5EF4-FFF2-40B4-BE49-F238E27FC236}">
                  <a16:creationId xmlns:a16="http://schemas.microsoft.com/office/drawing/2014/main" id="{FED135AB-8780-C719-08CA-1E502207D5A2}"/>
                </a:ext>
              </a:extLst>
            </p:cNvPr>
            <p:cNvSpPr/>
            <p:nvPr/>
          </p:nvSpPr>
          <p:spPr>
            <a:xfrm>
              <a:off x="1249800" y="260300"/>
              <a:ext cx="4809625" cy="4809625"/>
            </a:xfrm>
            <a:custGeom>
              <a:avLst/>
              <a:gdLst/>
              <a:ahLst/>
              <a:cxnLst/>
              <a:rect l="l" t="t" r="r" b="b"/>
              <a:pathLst>
                <a:path w="192385" h="192385" extrusionOk="0">
                  <a:moveTo>
                    <a:pt x="96193" y="12136"/>
                  </a:moveTo>
                  <a:cubicBezTo>
                    <a:pt x="142661" y="12136"/>
                    <a:pt x="180249" y="49725"/>
                    <a:pt x="180249" y="96193"/>
                  </a:cubicBezTo>
                  <a:cubicBezTo>
                    <a:pt x="180249" y="142661"/>
                    <a:pt x="142661" y="180249"/>
                    <a:pt x="96193" y="180249"/>
                  </a:cubicBezTo>
                  <a:cubicBezTo>
                    <a:pt x="49725" y="180249"/>
                    <a:pt x="12136" y="142661"/>
                    <a:pt x="12136" y="96193"/>
                  </a:cubicBezTo>
                  <a:cubicBezTo>
                    <a:pt x="12136" y="49725"/>
                    <a:pt x="49725" y="12136"/>
                    <a:pt x="96193" y="12136"/>
                  </a:cubicBezTo>
                  <a:close/>
                  <a:moveTo>
                    <a:pt x="96193" y="1"/>
                  </a:moveTo>
                  <a:cubicBezTo>
                    <a:pt x="43213" y="1"/>
                    <a:pt x="1" y="42917"/>
                    <a:pt x="1" y="96193"/>
                  </a:cubicBezTo>
                  <a:cubicBezTo>
                    <a:pt x="1" y="149172"/>
                    <a:pt x="43213" y="192384"/>
                    <a:pt x="96193" y="192384"/>
                  </a:cubicBezTo>
                  <a:cubicBezTo>
                    <a:pt x="149468" y="192384"/>
                    <a:pt x="192384" y="149172"/>
                    <a:pt x="192384" y="96193"/>
                  </a:cubicBezTo>
                  <a:cubicBezTo>
                    <a:pt x="192384" y="42917"/>
                    <a:pt x="149468" y="1"/>
                    <a:pt x="96193" y="1"/>
                  </a:cubicBezTo>
                  <a:close/>
                </a:path>
              </a:pathLst>
            </a:custGeom>
            <a:solidFill>
              <a:srgbClr val="282C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  <p:sp>
          <p:nvSpPr>
            <p:cNvPr id="30" name="Google Shape;88;p14">
              <a:extLst>
                <a:ext uri="{FF2B5EF4-FFF2-40B4-BE49-F238E27FC236}">
                  <a16:creationId xmlns:a16="http://schemas.microsoft.com/office/drawing/2014/main" id="{193F2A82-CE4A-51F3-8580-87831057D124}"/>
                </a:ext>
              </a:extLst>
            </p:cNvPr>
            <p:cNvSpPr/>
            <p:nvPr/>
          </p:nvSpPr>
          <p:spPr>
            <a:xfrm>
              <a:off x="3654600" y="260300"/>
              <a:ext cx="2286425" cy="1753675"/>
            </a:xfrm>
            <a:custGeom>
              <a:avLst/>
              <a:gdLst/>
              <a:ahLst/>
              <a:cxnLst/>
              <a:rect l="l" t="t" r="r" b="b"/>
              <a:pathLst>
                <a:path w="91457" h="70147" extrusionOk="0">
                  <a:moveTo>
                    <a:pt x="1" y="1"/>
                  </a:moveTo>
                  <a:lnTo>
                    <a:pt x="1" y="12136"/>
                  </a:lnTo>
                  <a:cubicBezTo>
                    <a:pt x="17759" y="12136"/>
                    <a:pt x="35222" y="17759"/>
                    <a:pt x="49428" y="28119"/>
                  </a:cubicBezTo>
                  <a:cubicBezTo>
                    <a:pt x="63931" y="38478"/>
                    <a:pt x="74586" y="53276"/>
                    <a:pt x="80210" y="70147"/>
                  </a:cubicBezTo>
                  <a:lnTo>
                    <a:pt x="91457" y="66595"/>
                  </a:lnTo>
                  <a:cubicBezTo>
                    <a:pt x="85241" y="47061"/>
                    <a:pt x="73106" y="30190"/>
                    <a:pt x="56532" y="18351"/>
                  </a:cubicBezTo>
                  <a:cubicBezTo>
                    <a:pt x="40253" y="6512"/>
                    <a:pt x="20423" y="1"/>
                    <a:pt x="1" y="1"/>
                  </a:cubicBezTo>
                  <a:close/>
                </a:path>
              </a:pathLst>
            </a:custGeom>
            <a:solidFill>
              <a:srgbClr val="A6F7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  <p:sp>
          <p:nvSpPr>
            <p:cNvPr id="31" name="Google Shape;89;p14">
              <a:extLst>
                <a:ext uri="{FF2B5EF4-FFF2-40B4-BE49-F238E27FC236}">
                  <a16:creationId xmlns:a16="http://schemas.microsoft.com/office/drawing/2014/main" id="{D5A6CF78-AC12-D586-D698-0C2455FE0CBA}"/>
                </a:ext>
              </a:extLst>
            </p:cNvPr>
            <p:cNvSpPr/>
            <p:nvPr/>
          </p:nvSpPr>
          <p:spPr>
            <a:xfrm>
              <a:off x="3395625" y="1888175"/>
              <a:ext cx="525375" cy="1598275"/>
            </a:xfrm>
            <a:custGeom>
              <a:avLst/>
              <a:gdLst/>
              <a:ahLst/>
              <a:cxnLst/>
              <a:rect l="l" t="t" r="r" b="b"/>
              <a:pathLst>
                <a:path w="21015" h="63931" extrusionOk="0">
                  <a:moveTo>
                    <a:pt x="888" y="0"/>
                  </a:moveTo>
                  <a:lnTo>
                    <a:pt x="0" y="4144"/>
                  </a:lnTo>
                  <a:lnTo>
                    <a:pt x="15391" y="4144"/>
                  </a:lnTo>
                  <a:lnTo>
                    <a:pt x="3552" y="63931"/>
                  </a:lnTo>
                  <a:lnTo>
                    <a:pt x="8288" y="63931"/>
                  </a:lnTo>
                  <a:lnTo>
                    <a:pt x="21015" y="0"/>
                  </a:lnTo>
                  <a:close/>
                </a:path>
              </a:pathLst>
            </a:custGeom>
            <a:solidFill>
              <a:srgbClr val="A6F7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</p:grpSp>
      <p:grpSp>
        <p:nvGrpSpPr>
          <p:cNvPr id="37" name="Google Shape;90;p14">
            <a:extLst>
              <a:ext uri="{FF2B5EF4-FFF2-40B4-BE49-F238E27FC236}">
                <a16:creationId xmlns:a16="http://schemas.microsoft.com/office/drawing/2014/main" id="{DC85C384-F303-3136-B350-98CC10BC3539}"/>
              </a:ext>
            </a:extLst>
          </p:cNvPr>
          <p:cNvGrpSpPr/>
          <p:nvPr/>
        </p:nvGrpSpPr>
        <p:grpSpPr>
          <a:xfrm>
            <a:off x="1145248" y="3750476"/>
            <a:ext cx="457200" cy="457200"/>
            <a:chOff x="1249800" y="297300"/>
            <a:chExt cx="4809625" cy="4809625"/>
          </a:xfrm>
        </p:grpSpPr>
        <p:sp>
          <p:nvSpPr>
            <p:cNvPr id="34" name="Google Shape;91;p14">
              <a:extLst>
                <a:ext uri="{FF2B5EF4-FFF2-40B4-BE49-F238E27FC236}">
                  <a16:creationId xmlns:a16="http://schemas.microsoft.com/office/drawing/2014/main" id="{56EB96B5-6474-0BC9-864B-59CDAEF3623C}"/>
                </a:ext>
              </a:extLst>
            </p:cNvPr>
            <p:cNvSpPr/>
            <p:nvPr/>
          </p:nvSpPr>
          <p:spPr>
            <a:xfrm>
              <a:off x="1249800" y="297300"/>
              <a:ext cx="4809625" cy="4809625"/>
            </a:xfrm>
            <a:custGeom>
              <a:avLst/>
              <a:gdLst/>
              <a:ahLst/>
              <a:cxnLst/>
              <a:rect l="l" t="t" r="r" b="b"/>
              <a:pathLst>
                <a:path w="192385" h="192385" extrusionOk="0">
                  <a:moveTo>
                    <a:pt x="96193" y="12136"/>
                  </a:moveTo>
                  <a:cubicBezTo>
                    <a:pt x="142661" y="12136"/>
                    <a:pt x="180249" y="49725"/>
                    <a:pt x="180249" y="96193"/>
                  </a:cubicBezTo>
                  <a:cubicBezTo>
                    <a:pt x="180249" y="142957"/>
                    <a:pt x="142661" y="180545"/>
                    <a:pt x="96193" y="180545"/>
                  </a:cubicBezTo>
                  <a:cubicBezTo>
                    <a:pt x="49725" y="180545"/>
                    <a:pt x="12136" y="142957"/>
                    <a:pt x="12136" y="96193"/>
                  </a:cubicBezTo>
                  <a:cubicBezTo>
                    <a:pt x="12136" y="49725"/>
                    <a:pt x="49725" y="12136"/>
                    <a:pt x="96193" y="12136"/>
                  </a:cubicBezTo>
                  <a:close/>
                  <a:moveTo>
                    <a:pt x="96193" y="1"/>
                  </a:moveTo>
                  <a:cubicBezTo>
                    <a:pt x="43213" y="1"/>
                    <a:pt x="1" y="43213"/>
                    <a:pt x="1" y="96193"/>
                  </a:cubicBezTo>
                  <a:cubicBezTo>
                    <a:pt x="1" y="149468"/>
                    <a:pt x="43213" y="192384"/>
                    <a:pt x="96193" y="192384"/>
                  </a:cubicBezTo>
                  <a:cubicBezTo>
                    <a:pt x="149468" y="192384"/>
                    <a:pt x="192384" y="149468"/>
                    <a:pt x="192384" y="96193"/>
                  </a:cubicBezTo>
                  <a:cubicBezTo>
                    <a:pt x="192384" y="43213"/>
                    <a:pt x="149468" y="1"/>
                    <a:pt x="96193" y="1"/>
                  </a:cubicBezTo>
                  <a:close/>
                </a:path>
              </a:pathLst>
            </a:custGeom>
            <a:solidFill>
              <a:srgbClr val="282C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  <p:sp>
          <p:nvSpPr>
            <p:cNvPr id="35" name="Google Shape;92;p14">
              <a:extLst>
                <a:ext uri="{FF2B5EF4-FFF2-40B4-BE49-F238E27FC236}">
                  <a16:creationId xmlns:a16="http://schemas.microsoft.com/office/drawing/2014/main" id="{8EDDF46F-D18A-0894-B63F-0C0CE7708B34}"/>
                </a:ext>
              </a:extLst>
            </p:cNvPr>
            <p:cNvSpPr/>
            <p:nvPr/>
          </p:nvSpPr>
          <p:spPr>
            <a:xfrm>
              <a:off x="1249800" y="297300"/>
              <a:ext cx="4809625" cy="4809625"/>
            </a:xfrm>
            <a:custGeom>
              <a:avLst/>
              <a:gdLst/>
              <a:ahLst/>
              <a:cxnLst/>
              <a:rect l="l" t="t" r="r" b="b"/>
              <a:pathLst>
                <a:path w="192385" h="192385" extrusionOk="0">
                  <a:moveTo>
                    <a:pt x="96193" y="12136"/>
                  </a:moveTo>
                  <a:cubicBezTo>
                    <a:pt x="142661" y="12136"/>
                    <a:pt x="180249" y="49725"/>
                    <a:pt x="180249" y="96193"/>
                  </a:cubicBezTo>
                  <a:cubicBezTo>
                    <a:pt x="180249" y="142957"/>
                    <a:pt x="142661" y="180545"/>
                    <a:pt x="96193" y="180545"/>
                  </a:cubicBezTo>
                  <a:cubicBezTo>
                    <a:pt x="49725" y="180545"/>
                    <a:pt x="12136" y="142957"/>
                    <a:pt x="12136" y="96193"/>
                  </a:cubicBezTo>
                  <a:cubicBezTo>
                    <a:pt x="12136" y="49725"/>
                    <a:pt x="49725" y="12136"/>
                    <a:pt x="96193" y="12136"/>
                  </a:cubicBezTo>
                  <a:close/>
                  <a:moveTo>
                    <a:pt x="96193" y="1"/>
                  </a:moveTo>
                  <a:cubicBezTo>
                    <a:pt x="43213" y="1"/>
                    <a:pt x="1" y="43213"/>
                    <a:pt x="1" y="96193"/>
                  </a:cubicBezTo>
                  <a:cubicBezTo>
                    <a:pt x="1" y="149468"/>
                    <a:pt x="43213" y="192384"/>
                    <a:pt x="96193" y="192384"/>
                  </a:cubicBezTo>
                  <a:cubicBezTo>
                    <a:pt x="149468" y="192384"/>
                    <a:pt x="192384" y="149468"/>
                    <a:pt x="192384" y="96193"/>
                  </a:cubicBezTo>
                  <a:cubicBezTo>
                    <a:pt x="192384" y="43213"/>
                    <a:pt x="149468" y="1"/>
                    <a:pt x="96193" y="1"/>
                  </a:cubicBezTo>
                  <a:close/>
                </a:path>
              </a:pathLst>
            </a:custGeom>
            <a:solidFill>
              <a:srgbClr val="A6F7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  <p:sp>
          <p:nvSpPr>
            <p:cNvPr id="36" name="Google Shape;93;p14">
              <a:extLst>
                <a:ext uri="{FF2B5EF4-FFF2-40B4-BE49-F238E27FC236}">
                  <a16:creationId xmlns:a16="http://schemas.microsoft.com/office/drawing/2014/main" id="{726B0E0B-46B3-3FE5-AC22-A215577A5080}"/>
                </a:ext>
              </a:extLst>
            </p:cNvPr>
            <p:cNvSpPr/>
            <p:nvPr/>
          </p:nvSpPr>
          <p:spPr>
            <a:xfrm>
              <a:off x="2996050" y="1925175"/>
              <a:ext cx="1309725" cy="1613075"/>
            </a:xfrm>
            <a:custGeom>
              <a:avLst/>
              <a:gdLst/>
              <a:ahLst/>
              <a:cxnLst/>
              <a:rect l="l" t="t" r="r" b="b"/>
              <a:pathLst>
                <a:path w="52389" h="64523" extrusionOk="0">
                  <a:moveTo>
                    <a:pt x="18351" y="0"/>
                  </a:moveTo>
                  <a:lnTo>
                    <a:pt x="8880" y="31078"/>
                  </a:lnTo>
                  <a:lnTo>
                    <a:pt x="23087" y="31078"/>
                  </a:lnTo>
                  <a:cubicBezTo>
                    <a:pt x="36998" y="31078"/>
                    <a:pt x="42325" y="35813"/>
                    <a:pt x="42325" y="43804"/>
                  </a:cubicBezTo>
                  <a:cubicBezTo>
                    <a:pt x="42325" y="54164"/>
                    <a:pt x="34630" y="60083"/>
                    <a:pt x="21903" y="60083"/>
                  </a:cubicBezTo>
                  <a:cubicBezTo>
                    <a:pt x="12728" y="60083"/>
                    <a:pt x="5920" y="56827"/>
                    <a:pt x="2961" y="52388"/>
                  </a:cubicBezTo>
                  <a:lnTo>
                    <a:pt x="1" y="55643"/>
                  </a:lnTo>
                  <a:cubicBezTo>
                    <a:pt x="3552" y="60971"/>
                    <a:pt x="11544" y="64523"/>
                    <a:pt x="21607" y="64523"/>
                  </a:cubicBezTo>
                  <a:cubicBezTo>
                    <a:pt x="36998" y="64523"/>
                    <a:pt x="47061" y="56235"/>
                    <a:pt x="47061" y="43508"/>
                  </a:cubicBezTo>
                  <a:cubicBezTo>
                    <a:pt x="47061" y="33149"/>
                    <a:pt x="39957" y="26934"/>
                    <a:pt x="23975" y="26934"/>
                  </a:cubicBezTo>
                  <a:lnTo>
                    <a:pt x="14800" y="26934"/>
                  </a:lnTo>
                  <a:lnTo>
                    <a:pt x="21903" y="4144"/>
                  </a:lnTo>
                  <a:lnTo>
                    <a:pt x="51500" y="4144"/>
                  </a:lnTo>
                  <a:lnTo>
                    <a:pt x="52388" y="0"/>
                  </a:lnTo>
                  <a:close/>
                </a:path>
              </a:pathLst>
            </a:custGeom>
            <a:solidFill>
              <a:srgbClr val="A6F7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</p:grpSp>
      <p:sp>
        <p:nvSpPr>
          <p:cNvPr id="38" name="CaixaDeTexto 37">
            <a:extLst>
              <a:ext uri="{FF2B5EF4-FFF2-40B4-BE49-F238E27FC236}">
                <a16:creationId xmlns:a16="http://schemas.microsoft.com/office/drawing/2014/main" id="{E67A718C-8145-D8F7-0D0F-A89CE750AE0D}"/>
              </a:ext>
            </a:extLst>
          </p:cNvPr>
          <p:cNvSpPr txBox="1"/>
          <p:nvPr/>
        </p:nvSpPr>
        <p:spPr>
          <a:xfrm>
            <a:off x="1644185" y="1208768"/>
            <a:ext cx="5514898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pt-PT" b="1" dirty="0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O que é escalabilidade e desempenho</a:t>
            </a:r>
          </a:p>
        </p:txBody>
      </p:sp>
      <p:sp>
        <p:nvSpPr>
          <p:cNvPr id="39" name="CaixaDeTexto 38">
            <a:extLst>
              <a:ext uri="{FF2B5EF4-FFF2-40B4-BE49-F238E27FC236}">
                <a16:creationId xmlns:a16="http://schemas.microsoft.com/office/drawing/2014/main" id="{A306F0E9-B41C-4B7E-3418-E09900A809D4}"/>
              </a:ext>
            </a:extLst>
          </p:cNvPr>
          <p:cNvSpPr txBox="1"/>
          <p:nvPr/>
        </p:nvSpPr>
        <p:spPr>
          <a:xfrm>
            <a:off x="1678456" y="1865598"/>
            <a:ext cx="4558793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PT" b="1" dirty="0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Tipos de escalabilidade</a:t>
            </a:r>
          </a:p>
        </p:txBody>
      </p:sp>
      <p:sp>
        <p:nvSpPr>
          <p:cNvPr id="42" name="CaixaDeTexto 41">
            <a:extLst>
              <a:ext uri="{FF2B5EF4-FFF2-40B4-BE49-F238E27FC236}">
                <a16:creationId xmlns:a16="http://schemas.microsoft.com/office/drawing/2014/main" id="{48324433-DEB7-CCA9-A042-647C66B3B71E}"/>
              </a:ext>
            </a:extLst>
          </p:cNvPr>
          <p:cNvSpPr txBox="1"/>
          <p:nvPr/>
        </p:nvSpPr>
        <p:spPr>
          <a:xfrm>
            <a:off x="1644184" y="3190237"/>
            <a:ext cx="5879171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PT" b="1" dirty="0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Considerações sobre custos</a:t>
            </a:r>
          </a:p>
        </p:txBody>
      </p:sp>
      <p:sp>
        <p:nvSpPr>
          <p:cNvPr id="43" name="CaixaDeTexto 42">
            <a:extLst>
              <a:ext uri="{FF2B5EF4-FFF2-40B4-BE49-F238E27FC236}">
                <a16:creationId xmlns:a16="http://schemas.microsoft.com/office/drawing/2014/main" id="{94132CC5-F6D0-6013-783E-4FC51F43D1E3}"/>
              </a:ext>
            </a:extLst>
          </p:cNvPr>
          <p:cNvSpPr txBox="1"/>
          <p:nvPr/>
        </p:nvSpPr>
        <p:spPr>
          <a:xfrm>
            <a:off x="1644184" y="3853596"/>
            <a:ext cx="4199021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PT" b="1" dirty="0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Cenários reais</a:t>
            </a:r>
          </a:p>
        </p:txBody>
      </p:sp>
      <p:sp>
        <p:nvSpPr>
          <p:cNvPr id="44" name="CaixaDeTexto 43">
            <a:extLst>
              <a:ext uri="{FF2B5EF4-FFF2-40B4-BE49-F238E27FC236}">
                <a16:creationId xmlns:a16="http://schemas.microsoft.com/office/drawing/2014/main" id="{127170B4-15B4-932B-A6EA-D4557355A49F}"/>
              </a:ext>
            </a:extLst>
          </p:cNvPr>
          <p:cNvSpPr txBox="1"/>
          <p:nvPr/>
        </p:nvSpPr>
        <p:spPr>
          <a:xfrm>
            <a:off x="243550" y="403166"/>
            <a:ext cx="4700157" cy="2308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PT" sz="9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Aula 06 | Escalabilidade e desempenho do </a:t>
            </a:r>
            <a:r>
              <a:rPr lang="pt-PT" sz="900" dirty="0" err="1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Azure</a:t>
            </a:r>
            <a:r>
              <a:rPr lang="pt-PT" sz="9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Cosmos DB</a:t>
            </a:r>
          </a:p>
        </p:txBody>
      </p:sp>
      <p:sp>
        <p:nvSpPr>
          <p:cNvPr id="2" name="CaixaDeTexto 41">
            <a:extLst>
              <a:ext uri="{FF2B5EF4-FFF2-40B4-BE49-F238E27FC236}">
                <a16:creationId xmlns:a16="http://schemas.microsoft.com/office/drawing/2014/main" id="{E955987F-B6D3-1A84-2CB9-7B01818851A5}"/>
              </a:ext>
            </a:extLst>
          </p:cNvPr>
          <p:cNvSpPr txBox="1"/>
          <p:nvPr/>
        </p:nvSpPr>
        <p:spPr>
          <a:xfrm>
            <a:off x="1644183" y="2505436"/>
            <a:ext cx="5879171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PT" b="1" dirty="0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Conceitos fundamentais sobre escalabilidade</a:t>
            </a:r>
          </a:p>
        </p:txBody>
      </p:sp>
    </p:spTree>
    <p:extLst>
      <p:ext uri="{BB962C8B-B14F-4D97-AF65-F5344CB8AC3E}">
        <p14:creationId xmlns:p14="http://schemas.microsoft.com/office/powerpoint/2010/main" val="1890794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  <p:bldP spid="42" grpId="0"/>
      <p:bldP spid="43" grpId="0"/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/>
          <p:cNvSpPr txBox="1"/>
          <p:nvPr/>
        </p:nvSpPr>
        <p:spPr>
          <a:xfrm>
            <a:off x="240549" y="124357"/>
            <a:ext cx="5327627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BR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 Light"/>
              </a:rPr>
              <a:t>O que é escalabilidade e desempenho?</a:t>
            </a:r>
            <a:endParaRPr lang="pt-BR" dirty="0"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</p:txBody>
      </p:sp>
      <p:sp>
        <p:nvSpPr>
          <p:cNvPr id="51" name="Google Shape;51;p13"/>
          <p:cNvSpPr txBox="1"/>
          <p:nvPr/>
        </p:nvSpPr>
        <p:spPr>
          <a:xfrm>
            <a:off x="240549" y="337905"/>
            <a:ext cx="4463410" cy="3231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PT" sz="9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Aula 06 | Escalabilidade e desempenho do </a:t>
            </a:r>
            <a:r>
              <a:rPr lang="pt-PT" sz="900" dirty="0" err="1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Azure</a:t>
            </a:r>
            <a:r>
              <a:rPr lang="pt-PT" sz="9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Cosmos DB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82C5BF2-6BFF-B924-7A1E-757AFFB391CD}"/>
              </a:ext>
            </a:extLst>
          </p:cNvPr>
          <p:cNvSpPr txBox="1"/>
          <p:nvPr/>
        </p:nvSpPr>
        <p:spPr>
          <a:xfrm>
            <a:off x="1256371" y="1417588"/>
            <a:ext cx="663125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92D050"/>
              </a:buClr>
            </a:pPr>
            <a:r>
              <a:rPr lang="pt-PT" sz="1600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Escalabilidade</a:t>
            </a:r>
          </a:p>
          <a:p>
            <a:pPr>
              <a:buClr>
                <a:srgbClr val="92D050"/>
              </a:buClr>
            </a:pPr>
            <a:r>
              <a:rPr lang="pt-PT" sz="16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A escalabilidade se refere à capacidade de um sistema de lidar com uma carga de trabalho aumentada sem comprometer o desempenho.</a:t>
            </a:r>
          </a:p>
          <a:p>
            <a:pPr>
              <a:buClr>
                <a:srgbClr val="92D050"/>
              </a:buClr>
            </a:pPr>
            <a:endParaRPr lang="pt-PT" sz="1600" dirty="0">
              <a:solidFill>
                <a:srgbClr val="FFFFFF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  <a:p>
            <a:pPr>
              <a:buClr>
                <a:srgbClr val="92D050"/>
              </a:buClr>
            </a:pPr>
            <a:endParaRPr lang="pt-PT" sz="1600" dirty="0">
              <a:solidFill>
                <a:srgbClr val="FFFFFF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  <a:p>
            <a:pPr>
              <a:buClr>
                <a:srgbClr val="92D050"/>
              </a:buClr>
            </a:pPr>
            <a:r>
              <a:rPr lang="pt-PT" sz="1600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Performance</a:t>
            </a:r>
          </a:p>
          <a:p>
            <a:pPr>
              <a:buClr>
                <a:srgbClr val="92D050"/>
              </a:buClr>
            </a:pPr>
            <a:r>
              <a:rPr lang="pt-PT" sz="16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A performance se refere à velocidade e eficiência da resposta de um sistema às solicitações dos usuários.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">
          <a:extLst>
            <a:ext uri="{FF2B5EF4-FFF2-40B4-BE49-F238E27FC236}">
              <a16:creationId xmlns:a16="http://schemas.microsoft.com/office/drawing/2014/main" id="{12E35038-8485-A6ED-C515-2B18708A5A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>
            <a:extLst>
              <a:ext uri="{FF2B5EF4-FFF2-40B4-BE49-F238E27FC236}">
                <a16:creationId xmlns:a16="http://schemas.microsoft.com/office/drawing/2014/main" id="{CA725D44-C424-13F9-D802-40049551A259}"/>
              </a:ext>
            </a:extLst>
          </p:cNvPr>
          <p:cNvSpPr txBox="1"/>
          <p:nvPr/>
        </p:nvSpPr>
        <p:spPr>
          <a:xfrm>
            <a:off x="240549" y="124357"/>
            <a:ext cx="5327627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BR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 Light"/>
              </a:rPr>
              <a:t>Conceitos fundamentais</a:t>
            </a:r>
            <a:endParaRPr lang="pt-BR" dirty="0"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</p:txBody>
      </p:sp>
      <p:sp>
        <p:nvSpPr>
          <p:cNvPr id="51" name="Google Shape;51;p13">
            <a:extLst>
              <a:ext uri="{FF2B5EF4-FFF2-40B4-BE49-F238E27FC236}">
                <a16:creationId xmlns:a16="http://schemas.microsoft.com/office/drawing/2014/main" id="{C6AE0440-3FE2-5766-3E8F-3E45962B2699}"/>
              </a:ext>
            </a:extLst>
          </p:cNvPr>
          <p:cNvSpPr txBox="1"/>
          <p:nvPr/>
        </p:nvSpPr>
        <p:spPr>
          <a:xfrm>
            <a:off x="240549" y="337905"/>
            <a:ext cx="4463410" cy="3231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PT" sz="9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Aula 06 | Escalabilidade e desempenho do </a:t>
            </a:r>
            <a:r>
              <a:rPr lang="pt-PT" sz="900" dirty="0" err="1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Azure</a:t>
            </a:r>
            <a:r>
              <a:rPr lang="pt-PT" sz="9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Cosmos DB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8B62705-A560-E7DD-4100-61A65C60BB3D}"/>
              </a:ext>
            </a:extLst>
          </p:cNvPr>
          <p:cNvSpPr txBox="1"/>
          <p:nvPr/>
        </p:nvSpPr>
        <p:spPr>
          <a:xfrm>
            <a:off x="240549" y="1417588"/>
            <a:ext cx="663125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6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Unidades de Solicitação (RU) permitem ajustar a capacidade de leitura e escrita do banco de dados.</a:t>
            </a:r>
          </a:p>
          <a:p>
            <a:pPr>
              <a:buClr>
                <a:srgbClr val="92D050"/>
              </a:buClr>
            </a:pPr>
            <a:endParaRPr lang="pt-PT" sz="1600" dirty="0">
              <a:solidFill>
                <a:srgbClr val="FFFFFF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6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Partições lógicas permitem escalar horizontalmente e distribuir a carga de trabalho de forma eficiente.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endParaRPr lang="pt-PT" sz="1600" dirty="0">
              <a:solidFill>
                <a:srgbClr val="FFFFFF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6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Índices são importantes para otimizar as consultas e podem ser criados de forma eficiente.</a:t>
            </a:r>
          </a:p>
        </p:txBody>
      </p:sp>
    </p:spTree>
    <p:extLst>
      <p:ext uri="{BB962C8B-B14F-4D97-AF65-F5344CB8AC3E}">
        <p14:creationId xmlns:p14="http://schemas.microsoft.com/office/powerpoint/2010/main" val="37717715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">
          <a:extLst>
            <a:ext uri="{FF2B5EF4-FFF2-40B4-BE49-F238E27FC236}">
              <a16:creationId xmlns:a16="http://schemas.microsoft.com/office/drawing/2014/main" id="{F90537C0-57B5-B341-699C-1854719D22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>
            <a:extLst>
              <a:ext uri="{FF2B5EF4-FFF2-40B4-BE49-F238E27FC236}">
                <a16:creationId xmlns:a16="http://schemas.microsoft.com/office/drawing/2014/main" id="{5884AD62-9F01-7AEE-B8BF-F8BA1594DB69}"/>
              </a:ext>
            </a:extLst>
          </p:cNvPr>
          <p:cNvSpPr txBox="1"/>
          <p:nvPr/>
        </p:nvSpPr>
        <p:spPr>
          <a:xfrm>
            <a:off x="240549" y="124357"/>
            <a:ext cx="5327627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BR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 Light"/>
              </a:rPr>
              <a:t>Escalabilidade</a:t>
            </a:r>
            <a:endParaRPr lang="pt-BR" dirty="0"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</p:txBody>
      </p:sp>
      <p:sp>
        <p:nvSpPr>
          <p:cNvPr id="51" name="Google Shape;51;p13">
            <a:extLst>
              <a:ext uri="{FF2B5EF4-FFF2-40B4-BE49-F238E27FC236}">
                <a16:creationId xmlns:a16="http://schemas.microsoft.com/office/drawing/2014/main" id="{1AEE35E3-3119-05D5-432C-2AD6B0305FCC}"/>
              </a:ext>
            </a:extLst>
          </p:cNvPr>
          <p:cNvSpPr txBox="1"/>
          <p:nvPr/>
        </p:nvSpPr>
        <p:spPr>
          <a:xfrm>
            <a:off x="240549" y="337905"/>
            <a:ext cx="4463410" cy="3231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PT" sz="9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Aula 06 | Escalabilidade e desempenho do </a:t>
            </a:r>
            <a:r>
              <a:rPr lang="pt-PT" sz="900" dirty="0" err="1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Azure</a:t>
            </a:r>
            <a:r>
              <a:rPr lang="pt-PT" sz="9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Cosmos DB</a:t>
            </a:r>
          </a:p>
        </p:txBody>
      </p:sp>
      <p:grpSp>
        <p:nvGrpSpPr>
          <p:cNvPr id="2" name="Google Shape;109;p14">
            <a:extLst>
              <a:ext uri="{FF2B5EF4-FFF2-40B4-BE49-F238E27FC236}">
                <a16:creationId xmlns:a16="http://schemas.microsoft.com/office/drawing/2014/main" id="{96B89C1F-16DD-A05F-5E03-CCEE6DE3CDE6}"/>
              </a:ext>
            </a:extLst>
          </p:cNvPr>
          <p:cNvGrpSpPr/>
          <p:nvPr/>
        </p:nvGrpSpPr>
        <p:grpSpPr>
          <a:xfrm>
            <a:off x="240549" y="874588"/>
            <a:ext cx="3134553" cy="1541510"/>
            <a:chOff x="527225" y="1006888"/>
            <a:chExt cx="6536100" cy="3409800"/>
          </a:xfrm>
        </p:grpSpPr>
        <p:sp>
          <p:nvSpPr>
            <p:cNvPr id="3" name="Google Shape;110;p14">
              <a:extLst>
                <a:ext uri="{FF2B5EF4-FFF2-40B4-BE49-F238E27FC236}">
                  <a16:creationId xmlns:a16="http://schemas.microsoft.com/office/drawing/2014/main" id="{EB401078-23C1-5951-E980-E28209D964F0}"/>
                </a:ext>
              </a:extLst>
            </p:cNvPr>
            <p:cNvSpPr/>
            <p:nvPr/>
          </p:nvSpPr>
          <p:spPr>
            <a:xfrm>
              <a:off x="527225" y="1006888"/>
              <a:ext cx="6536100" cy="3409800"/>
            </a:xfrm>
            <a:prstGeom prst="roundRect">
              <a:avLst>
                <a:gd name="adj" fmla="val 8123"/>
              </a:avLst>
            </a:prstGeom>
            <a:solidFill>
              <a:srgbClr val="282C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  <p:sp>
          <p:nvSpPr>
            <p:cNvPr id="4" name="Google Shape;111;p14">
              <a:extLst>
                <a:ext uri="{FF2B5EF4-FFF2-40B4-BE49-F238E27FC236}">
                  <a16:creationId xmlns:a16="http://schemas.microsoft.com/office/drawing/2014/main" id="{D7ABB170-334C-AB79-E87E-423E57642D53}"/>
                </a:ext>
              </a:extLst>
            </p:cNvPr>
            <p:cNvSpPr/>
            <p:nvPr/>
          </p:nvSpPr>
          <p:spPr>
            <a:xfrm>
              <a:off x="527225" y="1724100"/>
              <a:ext cx="88800" cy="1972800"/>
            </a:xfrm>
            <a:prstGeom prst="rect">
              <a:avLst/>
            </a:prstGeom>
            <a:solidFill>
              <a:srgbClr val="A6F7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CDE82463-21C8-DE11-00B9-EFFE0E3589A3}"/>
              </a:ext>
            </a:extLst>
          </p:cNvPr>
          <p:cNvSpPr txBox="1"/>
          <p:nvPr/>
        </p:nvSpPr>
        <p:spPr>
          <a:xfrm>
            <a:off x="831435" y="989515"/>
            <a:ext cx="201048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Escala</a:t>
            </a:r>
            <a:r>
              <a:rPr lang="pt-PT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</a:t>
            </a:r>
            <a:r>
              <a:rPr lang="pt-PT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horizontal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B68853A-1385-0483-2760-77E6D4EDDF22}"/>
              </a:ext>
            </a:extLst>
          </p:cNvPr>
          <p:cNvSpPr txBox="1"/>
          <p:nvPr/>
        </p:nvSpPr>
        <p:spPr>
          <a:xfrm>
            <a:off x="394009" y="1510840"/>
            <a:ext cx="304056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Clr>
                <a:srgbClr val="92D050"/>
              </a:buClr>
              <a:buFont typeface="Wingdings" panose="05000000000000000000" pitchFamily="2" charset="2"/>
              <a:buChar char="§"/>
            </a:pPr>
            <a:r>
              <a:rPr lang="pt-PT" sz="12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Adaptação da carga de trabalho</a:t>
            </a:r>
          </a:p>
          <a:p>
            <a:pPr marL="171450" indent="-171450">
              <a:buClr>
                <a:srgbClr val="92D050"/>
              </a:buClr>
              <a:buFont typeface="Wingdings" panose="05000000000000000000" pitchFamily="2" charset="2"/>
              <a:buChar char="§"/>
            </a:pPr>
            <a:r>
              <a:rPr lang="pt-PT" sz="12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Partições lógicas</a:t>
            </a:r>
          </a:p>
          <a:p>
            <a:pPr marL="171450" indent="-171450">
              <a:buClr>
                <a:srgbClr val="92D050"/>
              </a:buClr>
              <a:buFont typeface="Wingdings" panose="05000000000000000000" pitchFamily="2" charset="2"/>
              <a:buChar char="§"/>
            </a:pPr>
            <a:r>
              <a:rPr lang="pt-PT" sz="12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Múltiplos servidores</a:t>
            </a:r>
          </a:p>
        </p:txBody>
      </p:sp>
      <p:grpSp>
        <p:nvGrpSpPr>
          <p:cNvPr id="7" name="Google Shape;109;p14">
            <a:extLst>
              <a:ext uri="{FF2B5EF4-FFF2-40B4-BE49-F238E27FC236}">
                <a16:creationId xmlns:a16="http://schemas.microsoft.com/office/drawing/2014/main" id="{584493F7-9F81-319C-9907-0B68CE18E9E0}"/>
              </a:ext>
            </a:extLst>
          </p:cNvPr>
          <p:cNvGrpSpPr/>
          <p:nvPr/>
        </p:nvGrpSpPr>
        <p:grpSpPr>
          <a:xfrm>
            <a:off x="5555966" y="874588"/>
            <a:ext cx="3134553" cy="1541510"/>
            <a:chOff x="527225" y="1006888"/>
            <a:chExt cx="6536100" cy="3409800"/>
          </a:xfrm>
        </p:grpSpPr>
        <p:sp>
          <p:nvSpPr>
            <p:cNvPr id="8" name="Google Shape;110;p14">
              <a:extLst>
                <a:ext uri="{FF2B5EF4-FFF2-40B4-BE49-F238E27FC236}">
                  <a16:creationId xmlns:a16="http://schemas.microsoft.com/office/drawing/2014/main" id="{8FB91B1B-DEE8-ECE5-EC5F-F18BFBCC0CA3}"/>
                </a:ext>
              </a:extLst>
            </p:cNvPr>
            <p:cNvSpPr/>
            <p:nvPr/>
          </p:nvSpPr>
          <p:spPr>
            <a:xfrm>
              <a:off x="527225" y="1006888"/>
              <a:ext cx="6536100" cy="3409800"/>
            </a:xfrm>
            <a:prstGeom prst="roundRect">
              <a:avLst>
                <a:gd name="adj" fmla="val 8123"/>
              </a:avLst>
            </a:prstGeom>
            <a:solidFill>
              <a:srgbClr val="282C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  <p:sp>
          <p:nvSpPr>
            <p:cNvPr id="10" name="Google Shape;111;p14">
              <a:extLst>
                <a:ext uri="{FF2B5EF4-FFF2-40B4-BE49-F238E27FC236}">
                  <a16:creationId xmlns:a16="http://schemas.microsoft.com/office/drawing/2014/main" id="{64876426-8BDF-59A0-E2F0-2F9CF7DEE48A}"/>
                </a:ext>
              </a:extLst>
            </p:cNvPr>
            <p:cNvSpPr/>
            <p:nvPr/>
          </p:nvSpPr>
          <p:spPr>
            <a:xfrm>
              <a:off x="527225" y="1724100"/>
              <a:ext cx="88800" cy="1972800"/>
            </a:xfrm>
            <a:prstGeom prst="rect">
              <a:avLst/>
            </a:prstGeom>
            <a:solidFill>
              <a:srgbClr val="A6F7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3953415B-75FE-FE8C-6922-C1AD7332DF5A}"/>
              </a:ext>
            </a:extLst>
          </p:cNvPr>
          <p:cNvSpPr txBox="1"/>
          <p:nvPr/>
        </p:nvSpPr>
        <p:spPr>
          <a:xfrm>
            <a:off x="6146852" y="989515"/>
            <a:ext cx="179568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Escala</a:t>
            </a:r>
            <a:r>
              <a:rPr lang="pt-PT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</a:t>
            </a:r>
            <a:r>
              <a:rPr lang="pt-PT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vertical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1E03CA7-1652-8261-1139-4CA339E4DDA4}"/>
              </a:ext>
            </a:extLst>
          </p:cNvPr>
          <p:cNvSpPr txBox="1"/>
          <p:nvPr/>
        </p:nvSpPr>
        <p:spPr>
          <a:xfrm>
            <a:off x="5696575" y="1297292"/>
            <a:ext cx="294190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Clr>
                <a:srgbClr val="92D050"/>
              </a:buClr>
              <a:buFont typeface="Wingdings" panose="05000000000000000000" pitchFamily="2" charset="2"/>
              <a:buChar char="§"/>
            </a:pPr>
            <a:r>
              <a:rPr lang="pt-PT" sz="12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Aumentar os recursos de um único servidor</a:t>
            </a:r>
          </a:p>
          <a:p>
            <a:pPr marL="171450" indent="-171450">
              <a:buClr>
                <a:srgbClr val="92D050"/>
              </a:buClr>
              <a:buFont typeface="Wingdings" panose="05000000000000000000" pitchFamily="2" charset="2"/>
              <a:buChar char="§"/>
            </a:pPr>
            <a:r>
              <a:rPr lang="pt-PT" sz="12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Cargas de trabalho maiores</a:t>
            </a:r>
          </a:p>
          <a:p>
            <a:pPr marL="171450" indent="-171450">
              <a:buClr>
                <a:srgbClr val="92D050"/>
              </a:buClr>
              <a:buFont typeface="Wingdings" panose="05000000000000000000" pitchFamily="2" charset="2"/>
              <a:buChar char="§"/>
            </a:pPr>
            <a:r>
              <a:rPr lang="pt-PT" sz="12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Aumento de </a:t>
            </a:r>
            <a:r>
              <a:rPr lang="pt-PT" sz="1200" dirty="0" err="1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throughput</a:t>
            </a:r>
            <a:r>
              <a:rPr lang="pt-PT" sz="12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(RU/s) de um container</a:t>
            </a:r>
          </a:p>
        </p:txBody>
      </p:sp>
      <p:grpSp>
        <p:nvGrpSpPr>
          <p:cNvPr id="13" name="Google Shape;109;p14">
            <a:extLst>
              <a:ext uri="{FF2B5EF4-FFF2-40B4-BE49-F238E27FC236}">
                <a16:creationId xmlns:a16="http://schemas.microsoft.com/office/drawing/2014/main" id="{0CB6C21B-4F01-B21E-292C-26B527F06C3A}"/>
              </a:ext>
            </a:extLst>
          </p:cNvPr>
          <p:cNvGrpSpPr/>
          <p:nvPr/>
        </p:nvGrpSpPr>
        <p:grpSpPr>
          <a:xfrm>
            <a:off x="2935429" y="3011576"/>
            <a:ext cx="3134553" cy="1541510"/>
            <a:chOff x="527225" y="1006888"/>
            <a:chExt cx="6536100" cy="3409800"/>
          </a:xfrm>
        </p:grpSpPr>
        <p:sp>
          <p:nvSpPr>
            <p:cNvPr id="14" name="Google Shape;110;p14">
              <a:extLst>
                <a:ext uri="{FF2B5EF4-FFF2-40B4-BE49-F238E27FC236}">
                  <a16:creationId xmlns:a16="http://schemas.microsoft.com/office/drawing/2014/main" id="{C1F8E90A-BC08-6952-D6C2-6A24FF0568CB}"/>
                </a:ext>
              </a:extLst>
            </p:cNvPr>
            <p:cNvSpPr/>
            <p:nvPr/>
          </p:nvSpPr>
          <p:spPr>
            <a:xfrm>
              <a:off x="527225" y="1006888"/>
              <a:ext cx="6536100" cy="3409800"/>
            </a:xfrm>
            <a:prstGeom prst="roundRect">
              <a:avLst>
                <a:gd name="adj" fmla="val 8123"/>
              </a:avLst>
            </a:prstGeom>
            <a:solidFill>
              <a:srgbClr val="282C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  <p:sp>
          <p:nvSpPr>
            <p:cNvPr id="15" name="Google Shape;111;p14">
              <a:extLst>
                <a:ext uri="{FF2B5EF4-FFF2-40B4-BE49-F238E27FC236}">
                  <a16:creationId xmlns:a16="http://schemas.microsoft.com/office/drawing/2014/main" id="{11DCC0A3-FD36-202D-1247-A47B1416B781}"/>
                </a:ext>
              </a:extLst>
            </p:cNvPr>
            <p:cNvSpPr/>
            <p:nvPr/>
          </p:nvSpPr>
          <p:spPr>
            <a:xfrm>
              <a:off x="527225" y="1724100"/>
              <a:ext cx="88800" cy="1972800"/>
            </a:xfrm>
            <a:prstGeom prst="rect">
              <a:avLst/>
            </a:prstGeom>
            <a:solidFill>
              <a:srgbClr val="A6F7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F897DDCE-F630-4666-515C-BC09705091C7}"/>
              </a:ext>
            </a:extLst>
          </p:cNvPr>
          <p:cNvSpPr txBox="1"/>
          <p:nvPr/>
        </p:nvSpPr>
        <p:spPr>
          <a:xfrm>
            <a:off x="3526315" y="3126503"/>
            <a:ext cx="201048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Escala</a:t>
            </a:r>
            <a:r>
              <a:rPr lang="pt-PT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</a:t>
            </a:r>
            <a:r>
              <a:rPr lang="pt-PT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automática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7537DF7-999B-633E-BFD7-109F07E22A02}"/>
              </a:ext>
            </a:extLst>
          </p:cNvPr>
          <p:cNvSpPr txBox="1"/>
          <p:nvPr/>
        </p:nvSpPr>
        <p:spPr>
          <a:xfrm>
            <a:off x="3076038" y="3434280"/>
            <a:ext cx="294190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Clr>
                <a:srgbClr val="92D050"/>
              </a:buClr>
              <a:buFont typeface="Wingdings" panose="05000000000000000000" pitchFamily="2" charset="2"/>
              <a:buChar char="§"/>
            </a:pPr>
            <a:r>
              <a:rPr lang="pt-PT" sz="12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Ajuste dinâmico de </a:t>
            </a:r>
            <a:r>
              <a:rPr lang="pt-PT" sz="1200" dirty="0" err="1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throughput</a:t>
            </a:r>
            <a:r>
              <a:rPr lang="pt-PT" sz="12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(RU/s) de um container ou base de dados</a:t>
            </a:r>
          </a:p>
          <a:p>
            <a:pPr marL="171450" indent="-171450">
              <a:buClr>
                <a:srgbClr val="92D050"/>
              </a:buClr>
              <a:buFont typeface="Wingdings" panose="05000000000000000000" pitchFamily="2" charset="2"/>
              <a:buChar char="§"/>
            </a:pPr>
            <a:r>
              <a:rPr lang="pt-PT" sz="12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Automático com base em métricas</a:t>
            </a:r>
          </a:p>
        </p:txBody>
      </p:sp>
    </p:spTree>
    <p:extLst>
      <p:ext uri="{BB962C8B-B14F-4D97-AF65-F5344CB8AC3E}">
        <p14:creationId xmlns:p14="http://schemas.microsoft.com/office/powerpoint/2010/main" val="2659198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11" grpId="0"/>
      <p:bldP spid="12" grpId="0"/>
      <p:bldP spid="16" grpId="0"/>
      <p:bldP spid="1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">
          <a:extLst>
            <a:ext uri="{FF2B5EF4-FFF2-40B4-BE49-F238E27FC236}">
              <a16:creationId xmlns:a16="http://schemas.microsoft.com/office/drawing/2014/main" id="{BBBDB74C-01FA-730F-994F-39CC69508B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>
            <a:extLst>
              <a:ext uri="{FF2B5EF4-FFF2-40B4-BE49-F238E27FC236}">
                <a16:creationId xmlns:a16="http://schemas.microsoft.com/office/drawing/2014/main" id="{C9560753-45D4-819E-E01F-F941D88ED36A}"/>
              </a:ext>
            </a:extLst>
          </p:cNvPr>
          <p:cNvSpPr txBox="1"/>
          <p:nvPr/>
        </p:nvSpPr>
        <p:spPr>
          <a:xfrm>
            <a:off x="240549" y="124357"/>
            <a:ext cx="5327627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BR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 Light"/>
              </a:rPr>
              <a:t>Considerações sobre custos</a:t>
            </a:r>
            <a:endParaRPr lang="pt-BR" dirty="0"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</p:txBody>
      </p:sp>
      <p:sp>
        <p:nvSpPr>
          <p:cNvPr id="51" name="Google Shape;51;p13">
            <a:extLst>
              <a:ext uri="{FF2B5EF4-FFF2-40B4-BE49-F238E27FC236}">
                <a16:creationId xmlns:a16="http://schemas.microsoft.com/office/drawing/2014/main" id="{158F0002-AB47-8D6C-F040-359FA2D2D92D}"/>
              </a:ext>
            </a:extLst>
          </p:cNvPr>
          <p:cNvSpPr txBox="1"/>
          <p:nvPr/>
        </p:nvSpPr>
        <p:spPr>
          <a:xfrm>
            <a:off x="240549" y="337905"/>
            <a:ext cx="4463410" cy="3231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PT" sz="9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Aula 06 | Escalabilidade e desempenho do </a:t>
            </a:r>
            <a:r>
              <a:rPr lang="pt-PT" sz="900" dirty="0" err="1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Azure</a:t>
            </a:r>
            <a:r>
              <a:rPr lang="pt-PT" sz="9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Cosmos DB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300037D-504B-8D6C-9A3B-634DB46CE3B1}"/>
              </a:ext>
            </a:extLst>
          </p:cNvPr>
          <p:cNvSpPr txBox="1"/>
          <p:nvPr/>
        </p:nvSpPr>
        <p:spPr>
          <a:xfrm>
            <a:off x="939358" y="1625744"/>
            <a:ext cx="508973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rgbClr val="92D050"/>
              </a:buClr>
              <a:buFont typeface="Andalus" panose="02010000000000000000" pitchFamily="2" charset="-78"/>
              <a:buChar char="$"/>
            </a:pPr>
            <a:r>
              <a:rPr lang="pt-PT" sz="16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Provisionamento de </a:t>
            </a:r>
            <a:r>
              <a:rPr lang="pt-PT" sz="1600" dirty="0" err="1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throughput</a:t>
            </a:r>
            <a:r>
              <a:rPr lang="pt-PT" sz="16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(RU/s)</a:t>
            </a:r>
          </a:p>
          <a:p>
            <a:pPr marL="285750" indent="-285750">
              <a:buClr>
                <a:srgbClr val="92D050"/>
              </a:buClr>
              <a:buFont typeface="Andalus" panose="02010000000000000000" pitchFamily="2" charset="-78"/>
              <a:buChar char="$"/>
            </a:pPr>
            <a:endParaRPr lang="pt-PT" sz="1600" dirty="0">
              <a:solidFill>
                <a:srgbClr val="FFFFFF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  <a:p>
            <a:pPr marL="285750" indent="-285750">
              <a:buClr>
                <a:srgbClr val="92D050"/>
              </a:buClr>
              <a:buFont typeface="Andalus" panose="02010000000000000000" pitchFamily="2" charset="-78"/>
              <a:buChar char="$"/>
            </a:pPr>
            <a:r>
              <a:rPr lang="pt-PT" sz="16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Armazenamento</a:t>
            </a:r>
          </a:p>
          <a:p>
            <a:pPr marL="285750" indent="-285750">
              <a:buClr>
                <a:srgbClr val="92D050"/>
              </a:buClr>
              <a:buFont typeface="Andalus" panose="02010000000000000000" pitchFamily="2" charset="-78"/>
              <a:buChar char="$"/>
            </a:pPr>
            <a:endParaRPr lang="pt-PT" sz="1600" dirty="0">
              <a:solidFill>
                <a:srgbClr val="FFFFFF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  <a:p>
            <a:pPr marL="285750" indent="-285750">
              <a:buClr>
                <a:srgbClr val="92D050"/>
              </a:buClr>
              <a:buFont typeface="Andalus" panose="02010000000000000000" pitchFamily="2" charset="-78"/>
              <a:buChar char="$"/>
            </a:pPr>
            <a:r>
              <a:rPr lang="pt-PT" sz="16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Transações de escrita e leitura</a:t>
            </a:r>
          </a:p>
          <a:p>
            <a:pPr marL="285750" indent="-285750">
              <a:buClr>
                <a:srgbClr val="92D050"/>
              </a:buClr>
              <a:buFont typeface="Andalus" panose="02010000000000000000" pitchFamily="2" charset="-78"/>
              <a:buChar char="$"/>
            </a:pPr>
            <a:endParaRPr lang="pt-PT" sz="1600" dirty="0">
              <a:solidFill>
                <a:srgbClr val="FFFFFF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  <a:p>
            <a:pPr marL="285750" indent="-285750">
              <a:buClr>
                <a:srgbClr val="92D050"/>
              </a:buClr>
              <a:buFont typeface="Andalus" panose="02010000000000000000" pitchFamily="2" charset="-78"/>
              <a:buChar char="$"/>
            </a:pPr>
            <a:r>
              <a:rPr lang="pt-PT" sz="16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Regiões</a:t>
            </a:r>
          </a:p>
          <a:p>
            <a:pPr marL="285750" indent="-285750">
              <a:buClr>
                <a:srgbClr val="92D050"/>
              </a:buClr>
              <a:buFont typeface="Andalus" panose="02010000000000000000" pitchFamily="2" charset="-78"/>
              <a:buChar char="$"/>
            </a:pPr>
            <a:endParaRPr lang="pt-PT" sz="1600" dirty="0">
              <a:solidFill>
                <a:srgbClr val="FFFFFF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  <a:p>
            <a:pPr marL="285750" indent="-285750">
              <a:buClr>
                <a:srgbClr val="92D050"/>
              </a:buClr>
              <a:buFont typeface="Andalus" panose="02010000000000000000" pitchFamily="2" charset="-78"/>
              <a:buChar char="$"/>
            </a:pPr>
            <a:r>
              <a:rPr lang="pt-PT" sz="16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Recursos adicionais</a:t>
            </a:r>
          </a:p>
        </p:txBody>
      </p:sp>
    </p:spTree>
    <p:extLst>
      <p:ext uri="{BB962C8B-B14F-4D97-AF65-F5344CB8AC3E}">
        <p14:creationId xmlns:p14="http://schemas.microsoft.com/office/powerpoint/2010/main" val="32420804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">
          <a:extLst>
            <a:ext uri="{FF2B5EF4-FFF2-40B4-BE49-F238E27FC236}">
              <a16:creationId xmlns:a16="http://schemas.microsoft.com/office/drawing/2014/main" id="{28A0437F-24EF-9DDC-F541-4D0AEF51EE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>
            <a:extLst>
              <a:ext uri="{FF2B5EF4-FFF2-40B4-BE49-F238E27FC236}">
                <a16:creationId xmlns:a16="http://schemas.microsoft.com/office/drawing/2014/main" id="{470321B4-3F0F-369A-5448-545B66ED2A06}"/>
              </a:ext>
            </a:extLst>
          </p:cNvPr>
          <p:cNvSpPr txBox="1"/>
          <p:nvPr/>
        </p:nvSpPr>
        <p:spPr>
          <a:xfrm>
            <a:off x="240549" y="124357"/>
            <a:ext cx="5327627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BR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 Light"/>
              </a:rPr>
              <a:t>Cenários reais</a:t>
            </a:r>
            <a:endParaRPr lang="pt-BR" dirty="0"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</p:txBody>
      </p:sp>
      <p:sp>
        <p:nvSpPr>
          <p:cNvPr id="51" name="Google Shape;51;p13">
            <a:extLst>
              <a:ext uri="{FF2B5EF4-FFF2-40B4-BE49-F238E27FC236}">
                <a16:creationId xmlns:a16="http://schemas.microsoft.com/office/drawing/2014/main" id="{EBBAD128-2807-8A25-15DE-A2EBB21B3946}"/>
              </a:ext>
            </a:extLst>
          </p:cNvPr>
          <p:cNvSpPr txBox="1"/>
          <p:nvPr/>
        </p:nvSpPr>
        <p:spPr>
          <a:xfrm>
            <a:off x="240549" y="337905"/>
            <a:ext cx="4463410" cy="3231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PT" sz="9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Aula 06 | Escalabilidade e desempenho do </a:t>
            </a:r>
            <a:r>
              <a:rPr lang="pt-PT" sz="900" dirty="0" err="1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Azure</a:t>
            </a:r>
            <a:r>
              <a:rPr lang="pt-PT" sz="9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Cosmos DB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841D45C-E13F-D4BA-48F0-40B0AC4D8F2D}"/>
              </a:ext>
            </a:extLst>
          </p:cNvPr>
          <p:cNvSpPr txBox="1"/>
          <p:nvPr/>
        </p:nvSpPr>
        <p:spPr>
          <a:xfrm>
            <a:off x="939358" y="1625744"/>
            <a:ext cx="508973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q"/>
            </a:pPr>
            <a:r>
              <a:rPr lang="pt-PT" sz="16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Aplicações de chat e mensagens</a:t>
            </a:r>
          </a:p>
          <a:p>
            <a:pPr marL="285750" indent="-285750">
              <a:buClr>
                <a:srgbClr val="92D050"/>
              </a:buClr>
              <a:buFont typeface="Andalus" panose="02010000000000000000" pitchFamily="2" charset="-78"/>
              <a:buChar char="$"/>
            </a:pPr>
            <a:endParaRPr lang="pt-PT" sz="1600" dirty="0">
              <a:solidFill>
                <a:srgbClr val="FFFFFF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q"/>
            </a:pPr>
            <a:r>
              <a:rPr lang="pt-PT" sz="16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Análise de dados de redes sociais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q"/>
            </a:pPr>
            <a:endParaRPr lang="pt-PT" sz="1600" dirty="0">
              <a:solidFill>
                <a:srgbClr val="FFFFFF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q"/>
            </a:pPr>
            <a:r>
              <a:rPr lang="pt-PT" sz="16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Catálogos de produtos online</a:t>
            </a:r>
          </a:p>
        </p:txBody>
      </p:sp>
    </p:spTree>
    <p:extLst>
      <p:ext uri="{BB962C8B-B14F-4D97-AF65-F5344CB8AC3E}">
        <p14:creationId xmlns:p14="http://schemas.microsoft.com/office/powerpoint/2010/main" val="32690170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2"/>
          <p:cNvSpPr txBox="1"/>
          <p:nvPr/>
        </p:nvSpPr>
        <p:spPr>
          <a:xfrm>
            <a:off x="651512" y="2048544"/>
            <a:ext cx="4810500" cy="14772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28575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F750"/>
              </a:buClr>
              <a:buSzPts val="1600"/>
              <a:buFont typeface="Ubuntu Light"/>
              <a:buChar char="✔"/>
            </a:pPr>
            <a:r>
              <a:rPr lang="pt-PT" sz="1400" b="1" i="0" u="none" strike="noStrike" cap="none" dirty="0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Fira Code Light"/>
              </a:rPr>
              <a:t>O que é escalabilidade e desempenho</a:t>
            </a:r>
          </a:p>
          <a:p>
            <a:pPr marL="28575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F750"/>
              </a:buClr>
              <a:buSzPts val="1600"/>
              <a:buFont typeface="Ubuntu Light"/>
              <a:buChar char="✔"/>
            </a:pPr>
            <a:r>
              <a:rPr lang="pt-PT" sz="1400" b="1" i="0" u="none" strike="noStrike" cap="none" dirty="0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Fira Code Light"/>
              </a:rPr>
              <a:t>Tipos de escalabilidade</a:t>
            </a:r>
          </a:p>
          <a:p>
            <a:pPr marL="28575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F750"/>
              </a:buClr>
              <a:buSzPts val="1600"/>
              <a:buFont typeface="Ubuntu Light"/>
              <a:buChar char="✔"/>
            </a:pPr>
            <a:r>
              <a:rPr lang="pt-PT" sz="1400" b="1" i="0" u="none" strike="noStrike" cap="none" dirty="0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Fira Code Light"/>
              </a:rPr>
              <a:t>Conceitos fundamentais sobre escalabilidade</a:t>
            </a:r>
          </a:p>
          <a:p>
            <a:pPr marL="28575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F750"/>
              </a:buClr>
              <a:buSzPts val="1600"/>
              <a:buFont typeface="Ubuntu Light"/>
              <a:buChar char="✔"/>
            </a:pPr>
            <a:r>
              <a:rPr lang="pt-PT" sz="1400" b="1" i="0" u="none" strike="noStrike" cap="none" dirty="0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Fira Code Light"/>
              </a:rPr>
              <a:t>Considerações sobre custos</a:t>
            </a:r>
          </a:p>
          <a:p>
            <a:pPr marL="285750" indent="-298450">
              <a:buClr>
                <a:srgbClr val="A6F750"/>
              </a:buClr>
              <a:buSzPts val="1600"/>
              <a:buFont typeface="Ubuntu Light"/>
              <a:buChar char="✔"/>
            </a:pPr>
            <a:r>
              <a:rPr lang="pt-PT" b="1" dirty="0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Cenários reais</a:t>
            </a:r>
          </a:p>
        </p:txBody>
      </p:sp>
      <p:sp>
        <p:nvSpPr>
          <p:cNvPr id="2" name="Google Shape;50;p13">
            <a:extLst>
              <a:ext uri="{FF2B5EF4-FFF2-40B4-BE49-F238E27FC236}">
                <a16:creationId xmlns:a16="http://schemas.microsoft.com/office/drawing/2014/main" id="{F18BA85D-2531-1CFB-C2E5-EFC5AD82FE85}"/>
              </a:ext>
            </a:extLst>
          </p:cNvPr>
          <p:cNvSpPr txBox="1"/>
          <p:nvPr/>
        </p:nvSpPr>
        <p:spPr>
          <a:xfrm>
            <a:off x="240549" y="124357"/>
            <a:ext cx="5632427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BR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 Light"/>
              </a:rPr>
              <a:t>Recapitulação</a:t>
            </a:r>
            <a:endParaRPr lang="pt-BR" dirty="0"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</p:txBody>
      </p:sp>
      <p:sp>
        <p:nvSpPr>
          <p:cNvPr id="3" name="Google Shape;51;p13">
            <a:extLst>
              <a:ext uri="{FF2B5EF4-FFF2-40B4-BE49-F238E27FC236}">
                <a16:creationId xmlns:a16="http://schemas.microsoft.com/office/drawing/2014/main" id="{3F372C72-6415-430B-784D-CD1C9A3A6A35}"/>
              </a:ext>
            </a:extLst>
          </p:cNvPr>
          <p:cNvSpPr txBox="1"/>
          <p:nvPr/>
        </p:nvSpPr>
        <p:spPr>
          <a:xfrm>
            <a:off x="240549" y="337905"/>
            <a:ext cx="4463410" cy="3231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PT" sz="9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Aula 04 | Modelagem de dados </a:t>
            </a:r>
            <a:r>
              <a:rPr lang="pt-PT" sz="900" dirty="0" err="1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NoSQL</a:t>
            </a:r>
            <a:r>
              <a:rPr lang="pt-PT" sz="9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no </a:t>
            </a:r>
            <a:r>
              <a:rPr lang="pt-PT" sz="900" dirty="0" err="1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Azure</a:t>
            </a:r>
            <a:r>
              <a:rPr lang="pt-PT" sz="9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Cosmos DB</a:t>
            </a:r>
          </a:p>
        </p:txBody>
      </p:sp>
      <p:pic>
        <p:nvPicPr>
          <p:cNvPr id="1026" name="Picture 2" descr="Cosmos DB - Wikipedia">
            <a:extLst>
              <a:ext uri="{FF2B5EF4-FFF2-40B4-BE49-F238E27FC236}">
                <a16:creationId xmlns:a16="http://schemas.microsoft.com/office/drawing/2014/main" id="{4CD961A4-E406-3A84-E536-35A00AFD57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9251" y="1631330"/>
            <a:ext cx="2693547" cy="18808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17"/>
          <p:cNvSpPr txBox="1"/>
          <p:nvPr/>
        </p:nvSpPr>
        <p:spPr>
          <a:xfrm>
            <a:off x="3492149" y="2210090"/>
            <a:ext cx="2663324" cy="7232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500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 Light"/>
              </a:rPr>
              <a:t>Obrigado!</a:t>
            </a:r>
            <a:endParaRPr sz="3500" dirty="0">
              <a:solidFill>
                <a:srgbClr val="A6F750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  <a:sym typeface="Ubuntu Ligh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9d258917-277f-42cd-a3cd-14c4e9ee58bc}" enabled="1" method="Standard" siteId="{38ae3bcd-9579-4fd4-adda-b42e1495d55a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883</TotalTime>
  <Words>321</Words>
  <Application>Microsoft Office PowerPoint</Application>
  <PresentationFormat>On-screen Show (16:9)</PresentationFormat>
  <Paragraphs>62</Paragraphs>
  <Slides>9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Wingdings</vt:lpstr>
      <vt:lpstr>Fira Code</vt:lpstr>
      <vt:lpstr>Andalus</vt:lpstr>
      <vt:lpstr>Arial</vt:lpstr>
      <vt:lpstr>Ubuntu Light</vt:lpstr>
      <vt:lpstr>Ubuntu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Benedicto, Everton Jose (SI IT VC PES PLT)</cp:lastModifiedBy>
  <cp:revision>293</cp:revision>
  <dcterms:modified xsi:type="dcterms:W3CDTF">2024-12-30T20:16:52Z</dcterms:modified>
</cp:coreProperties>
</file>