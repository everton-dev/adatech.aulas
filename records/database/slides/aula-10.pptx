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5"/>
  </p:notesMasterIdLst>
  <p:sldIdLst>
    <p:sldId id="256" r:id="rId2"/>
    <p:sldId id="262" r:id="rId3"/>
    <p:sldId id="257" r:id="rId4"/>
    <p:sldId id="278" r:id="rId5"/>
    <p:sldId id="279" r:id="rId6"/>
    <p:sldId id="284" r:id="rId7"/>
    <p:sldId id="285" r:id="rId8"/>
    <p:sldId id="286" r:id="rId9"/>
    <p:sldId id="287" r:id="rId10"/>
    <p:sldId id="288" r:id="rId11"/>
    <p:sldId id="289" r:id="rId12"/>
    <p:sldId id="268" r:id="rId13"/>
    <p:sldId id="261" r:id="rId14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6"/>
      <p:bold r:id="rId17"/>
    </p:embeddedFont>
    <p:embeddedFont>
      <p:font typeface="Fira Code Light" panose="020B0809050000020004" pitchFamily="49" charset="0"/>
      <p:regular r:id="rId18"/>
    </p:embeddedFont>
    <p:embeddedFont>
      <p:font typeface="Ubuntu" panose="020B0504030602030204" pitchFamily="34" charset="0"/>
      <p:regular r:id="rId19"/>
      <p:bold r:id="rId20"/>
      <p:italic r:id="rId21"/>
      <p:boldItalic r:id="rId22"/>
    </p:embeddedFont>
    <p:embeddedFont>
      <p:font typeface="Ubuntu Light" panose="020B0304030602030204" pitchFamily="34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EA884736-F235-A8B0-8AE1-EC04F8D2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04D8C4C0-83DB-2EB5-2D39-C6FC78110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11ED6BF5-6DED-7055-15A2-16BCCE7EB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605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27AFEA08-6F10-CB52-0257-3CD780C2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E4863BDC-48DA-F990-7095-F741963D0D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A04B8690-6143-BDB7-D348-3164135A34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2604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A8818F6-231F-E898-23C1-2896E0127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1E0F53A3-771B-798A-DEAC-21A26D9AB0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E9C56575-D242-415A-94B9-131E0BEBC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5809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CC23E09-1EDC-9884-EB2A-5CA79074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D182E978-5482-4DA7-65C9-ADC3C47148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B0913F45-52BA-B26C-8004-B9702D44AB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5993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967D9B66-0142-4E8F-22E8-7DE14411A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192EAC6F-7542-F8B3-9E93-406FB21E38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2BCC7509-3F2F-3D88-0AC1-A035CF2B9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6979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145E4E9-7391-790E-A9A4-608FA2E49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1EA5A2B-18FB-EA7F-7707-E19B56FFB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AF2E45BE-DA46-9104-7EB0-F81BFF6A2A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9888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B471C5A-8153-3A87-DFCA-BC08ADEDF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2396CD89-1CB4-5652-C272-FEE3A7069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E42C38FF-1E5A-4054-2C15-C8C951E86C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6067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627EA81-8CF2-794F-7AE3-295F0D2DA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A08C643C-766F-CBE5-8371-67B4C6DA4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7C620000-E207-65D6-B54F-5240123EC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4243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267200" y="3731617"/>
            <a:ext cx="4955053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10 | Comparação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Azure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Cosmos DB e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Azure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SQL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36367" y="1077469"/>
            <a:ext cx="55148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 e diferenças entre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 e Cosmos DB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45587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Por que comparar?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90237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Cenários práticos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Critérios para decisão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10 | Comparação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e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Quando usar cada uma deles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Azure SQL e Azure Cosmos DB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10 | Comparação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e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C4A9B44F-E9D1-0451-BF0F-78515EA8CF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9" y="1384497"/>
            <a:ext cx="4182767" cy="185177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2C5BF2-6BFF-B924-7A1E-757AFFB391CD}"/>
              </a:ext>
            </a:extLst>
          </p:cNvPr>
          <p:cNvSpPr txBox="1"/>
          <p:nvPr/>
        </p:nvSpPr>
        <p:spPr>
          <a:xfrm>
            <a:off x="1162384" y="1468951"/>
            <a:ext cx="31122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Armário com gavetas, organizadas em filas e colunas, cada gaveta tem um rótulo e sabemos exatamente onde procurar cada item</a:t>
            </a:r>
          </a:p>
        </p:txBody>
      </p:sp>
      <p:pic>
        <p:nvPicPr>
          <p:cNvPr id="3" name="Google Shape;66;p14">
            <a:extLst>
              <a:ext uri="{FF2B5EF4-FFF2-40B4-BE49-F238E27FC236}">
                <a16:creationId xmlns:a16="http://schemas.microsoft.com/office/drawing/2014/main" id="{883A298F-EF33-8068-E039-56425379F4E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937" y="2252547"/>
            <a:ext cx="4034087" cy="1851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Qué es Azure SQL? - Tec innova">
            <a:extLst>
              <a:ext uri="{FF2B5EF4-FFF2-40B4-BE49-F238E27FC236}">
                <a16:creationId xmlns:a16="http://schemas.microsoft.com/office/drawing/2014/main" id="{EE96D291-839D-1576-248E-7DAC417F0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32" y="2407029"/>
            <a:ext cx="643391" cy="64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smos DB - Wikipedia">
            <a:extLst>
              <a:ext uri="{FF2B5EF4-FFF2-40B4-BE49-F238E27FC236}">
                <a16:creationId xmlns:a16="http://schemas.microsoft.com/office/drawing/2014/main" id="{0A60B3DD-057A-6399-65B8-3C176EF24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635" y="3275080"/>
            <a:ext cx="1008317" cy="70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445915-0436-AA83-2222-BAEAC83559D2}"/>
              </a:ext>
            </a:extLst>
          </p:cNvPr>
          <p:cNvSpPr txBox="1"/>
          <p:nvPr/>
        </p:nvSpPr>
        <p:spPr>
          <a:xfrm>
            <a:off x="5196468" y="2337002"/>
            <a:ext cx="31122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Armário com caixas de diferentes tamanhos e formatos, você pode colocar qualquer em qualquer caixa e as caixas podem mudar de tamanho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9C67E14-4A48-1CDE-C164-24000143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367C982D-27CB-FB73-D2FD-62E5C29D363B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Por que comparar?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1ABBC4F2-5C76-6F2C-0241-8031CA5CBCFA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10 | Comparação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e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grpSp>
        <p:nvGrpSpPr>
          <p:cNvPr id="4" name="Google Shape;109;p14">
            <a:extLst>
              <a:ext uri="{FF2B5EF4-FFF2-40B4-BE49-F238E27FC236}">
                <a16:creationId xmlns:a16="http://schemas.microsoft.com/office/drawing/2014/main" id="{D712DAE2-1D1E-16A6-E1C1-21FBC7844F30}"/>
              </a:ext>
            </a:extLst>
          </p:cNvPr>
          <p:cNvGrpSpPr/>
          <p:nvPr/>
        </p:nvGrpSpPr>
        <p:grpSpPr>
          <a:xfrm>
            <a:off x="240550" y="874588"/>
            <a:ext cx="8546982" cy="739117"/>
            <a:chOff x="527225" y="1006888"/>
            <a:chExt cx="6536100" cy="3409800"/>
          </a:xfrm>
        </p:grpSpPr>
        <p:sp>
          <p:nvSpPr>
            <p:cNvPr id="5" name="Google Shape;110;p14">
              <a:extLst>
                <a:ext uri="{FF2B5EF4-FFF2-40B4-BE49-F238E27FC236}">
                  <a16:creationId xmlns:a16="http://schemas.microsoft.com/office/drawing/2014/main" id="{CB95566C-37F3-A7D2-07C3-763D63154608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6" name="Google Shape;111;p14">
              <a:extLst>
                <a:ext uri="{FF2B5EF4-FFF2-40B4-BE49-F238E27FC236}">
                  <a16:creationId xmlns:a16="http://schemas.microsoft.com/office/drawing/2014/main" id="{803B1176-FB1E-00D2-6740-089955FDD044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817B499-E3BB-673B-4D4A-27A73F83A484}"/>
              </a:ext>
            </a:extLst>
          </p:cNvPr>
          <p:cNvSpPr txBox="1"/>
          <p:nvPr/>
        </p:nvSpPr>
        <p:spPr>
          <a:xfrm>
            <a:off x="426402" y="951479"/>
            <a:ext cx="8361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Imagine escolher a ferramenta certa para um trabalho…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Você não usaria um martelo para parafusar!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C243E3-4C9F-34FF-6F43-2FC453ACE320}"/>
              </a:ext>
            </a:extLst>
          </p:cNvPr>
          <p:cNvSpPr txBox="1"/>
          <p:nvPr/>
        </p:nvSpPr>
        <p:spPr>
          <a:xfrm>
            <a:off x="426402" y="1853181"/>
            <a:ext cx="83611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Escolher errado o banco de dados pode te trazer problemas: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Desempenho lento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Custos elevados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Complexidade desnecessária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E59ECA-CC90-AC5C-E544-498585103FE9}"/>
              </a:ext>
            </a:extLst>
          </p:cNvPr>
          <p:cNvSpPr txBox="1"/>
          <p:nvPr/>
        </p:nvSpPr>
        <p:spPr>
          <a:xfrm>
            <a:off x="426401" y="3163786"/>
            <a:ext cx="83611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Devemos considerar fatores como: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Escalabilidade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Performance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Custo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Complexidade dos dados</a:t>
            </a:r>
          </a:p>
        </p:txBody>
      </p:sp>
    </p:spTree>
    <p:extLst>
      <p:ext uri="{BB962C8B-B14F-4D97-AF65-F5344CB8AC3E}">
        <p14:creationId xmlns:p14="http://schemas.microsoft.com/office/powerpoint/2010/main" val="220267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E055C35B-B36D-CED4-A096-D1666A946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453FBE83-8A30-EDA4-C922-5AD5D76387BE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Características e diferenças – Modelo de dados</a:t>
            </a:r>
            <a:endParaRPr lang="pt-BR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4EF0B47-7193-7EB7-8B1E-968646747E7C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D443E0FE-1CC2-FE42-DB6A-A90BF6B944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9" y="1384497"/>
            <a:ext cx="4182767" cy="185177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83231B-9C60-7592-E1C4-69F09A482619}"/>
              </a:ext>
            </a:extLst>
          </p:cNvPr>
          <p:cNvSpPr txBox="1"/>
          <p:nvPr/>
        </p:nvSpPr>
        <p:spPr>
          <a:xfrm>
            <a:off x="1162384" y="1468951"/>
            <a:ext cx="3112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Tabelas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Linhas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Colunas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Cada colunas tem um tipo de dado definido</a:t>
            </a: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438EBD7C-1768-3AA3-7662-FB0D903287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937" y="2252547"/>
            <a:ext cx="4034087" cy="1851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Qué es Azure SQL? - Tec innova">
            <a:extLst>
              <a:ext uri="{FF2B5EF4-FFF2-40B4-BE49-F238E27FC236}">
                <a16:creationId xmlns:a16="http://schemas.microsoft.com/office/drawing/2014/main" id="{FB30C241-7FDC-E053-0EF6-07E541351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32" y="2407029"/>
            <a:ext cx="643391" cy="64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osmos DB - Wikipedia">
            <a:extLst>
              <a:ext uri="{FF2B5EF4-FFF2-40B4-BE49-F238E27FC236}">
                <a16:creationId xmlns:a16="http://schemas.microsoft.com/office/drawing/2014/main" id="{1E382BD2-2B41-67EA-1B9A-219EA5370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635" y="3275080"/>
            <a:ext cx="1008317" cy="70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D49367-C1B7-043D-7CAA-5FBD9723A1F8}"/>
              </a:ext>
            </a:extLst>
          </p:cNvPr>
          <p:cNvSpPr txBox="1"/>
          <p:nvPr/>
        </p:nvSpPr>
        <p:spPr>
          <a:xfrm>
            <a:off x="5196468" y="2337002"/>
            <a:ext cx="3112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Documentos JSON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Flexíveis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Pode conter diferentes tipos de dados</a:t>
            </a:r>
          </a:p>
        </p:txBody>
      </p:sp>
    </p:spTree>
    <p:extLst>
      <p:ext uri="{BB962C8B-B14F-4D97-AF65-F5344CB8AC3E}">
        <p14:creationId xmlns:p14="http://schemas.microsoft.com/office/powerpoint/2010/main" val="404527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9D0F6888-2783-928A-7120-153FADAB9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CFD60B47-CC57-C940-AF19-99876CC55B5A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Características e diferenças – Performance</a:t>
            </a:r>
            <a:endParaRPr lang="pt-BR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3F591B14-E223-1F2B-83EF-0361F3C3B636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7F5E136D-6CBB-E9EE-D3D7-EF5C470CB08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9" y="1644687"/>
            <a:ext cx="4182767" cy="185177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2AB80B-D4E4-56F8-F794-B25D5EFE10D9}"/>
              </a:ext>
            </a:extLst>
          </p:cNvPr>
          <p:cNvSpPr txBox="1"/>
          <p:nvPr/>
        </p:nvSpPr>
        <p:spPr>
          <a:xfrm>
            <a:off x="1137424" y="1654801"/>
            <a:ext cx="328589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Restaurante tradicional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Cardápio fixo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Chef experiente que prepara cada prato com cuidado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Performance depende da complexidade do prato</a:t>
            </a: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9420B47A-0FE4-A35E-DD8A-2597FF7E54A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937" y="2512737"/>
            <a:ext cx="4034087" cy="1851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Qué es Azure SQL? - Tec innova">
            <a:extLst>
              <a:ext uri="{FF2B5EF4-FFF2-40B4-BE49-F238E27FC236}">
                <a16:creationId xmlns:a16="http://schemas.microsoft.com/office/drawing/2014/main" id="{C7B2115B-C197-E703-6255-9D8B82AF2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32" y="2667219"/>
            <a:ext cx="643391" cy="64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osmos DB - Wikipedia">
            <a:extLst>
              <a:ext uri="{FF2B5EF4-FFF2-40B4-BE49-F238E27FC236}">
                <a16:creationId xmlns:a16="http://schemas.microsoft.com/office/drawing/2014/main" id="{93ED6FF0-9A36-0234-A5F8-19D92CA60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635" y="3535270"/>
            <a:ext cx="1008317" cy="70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F4C48F-C7FE-68C8-55D6-55222A4D4CDC}"/>
              </a:ext>
            </a:extLst>
          </p:cNvPr>
          <p:cNvSpPr txBox="1"/>
          <p:nvPr/>
        </p:nvSpPr>
        <p:spPr>
          <a:xfrm>
            <a:off x="5196468" y="2597192"/>
            <a:ext cx="3112251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Restaurante fast-food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Menu simples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Sistema eficiente para preparar pedidos rapidamente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Performance depende da quantidade de pedidos simultâneos e da otimização do sistema</a:t>
            </a:r>
          </a:p>
        </p:txBody>
      </p:sp>
      <p:grpSp>
        <p:nvGrpSpPr>
          <p:cNvPr id="3" name="Google Shape;109;p14">
            <a:extLst>
              <a:ext uri="{FF2B5EF4-FFF2-40B4-BE49-F238E27FC236}">
                <a16:creationId xmlns:a16="http://schemas.microsoft.com/office/drawing/2014/main" id="{CFC49CE8-9299-5A2A-73D9-45971F8344CC}"/>
              </a:ext>
            </a:extLst>
          </p:cNvPr>
          <p:cNvGrpSpPr/>
          <p:nvPr/>
        </p:nvGrpSpPr>
        <p:grpSpPr>
          <a:xfrm>
            <a:off x="735980" y="886170"/>
            <a:ext cx="7595044" cy="439798"/>
            <a:chOff x="527225" y="1006888"/>
            <a:chExt cx="6536100" cy="3409800"/>
          </a:xfrm>
        </p:grpSpPr>
        <p:sp>
          <p:nvSpPr>
            <p:cNvPr id="4" name="Google Shape;110;p14">
              <a:extLst>
                <a:ext uri="{FF2B5EF4-FFF2-40B4-BE49-F238E27FC236}">
                  <a16:creationId xmlns:a16="http://schemas.microsoft.com/office/drawing/2014/main" id="{47C4A8B7-CED6-8EC6-DEF6-7FFBF14810EF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5" name="Google Shape;111;p14">
              <a:extLst>
                <a:ext uri="{FF2B5EF4-FFF2-40B4-BE49-F238E27FC236}">
                  <a16:creationId xmlns:a16="http://schemas.microsoft.com/office/drawing/2014/main" id="{66663932-6EA5-6962-4698-3AA1C0DDE60F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70A80BE-16FD-3326-F8DF-B9EFC7B2A837}"/>
              </a:ext>
            </a:extLst>
          </p:cNvPr>
          <p:cNvSpPr txBox="1"/>
          <p:nvPr/>
        </p:nvSpPr>
        <p:spPr>
          <a:xfrm>
            <a:off x="911060" y="929702"/>
            <a:ext cx="7429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Imagine um restaurante…</a:t>
            </a:r>
          </a:p>
        </p:txBody>
      </p:sp>
    </p:spTree>
    <p:extLst>
      <p:ext uri="{BB962C8B-B14F-4D97-AF65-F5344CB8AC3E}">
        <p14:creationId xmlns:p14="http://schemas.microsoft.com/office/powerpoint/2010/main" val="201357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DC3227D3-F81B-62B7-5ECB-3C9235023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5210D3C2-4DFF-444F-20F5-71FA30E3499C}"/>
              </a:ext>
            </a:extLst>
          </p:cNvPr>
          <p:cNvSpPr txBox="1"/>
          <p:nvPr/>
        </p:nvSpPr>
        <p:spPr>
          <a:xfrm>
            <a:off x="240549" y="124357"/>
            <a:ext cx="636097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Características e diferenças – Performance</a:t>
            </a:r>
            <a:endParaRPr lang="pt-BR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FC6A9769-5263-2A1B-8006-D4EE028A50D4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22EE43F7-5DEF-225A-66A1-8E7C5ABFAE4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9" y="1644687"/>
            <a:ext cx="4182767" cy="185177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4EEF15-89E3-F7B8-47E1-476BAA089C20}"/>
              </a:ext>
            </a:extLst>
          </p:cNvPr>
          <p:cNvSpPr txBox="1"/>
          <p:nvPr/>
        </p:nvSpPr>
        <p:spPr>
          <a:xfrm>
            <a:off x="1286108" y="2062610"/>
            <a:ext cx="32858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Índices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Join</a:t>
            </a:r>
            <a:endParaRPr lang="pt-PT" sz="15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Consultas complexas</a:t>
            </a: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98976F24-0FCB-69DF-F43D-40D0CA0CBF7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937" y="2512737"/>
            <a:ext cx="4034087" cy="1851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Qué es Azure SQL? - Tec innova">
            <a:extLst>
              <a:ext uri="{FF2B5EF4-FFF2-40B4-BE49-F238E27FC236}">
                <a16:creationId xmlns:a16="http://schemas.microsoft.com/office/drawing/2014/main" id="{BFB15BD0-BBBF-0BFB-A5E4-F615ECE7E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32" y="2667219"/>
            <a:ext cx="643391" cy="64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osmos DB - Wikipedia">
            <a:extLst>
              <a:ext uri="{FF2B5EF4-FFF2-40B4-BE49-F238E27FC236}">
                <a16:creationId xmlns:a16="http://schemas.microsoft.com/office/drawing/2014/main" id="{C719691A-A39C-BC0F-5FD2-C4E9210C2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635" y="3535270"/>
            <a:ext cx="1008317" cy="70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4CC8D8-6F03-8AC6-F119-48128A5F615E}"/>
              </a:ext>
            </a:extLst>
          </p:cNvPr>
          <p:cNvSpPr txBox="1"/>
          <p:nvPr/>
        </p:nvSpPr>
        <p:spPr>
          <a:xfrm>
            <a:off x="5742878" y="2918195"/>
            <a:ext cx="171728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Índices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Partições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Consultas</a:t>
            </a:r>
          </a:p>
        </p:txBody>
      </p:sp>
      <p:grpSp>
        <p:nvGrpSpPr>
          <p:cNvPr id="3" name="Google Shape;109;p14">
            <a:extLst>
              <a:ext uri="{FF2B5EF4-FFF2-40B4-BE49-F238E27FC236}">
                <a16:creationId xmlns:a16="http://schemas.microsoft.com/office/drawing/2014/main" id="{D65410FA-6D68-107D-578C-C6D5F3BAD3F1}"/>
              </a:ext>
            </a:extLst>
          </p:cNvPr>
          <p:cNvGrpSpPr/>
          <p:nvPr/>
        </p:nvGrpSpPr>
        <p:grpSpPr>
          <a:xfrm>
            <a:off x="735980" y="886170"/>
            <a:ext cx="7595044" cy="439798"/>
            <a:chOff x="527225" y="1006888"/>
            <a:chExt cx="6536100" cy="3409800"/>
          </a:xfrm>
        </p:grpSpPr>
        <p:sp>
          <p:nvSpPr>
            <p:cNvPr id="4" name="Google Shape;110;p14">
              <a:extLst>
                <a:ext uri="{FF2B5EF4-FFF2-40B4-BE49-F238E27FC236}">
                  <a16:creationId xmlns:a16="http://schemas.microsoft.com/office/drawing/2014/main" id="{FF88FD09-22C3-9B9B-1F61-A6F208103424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5" name="Google Shape;111;p14">
              <a:extLst>
                <a:ext uri="{FF2B5EF4-FFF2-40B4-BE49-F238E27FC236}">
                  <a16:creationId xmlns:a16="http://schemas.microsoft.com/office/drawing/2014/main" id="{061345A0-283F-F693-563B-F998ABCDB89A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F8482DC-50DB-6ACF-9D2C-7D0BEF1137F6}"/>
              </a:ext>
            </a:extLst>
          </p:cNvPr>
          <p:cNvSpPr txBox="1"/>
          <p:nvPr/>
        </p:nvSpPr>
        <p:spPr>
          <a:xfrm>
            <a:off x="911060" y="929702"/>
            <a:ext cx="7429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9B5952-2220-9EB0-C720-14256E8DB4FE}"/>
              </a:ext>
            </a:extLst>
          </p:cNvPr>
          <p:cNvSpPr txBox="1"/>
          <p:nvPr/>
        </p:nvSpPr>
        <p:spPr>
          <a:xfrm>
            <a:off x="746072" y="3823854"/>
            <a:ext cx="3201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Principal diferença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Escalabilidade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Latência</a:t>
            </a:r>
          </a:p>
        </p:txBody>
      </p:sp>
    </p:spTree>
    <p:extLst>
      <p:ext uri="{BB962C8B-B14F-4D97-AF65-F5344CB8AC3E}">
        <p14:creationId xmlns:p14="http://schemas.microsoft.com/office/powerpoint/2010/main" val="125602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5381DC60-1F0E-9D71-EF64-8E64ED10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7405F98-E6AC-BBE5-6F95-0C29D6DC6893}"/>
              </a:ext>
            </a:extLst>
          </p:cNvPr>
          <p:cNvSpPr txBox="1"/>
          <p:nvPr/>
        </p:nvSpPr>
        <p:spPr>
          <a:xfrm>
            <a:off x="240549" y="124357"/>
            <a:ext cx="636097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Características e diferenças – Custo</a:t>
            </a:r>
            <a:endParaRPr lang="pt-BR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0AD1C883-AE54-81BF-ACEA-15C4B06A37E8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C391D0BF-DF38-ABFD-D20B-7E6E15D955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9" y="1644687"/>
            <a:ext cx="4182767" cy="185177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52A531-1AF0-22A7-B9A2-9933621C2439}"/>
              </a:ext>
            </a:extLst>
          </p:cNvPr>
          <p:cNvSpPr txBox="1"/>
          <p:nvPr/>
        </p:nvSpPr>
        <p:spPr>
          <a:xfrm>
            <a:off x="1247610" y="1743915"/>
            <a:ext cx="32858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Paga uma taxa fixa por mês ou pagamento pelo uso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Independente de quanto usa o serviço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Ideal para cargas de trabalho previsíveis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5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7AAB2C46-5942-913A-4E53-FDB7BC5A419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937" y="2512737"/>
            <a:ext cx="4034087" cy="1851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Qué es Azure SQL? - Tec innova">
            <a:extLst>
              <a:ext uri="{FF2B5EF4-FFF2-40B4-BE49-F238E27FC236}">
                <a16:creationId xmlns:a16="http://schemas.microsoft.com/office/drawing/2014/main" id="{AE777511-0B86-BFEE-75C4-43A756440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32" y="2667219"/>
            <a:ext cx="643391" cy="64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osmos DB - Wikipedia">
            <a:extLst>
              <a:ext uri="{FF2B5EF4-FFF2-40B4-BE49-F238E27FC236}">
                <a16:creationId xmlns:a16="http://schemas.microsoft.com/office/drawing/2014/main" id="{E1AD97B1-B978-9A49-6F81-F1A8715A4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635" y="3535270"/>
            <a:ext cx="1008317" cy="70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C06963-E36F-18CB-62EC-A29A41DCC63B}"/>
              </a:ext>
            </a:extLst>
          </p:cNvPr>
          <p:cNvSpPr txBox="1"/>
          <p:nvPr/>
        </p:nvSpPr>
        <p:spPr>
          <a:xfrm>
            <a:off x="5282952" y="2597995"/>
            <a:ext cx="304807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Pagamento pelo uso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Paga pelo consumo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Ideal para cargas de trabalho com picos de demanda e escalabilidade dinâmica</a:t>
            </a:r>
          </a:p>
        </p:txBody>
      </p:sp>
      <p:grpSp>
        <p:nvGrpSpPr>
          <p:cNvPr id="3" name="Google Shape;109;p14">
            <a:extLst>
              <a:ext uri="{FF2B5EF4-FFF2-40B4-BE49-F238E27FC236}">
                <a16:creationId xmlns:a16="http://schemas.microsoft.com/office/drawing/2014/main" id="{B2C5FFB3-9B66-ED90-F99C-028DD4F018E1}"/>
              </a:ext>
            </a:extLst>
          </p:cNvPr>
          <p:cNvGrpSpPr/>
          <p:nvPr/>
        </p:nvGrpSpPr>
        <p:grpSpPr>
          <a:xfrm>
            <a:off x="735980" y="886170"/>
            <a:ext cx="7595044" cy="439798"/>
            <a:chOff x="527225" y="1006888"/>
            <a:chExt cx="6536100" cy="3409800"/>
          </a:xfrm>
        </p:grpSpPr>
        <p:sp>
          <p:nvSpPr>
            <p:cNvPr id="4" name="Google Shape;110;p14">
              <a:extLst>
                <a:ext uri="{FF2B5EF4-FFF2-40B4-BE49-F238E27FC236}">
                  <a16:creationId xmlns:a16="http://schemas.microsoft.com/office/drawing/2014/main" id="{5AD50EB6-C981-DDF8-EA0D-E4AF794EAFB6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5" name="Google Shape;111;p14">
              <a:extLst>
                <a:ext uri="{FF2B5EF4-FFF2-40B4-BE49-F238E27FC236}">
                  <a16:creationId xmlns:a16="http://schemas.microsoft.com/office/drawing/2014/main" id="{DB206E35-DD11-1F89-CA48-DFD64A37DCB0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A7F7470-F3E0-6ECC-0CC5-AA00BBF8B080}"/>
              </a:ext>
            </a:extLst>
          </p:cNvPr>
          <p:cNvSpPr txBox="1"/>
          <p:nvPr/>
        </p:nvSpPr>
        <p:spPr>
          <a:xfrm>
            <a:off x="911060" y="929702"/>
            <a:ext cx="7429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Imagine pagar por um serviço de </a:t>
            </a:r>
            <a:r>
              <a:rPr lang="pt-PT" sz="1600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streaming</a:t>
            </a: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4492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D356D3CC-35BD-5B4D-242E-0A368BE9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7471BB68-6B24-521D-388E-1AE9CEF53D6C}"/>
              </a:ext>
            </a:extLst>
          </p:cNvPr>
          <p:cNvSpPr txBox="1"/>
          <p:nvPr/>
        </p:nvSpPr>
        <p:spPr>
          <a:xfrm>
            <a:off x="240549" y="124357"/>
            <a:ext cx="636097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Características e diferenças – Custo</a:t>
            </a:r>
            <a:endParaRPr lang="pt-BR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52B774A6-93A1-2A0D-C881-056DCC8C0281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CA508014-8C66-7FC4-39DC-C27299AFB64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9" y="1644687"/>
            <a:ext cx="4182767" cy="185177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F8D76B-086F-8D68-1584-ABC77A5A569D}"/>
              </a:ext>
            </a:extLst>
          </p:cNvPr>
          <p:cNvSpPr txBox="1"/>
          <p:nvPr/>
        </p:nvSpPr>
        <p:spPr>
          <a:xfrm>
            <a:off x="1247610" y="1743915"/>
            <a:ext cx="32858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Unidade DTU (recursos computacionais e armazenamento)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Armazenamento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I\O (Entrada\Saída)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5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40C9A957-7ACB-8B73-4A06-C0937E372BB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937" y="2512737"/>
            <a:ext cx="4034087" cy="1851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Qué es Azure SQL? - Tec innova">
            <a:extLst>
              <a:ext uri="{FF2B5EF4-FFF2-40B4-BE49-F238E27FC236}">
                <a16:creationId xmlns:a16="http://schemas.microsoft.com/office/drawing/2014/main" id="{65766EA7-94B1-28E9-BB04-932F53C26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32" y="2667219"/>
            <a:ext cx="643391" cy="64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osmos DB - Wikipedia">
            <a:extLst>
              <a:ext uri="{FF2B5EF4-FFF2-40B4-BE49-F238E27FC236}">
                <a16:creationId xmlns:a16="http://schemas.microsoft.com/office/drawing/2014/main" id="{BB579A35-A2B5-8EBE-C0E8-C35F8E31A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635" y="3535270"/>
            <a:ext cx="1008317" cy="70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E71A55-145F-FED5-589D-7BCDF51EE3A3}"/>
              </a:ext>
            </a:extLst>
          </p:cNvPr>
          <p:cNvSpPr txBox="1"/>
          <p:nvPr/>
        </p:nvSpPr>
        <p:spPr>
          <a:xfrm>
            <a:off x="5282952" y="2597995"/>
            <a:ext cx="299125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Unidade de requisição (RU)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Armazenamento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5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Gerenciamento de regiões</a:t>
            </a:r>
          </a:p>
        </p:txBody>
      </p:sp>
      <p:grpSp>
        <p:nvGrpSpPr>
          <p:cNvPr id="3" name="Google Shape;109;p14">
            <a:extLst>
              <a:ext uri="{FF2B5EF4-FFF2-40B4-BE49-F238E27FC236}">
                <a16:creationId xmlns:a16="http://schemas.microsoft.com/office/drawing/2014/main" id="{29042592-D23A-7530-5F2D-F6F0FD58E37C}"/>
              </a:ext>
            </a:extLst>
          </p:cNvPr>
          <p:cNvGrpSpPr/>
          <p:nvPr/>
        </p:nvGrpSpPr>
        <p:grpSpPr>
          <a:xfrm>
            <a:off x="735980" y="886170"/>
            <a:ext cx="7595044" cy="439798"/>
            <a:chOff x="527225" y="1006888"/>
            <a:chExt cx="6536100" cy="3409800"/>
          </a:xfrm>
        </p:grpSpPr>
        <p:sp>
          <p:nvSpPr>
            <p:cNvPr id="4" name="Google Shape;110;p14">
              <a:extLst>
                <a:ext uri="{FF2B5EF4-FFF2-40B4-BE49-F238E27FC236}">
                  <a16:creationId xmlns:a16="http://schemas.microsoft.com/office/drawing/2014/main" id="{F07AF66D-3531-6DC0-9E55-5DCD51F6201C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5" name="Google Shape;111;p14">
              <a:extLst>
                <a:ext uri="{FF2B5EF4-FFF2-40B4-BE49-F238E27FC236}">
                  <a16:creationId xmlns:a16="http://schemas.microsoft.com/office/drawing/2014/main" id="{C9C161F7-2694-393C-9DFE-D22F6B275EEA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D00748E-889A-CC61-0AAB-26099BFD778C}"/>
              </a:ext>
            </a:extLst>
          </p:cNvPr>
          <p:cNvSpPr txBox="1"/>
          <p:nvPr/>
        </p:nvSpPr>
        <p:spPr>
          <a:xfrm>
            <a:off x="911060" y="929702"/>
            <a:ext cx="7429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 os fatores de custos…</a:t>
            </a:r>
          </a:p>
        </p:txBody>
      </p:sp>
    </p:spTree>
    <p:extLst>
      <p:ext uri="{BB962C8B-B14F-4D97-AF65-F5344CB8AC3E}">
        <p14:creationId xmlns:p14="http://schemas.microsoft.com/office/powerpoint/2010/main" val="133202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C3D984B0-D523-E5F4-B901-2F4FD73C2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61F7656E-CFAA-6C01-4E4B-D1EDD8BB1654}"/>
              </a:ext>
            </a:extLst>
          </p:cNvPr>
          <p:cNvSpPr txBox="1"/>
          <p:nvPr/>
        </p:nvSpPr>
        <p:spPr>
          <a:xfrm>
            <a:off x="240549" y="124357"/>
            <a:ext cx="636097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Quando usar cada um?</a:t>
            </a:r>
            <a:endParaRPr lang="pt-BR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7E2B62B5-8124-044B-EAE4-9FEA5DF5707A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pic>
        <p:nvPicPr>
          <p:cNvPr id="12" name="Google Shape;65;p14">
            <a:extLst>
              <a:ext uri="{FF2B5EF4-FFF2-40B4-BE49-F238E27FC236}">
                <a16:creationId xmlns:a16="http://schemas.microsoft.com/office/drawing/2014/main" id="{BD6052F6-5689-2312-C0FB-34AD497EBB9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852" y="4022787"/>
            <a:ext cx="8094926" cy="457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70;p14">
            <a:extLst>
              <a:ext uri="{FF2B5EF4-FFF2-40B4-BE49-F238E27FC236}">
                <a16:creationId xmlns:a16="http://schemas.microsoft.com/office/drawing/2014/main" id="{EE22012C-2015-A176-D56F-E30A16ADF849}"/>
              </a:ext>
            </a:extLst>
          </p:cNvPr>
          <p:cNvGrpSpPr/>
          <p:nvPr/>
        </p:nvGrpSpPr>
        <p:grpSpPr>
          <a:xfrm>
            <a:off x="240549" y="1176599"/>
            <a:ext cx="8583784" cy="2834973"/>
            <a:chOff x="243549" y="1397650"/>
            <a:chExt cx="7128251" cy="1991950"/>
          </a:xfrm>
        </p:grpSpPr>
        <p:sp>
          <p:nvSpPr>
            <p:cNvPr id="20" name="Google Shape;71;p14">
              <a:extLst>
                <a:ext uri="{FF2B5EF4-FFF2-40B4-BE49-F238E27FC236}">
                  <a16:creationId xmlns:a16="http://schemas.microsoft.com/office/drawing/2014/main" id="{4EC37A94-C04A-82E9-11D0-3BB9255AAE6A}"/>
                </a:ext>
              </a:extLst>
            </p:cNvPr>
            <p:cNvSpPr/>
            <p:nvPr/>
          </p:nvSpPr>
          <p:spPr>
            <a:xfrm>
              <a:off x="243550" y="1859598"/>
              <a:ext cx="7128250" cy="1530002"/>
            </a:xfrm>
            <a:custGeom>
              <a:avLst/>
              <a:gdLst/>
              <a:ahLst/>
              <a:cxnLst/>
              <a:rect l="l" t="t" r="r" b="b"/>
              <a:pathLst>
                <a:path w="285130" h="67034" extrusionOk="0">
                  <a:moveTo>
                    <a:pt x="0" y="1"/>
                  </a:moveTo>
                  <a:lnTo>
                    <a:pt x="0" y="63311"/>
                  </a:lnTo>
                  <a:cubicBezTo>
                    <a:pt x="0" y="65359"/>
                    <a:pt x="1675" y="67034"/>
                    <a:pt x="3722" y="67034"/>
                  </a:cubicBezTo>
                  <a:lnTo>
                    <a:pt x="281407" y="67034"/>
                  </a:lnTo>
                  <a:cubicBezTo>
                    <a:pt x="283455" y="67034"/>
                    <a:pt x="285130" y="65359"/>
                    <a:pt x="285130" y="63311"/>
                  </a:cubicBezTo>
                  <a:lnTo>
                    <a:pt x="285130" y="1"/>
                  </a:ln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2;p14">
              <a:extLst>
                <a:ext uri="{FF2B5EF4-FFF2-40B4-BE49-F238E27FC236}">
                  <a16:creationId xmlns:a16="http://schemas.microsoft.com/office/drawing/2014/main" id="{8CC54DB8-56FB-9986-3CB4-071F68AF235F}"/>
                </a:ext>
              </a:extLst>
            </p:cNvPr>
            <p:cNvSpPr/>
            <p:nvPr/>
          </p:nvSpPr>
          <p:spPr>
            <a:xfrm>
              <a:off x="243549" y="1636352"/>
              <a:ext cx="7128250" cy="227046"/>
            </a:xfrm>
            <a:custGeom>
              <a:avLst/>
              <a:gdLst/>
              <a:ahLst/>
              <a:cxnLst/>
              <a:rect l="l" t="t" r="r" b="b"/>
              <a:pathLst>
                <a:path w="285130" h="24010" extrusionOk="0">
                  <a:moveTo>
                    <a:pt x="0" y="1"/>
                  </a:moveTo>
                  <a:lnTo>
                    <a:pt x="0" y="24010"/>
                  </a:lnTo>
                  <a:lnTo>
                    <a:pt x="285130" y="24010"/>
                  </a:lnTo>
                  <a:lnTo>
                    <a:pt x="285130" y="1"/>
                  </a:lnTo>
                  <a:close/>
                </a:path>
              </a:pathLst>
            </a:custGeom>
            <a:solidFill>
              <a:srgbClr val="383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3;p14">
              <a:extLst>
                <a:ext uri="{FF2B5EF4-FFF2-40B4-BE49-F238E27FC236}">
                  <a16:creationId xmlns:a16="http://schemas.microsoft.com/office/drawing/2014/main" id="{A7F832CC-6575-C599-2405-702BE64C6CC0}"/>
                </a:ext>
              </a:extLst>
            </p:cNvPr>
            <p:cNvSpPr/>
            <p:nvPr/>
          </p:nvSpPr>
          <p:spPr>
            <a:xfrm>
              <a:off x="243550" y="1397650"/>
              <a:ext cx="7128250" cy="238407"/>
            </a:xfrm>
            <a:custGeom>
              <a:avLst/>
              <a:gdLst/>
              <a:ahLst/>
              <a:cxnLst/>
              <a:rect l="l" t="t" r="r" b="b"/>
              <a:pathLst>
                <a:path w="285130" h="25281" extrusionOk="0">
                  <a:moveTo>
                    <a:pt x="3722" y="0"/>
                  </a:moveTo>
                  <a:cubicBezTo>
                    <a:pt x="1675" y="0"/>
                    <a:pt x="0" y="1644"/>
                    <a:pt x="0" y="3691"/>
                  </a:cubicBezTo>
                  <a:lnTo>
                    <a:pt x="0" y="25281"/>
                  </a:lnTo>
                  <a:lnTo>
                    <a:pt x="285130" y="25281"/>
                  </a:lnTo>
                  <a:lnTo>
                    <a:pt x="285130" y="3691"/>
                  </a:lnTo>
                  <a:cubicBezTo>
                    <a:pt x="285130" y="1644"/>
                    <a:pt x="283455" y="0"/>
                    <a:pt x="281407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4" name="Google Shape;101;p14">
            <a:extLst>
              <a:ext uri="{FF2B5EF4-FFF2-40B4-BE49-F238E27FC236}">
                <a16:creationId xmlns:a16="http://schemas.microsoft.com/office/drawing/2014/main" id="{4BAF5AC5-DA5C-5DEE-D362-8EA4B8544291}"/>
              </a:ext>
            </a:extLst>
          </p:cNvPr>
          <p:cNvCxnSpPr>
            <a:cxnSpLocks/>
          </p:cNvCxnSpPr>
          <p:nvPr/>
        </p:nvCxnSpPr>
        <p:spPr>
          <a:xfrm flipH="1">
            <a:off x="1289980" y="1515903"/>
            <a:ext cx="8679" cy="2495669"/>
          </a:xfrm>
          <a:prstGeom prst="straightConnector1">
            <a:avLst/>
          </a:prstGeom>
          <a:noFill/>
          <a:ln w="9525" cap="flat" cmpd="sng">
            <a:solidFill>
              <a:srgbClr val="6A6A6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102;p14">
            <a:extLst>
              <a:ext uri="{FF2B5EF4-FFF2-40B4-BE49-F238E27FC236}">
                <a16:creationId xmlns:a16="http://schemas.microsoft.com/office/drawing/2014/main" id="{77EA51FA-C724-41B8-A70A-A91DE3B72CB0}"/>
              </a:ext>
            </a:extLst>
          </p:cNvPr>
          <p:cNvSpPr txBox="1"/>
          <p:nvPr/>
        </p:nvSpPr>
        <p:spPr>
          <a:xfrm>
            <a:off x="3298452" y="1181163"/>
            <a:ext cx="2640593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latin typeface="Fira Code Light"/>
                <a:ea typeface="Fira Code Light"/>
                <a:cs typeface="Fira Code Light"/>
                <a:sym typeface="Fira Code Light"/>
              </a:rPr>
              <a:t>Comparação entre os bancos de dados</a:t>
            </a:r>
            <a:endParaRPr sz="900" dirty="0"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16" name="Google Shape;103;p14">
            <a:extLst>
              <a:ext uri="{FF2B5EF4-FFF2-40B4-BE49-F238E27FC236}">
                <a16:creationId xmlns:a16="http://schemas.microsoft.com/office/drawing/2014/main" id="{5CCBDAA9-523E-7352-9C50-708BCE6E3211}"/>
              </a:ext>
            </a:extLst>
          </p:cNvPr>
          <p:cNvSpPr txBox="1"/>
          <p:nvPr/>
        </p:nvSpPr>
        <p:spPr>
          <a:xfrm>
            <a:off x="327273" y="1523906"/>
            <a:ext cx="971386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Critério</a:t>
            </a:r>
            <a:endParaRPr sz="8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17" name="Google Shape;104;p14">
            <a:extLst>
              <a:ext uri="{FF2B5EF4-FFF2-40B4-BE49-F238E27FC236}">
                <a16:creationId xmlns:a16="http://schemas.microsoft.com/office/drawing/2014/main" id="{CAE4B9F8-2897-9852-9790-63A83C0EFAF4}"/>
              </a:ext>
            </a:extLst>
          </p:cNvPr>
          <p:cNvSpPr txBox="1"/>
          <p:nvPr/>
        </p:nvSpPr>
        <p:spPr>
          <a:xfrm>
            <a:off x="1385382" y="1518105"/>
            <a:ext cx="3224533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Azure Cosmos DB</a:t>
            </a:r>
            <a:endParaRPr sz="8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18" name="Google Shape;105;p14">
            <a:extLst>
              <a:ext uri="{FF2B5EF4-FFF2-40B4-BE49-F238E27FC236}">
                <a16:creationId xmlns:a16="http://schemas.microsoft.com/office/drawing/2014/main" id="{56FD2C6C-2031-FBD5-4BB0-5CB170640361}"/>
              </a:ext>
            </a:extLst>
          </p:cNvPr>
          <p:cNvSpPr txBox="1"/>
          <p:nvPr/>
        </p:nvSpPr>
        <p:spPr>
          <a:xfrm>
            <a:off x="1385382" y="1897017"/>
            <a:ext cx="2272560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Documental (JSON)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19" name="Google Shape;106;p14">
            <a:extLst>
              <a:ext uri="{FF2B5EF4-FFF2-40B4-BE49-F238E27FC236}">
                <a16:creationId xmlns:a16="http://schemas.microsoft.com/office/drawing/2014/main" id="{C518C887-D7B3-FFFA-EE6C-F3E444762123}"/>
              </a:ext>
            </a:extLst>
          </p:cNvPr>
          <p:cNvSpPr txBox="1"/>
          <p:nvPr/>
        </p:nvSpPr>
        <p:spPr>
          <a:xfrm>
            <a:off x="319668" y="1893987"/>
            <a:ext cx="971387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Modelo de dados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27" name="Google Shape;106;p14">
            <a:extLst>
              <a:ext uri="{FF2B5EF4-FFF2-40B4-BE49-F238E27FC236}">
                <a16:creationId xmlns:a16="http://schemas.microsoft.com/office/drawing/2014/main" id="{C05D333A-D24A-2882-75EA-9F10D6F9E571}"/>
              </a:ext>
            </a:extLst>
          </p:cNvPr>
          <p:cNvSpPr txBox="1"/>
          <p:nvPr/>
        </p:nvSpPr>
        <p:spPr>
          <a:xfrm>
            <a:off x="327273" y="2223154"/>
            <a:ext cx="971386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Escalabilidade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28" name="Google Shape;106;p14">
            <a:extLst>
              <a:ext uri="{FF2B5EF4-FFF2-40B4-BE49-F238E27FC236}">
                <a16:creationId xmlns:a16="http://schemas.microsoft.com/office/drawing/2014/main" id="{230EECE1-6F9E-3278-611B-2E625BEACBC4}"/>
              </a:ext>
            </a:extLst>
          </p:cNvPr>
          <p:cNvSpPr txBox="1"/>
          <p:nvPr/>
        </p:nvSpPr>
        <p:spPr>
          <a:xfrm>
            <a:off x="327273" y="2552321"/>
            <a:ext cx="971386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Performance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30" name="Google Shape;106;p14">
            <a:extLst>
              <a:ext uri="{FF2B5EF4-FFF2-40B4-BE49-F238E27FC236}">
                <a16:creationId xmlns:a16="http://schemas.microsoft.com/office/drawing/2014/main" id="{9989A3AA-ABC6-9231-3D9D-3C2F6ECD70DD}"/>
              </a:ext>
            </a:extLst>
          </p:cNvPr>
          <p:cNvSpPr txBox="1"/>
          <p:nvPr/>
        </p:nvSpPr>
        <p:spPr>
          <a:xfrm>
            <a:off x="327273" y="2904795"/>
            <a:ext cx="971386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Custo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31" name="Google Shape;106;p14">
            <a:extLst>
              <a:ext uri="{FF2B5EF4-FFF2-40B4-BE49-F238E27FC236}">
                <a16:creationId xmlns:a16="http://schemas.microsoft.com/office/drawing/2014/main" id="{E1AAEF9F-6CBE-D77F-7121-4141FD7F5955}"/>
              </a:ext>
            </a:extLst>
          </p:cNvPr>
          <p:cNvSpPr txBox="1"/>
          <p:nvPr/>
        </p:nvSpPr>
        <p:spPr>
          <a:xfrm>
            <a:off x="318594" y="3257234"/>
            <a:ext cx="971386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Gerenciamento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32" name="Google Shape;106;p14">
            <a:extLst>
              <a:ext uri="{FF2B5EF4-FFF2-40B4-BE49-F238E27FC236}">
                <a16:creationId xmlns:a16="http://schemas.microsoft.com/office/drawing/2014/main" id="{38ABBDCE-9681-F710-547C-65B10CAB2BAE}"/>
              </a:ext>
            </a:extLst>
          </p:cNvPr>
          <p:cNvSpPr txBox="1"/>
          <p:nvPr/>
        </p:nvSpPr>
        <p:spPr>
          <a:xfrm>
            <a:off x="327273" y="3656917"/>
            <a:ext cx="971386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Casos de uso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33" name="Google Shape;105;p14">
            <a:extLst>
              <a:ext uri="{FF2B5EF4-FFF2-40B4-BE49-F238E27FC236}">
                <a16:creationId xmlns:a16="http://schemas.microsoft.com/office/drawing/2014/main" id="{2BF82FB8-6651-7C05-DA37-F0EB95B49392}"/>
              </a:ext>
            </a:extLst>
          </p:cNvPr>
          <p:cNvSpPr txBox="1"/>
          <p:nvPr/>
        </p:nvSpPr>
        <p:spPr>
          <a:xfrm>
            <a:off x="1388011" y="2221478"/>
            <a:ext cx="2272560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Horizontal, automática e global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34" name="Google Shape;105;p14">
            <a:extLst>
              <a:ext uri="{FF2B5EF4-FFF2-40B4-BE49-F238E27FC236}">
                <a16:creationId xmlns:a16="http://schemas.microsoft.com/office/drawing/2014/main" id="{24FCF5AA-3242-A14E-8911-2F5D281EC34E}"/>
              </a:ext>
            </a:extLst>
          </p:cNvPr>
          <p:cNvSpPr txBox="1"/>
          <p:nvPr/>
        </p:nvSpPr>
        <p:spPr>
          <a:xfrm>
            <a:off x="1385381" y="2556361"/>
            <a:ext cx="3037935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Baixa latência, ideal para cargas de trabalho com alta demanda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35" name="Google Shape;105;p14">
            <a:extLst>
              <a:ext uri="{FF2B5EF4-FFF2-40B4-BE49-F238E27FC236}">
                <a16:creationId xmlns:a16="http://schemas.microsoft.com/office/drawing/2014/main" id="{280DADCF-FA0C-07F3-1BD5-25B244ADC85C}"/>
              </a:ext>
            </a:extLst>
          </p:cNvPr>
          <p:cNvSpPr txBox="1"/>
          <p:nvPr/>
        </p:nvSpPr>
        <p:spPr>
          <a:xfrm>
            <a:off x="1385381" y="2904795"/>
            <a:ext cx="3037935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Pagamento por uso, ideal para cargas de trabalho variáveis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36" name="Google Shape;105;p14">
            <a:extLst>
              <a:ext uri="{FF2B5EF4-FFF2-40B4-BE49-F238E27FC236}">
                <a16:creationId xmlns:a16="http://schemas.microsoft.com/office/drawing/2014/main" id="{A0076C14-3A32-1AEE-D304-587A59D06FB5}"/>
              </a:ext>
            </a:extLst>
          </p:cNvPr>
          <p:cNvSpPr txBox="1"/>
          <p:nvPr/>
        </p:nvSpPr>
        <p:spPr>
          <a:xfrm>
            <a:off x="1385381" y="3257234"/>
            <a:ext cx="3037935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Facilidade de uso, interface intuitiva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37" name="Google Shape;105;p14">
            <a:extLst>
              <a:ext uri="{FF2B5EF4-FFF2-40B4-BE49-F238E27FC236}">
                <a16:creationId xmlns:a16="http://schemas.microsoft.com/office/drawing/2014/main" id="{EAE32D49-61FE-6572-9A7D-EF309EB8637A}"/>
              </a:ext>
            </a:extLst>
          </p:cNvPr>
          <p:cNvSpPr txBox="1"/>
          <p:nvPr/>
        </p:nvSpPr>
        <p:spPr>
          <a:xfrm>
            <a:off x="1385380" y="3609673"/>
            <a:ext cx="3037935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Aplicativos móveis, jogos, </a:t>
            </a:r>
            <a:r>
              <a:rPr lang="pt-PT" sz="600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IoT</a:t>
            </a:r>
            <a:r>
              <a:rPr lang="pt-PT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, bancos de dados de conteúdo, catálogos de produtos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cxnSp>
        <p:nvCxnSpPr>
          <p:cNvPr id="38" name="Google Shape;101;p14">
            <a:extLst>
              <a:ext uri="{FF2B5EF4-FFF2-40B4-BE49-F238E27FC236}">
                <a16:creationId xmlns:a16="http://schemas.microsoft.com/office/drawing/2014/main" id="{E27EE708-F856-BBC5-817F-7F1511BD6FAD}"/>
              </a:ext>
            </a:extLst>
          </p:cNvPr>
          <p:cNvCxnSpPr>
            <a:cxnSpLocks/>
          </p:cNvCxnSpPr>
          <p:nvPr/>
        </p:nvCxnSpPr>
        <p:spPr>
          <a:xfrm>
            <a:off x="4618749" y="1515903"/>
            <a:ext cx="0" cy="2495669"/>
          </a:xfrm>
          <a:prstGeom prst="straightConnector1">
            <a:avLst/>
          </a:prstGeom>
          <a:noFill/>
          <a:ln w="9525" cap="flat" cmpd="sng">
            <a:solidFill>
              <a:srgbClr val="6A6A6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Google Shape;105;p14">
            <a:extLst>
              <a:ext uri="{FF2B5EF4-FFF2-40B4-BE49-F238E27FC236}">
                <a16:creationId xmlns:a16="http://schemas.microsoft.com/office/drawing/2014/main" id="{A7AD3947-8BD8-A805-DAD6-A313B4927855}"/>
              </a:ext>
            </a:extLst>
          </p:cNvPr>
          <p:cNvSpPr txBox="1"/>
          <p:nvPr/>
        </p:nvSpPr>
        <p:spPr>
          <a:xfrm>
            <a:off x="4746520" y="1892977"/>
            <a:ext cx="2272560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Relacional (Tabelas)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40" name="Google Shape;105;p14">
            <a:extLst>
              <a:ext uri="{FF2B5EF4-FFF2-40B4-BE49-F238E27FC236}">
                <a16:creationId xmlns:a16="http://schemas.microsoft.com/office/drawing/2014/main" id="{37CCD0E4-19B0-2154-8D5B-57DC5BA5A315}"/>
              </a:ext>
            </a:extLst>
          </p:cNvPr>
          <p:cNvSpPr txBox="1"/>
          <p:nvPr/>
        </p:nvSpPr>
        <p:spPr>
          <a:xfrm>
            <a:off x="4749149" y="2217438"/>
            <a:ext cx="2272560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Vertical e horizontal, requer planejamento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41" name="Google Shape;105;p14">
            <a:extLst>
              <a:ext uri="{FF2B5EF4-FFF2-40B4-BE49-F238E27FC236}">
                <a16:creationId xmlns:a16="http://schemas.microsoft.com/office/drawing/2014/main" id="{3CAC804A-342B-006B-E660-D02572C953D8}"/>
              </a:ext>
            </a:extLst>
          </p:cNvPr>
          <p:cNvSpPr txBox="1"/>
          <p:nvPr/>
        </p:nvSpPr>
        <p:spPr>
          <a:xfrm>
            <a:off x="4746519" y="2552321"/>
            <a:ext cx="3037935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Boa performance para consultas complexas e transações ACID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42" name="Google Shape;105;p14">
            <a:extLst>
              <a:ext uri="{FF2B5EF4-FFF2-40B4-BE49-F238E27FC236}">
                <a16:creationId xmlns:a16="http://schemas.microsoft.com/office/drawing/2014/main" id="{0B8A3AC7-6829-1BBD-9FEB-7360CFA0C18D}"/>
              </a:ext>
            </a:extLst>
          </p:cNvPr>
          <p:cNvSpPr txBox="1"/>
          <p:nvPr/>
        </p:nvSpPr>
        <p:spPr>
          <a:xfrm>
            <a:off x="4746519" y="2900755"/>
            <a:ext cx="3483081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Pagamento por uso ou reserva, ideal para cargas de trabalho previsíveis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43" name="Google Shape;105;p14">
            <a:extLst>
              <a:ext uri="{FF2B5EF4-FFF2-40B4-BE49-F238E27FC236}">
                <a16:creationId xmlns:a16="http://schemas.microsoft.com/office/drawing/2014/main" id="{08DC8450-CA4C-D631-E1DB-621B365AE8AD}"/>
              </a:ext>
            </a:extLst>
          </p:cNvPr>
          <p:cNvSpPr txBox="1"/>
          <p:nvPr/>
        </p:nvSpPr>
        <p:spPr>
          <a:xfrm>
            <a:off x="4746519" y="3253194"/>
            <a:ext cx="3037935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Mais controle, ferramentas tradicionais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44" name="Google Shape;105;p14">
            <a:extLst>
              <a:ext uri="{FF2B5EF4-FFF2-40B4-BE49-F238E27FC236}">
                <a16:creationId xmlns:a16="http://schemas.microsoft.com/office/drawing/2014/main" id="{BD1C0A34-4B4B-84B3-C373-B2ED9EFD9615}"/>
              </a:ext>
            </a:extLst>
          </p:cNvPr>
          <p:cNvSpPr txBox="1"/>
          <p:nvPr/>
        </p:nvSpPr>
        <p:spPr>
          <a:xfrm>
            <a:off x="4746518" y="3605633"/>
            <a:ext cx="3037935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Sistemas transacionais, OLTP, data </a:t>
            </a:r>
            <a:r>
              <a:rPr lang="pt-PT" sz="600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warehousing</a:t>
            </a:r>
            <a:r>
              <a:rPr lang="pt-PT" sz="6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, BI</a:t>
            </a:r>
            <a:endParaRPr sz="6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53" name="Google Shape;104;p14">
            <a:extLst>
              <a:ext uri="{FF2B5EF4-FFF2-40B4-BE49-F238E27FC236}">
                <a16:creationId xmlns:a16="http://schemas.microsoft.com/office/drawing/2014/main" id="{53981971-7D58-69B6-8466-939E618FD3BC}"/>
              </a:ext>
            </a:extLst>
          </p:cNvPr>
          <p:cNvSpPr txBox="1"/>
          <p:nvPr/>
        </p:nvSpPr>
        <p:spPr>
          <a:xfrm>
            <a:off x="4718512" y="1529254"/>
            <a:ext cx="3224533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Azure SQL</a:t>
            </a:r>
            <a:endParaRPr sz="800" dirty="0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</p:spTree>
    <p:extLst>
      <p:ext uri="{BB962C8B-B14F-4D97-AF65-F5344CB8AC3E}">
        <p14:creationId xmlns:p14="http://schemas.microsoft.com/office/powerpoint/2010/main" val="387536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7" grpId="0"/>
      <p:bldP spid="28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  <p:bldP spid="40" grpId="0"/>
      <p:bldP spid="41" grpId="0"/>
      <p:bldP spid="42" grpId="0"/>
      <p:bldP spid="43" grpId="0"/>
      <p:bldP spid="44" grpId="0"/>
      <p:bldP spid="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3B6097CB-19BD-E212-8B87-FBB25805D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50D11E14-C16B-CD53-76E6-99E25C78557B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Critérios de decisão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3A5DF709-CD0D-64F3-B464-9278A29999D0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10 | Comparação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e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94E222-FD45-256F-84F5-0B096442CAB0}"/>
              </a:ext>
            </a:extLst>
          </p:cNvPr>
          <p:cNvSpPr txBox="1"/>
          <p:nvPr/>
        </p:nvSpPr>
        <p:spPr>
          <a:xfrm>
            <a:off x="391435" y="1248311"/>
            <a:ext cx="83611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Considere sempre os seguintes critérios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Natureza dos dados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Padrões de acesso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Escalabilidade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Performance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Custo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Gerenciamento</a:t>
            </a:r>
          </a:p>
        </p:txBody>
      </p:sp>
    </p:spTree>
    <p:extLst>
      <p:ext uri="{BB962C8B-B14F-4D97-AF65-F5344CB8AC3E}">
        <p14:creationId xmlns:p14="http://schemas.microsoft.com/office/powerpoint/2010/main" val="22271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651512" y="1833101"/>
            <a:ext cx="48105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Características e diferenças entre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Azure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 SQL e Cosmos DB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Por que comparar?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Quando usar cada uma deles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Cenários práticos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Critérios para decisão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Recapitulação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10 | Comparação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 e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  <a:endParaRPr lang="pt-PT" sz="9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4" name="Picture 2" descr="Cosmos DB - Wikipedia">
            <a:extLst>
              <a:ext uri="{FF2B5EF4-FFF2-40B4-BE49-F238E27FC236}">
                <a16:creationId xmlns:a16="http://schemas.microsoft.com/office/drawing/2014/main" id="{C70463C6-D484-BF72-F062-838C1D504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904" y="1040780"/>
            <a:ext cx="2693547" cy="188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New Azure SQL Database free offer - Azure SQL Devs' Corner">
            <a:extLst>
              <a:ext uri="{FF2B5EF4-FFF2-40B4-BE49-F238E27FC236}">
                <a16:creationId xmlns:a16="http://schemas.microsoft.com/office/drawing/2014/main" id="{811E339E-9336-EAE4-80A6-2D0243A97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483005"/>
            <a:ext cx="3009342" cy="188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594</Words>
  <Application>Microsoft Office PowerPoint</Application>
  <PresentationFormat>On-screen Show (16:9)</PresentationFormat>
  <Paragraphs>116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Fira Code</vt:lpstr>
      <vt:lpstr>Arial</vt:lpstr>
      <vt:lpstr>Fira Code Light</vt:lpstr>
      <vt:lpstr>Ubuntu Light</vt:lpstr>
      <vt:lpstr>Ubuntu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316</cp:revision>
  <dcterms:modified xsi:type="dcterms:W3CDTF">2025-01-02T19:48:30Z</dcterms:modified>
</cp:coreProperties>
</file>