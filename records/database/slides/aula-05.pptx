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8" r:id="rId1"/>
  </p:sldMasterIdLst>
  <p:notesMasterIdLst>
    <p:notesMasterId r:id="rId10"/>
  </p:notesMasterIdLst>
  <p:sldIdLst>
    <p:sldId id="256" r:id="rId2"/>
    <p:sldId id="262" r:id="rId3"/>
    <p:sldId id="257" r:id="rId4"/>
    <p:sldId id="269" r:id="rId5"/>
    <p:sldId id="270" r:id="rId6"/>
    <p:sldId id="267" r:id="rId7"/>
    <p:sldId id="268" r:id="rId8"/>
    <p:sldId id="261" r:id="rId9"/>
  </p:sldIdLst>
  <p:sldSz cx="9144000" cy="5143500" type="screen16x9"/>
  <p:notesSz cx="6858000" cy="9144000"/>
  <p:embeddedFontLst>
    <p:embeddedFont>
      <p:font typeface="Fira Code" panose="020B0809050000020004" pitchFamily="49" charset="0"/>
      <p:regular r:id="rId11"/>
      <p:bold r:id="rId12"/>
    </p:embeddedFont>
    <p:embeddedFont>
      <p:font typeface="Fira Code Light" panose="020B0809050000020004" pitchFamily="49" charset="0"/>
      <p:regular r:id="rId13"/>
      <p:bold r:id="rId14"/>
    </p:embeddedFont>
    <p:embeddedFont>
      <p:font typeface="Ubuntu" panose="020B0504030602030204" pitchFamily="34" charset="0"/>
      <p:regular r:id="rId15"/>
      <p:bold r:id="rId16"/>
      <p:italic r:id="rId17"/>
      <p:boldItalic r:id="rId18"/>
    </p:embeddedFont>
    <p:embeddedFont>
      <p:font typeface="Ubuntu Light" panose="020B0304030602030204" pitchFamily="34" charset="0"/>
      <p:regular r:id="rId19"/>
      <p:italic r:id="rId20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908F99F-44A7-0F8B-9A97-88BECF28B341}" v="1087" dt="2024-12-09T16:07:07.585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29" d="100"/>
          <a:sy n="129" d="100"/>
        </p:scale>
        <p:origin x="1104" y="330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3.fntdata"/><Relationship Id="rId18" Type="http://schemas.openxmlformats.org/officeDocument/2006/relationships/font" Target="fonts/font8.fntdata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font" Target="fonts/font2.fntdata"/><Relationship Id="rId17" Type="http://schemas.openxmlformats.org/officeDocument/2006/relationships/font" Target="fonts/font7.fntdata"/><Relationship Id="rId25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font" Target="fonts/font6.fntdata"/><Relationship Id="rId20" Type="http://schemas.openxmlformats.org/officeDocument/2006/relationships/font" Target="fonts/font10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1.fntdata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font" Target="fonts/font5.fntdata"/><Relationship Id="rId23" Type="http://schemas.openxmlformats.org/officeDocument/2006/relationships/theme" Target="theme/theme1.xml"/><Relationship Id="rId10" Type="http://schemas.openxmlformats.org/officeDocument/2006/relationships/notesMaster" Target="notesMasters/notesMaster1.xml"/><Relationship Id="rId19" Type="http://schemas.openxmlformats.org/officeDocument/2006/relationships/font" Target="fonts/font9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4.fntdata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4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g137e3f2783e_0_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" name="Google Shape;40;g137e3f2783e_0_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g1202c3e4d11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" name="Google Shape;48;g1202c3e4d11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">
          <a:extLst>
            <a:ext uri="{FF2B5EF4-FFF2-40B4-BE49-F238E27FC236}">
              <a16:creationId xmlns:a16="http://schemas.microsoft.com/office/drawing/2014/main" id="{C5D9B170-1F10-ABF6-A217-343C7CDCE8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g1202c3e4d11_0_0:notes">
            <a:extLst>
              <a:ext uri="{FF2B5EF4-FFF2-40B4-BE49-F238E27FC236}">
                <a16:creationId xmlns:a16="http://schemas.microsoft.com/office/drawing/2014/main" id="{24F0E4B2-18EF-00E9-1636-EB042D87DBC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" name="Google Shape;48;g1202c3e4d11_0_0:notes">
            <a:extLst>
              <a:ext uri="{FF2B5EF4-FFF2-40B4-BE49-F238E27FC236}">
                <a16:creationId xmlns:a16="http://schemas.microsoft.com/office/drawing/2014/main" id="{B35D4077-4969-AAB3-22BE-34F9F147205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24837143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">
          <a:extLst>
            <a:ext uri="{FF2B5EF4-FFF2-40B4-BE49-F238E27FC236}">
              <a16:creationId xmlns:a16="http://schemas.microsoft.com/office/drawing/2014/main" id="{F41BCE98-8BFD-923C-DA87-D0E07C2D87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g1202c3e4d11_0_0:notes">
            <a:extLst>
              <a:ext uri="{FF2B5EF4-FFF2-40B4-BE49-F238E27FC236}">
                <a16:creationId xmlns:a16="http://schemas.microsoft.com/office/drawing/2014/main" id="{E47DA5CC-5B27-F6DD-F34F-41E319CDA01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" name="Google Shape;48;g1202c3e4d11_0_0:notes">
            <a:extLst>
              <a:ext uri="{FF2B5EF4-FFF2-40B4-BE49-F238E27FC236}">
                <a16:creationId xmlns:a16="http://schemas.microsoft.com/office/drawing/2014/main" id="{30F57833-BE6A-D3D9-4212-340D0D35B46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84323012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90" name="Google Shape;190;p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pt-PT"/>
              <a:t>Os bancos de dados na nuvem são particularmente úteis em cenários de e-commerce e aplicativos móveis. Eles permitem que as empresas armazenem dados de produtos, clientes e usuários de forma eficiente e segura, o que é essencial para o sucesso nesses mercados altamente competitivos.</a:t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Google Shape;315;g137e3f2783e_0_15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6" name="Google Shape;316;g137e3f2783e_0_15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lide capa" type="title">
  <p:cSld name="TITLE">
    <p:spTree>
      <p:nvGrpSpPr>
        <p:cNvPr id="1" name="Shape 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oogle Shape;8;p2"/>
          <p:cNvPicPr preferRelativeResize="0"/>
          <p:nvPr/>
        </p:nvPicPr>
        <p:blipFill rotWithShape="1">
          <a:blip r:embed="rId2">
            <a:alphaModFix/>
          </a:blip>
          <a:srcRect t="10223" b="10215"/>
          <a:stretch/>
        </p:blipFill>
        <p:spPr>
          <a:xfrm>
            <a:off x="0" y="0"/>
            <a:ext cx="9144003" cy="5143499"/>
          </a:xfrm>
          <a:prstGeom prst="rect">
            <a:avLst/>
          </a:prstGeom>
          <a:noFill/>
          <a:ln>
            <a:noFill/>
          </a:ln>
        </p:spPr>
      </p:pic>
      <p:pic>
        <p:nvPicPr>
          <p:cNvPr id="9" name="Google Shape;9;p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10000" y="780750"/>
            <a:ext cx="2012820" cy="1244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ema | capitulo" type="tx">
  <p:cSld name="TITLE_AND_BODY">
    <p:spTree>
      <p:nvGrpSpPr>
        <p:cNvPr id="1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Google Shape;11;p3"/>
          <p:cNvPicPr preferRelativeResize="0"/>
          <p:nvPr/>
        </p:nvPicPr>
        <p:blipFill rotWithShape="1">
          <a:blip r:embed="rId2">
            <a:alphaModFix/>
          </a:blip>
          <a:srcRect l="1342" t="11272" r="1342" b="11256"/>
          <a:stretch/>
        </p:blipFill>
        <p:spPr>
          <a:xfrm>
            <a:off x="-129100" y="-72625"/>
            <a:ext cx="9402202" cy="52887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ada " type="twoColTx">
  <p:cSld name="TITLE_AND_TWO_COLUMNS">
    <p:spTree>
      <p:nvGrpSpPr>
        <p:cNvPr id="1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Google Shape;13;p4"/>
          <p:cNvPicPr preferRelativeResize="0"/>
          <p:nvPr/>
        </p:nvPicPr>
        <p:blipFill rotWithShape="1">
          <a:blip r:embed="rId2">
            <a:alphaModFix/>
          </a:blip>
          <a:srcRect t="11380" b="-11379"/>
          <a:stretch/>
        </p:blipFill>
        <p:spPr>
          <a:xfrm>
            <a:off x="0" y="-1"/>
            <a:ext cx="9144003" cy="5802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finalização" type="titleOnly">
  <p:cSld name="TITLE_ONLY">
    <p:spTree>
      <p:nvGrpSpPr>
        <p:cNvPr id="1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Google Shape;15;p5"/>
          <p:cNvPicPr preferRelativeResize="0"/>
          <p:nvPr/>
        </p:nvPicPr>
        <p:blipFill rotWithShape="1">
          <a:blip r:embed="rId2">
            <a:alphaModFix/>
          </a:blip>
          <a:srcRect t="10190" b="10198"/>
          <a:stretch/>
        </p:blipFill>
        <p:spPr>
          <a:xfrm>
            <a:off x="0" y="1"/>
            <a:ext cx="9144002" cy="51435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6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Char char="●"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Char char="○"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Char char="■"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Char char="●"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Char char="○"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Char char="■"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Char char="●"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Char char="○"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Char char="■"/>
              <a:defRPr sz="2400"/>
            </a:lvl9pPr>
          </a:lstStyle>
          <a:p>
            <a:endParaRPr/>
          </a:p>
        </p:txBody>
      </p:sp>
      <p:sp>
        <p:nvSpPr>
          <p:cNvPr id="18" name="Google Shape;18;p6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19" name="Google Shape;19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7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Char char="●"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Char char="○"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Char char="■"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Char char="●"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Char char="○"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Char char="■"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Char char="●"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Char char="○"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Char char="■"/>
              <a:defRPr sz="4800"/>
            </a:lvl9pPr>
          </a:lstStyle>
          <a:p>
            <a:endParaRPr/>
          </a:p>
        </p:txBody>
      </p:sp>
      <p:sp>
        <p:nvSpPr>
          <p:cNvPr id="22" name="Google Shape;22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8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" name="Google Shape;25;p8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Char char="●"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Char char="○"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Char char="■"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Char char="●"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Char char="○"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Char char="■"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Char char="●"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Char char="○"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Char char="■"/>
              <a:defRPr sz="4200"/>
            </a:lvl9pPr>
          </a:lstStyle>
          <a:p>
            <a:endParaRPr/>
          </a:p>
        </p:txBody>
      </p:sp>
      <p:sp>
        <p:nvSpPr>
          <p:cNvPr id="26" name="Google Shape;26;p8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27" name="Google Shape;27;p8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28" name="Google Shape;28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9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</a:lstStyle>
          <a:p>
            <a:endParaRPr/>
          </a:p>
        </p:txBody>
      </p:sp>
      <p:sp>
        <p:nvSpPr>
          <p:cNvPr id="31" name="Google Shape;31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10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Char char="●"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Char char="○"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Char char="■"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Char char="●"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Char char="○"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Char char="■"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Char char="●"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Char char="○"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Char char="■"/>
              <a:defRPr sz="12000"/>
            </a:lvl9pPr>
          </a:lstStyle>
          <a:p>
            <a:r>
              <a:t>xx%</a:t>
            </a:r>
          </a:p>
        </p:txBody>
      </p:sp>
      <p:sp>
        <p:nvSpPr>
          <p:cNvPr id="34" name="Google Shape;34;p10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35" name="Google Shape;35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2"/>
          <p:cNvSpPr txBox="1"/>
          <p:nvPr/>
        </p:nvSpPr>
        <p:spPr>
          <a:xfrm>
            <a:off x="4572000" y="3731617"/>
            <a:ext cx="4650254" cy="4154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r>
              <a:rPr lang="pt-BR" sz="1500" dirty="0">
                <a:solidFill>
                  <a:schemeClr val="lt1"/>
                </a:solidFill>
                <a:latin typeface="Ubuntu"/>
                <a:ea typeface="Ubuntu"/>
                <a:cs typeface="Ubuntu"/>
                <a:sym typeface="Ubuntu"/>
              </a:rPr>
              <a:t>Aula 05 | </a:t>
            </a:r>
            <a:r>
              <a:rPr lang="pt-PT" sz="1500" dirty="0" err="1">
                <a:solidFill>
                  <a:schemeClr val="lt1"/>
                </a:solidFill>
                <a:ea typeface="Ubuntu"/>
                <a:sym typeface="Ubuntu"/>
              </a:rPr>
              <a:t>Azure</a:t>
            </a:r>
            <a:r>
              <a:rPr lang="pt-PT" sz="1500" dirty="0">
                <a:solidFill>
                  <a:schemeClr val="lt1"/>
                </a:solidFill>
                <a:ea typeface="Ubuntu"/>
                <a:sym typeface="Ubuntu"/>
              </a:rPr>
              <a:t> Cosmos DB usando linguagem SQL</a:t>
            </a:r>
            <a:endParaRPr lang="pt-BR" dirty="0">
              <a:solidFill>
                <a:schemeClr val="lt1"/>
              </a:solidFill>
            </a:endParaRPr>
          </a:p>
        </p:txBody>
      </p:sp>
      <p:grpSp>
        <p:nvGrpSpPr>
          <p:cNvPr id="43" name="Google Shape;43;p12"/>
          <p:cNvGrpSpPr/>
          <p:nvPr/>
        </p:nvGrpSpPr>
        <p:grpSpPr>
          <a:xfrm>
            <a:off x="4197980" y="4066086"/>
            <a:ext cx="4942500" cy="0"/>
            <a:chOff x="4251700" y="5140900"/>
            <a:chExt cx="4942500" cy="0"/>
          </a:xfrm>
        </p:grpSpPr>
        <p:cxnSp>
          <p:nvCxnSpPr>
            <p:cNvPr id="44" name="Google Shape;44;p12"/>
            <p:cNvCxnSpPr/>
            <p:nvPr/>
          </p:nvCxnSpPr>
          <p:spPr>
            <a:xfrm>
              <a:off x="4251700" y="5140900"/>
              <a:ext cx="3690600" cy="0"/>
            </a:xfrm>
            <a:prstGeom prst="straightConnector1">
              <a:avLst/>
            </a:prstGeom>
            <a:noFill/>
            <a:ln w="19050" cap="flat" cmpd="sng">
              <a:solidFill>
                <a:srgbClr val="A6F75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45" name="Google Shape;45;p12"/>
            <p:cNvCxnSpPr/>
            <p:nvPr/>
          </p:nvCxnSpPr>
          <p:spPr>
            <a:xfrm>
              <a:off x="7942300" y="5140900"/>
              <a:ext cx="1251900" cy="0"/>
            </a:xfrm>
            <a:prstGeom prst="straightConnector1">
              <a:avLst/>
            </a:prstGeom>
            <a:noFill/>
            <a:ln w="19050" cap="flat" cmpd="sng">
              <a:solidFill>
                <a:srgbClr val="2371FF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CaixaDeTexto 11">
            <a:extLst>
              <a:ext uri="{FF2B5EF4-FFF2-40B4-BE49-F238E27FC236}">
                <a16:creationId xmlns:a16="http://schemas.microsoft.com/office/drawing/2014/main" id="{41E96825-65C5-6CCC-642F-5CEC20F1091B}"/>
              </a:ext>
            </a:extLst>
          </p:cNvPr>
          <p:cNvSpPr txBox="1"/>
          <p:nvPr/>
        </p:nvSpPr>
        <p:spPr>
          <a:xfrm>
            <a:off x="243551" y="191491"/>
            <a:ext cx="4180416" cy="30777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pt-PT" sz="1400" b="0" i="0" u="none" strike="noStrike" cap="none" dirty="0">
                <a:solidFill>
                  <a:srgbClr val="A6F750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  <a:sym typeface="Ubuntu Light"/>
              </a:rPr>
              <a:t>O que vamos aprender?</a:t>
            </a:r>
            <a:endParaRPr lang="pt-PT" dirty="0">
              <a:latin typeface="Fira Code" panose="020B0809050000020004" pitchFamily="49" charset="0"/>
              <a:ea typeface="Fira Code" panose="020B0809050000020004" pitchFamily="49" charset="0"/>
              <a:cs typeface="Fira Code" panose="020B0809050000020004" pitchFamily="49" charset="0"/>
            </a:endParaRPr>
          </a:p>
        </p:txBody>
      </p:sp>
      <p:grpSp>
        <p:nvGrpSpPr>
          <p:cNvPr id="17" name="Google Shape;74;p14">
            <a:extLst>
              <a:ext uri="{FF2B5EF4-FFF2-40B4-BE49-F238E27FC236}">
                <a16:creationId xmlns:a16="http://schemas.microsoft.com/office/drawing/2014/main" id="{38EB1F19-5A96-7625-D2A5-80FA81A253A8}"/>
              </a:ext>
            </a:extLst>
          </p:cNvPr>
          <p:cNvGrpSpPr/>
          <p:nvPr/>
        </p:nvGrpSpPr>
        <p:grpSpPr>
          <a:xfrm>
            <a:off x="1137371" y="2430725"/>
            <a:ext cx="457200" cy="457200"/>
            <a:chOff x="1249800" y="282500"/>
            <a:chExt cx="4839225" cy="4809625"/>
          </a:xfrm>
        </p:grpSpPr>
        <p:sp>
          <p:nvSpPr>
            <p:cNvPr id="14" name="Google Shape;75;p14">
              <a:extLst>
                <a:ext uri="{FF2B5EF4-FFF2-40B4-BE49-F238E27FC236}">
                  <a16:creationId xmlns:a16="http://schemas.microsoft.com/office/drawing/2014/main" id="{A9B46A0D-A028-E123-1636-B9CA86E2675E}"/>
                </a:ext>
              </a:extLst>
            </p:cNvPr>
            <p:cNvSpPr/>
            <p:nvPr/>
          </p:nvSpPr>
          <p:spPr>
            <a:xfrm>
              <a:off x="1249800" y="282500"/>
              <a:ext cx="4809625" cy="4809625"/>
            </a:xfrm>
            <a:custGeom>
              <a:avLst/>
              <a:gdLst/>
              <a:ahLst/>
              <a:cxnLst/>
              <a:rect l="l" t="t" r="r" b="b"/>
              <a:pathLst>
                <a:path w="192385" h="192385" extrusionOk="0">
                  <a:moveTo>
                    <a:pt x="96193" y="11840"/>
                  </a:moveTo>
                  <a:cubicBezTo>
                    <a:pt x="142661" y="11840"/>
                    <a:pt x="180249" y="49725"/>
                    <a:pt x="180249" y="96193"/>
                  </a:cubicBezTo>
                  <a:cubicBezTo>
                    <a:pt x="180249" y="142661"/>
                    <a:pt x="142661" y="180249"/>
                    <a:pt x="96193" y="180249"/>
                  </a:cubicBezTo>
                  <a:cubicBezTo>
                    <a:pt x="49725" y="180249"/>
                    <a:pt x="12136" y="142661"/>
                    <a:pt x="12136" y="96193"/>
                  </a:cubicBezTo>
                  <a:cubicBezTo>
                    <a:pt x="12136" y="49725"/>
                    <a:pt x="49725" y="11840"/>
                    <a:pt x="96193" y="11840"/>
                  </a:cubicBezTo>
                  <a:close/>
                  <a:moveTo>
                    <a:pt x="96193" y="1"/>
                  </a:moveTo>
                  <a:cubicBezTo>
                    <a:pt x="43213" y="1"/>
                    <a:pt x="1" y="42917"/>
                    <a:pt x="1" y="96193"/>
                  </a:cubicBezTo>
                  <a:cubicBezTo>
                    <a:pt x="1" y="149172"/>
                    <a:pt x="43213" y="192384"/>
                    <a:pt x="96193" y="192384"/>
                  </a:cubicBezTo>
                  <a:cubicBezTo>
                    <a:pt x="149468" y="192384"/>
                    <a:pt x="192384" y="149172"/>
                    <a:pt x="192384" y="96193"/>
                  </a:cubicBezTo>
                  <a:cubicBezTo>
                    <a:pt x="192384" y="42917"/>
                    <a:pt x="149468" y="1"/>
                    <a:pt x="96193" y="1"/>
                  </a:cubicBezTo>
                  <a:close/>
                </a:path>
              </a:pathLst>
            </a:custGeom>
            <a:solidFill>
              <a:srgbClr val="282C3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endParaRPr>
            </a:p>
          </p:txBody>
        </p:sp>
        <p:sp>
          <p:nvSpPr>
            <p:cNvPr id="15" name="Google Shape;76;p14">
              <a:extLst>
                <a:ext uri="{FF2B5EF4-FFF2-40B4-BE49-F238E27FC236}">
                  <a16:creationId xmlns:a16="http://schemas.microsoft.com/office/drawing/2014/main" id="{0516AAFA-09B7-04AF-95F1-B08CFB6AA9B6}"/>
                </a:ext>
              </a:extLst>
            </p:cNvPr>
            <p:cNvSpPr/>
            <p:nvPr/>
          </p:nvSpPr>
          <p:spPr>
            <a:xfrm>
              <a:off x="2241325" y="282500"/>
              <a:ext cx="3847700" cy="4809625"/>
            </a:xfrm>
            <a:custGeom>
              <a:avLst/>
              <a:gdLst/>
              <a:ahLst/>
              <a:cxnLst/>
              <a:rect l="l" t="t" r="r" b="b"/>
              <a:pathLst>
                <a:path w="153908" h="192385" extrusionOk="0">
                  <a:moveTo>
                    <a:pt x="56532" y="1"/>
                  </a:moveTo>
                  <a:lnTo>
                    <a:pt x="56532" y="11840"/>
                  </a:lnTo>
                  <a:cubicBezTo>
                    <a:pt x="69850" y="11840"/>
                    <a:pt x="82873" y="15096"/>
                    <a:pt x="94712" y="21015"/>
                  </a:cubicBezTo>
                  <a:cubicBezTo>
                    <a:pt x="106551" y="27231"/>
                    <a:pt x="116910" y="35814"/>
                    <a:pt x="124606" y="46765"/>
                  </a:cubicBezTo>
                  <a:cubicBezTo>
                    <a:pt x="132597" y="57420"/>
                    <a:pt x="137629" y="69851"/>
                    <a:pt x="139700" y="82874"/>
                  </a:cubicBezTo>
                  <a:cubicBezTo>
                    <a:pt x="141772" y="96193"/>
                    <a:pt x="140588" y="109511"/>
                    <a:pt x="136741" y="122238"/>
                  </a:cubicBezTo>
                  <a:cubicBezTo>
                    <a:pt x="132597" y="134669"/>
                    <a:pt x="125494" y="146212"/>
                    <a:pt x="116022" y="155683"/>
                  </a:cubicBezTo>
                  <a:cubicBezTo>
                    <a:pt x="106551" y="165155"/>
                    <a:pt x="95304" y="171962"/>
                    <a:pt x="82577" y="176106"/>
                  </a:cubicBezTo>
                  <a:cubicBezTo>
                    <a:pt x="73960" y="178911"/>
                    <a:pt x="65072" y="180360"/>
                    <a:pt x="56187" y="180360"/>
                  </a:cubicBezTo>
                  <a:cubicBezTo>
                    <a:pt x="51950" y="180360"/>
                    <a:pt x="47714" y="180030"/>
                    <a:pt x="43509" y="179361"/>
                  </a:cubicBezTo>
                  <a:cubicBezTo>
                    <a:pt x="30190" y="177290"/>
                    <a:pt x="17759" y="171962"/>
                    <a:pt x="7104" y="164267"/>
                  </a:cubicBezTo>
                  <a:lnTo>
                    <a:pt x="0" y="174034"/>
                  </a:lnTo>
                  <a:cubicBezTo>
                    <a:pt x="12431" y="182913"/>
                    <a:pt x="26638" y="188833"/>
                    <a:pt x="41437" y="191200"/>
                  </a:cubicBezTo>
                  <a:cubicBezTo>
                    <a:pt x="46468" y="191990"/>
                    <a:pt x="51533" y="192384"/>
                    <a:pt x="56586" y="192384"/>
                  </a:cubicBezTo>
                  <a:cubicBezTo>
                    <a:pt x="66693" y="192384"/>
                    <a:pt x="76756" y="190806"/>
                    <a:pt x="86425" y="187649"/>
                  </a:cubicBezTo>
                  <a:cubicBezTo>
                    <a:pt x="100632" y="182913"/>
                    <a:pt x="113951" y="174922"/>
                    <a:pt x="124606" y="164267"/>
                  </a:cubicBezTo>
                  <a:cubicBezTo>
                    <a:pt x="135261" y="153316"/>
                    <a:pt x="143252" y="140293"/>
                    <a:pt x="147988" y="125790"/>
                  </a:cubicBezTo>
                  <a:cubicBezTo>
                    <a:pt x="152723" y="111287"/>
                    <a:pt x="153907" y="96193"/>
                    <a:pt x="151539" y="81098"/>
                  </a:cubicBezTo>
                  <a:cubicBezTo>
                    <a:pt x="149172" y="66003"/>
                    <a:pt x="143252" y="51796"/>
                    <a:pt x="134373" y="39661"/>
                  </a:cubicBezTo>
                  <a:cubicBezTo>
                    <a:pt x="125494" y="27231"/>
                    <a:pt x="113655" y="17167"/>
                    <a:pt x="100336" y="10360"/>
                  </a:cubicBezTo>
                  <a:cubicBezTo>
                    <a:pt x="86721" y="3553"/>
                    <a:pt x="71626" y="1"/>
                    <a:pt x="56532" y="1"/>
                  </a:cubicBezTo>
                  <a:close/>
                </a:path>
              </a:pathLst>
            </a:custGeom>
            <a:solidFill>
              <a:srgbClr val="A6F75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endParaRPr>
            </a:p>
          </p:txBody>
        </p:sp>
        <p:sp>
          <p:nvSpPr>
            <p:cNvPr id="16" name="Google Shape;77;p14">
              <a:extLst>
                <a:ext uri="{FF2B5EF4-FFF2-40B4-BE49-F238E27FC236}">
                  <a16:creationId xmlns:a16="http://schemas.microsoft.com/office/drawing/2014/main" id="{2DD2EC3A-3CC3-F56F-1309-A5CA03A8934A}"/>
                </a:ext>
              </a:extLst>
            </p:cNvPr>
            <p:cNvSpPr/>
            <p:nvPr/>
          </p:nvSpPr>
          <p:spPr>
            <a:xfrm>
              <a:off x="2966450" y="1910375"/>
              <a:ext cx="1331925" cy="1605675"/>
            </a:xfrm>
            <a:custGeom>
              <a:avLst/>
              <a:gdLst/>
              <a:ahLst/>
              <a:cxnLst/>
              <a:rect l="l" t="t" r="r" b="b"/>
              <a:pathLst>
                <a:path w="53277" h="64227" extrusionOk="0">
                  <a:moveTo>
                    <a:pt x="13320" y="0"/>
                  </a:moveTo>
                  <a:lnTo>
                    <a:pt x="12432" y="4144"/>
                  </a:lnTo>
                  <a:lnTo>
                    <a:pt x="46173" y="4144"/>
                  </a:lnTo>
                  <a:lnTo>
                    <a:pt x="22791" y="28118"/>
                  </a:lnTo>
                  <a:lnTo>
                    <a:pt x="21903" y="31670"/>
                  </a:lnTo>
                  <a:lnTo>
                    <a:pt x="25455" y="31670"/>
                  </a:lnTo>
                  <a:cubicBezTo>
                    <a:pt x="36702" y="31670"/>
                    <a:pt x="42029" y="35813"/>
                    <a:pt x="42029" y="43804"/>
                  </a:cubicBezTo>
                  <a:cubicBezTo>
                    <a:pt x="42029" y="53572"/>
                    <a:pt x="34334" y="60083"/>
                    <a:pt x="21607" y="60083"/>
                  </a:cubicBezTo>
                  <a:cubicBezTo>
                    <a:pt x="12728" y="60083"/>
                    <a:pt x="5920" y="56531"/>
                    <a:pt x="2665" y="52092"/>
                  </a:cubicBezTo>
                  <a:lnTo>
                    <a:pt x="1" y="55643"/>
                  </a:lnTo>
                  <a:cubicBezTo>
                    <a:pt x="3553" y="60675"/>
                    <a:pt x="11544" y="64227"/>
                    <a:pt x="21607" y="64227"/>
                  </a:cubicBezTo>
                  <a:cubicBezTo>
                    <a:pt x="36702" y="64227"/>
                    <a:pt x="46765" y="55939"/>
                    <a:pt x="46765" y="43804"/>
                  </a:cubicBezTo>
                  <a:cubicBezTo>
                    <a:pt x="46765" y="34037"/>
                    <a:pt x="40549" y="28414"/>
                    <a:pt x="28710" y="27822"/>
                  </a:cubicBezTo>
                  <a:lnTo>
                    <a:pt x="52684" y="3256"/>
                  </a:lnTo>
                  <a:lnTo>
                    <a:pt x="53276" y="0"/>
                  </a:lnTo>
                  <a:close/>
                </a:path>
              </a:pathLst>
            </a:custGeom>
            <a:solidFill>
              <a:srgbClr val="A6F75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endParaRPr>
            </a:p>
          </p:txBody>
        </p:sp>
      </p:grpSp>
      <p:grpSp>
        <p:nvGrpSpPr>
          <p:cNvPr id="22" name="Google Shape;78;p14">
            <a:extLst>
              <a:ext uri="{FF2B5EF4-FFF2-40B4-BE49-F238E27FC236}">
                <a16:creationId xmlns:a16="http://schemas.microsoft.com/office/drawing/2014/main" id="{8103873E-9B9F-4052-1975-D61AA785F4AB}"/>
              </a:ext>
            </a:extLst>
          </p:cNvPr>
          <p:cNvGrpSpPr/>
          <p:nvPr/>
        </p:nvGrpSpPr>
        <p:grpSpPr>
          <a:xfrm>
            <a:off x="1158144" y="3090601"/>
            <a:ext cx="457200" cy="457200"/>
            <a:chOff x="1212800" y="289900"/>
            <a:chExt cx="4883625" cy="4809625"/>
          </a:xfrm>
        </p:grpSpPr>
        <p:sp>
          <p:nvSpPr>
            <p:cNvPr id="19" name="Google Shape;79;p14">
              <a:extLst>
                <a:ext uri="{FF2B5EF4-FFF2-40B4-BE49-F238E27FC236}">
                  <a16:creationId xmlns:a16="http://schemas.microsoft.com/office/drawing/2014/main" id="{8543AE75-53D4-2C5E-66C7-E5FFEAAAF0DE}"/>
                </a:ext>
              </a:extLst>
            </p:cNvPr>
            <p:cNvSpPr/>
            <p:nvPr/>
          </p:nvSpPr>
          <p:spPr>
            <a:xfrm>
              <a:off x="1249800" y="289900"/>
              <a:ext cx="4809625" cy="4809625"/>
            </a:xfrm>
            <a:custGeom>
              <a:avLst/>
              <a:gdLst/>
              <a:ahLst/>
              <a:cxnLst/>
              <a:rect l="l" t="t" r="r" b="b"/>
              <a:pathLst>
                <a:path w="192385" h="192385" extrusionOk="0">
                  <a:moveTo>
                    <a:pt x="96193" y="12136"/>
                  </a:moveTo>
                  <a:cubicBezTo>
                    <a:pt x="142661" y="12136"/>
                    <a:pt x="180249" y="49725"/>
                    <a:pt x="180249" y="96193"/>
                  </a:cubicBezTo>
                  <a:cubicBezTo>
                    <a:pt x="180249" y="142661"/>
                    <a:pt x="142661" y="180249"/>
                    <a:pt x="96193" y="180249"/>
                  </a:cubicBezTo>
                  <a:cubicBezTo>
                    <a:pt x="49725" y="180249"/>
                    <a:pt x="12136" y="142661"/>
                    <a:pt x="12136" y="96193"/>
                  </a:cubicBezTo>
                  <a:cubicBezTo>
                    <a:pt x="12136" y="49725"/>
                    <a:pt x="49725" y="12136"/>
                    <a:pt x="96193" y="12136"/>
                  </a:cubicBezTo>
                  <a:close/>
                  <a:moveTo>
                    <a:pt x="96193" y="1"/>
                  </a:moveTo>
                  <a:cubicBezTo>
                    <a:pt x="43213" y="1"/>
                    <a:pt x="1" y="43213"/>
                    <a:pt x="1" y="96193"/>
                  </a:cubicBezTo>
                  <a:cubicBezTo>
                    <a:pt x="1" y="149468"/>
                    <a:pt x="43213" y="192384"/>
                    <a:pt x="96193" y="192384"/>
                  </a:cubicBezTo>
                  <a:cubicBezTo>
                    <a:pt x="149468" y="192384"/>
                    <a:pt x="192384" y="149468"/>
                    <a:pt x="192384" y="96193"/>
                  </a:cubicBezTo>
                  <a:cubicBezTo>
                    <a:pt x="192384" y="43213"/>
                    <a:pt x="149468" y="1"/>
                    <a:pt x="96193" y="1"/>
                  </a:cubicBezTo>
                  <a:close/>
                </a:path>
              </a:pathLst>
            </a:custGeom>
            <a:solidFill>
              <a:srgbClr val="282C3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endParaRPr>
            </a:p>
          </p:txBody>
        </p:sp>
        <p:sp>
          <p:nvSpPr>
            <p:cNvPr id="20" name="Google Shape;80;p14">
              <a:extLst>
                <a:ext uri="{FF2B5EF4-FFF2-40B4-BE49-F238E27FC236}">
                  <a16:creationId xmlns:a16="http://schemas.microsoft.com/office/drawing/2014/main" id="{5F18C28A-6F6D-9B86-0A77-FE1F67022A75}"/>
                </a:ext>
              </a:extLst>
            </p:cNvPr>
            <p:cNvSpPr/>
            <p:nvPr/>
          </p:nvSpPr>
          <p:spPr>
            <a:xfrm>
              <a:off x="1212800" y="289900"/>
              <a:ext cx="4883625" cy="4809625"/>
            </a:xfrm>
            <a:custGeom>
              <a:avLst/>
              <a:gdLst/>
              <a:ahLst/>
              <a:cxnLst/>
              <a:rect l="l" t="t" r="r" b="b"/>
              <a:pathLst>
                <a:path w="195345" h="192385" extrusionOk="0">
                  <a:moveTo>
                    <a:pt x="97673" y="1"/>
                  </a:moveTo>
                  <a:lnTo>
                    <a:pt x="97673" y="12136"/>
                  </a:lnTo>
                  <a:cubicBezTo>
                    <a:pt x="115431" y="12136"/>
                    <a:pt x="132894" y="17759"/>
                    <a:pt x="147100" y="28118"/>
                  </a:cubicBezTo>
                  <a:cubicBezTo>
                    <a:pt x="161603" y="38478"/>
                    <a:pt x="172258" y="53276"/>
                    <a:pt x="177882" y="70147"/>
                  </a:cubicBezTo>
                  <a:cubicBezTo>
                    <a:pt x="183209" y="87017"/>
                    <a:pt x="183209" y="105368"/>
                    <a:pt x="177882" y="122238"/>
                  </a:cubicBezTo>
                  <a:cubicBezTo>
                    <a:pt x="172258" y="139109"/>
                    <a:pt x="161603" y="153908"/>
                    <a:pt x="147100" y="164267"/>
                  </a:cubicBezTo>
                  <a:cubicBezTo>
                    <a:pt x="132894" y="174626"/>
                    <a:pt x="115431" y="180249"/>
                    <a:pt x="97673" y="180249"/>
                  </a:cubicBezTo>
                  <a:cubicBezTo>
                    <a:pt x="79914" y="180249"/>
                    <a:pt x="62748" y="174626"/>
                    <a:pt x="48245" y="164267"/>
                  </a:cubicBezTo>
                  <a:cubicBezTo>
                    <a:pt x="33742" y="153908"/>
                    <a:pt x="23087" y="139109"/>
                    <a:pt x="17759" y="122238"/>
                  </a:cubicBezTo>
                  <a:cubicBezTo>
                    <a:pt x="12136" y="105368"/>
                    <a:pt x="12136" y="87017"/>
                    <a:pt x="17759" y="70147"/>
                  </a:cubicBezTo>
                  <a:lnTo>
                    <a:pt x="6216" y="66595"/>
                  </a:lnTo>
                  <a:cubicBezTo>
                    <a:pt x="1" y="85833"/>
                    <a:pt x="1" y="106552"/>
                    <a:pt x="6216" y="126086"/>
                  </a:cubicBezTo>
                  <a:cubicBezTo>
                    <a:pt x="12432" y="145324"/>
                    <a:pt x="24863" y="162195"/>
                    <a:pt x="41141" y="174034"/>
                  </a:cubicBezTo>
                  <a:cubicBezTo>
                    <a:pt x="57716" y="185873"/>
                    <a:pt x="77250" y="192384"/>
                    <a:pt x="97673" y="192384"/>
                  </a:cubicBezTo>
                  <a:cubicBezTo>
                    <a:pt x="118095" y="192384"/>
                    <a:pt x="137925" y="185873"/>
                    <a:pt x="154204" y="174034"/>
                  </a:cubicBezTo>
                  <a:cubicBezTo>
                    <a:pt x="170778" y="162195"/>
                    <a:pt x="182913" y="145324"/>
                    <a:pt x="189129" y="126086"/>
                  </a:cubicBezTo>
                  <a:cubicBezTo>
                    <a:pt x="195344" y="106552"/>
                    <a:pt x="195344" y="85833"/>
                    <a:pt x="189129" y="66595"/>
                  </a:cubicBezTo>
                  <a:cubicBezTo>
                    <a:pt x="182913" y="47061"/>
                    <a:pt x="170778" y="30486"/>
                    <a:pt x="154204" y="18351"/>
                  </a:cubicBezTo>
                  <a:cubicBezTo>
                    <a:pt x="137925" y="6512"/>
                    <a:pt x="118095" y="1"/>
                    <a:pt x="97673" y="1"/>
                  </a:cubicBezTo>
                  <a:close/>
                </a:path>
              </a:pathLst>
            </a:custGeom>
            <a:solidFill>
              <a:srgbClr val="A6F75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endParaRPr>
            </a:p>
          </p:txBody>
        </p:sp>
        <p:sp>
          <p:nvSpPr>
            <p:cNvPr id="21" name="Google Shape;81;p14">
              <a:extLst>
                <a:ext uri="{FF2B5EF4-FFF2-40B4-BE49-F238E27FC236}">
                  <a16:creationId xmlns:a16="http://schemas.microsoft.com/office/drawing/2014/main" id="{C7B0CC13-64CC-BBBE-7F53-947151A27C03}"/>
                </a:ext>
              </a:extLst>
            </p:cNvPr>
            <p:cNvSpPr/>
            <p:nvPr/>
          </p:nvSpPr>
          <p:spPr>
            <a:xfrm>
              <a:off x="2981250" y="1917775"/>
              <a:ext cx="1383725" cy="1598275"/>
            </a:xfrm>
            <a:custGeom>
              <a:avLst/>
              <a:gdLst/>
              <a:ahLst/>
              <a:cxnLst/>
              <a:rect l="l" t="t" r="r" b="b"/>
              <a:pathLst>
                <a:path w="55349" h="63931" extrusionOk="0">
                  <a:moveTo>
                    <a:pt x="43509" y="0"/>
                  </a:moveTo>
                  <a:lnTo>
                    <a:pt x="889" y="42917"/>
                  </a:lnTo>
                  <a:lnTo>
                    <a:pt x="1" y="46172"/>
                  </a:lnTo>
                  <a:lnTo>
                    <a:pt x="36406" y="46172"/>
                  </a:lnTo>
                  <a:lnTo>
                    <a:pt x="32854" y="63931"/>
                  </a:lnTo>
                  <a:lnTo>
                    <a:pt x="37590" y="63931"/>
                  </a:lnTo>
                  <a:lnTo>
                    <a:pt x="41141" y="46172"/>
                  </a:lnTo>
                  <a:lnTo>
                    <a:pt x="54460" y="46172"/>
                  </a:lnTo>
                  <a:lnTo>
                    <a:pt x="55348" y="42029"/>
                  </a:lnTo>
                  <a:lnTo>
                    <a:pt x="42029" y="42029"/>
                  </a:lnTo>
                  <a:lnTo>
                    <a:pt x="44989" y="26342"/>
                  </a:lnTo>
                  <a:lnTo>
                    <a:pt x="40549" y="26342"/>
                  </a:lnTo>
                  <a:lnTo>
                    <a:pt x="37294" y="42029"/>
                  </a:lnTo>
                  <a:lnTo>
                    <a:pt x="7104" y="42029"/>
                  </a:lnTo>
                  <a:lnTo>
                    <a:pt x="49133" y="0"/>
                  </a:lnTo>
                  <a:close/>
                </a:path>
              </a:pathLst>
            </a:custGeom>
            <a:solidFill>
              <a:srgbClr val="A6F75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endParaRPr>
            </a:p>
          </p:txBody>
        </p:sp>
      </p:grpSp>
      <p:grpSp>
        <p:nvGrpSpPr>
          <p:cNvPr id="27" name="Google Shape;82;p14">
            <a:extLst>
              <a:ext uri="{FF2B5EF4-FFF2-40B4-BE49-F238E27FC236}">
                <a16:creationId xmlns:a16="http://schemas.microsoft.com/office/drawing/2014/main" id="{F5830BA0-5D9F-61A0-036D-F68BCC09D986}"/>
              </a:ext>
            </a:extLst>
          </p:cNvPr>
          <p:cNvGrpSpPr/>
          <p:nvPr/>
        </p:nvGrpSpPr>
        <p:grpSpPr>
          <a:xfrm>
            <a:off x="1153034" y="1770849"/>
            <a:ext cx="457200" cy="457200"/>
            <a:chOff x="1249800" y="260300"/>
            <a:chExt cx="4846625" cy="4809625"/>
          </a:xfrm>
        </p:grpSpPr>
        <p:sp>
          <p:nvSpPr>
            <p:cNvPr id="24" name="Google Shape;83;p14">
              <a:extLst>
                <a:ext uri="{FF2B5EF4-FFF2-40B4-BE49-F238E27FC236}">
                  <a16:creationId xmlns:a16="http://schemas.microsoft.com/office/drawing/2014/main" id="{163C9035-933D-45BD-AAC4-68E7FFE6A9E6}"/>
                </a:ext>
              </a:extLst>
            </p:cNvPr>
            <p:cNvSpPr/>
            <p:nvPr/>
          </p:nvSpPr>
          <p:spPr>
            <a:xfrm>
              <a:off x="1249800" y="260300"/>
              <a:ext cx="4809625" cy="4809625"/>
            </a:xfrm>
            <a:custGeom>
              <a:avLst/>
              <a:gdLst/>
              <a:ahLst/>
              <a:cxnLst/>
              <a:rect l="l" t="t" r="r" b="b"/>
              <a:pathLst>
                <a:path w="192385" h="192385" extrusionOk="0">
                  <a:moveTo>
                    <a:pt x="96193" y="12136"/>
                  </a:moveTo>
                  <a:cubicBezTo>
                    <a:pt x="142661" y="12136"/>
                    <a:pt x="180249" y="49725"/>
                    <a:pt x="180249" y="96193"/>
                  </a:cubicBezTo>
                  <a:cubicBezTo>
                    <a:pt x="180249" y="142661"/>
                    <a:pt x="142661" y="180249"/>
                    <a:pt x="96193" y="180249"/>
                  </a:cubicBezTo>
                  <a:cubicBezTo>
                    <a:pt x="49725" y="180249"/>
                    <a:pt x="12136" y="142661"/>
                    <a:pt x="12136" y="96193"/>
                  </a:cubicBezTo>
                  <a:cubicBezTo>
                    <a:pt x="12136" y="49725"/>
                    <a:pt x="49725" y="12136"/>
                    <a:pt x="96193" y="12136"/>
                  </a:cubicBezTo>
                  <a:close/>
                  <a:moveTo>
                    <a:pt x="96193" y="1"/>
                  </a:moveTo>
                  <a:cubicBezTo>
                    <a:pt x="43213" y="1"/>
                    <a:pt x="1" y="42917"/>
                    <a:pt x="1" y="96193"/>
                  </a:cubicBezTo>
                  <a:cubicBezTo>
                    <a:pt x="1" y="149172"/>
                    <a:pt x="43213" y="192384"/>
                    <a:pt x="96193" y="192384"/>
                  </a:cubicBezTo>
                  <a:cubicBezTo>
                    <a:pt x="149468" y="192384"/>
                    <a:pt x="192384" y="149172"/>
                    <a:pt x="192384" y="96193"/>
                  </a:cubicBezTo>
                  <a:cubicBezTo>
                    <a:pt x="192384" y="42917"/>
                    <a:pt x="149468" y="1"/>
                    <a:pt x="96193" y="1"/>
                  </a:cubicBezTo>
                  <a:close/>
                </a:path>
              </a:pathLst>
            </a:custGeom>
            <a:solidFill>
              <a:srgbClr val="282C3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endParaRPr>
            </a:p>
          </p:txBody>
        </p:sp>
        <p:sp>
          <p:nvSpPr>
            <p:cNvPr id="25" name="Google Shape;84;p14">
              <a:extLst>
                <a:ext uri="{FF2B5EF4-FFF2-40B4-BE49-F238E27FC236}">
                  <a16:creationId xmlns:a16="http://schemas.microsoft.com/office/drawing/2014/main" id="{31AA322B-8004-7869-753F-3A70695AC03E}"/>
                </a:ext>
              </a:extLst>
            </p:cNvPr>
            <p:cNvSpPr/>
            <p:nvPr/>
          </p:nvSpPr>
          <p:spPr>
            <a:xfrm>
              <a:off x="3654600" y="260300"/>
              <a:ext cx="2441825" cy="4350850"/>
            </a:xfrm>
            <a:custGeom>
              <a:avLst/>
              <a:gdLst/>
              <a:ahLst/>
              <a:cxnLst/>
              <a:rect l="l" t="t" r="r" b="b"/>
              <a:pathLst>
                <a:path w="97673" h="174034" extrusionOk="0">
                  <a:moveTo>
                    <a:pt x="1" y="1"/>
                  </a:moveTo>
                  <a:lnTo>
                    <a:pt x="1" y="12136"/>
                  </a:lnTo>
                  <a:cubicBezTo>
                    <a:pt x="17759" y="12136"/>
                    <a:pt x="35222" y="17759"/>
                    <a:pt x="49428" y="28119"/>
                  </a:cubicBezTo>
                  <a:cubicBezTo>
                    <a:pt x="63931" y="38478"/>
                    <a:pt x="74586" y="53276"/>
                    <a:pt x="80210" y="70147"/>
                  </a:cubicBezTo>
                  <a:cubicBezTo>
                    <a:pt x="85537" y="87017"/>
                    <a:pt x="85537" y="105368"/>
                    <a:pt x="80210" y="122238"/>
                  </a:cubicBezTo>
                  <a:cubicBezTo>
                    <a:pt x="74586" y="139109"/>
                    <a:pt x="63931" y="153908"/>
                    <a:pt x="49428" y="164267"/>
                  </a:cubicBezTo>
                  <a:lnTo>
                    <a:pt x="56532" y="174034"/>
                  </a:lnTo>
                  <a:cubicBezTo>
                    <a:pt x="73106" y="161899"/>
                    <a:pt x="85241" y="145028"/>
                    <a:pt x="91457" y="125790"/>
                  </a:cubicBezTo>
                  <a:cubicBezTo>
                    <a:pt x="97672" y="106552"/>
                    <a:pt x="97672" y="85834"/>
                    <a:pt x="91457" y="66299"/>
                  </a:cubicBezTo>
                  <a:cubicBezTo>
                    <a:pt x="85241" y="47061"/>
                    <a:pt x="73106" y="30190"/>
                    <a:pt x="56532" y="18351"/>
                  </a:cubicBezTo>
                  <a:cubicBezTo>
                    <a:pt x="40253" y="6512"/>
                    <a:pt x="20423" y="1"/>
                    <a:pt x="1" y="1"/>
                  </a:cubicBezTo>
                  <a:close/>
                </a:path>
              </a:pathLst>
            </a:custGeom>
            <a:solidFill>
              <a:srgbClr val="A6F75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endParaRPr>
            </a:p>
          </p:txBody>
        </p:sp>
        <p:sp>
          <p:nvSpPr>
            <p:cNvPr id="26" name="Google Shape;85;p14">
              <a:extLst>
                <a:ext uri="{FF2B5EF4-FFF2-40B4-BE49-F238E27FC236}">
                  <a16:creationId xmlns:a16="http://schemas.microsoft.com/office/drawing/2014/main" id="{A44F6A6C-14ED-7BEC-E284-5E14AC7C8F32}"/>
                </a:ext>
              </a:extLst>
            </p:cNvPr>
            <p:cNvSpPr/>
            <p:nvPr/>
          </p:nvSpPr>
          <p:spPr>
            <a:xfrm>
              <a:off x="2981250" y="1888175"/>
              <a:ext cx="1265325" cy="1605675"/>
            </a:xfrm>
            <a:custGeom>
              <a:avLst/>
              <a:gdLst/>
              <a:ahLst/>
              <a:cxnLst/>
              <a:rect l="l" t="t" r="r" b="b"/>
              <a:pathLst>
                <a:path w="50613" h="64227" extrusionOk="0">
                  <a:moveTo>
                    <a:pt x="31670" y="0"/>
                  </a:moveTo>
                  <a:cubicBezTo>
                    <a:pt x="22791" y="0"/>
                    <a:pt x="14504" y="3256"/>
                    <a:pt x="9176" y="8880"/>
                  </a:cubicBezTo>
                  <a:lnTo>
                    <a:pt x="12432" y="11543"/>
                  </a:lnTo>
                  <a:cubicBezTo>
                    <a:pt x="16871" y="6808"/>
                    <a:pt x="23975" y="4144"/>
                    <a:pt x="31078" y="4144"/>
                  </a:cubicBezTo>
                  <a:cubicBezTo>
                    <a:pt x="41141" y="4144"/>
                    <a:pt x="45877" y="8584"/>
                    <a:pt x="45877" y="15391"/>
                  </a:cubicBezTo>
                  <a:cubicBezTo>
                    <a:pt x="45877" y="21311"/>
                    <a:pt x="43213" y="26342"/>
                    <a:pt x="33446" y="34333"/>
                  </a:cubicBezTo>
                  <a:lnTo>
                    <a:pt x="593" y="60971"/>
                  </a:lnTo>
                  <a:lnTo>
                    <a:pt x="1" y="64227"/>
                  </a:lnTo>
                  <a:lnTo>
                    <a:pt x="44101" y="64227"/>
                  </a:lnTo>
                  <a:lnTo>
                    <a:pt x="44693" y="60083"/>
                  </a:lnTo>
                  <a:lnTo>
                    <a:pt x="8288" y="60083"/>
                  </a:lnTo>
                  <a:lnTo>
                    <a:pt x="36702" y="36997"/>
                  </a:lnTo>
                  <a:cubicBezTo>
                    <a:pt x="47357" y="28414"/>
                    <a:pt x="50613" y="21902"/>
                    <a:pt x="50613" y="14799"/>
                  </a:cubicBezTo>
                  <a:cubicBezTo>
                    <a:pt x="50613" y="5920"/>
                    <a:pt x="44101" y="0"/>
                    <a:pt x="31670" y="0"/>
                  </a:cubicBezTo>
                  <a:close/>
                </a:path>
              </a:pathLst>
            </a:custGeom>
            <a:solidFill>
              <a:srgbClr val="A6F75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endParaRPr>
            </a:p>
          </p:txBody>
        </p:sp>
      </p:grpSp>
      <p:grpSp>
        <p:nvGrpSpPr>
          <p:cNvPr id="32" name="Google Shape;86;p14">
            <a:extLst>
              <a:ext uri="{FF2B5EF4-FFF2-40B4-BE49-F238E27FC236}">
                <a16:creationId xmlns:a16="http://schemas.microsoft.com/office/drawing/2014/main" id="{3ABA7813-2D47-8D12-99BE-D3FCC73FC7A4}"/>
              </a:ext>
            </a:extLst>
          </p:cNvPr>
          <p:cNvGrpSpPr/>
          <p:nvPr/>
        </p:nvGrpSpPr>
        <p:grpSpPr>
          <a:xfrm>
            <a:off x="1154549" y="1110973"/>
            <a:ext cx="457200" cy="457200"/>
            <a:chOff x="1249800" y="260300"/>
            <a:chExt cx="4809625" cy="4809625"/>
          </a:xfrm>
        </p:grpSpPr>
        <p:sp>
          <p:nvSpPr>
            <p:cNvPr id="29" name="Google Shape;87;p14">
              <a:extLst>
                <a:ext uri="{FF2B5EF4-FFF2-40B4-BE49-F238E27FC236}">
                  <a16:creationId xmlns:a16="http://schemas.microsoft.com/office/drawing/2014/main" id="{FED135AB-8780-C719-08CA-1E502207D5A2}"/>
                </a:ext>
              </a:extLst>
            </p:cNvPr>
            <p:cNvSpPr/>
            <p:nvPr/>
          </p:nvSpPr>
          <p:spPr>
            <a:xfrm>
              <a:off x="1249800" y="260300"/>
              <a:ext cx="4809625" cy="4809625"/>
            </a:xfrm>
            <a:custGeom>
              <a:avLst/>
              <a:gdLst/>
              <a:ahLst/>
              <a:cxnLst/>
              <a:rect l="l" t="t" r="r" b="b"/>
              <a:pathLst>
                <a:path w="192385" h="192385" extrusionOk="0">
                  <a:moveTo>
                    <a:pt x="96193" y="12136"/>
                  </a:moveTo>
                  <a:cubicBezTo>
                    <a:pt x="142661" y="12136"/>
                    <a:pt x="180249" y="49725"/>
                    <a:pt x="180249" y="96193"/>
                  </a:cubicBezTo>
                  <a:cubicBezTo>
                    <a:pt x="180249" y="142661"/>
                    <a:pt x="142661" y="180249"/>
                    <a:pt x="96193" y="180249"/>
                  </a:cubicBezTo>
                  <a:cubicBezTo>
                    <a:pt x="49725" y="180249"/>
                    <a:pt x="12136" y="142661"/>
                    <a:pt x="12136" y="96193"/>
                  </a:cubicBezTo>
                  <a:cubicBezTo>
                    <a:pt x="12136" y="49725"/>
                    <a:pt x="49725" y="12136"/>
                    <a:pt x="96193" y="12136"/>
                  </a:cubicBezTo>
                  <a:close/>
                  <a:moveTo>
                    <a:pt x="96193" y="1"/>
                  </a:moveTo>
                  <a:cubicBezTo>
                    <a:pt x="43213" y="1"/>
                    <a:pt x="1" y="42917"/>
                    <a:pt x="1" y="96193"/>
                  </a:cubicBezTo>
                  <a:cubicBezTo>
                    <a:pt x="1" y="149172"/>
                    <a:pt x="43213" y="192384"/>
                    <a:pt x="96193" y="192384"/>
                  </a:cubicBezTo>
                  <a:cubicBezTo>
                    <a:pt x="149468" y="192384"/>
                    <a:pt x="192384" y="149172"/>
                    <a:pt x="192384" y="96193"/>
                  </a:cubicBezTo>
                  <a:cubicBezTo>
                    <a:pt x="192384" y="42917"/>
                    <a:pt x="149468" y="1"/>
                    <a:pt x="96193" y="1"/>
                  </a:cubicBezTo>
                  <a:close/>
                </a:path>
              </a:pathLst>
            </a:custGeom>
            <a:solidFill>
              <a:srgbClr val="282C3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endParaRPr>
            </a:p>
          </p:txBody>
        </p:sp>
        <p:sp>
          <p:nvSpPr>
            <p:cNvPr id="30" name="Google Shape;88;p14">
              <a:extLst>
                <a:ext uri="{FF2B5EF4-FFF2-40B4-BE49-F238E27FC236}">
                  <a16:creationId xmlns:a16="http://schemas.microsoft.com/office/drawing/2014/main" id="{193F2A82-CE4A-51F3-8580-87831057D124}"/>
                </a:ext>
              </a:extLst>
            </p:cNvPr>
            <p:cNvSpPr/>
            <p:nvPr/>
          </p:nvSpPr>
          <p:spPr>
            <a:xfrm>
              <a:off x="3654600" y="260300"/>
              <a:ext cx="2286425" cy="1753675"/>
            </a:xfrm>
            <a:custGeom>
              <a:avLst/>
              <a:gdLst/>
              <a:ahLst/>
              <a:cxnLst/>
              <a:rect l="l" t="t" r="r" b="b"/>
              <a:pathLst>
                <a:path w="91457" h="70147" extrusionOk="0">
                  <a:moveTo>
                    <a:pt x="1" y="1"/>
                  </a:moveTo>
                  <a:lnTo>
                    <a:pt x="1" y="12136"/>
                  </a:lnTo>
                  <a:cubicBezTo>
                    <a:pt x="17759" y="12136"/>
                    <a:pt x="35222" y="17759"/>
                    <a:pt x="49428" y="28119"/>
                  </a:cubicBezTo>
                  <a:cubicBezTo>
                    <a:pt x="63931" y="38478"/>
                    <a:pt x="74586" y="53276"/>
                    <a:pt x="80210" y="70147"/>
                  </a:cubicBezTo>
                  <a:lnTo>
                    <a:pt x="91457" y="66595"/>
                  </a:lnTo>
                  <a:cubicBezTo>
                    <a:pt x="85241" y="47061"/>
                    <a:pt x="73106" y="30190"/>
                    <a:pt x="56532" y="18351"/>
                  </a:cubicBezTo>
                  <a:cubicBezTo>
                    <a:pt x="40253" y="6512"/>
                    <a:pt x="20423" y="1"/>
                    <a:pt x="1" y="1"/>
                  </a:cubicBezTo>
                  <a:close/>
                </a:path>
              </a:pathLst>
            </a:custGeom>
            <a:solidFill>
              <a:srgbClr val="A6F75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endParaRPr>
            </a:p>
          </p:txBody>
        </p:sp>
        <p:sp>
          <p:nvSpPr>
            <p:cNvPr id="31" name="Google Shape;89;p14">
              <a:extLst>
                <a:ext uri="{FF2B5EF4-FFF2-40B4-BE49-F238E27FC236}">
                  <a16:creationId xmlns:a16="http://schemas.microsoft.com/office/drawing/2014/main" id="{D5A6CF78-AC12-D586-D698-0C2455FE0CBA}"/>
                </a:ext>
              </a:extLst>
            </p:cNvPr>
            <p:cNvSpPr/>
            <p:nvPr/>
          </p:nvSpPr>
          <p:spPr>
            <a:xfrm>
              <a:off x="3395625" y="1888175"/>
              <a:ext cx="525375" cy="1598275"/>
            </a:xfrm>
            <a:custGeom>
              <a:avLst/>
              <a:gdLst/>
              <a:ahLst/>
              <a:cxnLst/>
              <a:rect l="l" t="t" r="r" b="b"/>
              <a:pathLst>
                <a:path w="21015" h="63931" extrusionOk="0">
                  <a:moveTo>
                    <a:pt x="888" y="0"/>
                  </a:moveTo>
                  <a:lnTo>
                    <a:pt x="0" y="4144"/>
                  </a:lnTo>
                  <a:lnTo>
                    <a:pt x="15391" y="4144"/>
                  </a:lnTo>
                  <a:lnTo>
                    <a:pt x="3552" y="63931"/>
                  </a:lnTo>
                  <a:lnTo>
                    <a:pt x="8288" y="63931"/>
                  </a:lnTo>
                  <a:lnTo>
                    <a:pt x="21015" y="0"/>
                  </a:lnTo>
                  <a:close/>
                </a:path>
              </a:pathLst>
            </a:custGeom>
            <a:solidFill>
              <a:srgbClr val="A6F75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endParaRPr>
            </a:p>
          </p:txBody>
        </p:sp>
      </p:grpSp>
      <p:grpSp>
        <p:nvGrpSpPr>
          <p:cNvPr id="37" name="Google Shape;90;p14">
            <a:extLst>
              <a:ext uri="{FF2B5EF4-FFF2-40B4-BE49-F238E27FC236}">
                <a16:creationId xmlns:a16="http://schemas.microsoft.com/office/drawing/2014/main" id="{DC85C384-F303-3136-B350-98CC10BC3539}"/>
              </a:ext>
            </a:extLst>
          </p:cNvPr>
          <p:cNvGrpSpPr/>
          <p:nvPr/>
        </p:nvGrpSpPr>
        <p:grpSpPr>
          <a:xfrm>
            <a:off x="1145248" y="3750476"/>
            <a:ext cx="457200" cy="457200"/>
            <a:chOff x="1249800" y="297300"/>
            <a:chExt cx="4809625" cy="4809625"/>
          </a:xfrm>
        </p:grpSpPr>
        <p:sp>
          <p:nvSpPr>
            <p:cNvPr id="34" name="Google Shape;91;p14">
              <a:extLst>
                <a:ext uri="{FF2B5EF4-FFF2-40B4-BE49-F238E27FC236}">
                  <a16:creationId xmlns:a16="http://schemas.microsoft.com/office/drawing/2014/main" id="{56EB96B5-6474-0BC9-864B-59CDAEF3623C}"/>
                </a:ext>
              </a:extLst>
            </p:cNvPr>
            <p:cNvSpPr/>
            <p:nvPr/>
          </p:nvSpPr>
          <p:spPr>
            <a:xfrm>
              <a:off x="1249800" y="297300"/>
              <a:ext cx="4809625" cy="4809625"/>
            </a:xfrm>
            <a:custGeom>
              <a:avLst/>
              <a:gdLst/>
              <a:ahLst/>
              <a:cxnLst/>
              <a:rect l="l" t="t" r="r" b="b"/>
              <a:pathLst>
                <a:path w="192385" h="192385" extrusionOk="0">
                  <a:moveTo>
                    <a:pt x="96193" y="12136"/>
                  </a:moveTo>
                  <a:cubicBezTo>
                    <a:pt x="142661" y="12136"/>
                    <a:pt x="180249" y="49725"/>
                    <a:pt x="180249" y="96193"/>
                  </a:cubicBezTo>
                  <a:cubicBezTo>
                    <a:pt x="180249" y="142957"/>
                    <a:pt x="142661" y="180545"/>
                    <a:pt x="96193" y="180545"/>
                  </a:cubicBezTo>
                  <a:cubicBezTo>
                    <a:pt x="49725" y="180545"/>
                    <a:pt x="12136" y="142957"/>
                    <a:pt x="12136" y="96193"/>
                  </a:cubicBezTo>
                  <a:cubicBezTo>
                    <a:pt x="12136" y="49725"/>
                    <a:pt x="49725" y="12136"/>
                    <a:pt x="96193" y="12136"/>
                  </a:cubicBezTo>
                  <a:close/>
                  <a:moveTo>
                    <a:pt x="96193" y="1"/>
                  </a:moveTo>
                  <a:cubicBezTo>
                    <a:pt x="43213" y="1"/>
                    <a:pt x="1" y="43213"/>
                    <a:pt x="1" y="96193"/>
                  </a:cubicBezTo>
                  <a:cubicBezTo>
                    <a:pt x="1" y="149468"/>
                    <a:pt x="43213" y="192384"/>
                    <a:pt x="96193" y="192384"/>
                  </a:cubicBezTo>
                  <a:cubicBezTo>
                    <a:pt x="149468" y="192384"/>
                    <a:pt x="192384" y="149468"/>
                    <a:pt x="192384" y="96193"/>
                  </a:cubicBezTo>
                  <a:cubicBezTo>
                    <a:pt x="192384" y="43213"/>
                    <a:pt x="149468" y="1"/>
                    <a:pt x="96193" y="1"/>
                  </a:cubicBezTo>
                  <a:close/>
                </a:path>
              </a:pathLst>
            </a:custGeom>
            <a:solidFill>
              <a:srgbClr val="282C3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endParaRPr>
            </a:p>
          </p:txBody>
        </p:sp>
        <p:sp>
          <p:nvSpPr>
            <p:cNvPr id="35" name="Google Shape;92;p14">
              <a:extLst>
                <a:ext uri="{FF2B5EF4-FFF2-40B4-BE49-F238E27FC236}">
                  <a16:creationId xmlns:a16="http://schemas.microsoft.com/office/drawing/2014/main" id="{8EDDF46F-D18A-0894-B63F-0C0CE7708B34}"/>
                </a:ext>
              </a:extLst>
            </p:cNvPr>
            <p:cNvSpPr/>
            <p:nvPr/>
          </p:nvSpPr>
          <p:spPr>
            <a:xfrm>
              <a:off x="1249800" y="297300"/>
              <a:ext cx="4809625" cy="4809625"/>
            </a:xfrm>
            <a:custGeom>
              <a:avLst/>
              <a:gdLst/>
              <a:ahLst/>
              <a:cxnLst/>
              <a:rect l="l" t="t" r="r" b="b"/>
              <a:pathLst>
                <a:path w="192385" h="192385" extrusionOk="0">
                  <a:moveTo>
                    <a:pt x="96193" y="12136"/>
                  </a:moveTo>
                  <a:cubicBezTo>
                    <a:pt x="142661" y="12136"/>
                    <a:pt x="180249" y="49725"/>
                    <a:pt x="180249" y="96193"/>
                  </a:cubicBezTo>
                  <a:cubicBezTo>
                    <a:pt x="180249" y="142957"/>
                    <a:pt x="142661" y="180545"/>
                    <a:pt x="96193" y="180545"/>
                  </a:cubicBezTo>
                  <a:cubicBezTo>
                    <a:pt x="49725" y="180545"/>
                    <a:pt x="12136" y="142957"/>
                    <a:pt x="12136" y="96193"/>
                  </a:cubicBezTo>
                  <a:cubicBezTo>
                    <a:pt x="12136" y="49725"/>
                    <a:pt x="49725" y="12136"/>
                    <a:pt x="96193" y="12136"/>
                  </a:cubicBezTo>
                  <a:close/>
                  <a:moveTo>
                    <a:pt x="96193" y="1"/>
                  </a:moveTo>
                  <a:cubicBezTo>
                    <a:pt x="43213" y="1"/>
                    <a:pt x="1" y="43213"/>
                    <a:pt x="1" y="96193"/>
                  </a:cubicBezTo>
                  <a:cubicBezTo>
                    <a:pt x="1" y="149468"/>
                    <a:pt x="43213" y="192384"/>
                    <a:pt x="96193" y="192384"/>
                  </a:cubicBezTo>
                  <a:cubicBezTo>
                    <a:pt x="149468" y="192384"/>
                    <a:pt x="192384" y="149468"/>
                    <a:pt x="192384" y="96193"/>
                  </a:cubicBezTo>
                  <a:cubicBezTo>
                    <a:pt x="192384" y="43213"/>
                    <a:pt x="149468" y="1"/>
                    <a:pt x="96193" y="1"/>
                  </a:cubicBezTo>
                  <a:close/>
                </a:path>
              </a:pathLst>
            </a:custGeom>
            <a:solidFill>
              <a:srgbClr val="A6F75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endParaRPr>
            </a:p>
          </p:txBody>
        </p:sp>
        <p:sp>
          <p:nvSpPr>
            <p:cNvPr id="36" name="Google Shape;93;p14">
              <a:extLst>
                <a:ext uri="{FF2B5EF4-FFF2-40B4-BE49-F238E27FC236}">
                  <a16:creationId xmlns:a16="http://schemas.microsoft.com/office/drawing/2014/main" id="{726B0E0B-46B3-3FE5-AC22-A215577A5080}"/>
                </a:ext>
              </a:extLst>
            </p:cNvPr>
            <p:cNvSpPr/>
            <p:nvPr/>
          </p:nvSpPr>
          <p:spPr>
            <a:xfrm>
              <a:off x="2996050" y="1925175"/>
              <a:ext cx="1309725" cy="1613075"/>
            </a:xfrm>
            <a:custGeom>
              <a:avLst/>
              <a:gdLst/>
              <a:ahLst/>
              <a:cxnLst/>
              <a:rect l="l" t="t" r="r" b="b"/>
              <a:pathLst>
                <a:path w="52389" h="64523" extrusionOk="0">
                  <a:moveTo>
                    <a:pt x="18351" y="0"/>
                  </a:moveTo>
                  <a:lnTo>
                    <a:pt x="8880" y="31078"/>
                  </a:lnTo>
                  <a:lnTo>
                    <a:pt x="23087" y="31078"/>
                  </a:lnTo>
                  <a:cubicBezTo>
                    <a:pt x="36998" y="31078"/>
                    <a:pt x="42325" y="35813"/>
                    <a:pt x="42325" y="43804"/>
                  </a:cubicBezTo>
                  <a:cubicBezTo>
                    <a:pt x="42325" y="54164"/>
                    <a:pt x="34630" y="60083"/>
                    <a:pt x="21903" y="60083"/>
                  </a:cubicBezTo>
                  <a:cubicBezTo>
                    <a:pt x="12728" y="60083"/>
                    <a:pt x="5920" y="56827"/>
                    <a:pt x="2961" y="52388"/>
                  </a:cubicBezTo>
                  <a:lnTo>
                    <a:pt x="1" y="55643"/>
                  </a:lnTo>
                  <a:cubicBezTo>
                    <a:pt x="3552" y="60971"/>
                    <a:pt x="11544" y="64523"/>
                    <a:pt x="21607" y="64523"/>
                  </a:cubicBezTo>
                  <a:cubicBezTo>
                    <a:pt x="36998" y="64523"/>
                    <a:pt x="47061" y="56235"/>
                    <a:pt x="47061" y="43508"/>
                  </a:cubicBezTo>
                  <a:cubicBezTo>
                    <a:pt x="47061" y="33149"/>
                    <a:pt x="39957" y="26934"/>
                    <a:pt x="23975" y="26934"/>
                  </a:cubicBezTo>
                  <a:lnTo>
                    <a:pt x="14800" y="26934"/>
                  </a:lnTo>
                  <a:lnTo>
                    <a:pt x="21903" y="4144"/>
                  </a:lnTo>
                  <a:lnTo>
                    <a:pt x="51500" y="4144"/>
                  </a:lnTo>
                  <a:lnTo>
                    <a:pt x="52388" y="0"/>
                  </a:lnTo>
                  <a:close/>
                </a:path>
              </a:pathLst>
            </a:custGeom>
            <a:solidFill>
              <a:srgbClr val="A6F75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endParaRPr>
            </a:p>
          </p:txBody>
        </p:sp>
      </p:grpSp>
      <p:sp>
        <p:nvSpPr>
          <p:cNvPr id="38" name="CaixaDeTexto 37">
            <a:extLst>
              <a:ext uri="{FF2B5EF4-FFF2-40B4-BE49-F238E27FC236}">
                <a16:creationId xmlns:a16="http://schemas.microsoft.com/office/drawing/2014/main" id="{E67A718C-8145-D8F7-0D0F-A89CE750AE0D}"/>
              </a:ext>
            </a:extLst>
          </p:cNvPr>
          <p:cNvSpPr txBox="1"/>
          <p:nvPr/>
        </p:nvSpPr>
        <p:spPr>
          <a:xfrm>
            <a:off x="1644185" y="1208768"/>
            <a:ext cx="5514898" cy="30777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pt-PT" b="1" dirty="0">
                <a:solidFill>
                  <a:schemeClr val="bg1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O que é </a:t>
            </a:r>
            <a:r>
              <a:rPr lang="pt-PT" b="1" dirty="0" err="1">
                <a:solidFill>
                  <a:schemeClr val="bg1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Azure</a:t>
            </a:r>
            <a:r>
              <a:rPr lang="pt-PT" b="1" dirty="0">
                <a:solidFill>
                  <a:schemeClr val="bg1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 Cosmos DB?</a:t>
            </a:r>
          </a:p>
        </p:txBody>
      </p:sp>
      <p:sp>
        <p:nvSpPr>
          <p:cNvPr id="39" name="CaixaDeTexto 38">
            <a:extLst>
              <a:ext uri="{FF2B5EF4-FFF2-40B4-BE49-F238E27FC236}">
                <a16:creationId xmlns:a16="http://schemas.microsoft.com/office/drawing/2014/main" id="{A306F0E9-B41C-4B7E-3418-E09900A809D4}"/>
              </a:ext>
            </a:extLst>
          </p:cNvPr>
          <p:cNvSpPr txBox="1"/>
          <p:nvPr/>
        </p:nvSpPr>
        <p:spPr>
          <a:xfrm>
            <a:off x="1678456" y="1865598"/>
            <a:ext cx="4558793" cy="30777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pt-PT" b="1" dirty="0">
                <a:solidFill>
                  <a:schemeClr val="bg1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Estrutura de um documento no Cosmos DB</a:t>
            </a:r>
          </a:p>
        </p:txBody>
      </p:sp>
      <p:sp>
        <p:nvSpPr>
          <p:cNvPr id="41" name="CaixaDeTexto 40">
            <a:extLst>
              <a:ext uri="{FF2B5EF4-FFF2-40B4-BE49-F238E27FC236}">
                <a16:creationId xmlns:a16="http://schemas.microsoft.com/office/drawing/2014/main" id="{285BEAFD-161A-AF11-A80C-E4FCBE20C006}"/>
              </a:ext>
            </a:extLst>
          </p:cNvPr>
          <p:cNvSpPr txBox="1"/>
          <p:nvPr/>
        </p:nvSpPr>
        <p:spPr>
          <a:xfrm>
            <a:off x="1625578" y="2529418"/>
            <a:ext cx="5392255" cy="30777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pt-PT" b="1" dirty="0">
                <a:solidFill>
                  <a:schemeClr val="bg1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O que é JSON e porque o Cosmos DB utiliza</a:t>
            </a:r>
          </a:p>
        </p:txBody>
      </p:sp>
      <p:sp>
        <p:nvSpPr>
          <p:cNvPr id="42" name="CaixaDeTexto 41">
            <a:extLst>
              <a:ext uri="{FF2B5EF4-FFF2-40B4-BE49-F238E27FC236}">
                <a16:creationId xmlns:a16="http://schemas.microsoft.com/office/drawing/2014/main" id="{48324433-DEB7-CCA9-A042-647C66B3B71E}"/>
              </a:ext>
            </a:extLst>
          </p:cNvPr>
          <p:cNvSpPr txBox="1"/>
          <p:nvPr/>
        </p:nvSpPr>
        <p:spPr>
          <a:xfrm>
            <a:off x="1644184" y="3190237"/>
            <a:ext cx="5879171" cy="30777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pt-PT" b="1" dirty="0">
                <a:solidFill>
                  <a:schemeClr val="bg1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Vantagens de se usar JSON</a:t>
            </a:r>
          </a:p>
        </p:txBody>
      </p:sp>
      <p:sp>
        <p:nvSpPr>
          <p:cNvPr id="43" name="CaixaDeTexto 42">
            <a:extLst>
              <a:ext uri="{FF2B5EF4-FFF2-40B4-BE49-F238E27FC236}">
                <a16:creationId xmlns:a16="http://schemas.microsoft.com/office/drawing/2014/main" id="{94132CC5-F6D0-6013-783E-4FC51F43D1E3}"/>
              </a:ext>
            </a:extLst>
          </p:cNvPr>
          <p:cNvSpPr txBox="1"/>
          <p:nvPr/>
        </p:nvSpPr>
        <p:spPr>
          <a:xfrm>
            <a:off x="1644184" y="3853596"/>
            <a:ext cx="4199021" cy="30777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pt-BR" b="1" dirty="0">
                <a:solidFill>
                  <a:schemeClr val="bg1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Demonstração</a:t>
            </a:r>
            <a:endParaRPr lang="pt-BR" dirty="0">
              <a:solidFill>
                <a:schemeClr val="bg1"/>
              </a:solidFill>
              <a:latin typeface="Fira Code" panose="020B0809050000020004" pitchFamily="49" charset="0"/>
              <a:ea typeface="Fira Code" panose="020B0809050000020004" pitchFamily="49" charset="0"/>
              <a:cs typeface="Fira Code" panose="020B0809050000020004" pitchFamily="49" charset="0"/>
            </a:endParaRPr>
          </a:p>
        </p:txBody>
      </p:sp>
      <p:sp>
        <p:nvSpPr>
          <p:cNvPr id="44" name="CaixaDeTexto 43">
            <a:extLst>
              <a:ext uri="{FF2B5EF4-FFF2-40B4-BE49-F238E27FC236}">
                <a16:creationId xmlns:a16="http://schemas.microsoft.com/office/drawing/2014/main" id="{127170B4-15B4-932B-A6EA-D4557355A49F}"/>
              </a:ext>
            </a:extLst>
          </p:cNvPr>
          <p:cNvSpPr txBox="1"/>
          <p:nvPr/>
        </p:nvSpPr>
        <p:spPr>
          <a:xfrm>
            <a:off x="243550" y="403166"/>
            <a:ext cx="4700157" cy="2308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pt-PT" sz="900" dirty="0">
                <a:solidFill>
                  <a:srgbClr val="FFFFFF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Aula 05 | </a:t>
            </a:r>
            <a:r>
              <a:rPr lang="pt-PT" sz="900" dirty="0" err="1">
                <a:solidFill>
                  <a:srgbClr val="FFFFFF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Azure</a:t>
            </a:r>
            <a:r>
              <a:rPr lang="pt-PT" sz="900" dirty="0">
                <a:solidFill>
                  <a:srgbClr val="FFFFFF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 Cosmos DB usando linguagem SQL</a:t>
            </a:r>
          </a:p>
        </p:txBody>
      </p:sp>
    </p:spTree>
    <p:extLst>
      <p:ext uri="{BB962C8B-B14F-4D97-AF65-F5344CB8AC3E}">
        <p14:creationId xmlns:p14="http://schemas.microsoft.com/office/powerpoint/2010/main" val="18907944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9" grpId="0"/>
      <p:bldP spid="41" grpId="0"/>
      <p:bldP spid="42" grpId="0"/>
      <p:bldP spid="43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3"/>
          <p:cNvSpPr txBox="1"/>
          <p:nvPr/>
        </p:nvSpPr>
        <p:spPr>
          <a:xfrm>
            <a:off x="240549" y="124357"/>
            <a:ext cx="5327627" cy="4000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r>
              <a:rPr lang="pt-BR" dirty="0">
                <a:solidFill>
                  <a:srgbClr val="A6F750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  <a:sym typeface="Ubuntu Light"/>
              </a:rPr>
              <a:t>O que é Azure Cosmos DB?</a:t>
            </a:r>
            <a:endParaRPr lang="pt-BR" dirty="0">
              <a:latin typeface="Fira Code" panose="020B0809050000020004" pitchFamily="49" charset="0"/>
              <a:ea typeface="Fira Code" panose="020B0809050000020004" pitchFamily="49" charset="0"/>
              <a:cs typeface="Fira Code" panose="020B0809050000020004" pitchFamily="49" charset="0"/>
            </a:endParaRPr>
          </a:p>
        </p:txBody>
      </p:sp>
      <p:sp>
        <p:nvSpPr>
          <p:cNvPr id="51" name="Google Shape;51;p13"/>
          <p:cNvSpPr txBox="1"/>
          <p:nvPr/>
        </p:nvSpPr>
        <p:spPr>
          <a:xfrm>
            <a:off x="240549" y="337905"/>
            <a:ext cx="4463410" cy="3231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r>
              <a:rPr lang="pt-PT" sz="900" dirty="0">
                <a:solidFill>
                  <a:srgbClr val="FFFFFF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Aula 05 | </a:t>
            </a:r>
            <a:r>
              <a:rPr lang="pt-PT" sz="900" dirty="0" err="1">
                <a:solidFill>
                  <a:srgbClr val="FFFFFF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Azure</a:t>
            </a:r>
            <a:r>
              <a:rPr lang="pt-PT" sz="900" dirty="0">
                <a:solidFill>
                  <a:srgbClr val="FFFFFF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 Cosmos DB usando linguagem SQL</a:t>
            </a:r>
          </a:p>
        </p:txBody>
      </p:sp>
      <p:pic>
        <p:nvPicPr>
          <p:cNvPr id="2" name="Picture 2" descr="Cosmos DB - Wikipedia">
            <a:extLst>
              <a:ext uri="{FF2B5EF4-FFF2-40B4-BE49-F238E27FC236}">
                <a16:creationId xmlns:a16="http://schemas.microsoft.com/office/drawing/2014/main" id="{DE6A3566-C002-81DD-C615-8F603016439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19251" y="1631330"/>
            <a:ext cx="2693547" cy="18808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682C5BF2-6BFF-B924-7A1E-757AFFB391CD}"/>
              </a:ext>
            </a:extLst>
          </p:cNvPr>
          <p:cNvSpPr txBox="1"/>
          <p:nvPr/>
        </p:nvSpPr>
        <p:spPr>
          <a:xfrm>
            <a:off x="512957" y="1375317"/>
            <a:ext cx="5055220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Clr>
                <a:srgbClr val="92D050"/>
              </a:buClr>
              <a:buFont typeface="Wingdings" panose="05000000000000000000" pitchFamily="2" charset="2"/>
              <a:buChar char="§"/>
            </a:pPr>
            <a:r>
              <a:rPr lang="pt-PT" sz="1600" dirty="0">
                <a:solidFill>
                  <a:srgbClr val="FFFFFF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Microsoft</a:t>
            </a:r>
          </a:p>
          <a:p>
            <a:pPr marL="285750" indent="-285750">
              <a:buClr>
                <a:srgbClr val="92D050"/>
              </a:buClr>
              <a:buFont typeface="Wingdings" panose="05000000000000000000" pitchFamily="2" charset="2"/>
              <a:buChar char="§"/>
            </a:pPr>
            <a:r>
              <a:rPr lang="pt-PT" sz="1600" dirty="0" err="1">
                <a:solidFill>
                  <a:srgbClr val="FFFFFF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NoSQL</a:t>
            </a:r>
            <a:endParaRPr lang="pt-PT" sz="1600" dirty="0">
              <a:solidFill>
                <a:srgbClr val="FFFFFF"/>
              </a:solidFill>
              <a:latin typeface="Fira Code" panose="020B0809050000020004" pitchFamily="49" charset="0"/>
              <a:ea typeface="Fira Code" panose="020B0809050000020004" pitchFamily="49" charset="0"/>
              <a:cs typeface="Fira Code" panose="020B0809050000020004" pitchFamily="49" charset="0"/>
            </a:endParaRPr>
          </a:p>
          <a:p>
            <a:pPr marL="285750" indent="-285750">
              <a:buClr>
                <a:srgbClr val="92D050"/>
              </a:buClr>
              <a:buFont typeface="Wingdings" panose="05000000000000000000" pitchFamily="2" charset="2"/>
              <a:buChar char="§"/>
            </a:pPr>
            <a:r>
              <a:rPr lang="pt-PT" sz="1600" dirty="0">
                <a:solidFill>
                  <a:srgbClr val="FFFFFF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Multimodelo</a:t>
            </a:r>
          </a:p>
          <a:p>
            <a:pPr marL="285750" indent="-285750">
              <a:buClr>
                <a:srgbClr val="92D050"/>
              </a:buClr>
              <a:buFont typeface="Wingdings" panose="05000000000000000000" pitchFamily="2" charset="2"/>
              <a:buChar char="§"/>
            </a:pPr>
            <a:r>
              <a:rPr lang="pt-PT" sz="1600" dirty="0">
                <a:solidFill>
                  <a:srgbClr val="FFFFFF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Escalabilidade automática</a:t>
            </a:r>
          </a:p>
          <a:p>
            <a:pPr marL="285750" indent="-285750">
              <a:buClr>
                <a:srgbClr val="92D050"/>
              </a:buClr>
              <a:buFont typeface="Wingdings" panose="05000000000000000000" pitchFamily="2" charset="2"/>
              <a:buChar char="§"/>
            </a:pPr>
            <a:r>
              <a:rPr lang="pt-PT" sz="1600" dirty="0">
                <a:solidFill>
                  <a:srgbClr val="FFFFFF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Alta performance</a:t>
            </a:r>
          </a:p>
          <a:p>
            <a:pPr marL="285750" indent="-285750">
              <a:buClr>
                <a:srgbClr val="92D050"/>
              </a:buClr>
              <a:buFont typeface="Wingdings" panose="05000000000000000000" pitchFamily="2" charset="2"/>
              <a:buChar char="§"/>
            </a:pPr>
            <a:r>
              <a:rPr lang="pt-PT" sz="1600" dirty="0">
                <a:solidFill>
                  <a:srgbClr val="FFFFFF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Integração perfeita com software e as principais tecnologia</a:t>
            </a:r>
          </a:p>
          <a:p>
            <a:pPr marL="285750" indent="-285750">
              <a:buClr>
                <a:srgbClr val="92D050"/>
              </a:buClr>
              <a:buFont typeface="Wingdings" panose="05000000000000000000" pitchFamily="2" charset="2"/>
              <a:buChar char="§"/>
            </a:pPr>
            <a:r>
              <a:rPr lang="pt-PT" sz="1600" dirty="0">
                <a:solidFill>
                  <a:srgbClr val="FFFFFF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Maio 2017</a:t>
            </a:r>
          </a:p>
          <a:p>
            <a:pPr marL="285750" indent="-285750">
              <a:buClr>
                <a:srgbClr val="92D050"/>
              </a:buClr>
              <a:buFont typeface="Wingdings" panose="05000000000000000000" pitchFamily="2" charset="2"/>
              <a:buChar char="§"/>
            </a:pPr>
            <a:endParaRPr lang="pt-PT" sz="1600" dirty="0">
              <a:solidFill>
                <a:srgbClr val="FFFFFF"/>
              </a:solidFill>
              <a:latin typeface="Fira Code" panose="020B0809050000020004" pitchFamily="49" charset="0"/>
              <a:ea typeface="Fira Code" panose="020B0809050000020004" pitchFamily="49" charset="0"/>
              <a:cs typeface="Fira Code" panose="020B0809050000020004" pitchFamily="49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">
          <a:extLst>
            <a:ext uri="{FF2B5EF4-FFF2-40B4-BE49-F238E27FC236}">
              <a16:creationId xmlns:a16="http://schemas.microsoft.com/office/drawing/2014/main" id="{2C16A199-7E4F-2FC4-50D5-412FBA682C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3">
            <a:extLst>
              <a:ext uri="{FF2B5EF4-FFF2-40B4-BE49-F238E27FC236}">
                <a16:creationId xmlns:a16="http://schemas.microsoft.com/office/drawing/2014/main" id="{3EE1B696-C9B6-584F-925E-F6690541E13F}"/>
              </a:ext>
            </a:extLst>
          </p:cNvPr>
          <p:cNvSpPr txBox="1"/>
          <p:nvPr/>
        </p:nvSpPr>
        <p:spPr>
          <a:xfrm>
            <a:off x="240549" y="124357"/>
            <a:ext cx="6576563" cy="4000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r>
              <a:rPr lang="pt-PT" dirty="0">
                <a:solidFill>
                  <a:srgbClr val="A6F750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  <a:sym typeface="Ubuntu Light"/>
              </a:rPr>
              <a:t>Estrutura de um documento no Cosmos DB</a:t>
            </a:r>
            <a:endParaRPr lang="pt-BR" dirty="0">
              <a:latin typeface="Fira Code" panose="020B0809050000020004" pitchFamily="49" charset="0"/>
              <a:ea typeface="Fira Code" panose="020B0809050000020004" pitchFamily="49" charset="0"/>
              <a:cs typeface="Fira Code" panose="020B0809050000020004" pitchFamily="49" charset="0"/>
            </a:endParaRPr>
          </a:p>
        </p:txBody>
      </p:sp>
      <p:sp>
        <p:nvSpPr>
          <p:cNvPr id="51" name="Google Shape;51;p13">
            <a:extLst>
              <a:ext uri="{FF2B5EF4-FFF2-40B4-BE49-F238E27FC236}">
                <a16:creationId xmlns:a16="http://schemas.microsoft.com/office/drawing/2014/main" id="{FCF40A47-860F-B391-AC39-32BD017D421D}"/>
              </a:ext>
            </a:extLst>
          </p:cNvPr>
          <p:cNvSpPr txBox="1"/>
          <p:nvPr/>
        </p:nvSpPr>
        <p:spPr>
          <a:xfrm>
            <a:off x="240549" y="337905"/>
            <a:ext cx="4463410" cy="3231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r>
              <a:rPr lang="pt-PT" sz="900" dirty="0">
                <a:solidFill>
                  <a:srgbClr val="FFFFFF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Aula 05 | </a:t>
            </a:r>
            <a:r>
              <a:rPr lang="pt-PT" sz="900" dirty="0" err="1">
                <a:solidFill>
                  <a:srgbClr val="FFFFFF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Azure</a:t>
            </a:r>
            <a:r>
              <a:rPr lang="pt-PT" sz="900" dirty="0">
                <a:solidFill>
                  <a:srgbClr val="FFFFFF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 Cosmos DB usando linguagem SQL</a:t>
            </a:r>
          </a:p>
        </p:txBody>
      </p:sp>
      <p:grpSp>
        <p:nvGrpSpPr>
          <p:cNvPr id="3" name="Google Shape;109;p14">
            <a:extLst>
              <a:ext uri="{FF2B5EF4-FFF2-40B4-BE49-F238E27FC236}">
                <a16:creationId xmlns:a16="http://schemas.microsoft.com/office/drawing/2014/main" id="{7D4A919A-7564-3C31-24F4-3914FF33F801}"/>
              </a:ext>
            </a:extLst>
          </p:cNvPr>
          <p:cNvGrpSpPr/>
          <p:nvPr/>
        </p:nvGrpSpPr>
        <p:grpSpPr>
          <a:xfrm>
            <a:off x="397280" y="737984"/>
            <a:ext cx="8553432" cy="4228025"/>
            <a:chOff x="527225" y="1006888"/>
            <a:chExt cx="6536100" cy="3409800"/>
          </a:xfrm>
        </p:grpSpPr>
        <p:sp>
          <p:nvSpPr>
            <p:cNvPr id="4" name="Google Shape;110;p14">
              <a:extLst>
                <a:ext uri="{FF2B5EF4-FFF2-40B4-BE49-F238E27FC236}">
                  <a16:creationId xmlns:a16="http://schemas.microsoft.com/office/drawing/2014/main" id="{EC946D4D-E932-7611-222B-92DB1DFFED90}"/>
                </a:ext>
              </a:extLst>
            </p:cNvPr>
            <p:cNvSpPr/>
            <p:nvPr/>
          </p:nvSpPr>
          <p:spPr>
            <a:xfrm>
              <a:off x="527225" y="1006888"/>
              <a:ext cx="6536100" cy="3409800"/>
            </a:xfrm>
            <a:prstGeom prst="roundRect">
              <a:avLst>
                <a:gd name="adj" fmla="val 8123"/>
              </a:avLst>
            </a:prstGeom>
            <a:solidFill>
              <a:srgbClr val="282C3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500" dirty="0"/>
            </a:p>
          </p:txBody>
        </p:sp>
        <p:sp>
          <p:nvSpPr>
            <p:cNvPr id="5" name="Google Shape;111;p14">
              <a:extLst>
                <a:ext uri="{FF2B5EF4-FFF2-40B4-BE49-F238E27FC236}">
                  <a16:creationId xmlns:a16="http://schemas.microsoft.com/office/drawing/2014/main" id="{22421211-5AFA-2EEA-FB52-3CFE7829B7BF}"/>
                </a:ext>
              </a:extLst>
            </p:cNvPr>
            <p:cNvSpPr/>
            <p:nvPr/>
          </p:nvSpPr>
          <p:spPr>
            <a:xfrm>
              <a:off x="527225" y="1724100"/>
              <a:ext cx="88800" cy="1972800"/>
            </a:xfrm>
            <a:prstGeom prst="rect">
              <a:avLst/>
            </a:prstGeom>
            <a:solidFill>
              <a:srgbClr val="A6F75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A6F750"/>
                </a:solidFill>
              </a:endParaRPr>
            </a:p>
          </p:txBody>
        </p:sp>
      </p:grpSp>
      <p:pic>
        <p:nvPicPr>
          <p:cNvPr id="9" name="Picture 8">
            <a:extLst>
              <a:ext uri="{FF2B5EF4-FFF2-40B4-BE49-F238E27FC236}">
                <a16:creationId xmlns:a16="http://schemas.microsoft.com/office/drawing/2014/main" id="{9547D3C7-8002-1EFD-A041-0099F03406E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3797" y="874588"/>
            <a:ext cx="2582358" cy="3931007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278700DC-BB83-747A-CB3B-8ED4D588BE24}"/>
              </a:ext>
            </a:extLst>
          </p:cNvPr>
          <p:cNvSpPr txBox="1"/>
          <p:nvPr/>
        </p:nvSpPr>
        <p:spPr>
          <a:xfrm>
            <a:off x="3484226" y="874588"/>
            <a:ext cx="527319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b="1" u="sng" dirty="0">
                <a:solidFill>
                  <a:srgbClr val="A6F750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J</a:t>
            </a:r>
            <a:r>
              <a:rPr lang="pt-PT" dirty="0">
                <a:solidFill>
                  <a:srgbClr val="A6F750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ava</a:t>
            </a:r>
            <a:r>
              <a:rPr lang="pt-PT" b="1" u="sng" dirty="0">
                <a:solidFill>
                  <a:srgbClr val="A6F750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S</a:t>
            </a:r>
            <a:r>
              <a:rPr lang="pt-PT" dirty="0">
                <a:solidFill>
                  <a:srgbClr val="A6F750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cript </a:t>
            </a:r>
            <a:r>
              <a:rPr lang="pt-PT" b="1" u="sng" dirty="0" err="1">
                <a:solidFill>
                  <a:srgbClr val="A6F750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O</a:t>
            </a:r>
            <a:r>
              <a:rPr lang="pt-PT" dirty="0" err="1">
                <a:solidFill>
                  <a:srgbClr val="A6F750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bject</a:t>
            </a:r>
            <a:r>
              <a:rPr lang="pt-PT" dirty="0">
                <a:solidFill>
                  <a:srgbClr val="A6F750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 </a:t>
            </a:r>
            <a:r>
              <a:rPr lang="pt-PT" b="1" u="sng" dirty="0" err="1">
                <a:solidFill>
                  <a:srgbClr val="A6F750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N</a:t>
            </a:r>
            <a:r>
              <a:rPr lang="pt-PT" dirty="0" err="1">
                <a:solidFill>
                  <a:srgbClr val="A6F750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otation</a:t>
            </a:r>
            <a:r>
              <a:rPr lang="pt-PT" dirty="0">
                <a:solidFill>
                  <a:srgbClr val="A6F750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 (.</a:t>
            </a:r>
            <a:r>
              <a:rPr lang="pt-PT" dirty="0" err="1">
                <a:solidFill>
                  <a:srgbClr val="A6F750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json</a:t>
            </a:r>
            <a:r>
              <a:rPr lang="pt-PT" dirty="0">
                <a:solidFill>
                  <a:srgbClr val="A6F750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)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6BD5DD0-1193-D6CF-FB29-0D7DE08156E9}"/>
              </a:ext>
            </a:extLst>
          </p:cNvPr>
          <p:cNvSpPr txBox="1"/>
          <p:nvPr/>
        </p:nvSpPr>
        <p:spPr>
          <a:xfrm>
            <a:off x="3528830" y="2904018"/>
            <a:ext cx="5273199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Clr>
                <a:srgbClr val="92D050"/>
              </a:buClr>
            </a:pPr>
            <a:r>
              <a:rPr lang="pt-PT" dirty="0">
                <a:solidFill>
                  <a:srgbClr val="A6F750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Por que JSON?</a:t>
            </a:r>
          </a:p>
          <a:p>
            <a:pPr marL="285750" indent="-285750">
              <a:buClr>
                <a:srgbClr val="92D050"/>
              </a:buClr>
              <a:buFont typeface="Wingdings" panose="05000000000000000000" pitchFamily="2" charset="2"/>
              <a:buChar char="§"/>
            </a:pPr>
            <a:r>
              <a:rPr lang="pt-PT" dirty="0">
                <a:solidFill>
                  <a:srgbClr val="FFFFFF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Amplamente utilizado em diversas tecnologias</a:t>
            </a:r>
          </a:p>
          <a:p>
            <a:pPr marL="285750" indent="-285750">
              <a:buClr>
                <a:srgbClr val="92D050"/>
              </a:buClr>
              <a:buFont typeface="Wingdings" panose="05000000000000000000" pitchFamily="2" charset="2"/>
              <a:buChar char="§"/>
            </a:pPr>
            <a:r>
              <a:rPr lang="pt-PT" dirty="0">
                <a:solidFill>
                  <a:srgbClr val="FFFFFF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Formato de texto leve para troca de dados</a:t>
            </a:r>
          </a:p>
          <a:p>
            <a:pPr marL="285750" indent="-285750">
              <a:buClr>
                <a:srgbClr val="92D050"/>
              </a:buClr>
              <a:buFont typeface="Wingdings" panose="05000000000000000000" pitchFamily="2" charset="2"/>
              <a:buChar char="§"/>
            </a:pPr>
            <a:r>
              <a:rPr lang="pt-PT" dirty="0">
                <a:solidFill>
                  <a:srgbClr val="FFFFFF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Permite modelar dados de forma mais natural</a:t>
            </a:r>
          </a:p>
          <a:p>
            <a:pPr marL="285750" indent="-285750">
              <a:buClr>
                <a:srgbClr val="92D050"/>
              </a:buClr>
              <a:buFont typeface="Wingdings" panose="05000000000000000000" pitchFamily="2" charset="2"/>
              <a:buChar char="§"/>
            </a:pPr>
            <a:r>
              <a:rPr lang="pt-PT" dirty="0">
                <a:solidFill>
                  <a:srgbClr val="FFFFFF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Suporte nativo em diversas linguagens</a:t>
            </a:r>
          </a:p>
          <a:p>
            <a:pPr marL="285750" indent="-285750">
              <a:buClr>
                <a:srgbClr val="92D050"/>
              </a:buClr>
              <a:buFont typeface="Wingdings" panose="05000000000000000000" pitchFamily="2" charset="2"/>
              <a:buChar char="§"/>
            </a:pPr>
            <a:r>
              <a:rPr lang="pt-PT" dirty="0">
                <a:solidFill>
                  <a:srgbClr val="FFFFFF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Leitura fácil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87ECD2A-6695-8AF1-4E64-590109FA1D75}"/>
              </a:ext>
            </a:extLst>
          </p:cNvPr>
          <p:cNvSpPr txBox="1"/>
          <p:nvPr/>
        </p:nvSpPr>
        <p:spPr>
          <a:xfrm>
            <a:off x="3528829" y="1458416"/>
            <a:ext cx="5273199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Clr>
                <a:srgbClr val="92D050"/>
              </a:buClr>
              <a:buFont typeface="Wingdings" panose="05000000000000000000" pitchFamily="2" charset="2"/>
              <a:buChar char="§"/>
            </a:pPr>
            <a:r>
              <a:rPr lang="pt-PT" dirty="0">
                <a:solidFill>
                  <a:srgbClr val="FFFFFF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Pares de chave e valor (</a:t>
            </a:r>
            <a:r>
              <a:rPr lang="pt-PT" dirty="0" err="1">
                <a:solidFill>
                  <a:srgbClr val="FFFFFF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String</a:t>
            </a:r>
            <a:r>
              <a:rPr lang="pt-PT" dirty="0">
                <a:solidFill>
                  <a:srgbClr val="FFFFFF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, booleano, </a:t>
            </a:r>
            <a:r>
              <a:rPr lang="pt-PT" dirty="0" err="1">
                <a:solidFill>
                  <a:srgbClr val="FFFFFF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array</a:t>
            </a:r>
            <a:r>
              <a:rPr lang="pt-PT" dirty="0">
                <a:solidFill>
                  <a:srgbClr val="FFFFFF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, objeto ou nulo)</a:t>
            </a:r>
          </a:p>
          <a:p>
            <a:pPr marL="285750" indent="-285750">
              <a:buClr>
                <a:srgbClr val="92D050"/>
              </a:buClr>
              <a:buFont typeface="Wingdings" panose="05000000000000000000" pitchFamily="2" charset="2"/>
              <a:buChar char="§"/>
            </a:pPr>
            <a:r>
              <a:rPr lang="pt-PT" dirty="0">
                <a:solidFill>
                  <a:srgbClr val="FFFFFF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Chaves para delimitar objetos</a:t>
            </a:r>
          </a:p>
          <a:p>
            <a:pPr marL="285750" indent="-285750">
              <a:buClr>
                <a:srgbClr val="92D050"/>
              </a:buClr>
              <a:buFont typeface="Wingdings" panose="05000000000000000000" pitchFamily="2" charset="2"/>
              <a:buChar char="§"/>
            </a:pPr>
            <a:r>
              <a:rPr lang="pt-PT" dirty="0">
                <a:solidFill>
                  <a:srgbClr val="FFFFFF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Colchetes para </a:t>
            </a:r>
            <a:r>
              <a:rPr lang="pt-PT" dirty="0" err="1">
                <a:solidFill>
                  <a:srgbClr val="FFFFFF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arrays</a:t>
            </a:r>
            <a:endParaRPr lang="pt-PT" dirty="0">
              <a:solidFill>
                <a:srgbClr val="FFFFFF"/>
              </a:solidFill>
              <a:latin typeface="Fira Code" panose="020B0809050000020004" pitchFamily="49" charset="0"/>
              <a:ea typeface="Fira Code" panose="020B0809050000020004" pitchFamily="49" charset="0"/>
              <a:cs typeface="Fira Code" panose="020B0809050000020004" pitchFamily="49" charset="0"/>
            </a:endParaRPr>
          </a:p>
          <a:p>
            <a:pPr marL="285750" indent="-285750">
              <a:buClr>
                <a:srgbClr val="92D050"/>
              </a:buClr>
              <a:buFont typeface="Wingdings" panose="05000000000000000000" pitchFamily="2" charset="2"/>
              <a:buChar char="§"/>
            </a:pPr>
            <a:r>
              <a:rPr lang="pt-PT" dirty="0">
                <a:solidFill>
                  <a:srgbClr val="FFFFFF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Dois pontos para separar chave de valor</a:t>
            </a:r>
          </a:p>
        </p:txBody>
      </p:sp>
    </p:spTree>
    <p:extLst>
      <p:ext uri="{BB962C8B-B14F-4D97-AF65-F5344CB8AC3E}">
        <p14:creationId xmlns:p14="http://schemas.microsoft.com/office/powerpoint/2010/main" val="12050193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2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">
          <a:extLst>
            <a:ext uri="{FF2B5EF4-FFF2-40B4-BE49-F238E27FC236}">
              <a16:creationId xmlns:a16="http://schemas.microsoft.com/office/drawing/2014/main" id="{9262133A-5CC9-1658-F919-90E3D9FF0F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oogle Shape;109;p14">
            <a:extLst>
              <a:ext uri="{FF2B5EF4-FFF2-40B4-BE49-F238E27FC236}">
                <a16:creationId xmlns:a16="http://schemas.microsoft.com/office/drawing/2014/main" id="{47D800A9-F8F9-3B10-9067-D83461B0349E}"/>
              </a:ext>
            </a:extLst>
          </p:cNvPr>
          <p:cNvGrpSpPr/>
          <p:nvPr/>
        </p:nvGrpSpPr>
        <p:grpSpPr>
          <a:xfrm>
            <a:off x="397280" y="737984"/>
            <a:ext cx="8315540" cy="4228025"/>
            <a:chOff x="527225" y="1006888"/>
            <a:chExt cx="6536100" cy="3409800"/>
          </a:xfrm>
        </p:grpSpPr>
        <p:sp>
          <p:nvSpPr>
            <p:cNvPr id="7" name="Google Shape;110;p14">
              <a:extLst>
                <a:ext uri="{FF2B5EF4-FFF2-40B4-BE49-F238E27FC236}">
                  <a16:creationId xmlns:a16="http://schemas.microsoft.com/office/drawing/2014/main" id="{8220D4C3-F92F-FEE6-4B19-B8C0888084CC}"/>
                </a:ext>
              </a:extLst>
            </p:cNvPr>
            <p:cNvSpPr/>
            <p:nvPr/>
          </p:nvSpPr>
          <p:spPr>
            <a:xfrm>
              <a:off x="527225" y="1006888"/>
              <a:ext cx="6536100" cy="3409800"/>
            </a:xfrm>
            <a:prstGeom prst="roundRect">
              <a:avLst>
                <a:gd name="adj" fmla="val 8123"/>
              </a:avLst>
            </a:prstGeom>
            <a:solidFill>
              <a:srgbClr val="282C3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500" dirty="0"/>
            </a:p>
          </p:txBody>
        </p:sp>
        <p:sp>
          <p:nvSpPr>
            <p:cNvPr id="8" name="Google Shape;111;p14">
              <a:extLst>
                <a:ext uri="{FF2B5EF4-FFF2-40B4-BE49-F238E27FC236}">
                  <a16:creationId xmlns:a16="http://schemas.microsoft.com/office/drawing/2014/main" id="{C36E6BB0-97A1-6159-4498-69A765D24A82}"/>
                </a:ext>
              </a:extLst>
            </p:cNvPr>
            <p:cNvSpPr/>
            <p:nvPr/>
          </p:nvSpPr>
          <p:spPr>
            <a:xfrm>
              <a:off x="527225" y="1724100"/>
              <a:ext cx="88800" cy="1972800"/>
            </a:xfrm>
            <a:prstGeom prst="rect">
              <a:avLst/>
            </a:prstGeom>
            <a:solidFill>
              <a:srgbClr val="A6F75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A6F750"/>
                </a:solidFill>
              </a:endParaRPr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0E10796B-091C-D2A4-164C-D6C814DF7217}"/>
              </a:ext>
            </a:extLst>
          </p:cNvPr>
          <p:cNvSpPr txBox="1"/>
          <p:nvPr/>
        </p:nvSpPr>
        <p:spPr>
          <a:xfrm>
            <a:off x="2405894" y="4930653"/>
            <a:ext cx="4596130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PT" sz="900" i="1" u="sng" dirty="0">
                <a:solidFill>
                  <a:schemeClr val="tx1">
                    <a:lumMod val="65000"/>
                    <a:lumOff val="35000"/>
                  </a:schemeClr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https://learn.microsoft.com/pt-br/azure/cosmos-db/resource-model</a:t>
            </a:r>
          </a:p>
        </p:txBody>
      </p:sp>
      <p:pic>
        <p:nvPicPr>
          <p:cNvPr id="2050" name="Picture 2" descr="Diagrama do relacionamento entre um contêiner e os itens, incluindo entidades irmãs como procedimentos armazenados, funções definidas pelo usuário e gatilhos.">
            <a:extLst>
              <a:ext uri="{FF2B5EF4-FFF2-40B4-BE49-F238E27FC236}">
                <a16:creationId xmlns:a16="http://schemas.microsoft.com/office/drawing/2014/main" id="{D4206221-F2A1-A5BD-0A29-83DEED3879E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0552" y="1061536"/>
            <a:ext cx="7961971" cy="35455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Google Shape;50;p13">
            <a:extLst>
              <a:ext uri="{FF2B5EF4-FFF2-40B4-BE49-F238E27FC236}">
                <a16:creationId xmlns:a16="http://schemas.microsoft.com/office/drawing/2014/main" id="{219E3170-8F5C-A9FC-FBC6-2967B7A5BDAF}"/>
              </a:ext>
            </a:extLst>
          </p:cNvPr>
          <p:cNvSpPr txBox="1"/>
          <p:nvPr/>
        </p:nvSpPr>
        <p:spPr>
          <a:xfrm>
            <a:off x="240549" y="124357"/>
            <a:ext cx="6576563" cy="4000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r>
              <a:rPr lang="pt-PT" dirty="0">
                <a:solidFill>
                  <a:srgbClr val="A6F750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  <a:sym typeface="Ubuntu Light"/>
              </a:rPr>
              <a:t>Estrutura de um documento no Cosmos DB</a:t>
            </a:r>
            <a:endParaRPr lang="pt-BR" dirty="0">
              <a:latin typeface="Fira Code" panose="020B0809050000020004" pitchFamily="49" charset="0"/>
              <a:ea typeface="Fira Code" panose="020B0809050000020004" pitchFamily="49" charset="0"/>
              <a:cs typeface="Fira Code" panose="020B0809050000020004" pitchFamily="49" charset="0"/>
            </a:endParaRPr>
          </a:p>
        </p:txBody>
      </p:sp>
      <p:sp>
        <p:nvSpPr>
          <p:cNvPr id="4" name="Google Shape;51;p13">
            <a:extLst>
              <a:ext uri="{FF2B5EF4-FFF2-40B4-BE49-F238E27FC236}">
                <a16:creationId xmlns:a16="http://schemas.microsoft.com/office/drawing/2014/main" id="{8EEE864A-5608-A6C1-F693-A9A09D8AFE87}"/>
              </a:ext>
            </a:extLst>
          </p:cNvPr>
          <p:cNvSpPr txBox="1"/>
          <p:nvPr/>
        </p:nvSpPr>
        <p:spPr>
          <a:xfrm>
            <a:off x="240549" y="337905"/>
            <a:ext cx="4463410" cy="3231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r>
              <a:rPr lang="pt-PT" sz="900" dirty="0">
                <a:solidFill>
                  <a:srgbClr val="FFFFFF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Aula 05 | </a:t>
            </a:r>
            <a:r>
              <a:rPr lang="pt-PT" sz="900" dirty="0" err="1">
                <a:solidFill>
                  <a:srgbClr val="FFFFFF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Azure</a:t>
            </a:r>
            <a:r>
              <a:rPr lang="pt-PT" sz="900" dirty="0">
                <a:solidFill>
                  <a:srgbClr val="FFFFFF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 Cosmos DB usando linguagem SQL</a:t>
            </a:r>
          </a:p>
        </p:txBody>
      </p:sp>
    </p:spTree>
    <p:extLst>
      <p:ext uri="{BB962C8B-B14F-4D97-AF65-F5344CB8AC3E}">
        <p14:creationId xmlns:p14="http://schemas.microsoft.com/office/powerpoint/2010/main" val="193156337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C58D395-4B12-FFC9-3A25-7B8C0C508DA9}"/>
              </a:ext>
            </a:extLst>
          </p:cNvPr>
          <p:cNvSpPr txBox="1"/>
          <p:nvPr/>
        </p:nvSpPr>
        <p:spPr>
          <a:xfrm>
            <a:off x="3652846" y="2202418"/>
            <a:ext cx="3118161" cy="160043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PT" b="1" dirty="0">
                <a:solidFill>
                  <a:srgbClr val="92D050"/>
                </a:solidFill>
                <a:latin typeface="Fira Code Light"/>
                <a:ea typeface="+mn-ea"/>
                <a:cs typeface="+mn-cs"/>
              </a:rPr>
              <a:t>Demostração</a:t>
            </a:r>
          </a:p>
          <a:p>
            <a:pPr marL="285750" indent="-285750">
              <a:buClr>
                <a:srgbClr val="92D050"/>
              </a:buClr>
              <a:buFont typeface="Wingdings" panose="05000000000000000000" pitchFamily="2" charset="2"/>
              <a:buChar char="ü"/>
            </a:pPr>
            <a:r>
              <a:rPr lang="pt-PT" b="1" dirty="0">
                <a:solidFill>
                  <a:schemeClr val="bg1"/>
                </a:solidFill>
                <a:latin typeface="Fira Code Light"/>
                <a:ea typeface="+mn-ea"/>
                <a:cs typeface="+mn-cs"/>
              </a:rPr>
              <a:t>Criar uma consulta básica</a:t>
            </a:r>
          </a:p>
          <a:p>
            <a:pPr marL="285750" indent="-285750">
              <a:buClr>
                <a:srgbClr val="92D050"/>
              </a:buClr>
              <a:buFont typeface="Wingdings" panose="05000000000000000000" pitchFamily="2" charset="2"/>
              <a:buChar char="ü"/>
            </a:pPr>
            <a:r>
              <a:rPr lang="pt-PT" b="1" dirty="0">
                <a:solidFill>
                  <a:schemeClr val="bg1"/>
                </a:solidFill>
                <a:latin typeface="Fira Code Light"/>
                <a:ea typeface="+mn-ea"/>
                <a:cs typeface="+mn-cs"/>
              </a:rPr>
              <a:t>Filtrar dados</a:t>
            </a:r>
          </a:p>
          <a:p>
            <a:pPr marL="285750" indent="-285750">
              <a:buClr>
                <a:srgbClr val="92D050"/>
              </a:buClr>
              <a:buFont typeface="Wingdings" panose="05000000000000000000" pitchFamily="2" charset="2"/>
              <a:buChar char="ü"/>
            </a:pPr>
            <a:r>
              <a:rPr lang="pt-PT" b="1" dirty="0">
                <a:solidFill>
                  <a:schemeClr val="bg1"/>
                </a:solidFill>
                <a:latin typeface="Fira Code Light"/>
                <a:ea typeface="+mn-ea"/>
                <a:cs typeface="+mn-cs"/>
              </a:rPr>
              <a:t>Projeções</a:t>
            </a:r>
          </a:p>
          <a:p>
            <a:pPr marL="285750" indent="-285750">
              <a:buClr>
                <a:srgbClr val="92D050"/>
              </a:buClr>
              <a:buFont typeface="Wingdings" panose="05000000000000000000" pitchFamily="2" charset="2"/>
              <a:buChar char="ü"/>
            </a:pPr>
            <a:r>
              <a:rPr lang="pt-PT" b="1" dirty="0">
                <a:solidFill>
                  <a:schemeClr val="bg1"/>
                </a:solidFill>
                <a:latin typeface="Fira Code Light"/>
                <a:ea typeface="+mn-ea"/>
                <a:cs typeface="+mn-cs"/>
              </a:rPr>
              <a:t>Ordenação</a:t>
            </a:r>
          </a:p>
          <a:p>
            <a:pPr marL="285750" indent="-285750">
              <a:buClr>
                <a:srgbClr val="92D050"/>
              </a:buClr>
              <a:buFont typeface="Wingdings" panose="05000000000000000000" pitchFamily="2" charset="2"/>
              <a:buChar char="ü"/>
            </a:pPr>
            <a:r>
              <a:rPr lang="pt-PT" b="1" dirty="0">
                <a:solidFill>
                  <a:schemeClr val="bg1"/>
                </a:solidFill>
                <a:latin typeface="Fira Code Light"/>
                <a:ea typeface="+mn-ea"/>
                <a:cs typeface="+mn-cs"/>
              </a:rPr>
              <a:t>Funções</a:t>
            </a:r>
          </a:p>
          <a:p>
            <a:pPr marL="285750" indent="-285750">
              <a:buClr>
                <a:srgbClr val="92D050"/>
              </a:buClr>
              <a:buFont typeface="Wingdings" panose="05000000000000000000" pitchFamily="2" charset="2"/>
              <a:buChar char="ü"/>
            </a:pPr>
            <a:r>
              <a:rPr lang="pt-PT" b="1" dirty="0">
                <a:solidFill>
                  <a:schemeClr val="bg1"/>
                </a:solidFill>
                <a:latin typeface="Fira Code Light"/>
                <a:ea typeface="+mn-ea"/>
                <a:cs typeface="+mn-cs"/>
              </a:rPr>
              <a:t>LINQ</a:t>
            </a:r>
          </a:p>
        </p:txBody>
      </p:sp>
      <p:sp>
        <p:nvSpPr>
          <p:cNvPr id="3" name="Google Shape;50;p13">
            <a:extLst>
              <a:ext uri="{FF2B5EF4-FFF2-40B4-BE49-F238E27FC236}">
                <a16:creationId xmlns:a16="http://schemas.microsoft.com/office/drawing/2014/main" id="{C45CC126-0126-9072-1059-8CFA458712D1}"/>
              </a:ext>
            </a:extLst>
          </p:cNvPr>
          <p:cNvSpPr txBox="1"/>
          <p:nvPr/>
        </p:nvSpPr>
        <p:spPr>
          <a:xfrm>
            <a:off x="240549" y="124357"/>
            <a:ext cx="5632427" cy="4000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r>
              <a:rPr lang="pt-BR" dirty="0">
                <a:solidFill>
                  <a:srgbClr val="A6F750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  <a:sym typeface="Ubuntu Light"/>
              </a:rPr>
              <a:t>Vamos praticar!</a:t>
            </a:r>
            <a:endParaRPr lang="pt-BR" dirty="0">
              <a:latin typeface="Fira Code" panose="020B0809050000020004" pitchFamily="49" charset="0"/>
              <a:ea typeface="Fira Code" panose="020B0809050000020004" pitchFamily="49" charset="0"/>
              <a:cs typeface="Fira Code" panose="020B0809050000020004" pitchFamily="49" charset="0"/>
            </a:endParaRPr>
          </a:p>
        </p:txBody>
      </p:sp>
      <p:sp>
        <p:nvSpPr>
          <p:cNvPr id="4" name="Google Shape;51;p13">
            <a:extLst>
              <a:ext uri="{FF2B5EF4-FFF2-40B4-BE49-F238E27FC236}">
                <a16:creationId xmlns:a16="http://schemas.microsoft.com/office/drawing/2014/main" id="{FBE14C4E-3F63-139D-90B7-6894ECBE4A6C}"/>
              </a:ext>
            </a:extLst>
          </p:cNvPr>
          <p:cNvSpPr txBox="1"/>
          <p:nvPr/>
        </p:nvSpPr>
        <p:spPr>
          <a:xfrm>
            <a:off x="240549" y="337905"/>
            <a:ext cx="4463410" cy="3231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r>
              <a:rPr lang="pt-PT" sz="900" dirty="0">
                <a:solidFill>
                  <a:srgbClr val="FFFFFF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Aula 05 | </a:t>
            </a:r>
            <a:r>
              <a:rPr lang="pt-PT" sz="900" dirty="0" err="1">
                <a:solidFill>
                  <a:srgbClr val="FFFFFF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Azure</a:t>
            </a:r>
            <a:r>
              <a:rPr lang="pt-PT" sz="900" dirty="0">
                <a:solidFill>
                  <a:srgbClr val="FFFFFF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 Cosmos DB usando linguagem SQL</a:t>
            </a:r>
          </a:p>
        </p:txBody>
      </p:sp>
    </p:spTree>
    <p:extLst>
      <p:ext uri="{BB962C8B-B14F-4D97-AF65-F5344CB8AC3E}">
        <p14:creationId xmlns:p14="http://schemas.microsoft.com/office/powerpoint/2010/main" val="124548109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12"/>
          <p:cNvSpPr txBox="1"/>
          <p:nvPr/>
        </p:nvSpPr>
        <p:spPr>
          <a:xfrm>
            <a:off x="651512" y="2048544"/>
            <a:ext cx="4810500" cy="10464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28575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6F750"/>
              </a:buClr>
              <a:buSzPts val="1600"/>
              <a:buFont typeface="Ubuntu Light"/>
              <a:buChar char="✔"/>
            </a:pPr>
            <a:r>
              <a:rPr lang="pt-PT" sz="1400" b="1" i="0" u="none" strike="noStrike" cap="none" dirty="0">
                <a:solidFill>
                  <a:schemeClr val="lt1"/>
                </a:solidFill>
                <a:latin typeface="Fira Code Light"/>
                <a:ea typeface="Fira Code Light"/>
                <a:cs typeface="Fira Code Light"/>
                <a:sym typeface="Fira Code Light"/>
              </a:rPr>
              <a:t>O que é </a:t>
            </a:r>
            <a:r>
              <a:rPr lang="pt-PT" sz="1400" b="1" i="0" u="none" strike="noStrike" cap="none" dirty="0" err="1">
                <a:solidFill>
                  <a:schemeClr val="lt1"/>
                </a:solidFill>
                <a:latin typeface="Fira Code Light"/>
                <a:ea typeface="Fira Code Light"/>
                <a:cs typeface="Fira Code Light"/>
                <a:sym typeface="Fira Code Light"/>
              </a:rPr>
              <a:t>Azure</a:t>
            </a:r>
            <a:r>
              <a:rPr lang="pt-PT" sz="1400" b="1" i="0" u="none" strike="noStrike" cap="none" dirty="0">
                <a:solidFill>
                  <a:schemeClr val="lt1"/>
                </a:solidFill>
                <a:latin typeface="Fira Code Light"/>
                <a:ea typeface="Fira Code Light"/>
                <a:cs typeface="Fira Code Light"/>
                <a:sym typeface="Fira Code Light"/>
              </a:rPr>
              <a:t> Cosmos DB? </a:t>
            </a:r>
          </a:p>
          <a:p>
            <a:pPr marL="28575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6F750"/>
              </a:buClr>
              <a:buSzPts val="1600"/>
              <a:buFont typeface="Ubuntu Light"/>
              <a:buChar char="✔"/>
            </a:pPr>
            <a:r>
              <a:rPr lang="pt-PT" sz="1400" b="1" i="0" u="none" strike="noStrike" cap="none" dirty="0">
                <a:solidFill>
                  <a:schemeClr val="lt1"/>
                </a:solidFill>
                <a:latin typeface="Fira Code Light"/>
                <a:ea typeface="Fira Code Light"/>
                <a:cs typeface="Fira Code Light"/>
                <a:sym typeface="Fira Code Light"/>
              </a:rPr>
              <a:t>Estrutura de um documento no Cosmos DB</a:t>
            </a:r>
          </a:p>
          <a:p>
            <a:pPr marL="28575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6F750"/>
              </a:buClr>
              <a:buSzPts val="1600"/>
              <a:buFont typeface="Ubuntu Light"/>
              <a:buChar char="✔"/>
            </a:pPr>
            <a:r>
              <a:rPr lang="pt-PT" sz="1400" b="1" i="0" u="none" strike="noStrike" cap="none" dirty="0">
                <a:solidFill>
                  <a:schemeClr val="lt1"/>
                </a:solidFill>
                <a:latin typeface="Fira Code Light"/>
                <a:ea typeface="Fira Code Light"/>
                <a:cs typeface="Fira Code Light"/>
                <a:sym typeface="Fira Code Light"/>
              </a:rPr>
              <a:t>O que é JSON e porque o Cosmos DB utiliza</a:t>
            </a:r>
          </a:p>
          <a:p>
            <a:pPr marL="28575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6F750"/>
              </a:buClr>
              <a:buSzPts val="1600"/>
              <a:buFont typeface="Ubuntu Light"/>
              <a:buChar char="✔"/>
            </a:pPr>
            <a:r>
              <a:rPr lang="pt-PT" sz="1400" b="1" i="0" u="none" strike="noStrike" cap="none" dirty="0">
                <a:solidFill>
                  <a:schemeClr val="lt1"/>
                </a:solidFill>
                <a:latin typeface="Fira Code Light"/>
                <a:ea typeface="Fira Code Light"/>
                <a:cs typeface="Fira Code Light"/>
                <a:sym typeface="Fira Code Light"/>
              </a:rPr>
              <a:t>Demonstração</a:t>
            </a:r>
          </a:p>
        </p:txBody>
      </p:sp>
      <p:sp>
        <p:nvSpPr>
          <p:cNvPr id="2" name="Google Shape;50;p13">
            <a:extLst>
              <a:ext uri="{FF2B5EF4-FFF2-40B4-BE49-F238E27FC236}">
                <a16:creationId xmlns:a16="http://schemas.microsoft.com/office/drawing/2014/main" id="{F18BA85D-2531-1CFB-C2E5-EFC5AD82FE85}"/>
              </a:ext>
            </a:extLst>
          </p:cNvPr>
          <p:cNvSpPr txBox="1"/>
          <p:nvPr/>
        </p:nvSpPr>
        <p:spPr>
          <a:xfrm>
            <a:off x="240549" y="124357"/>
            <a:ext cx="5632427" cy="4000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r>
              <a:rPr lang="pt-BR" dirty="0">
                <a:solidFill>
                  <a:srgbClr val="A6F750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  <a:sym typeface="Ubuntu Light"/>
              </a:rPr>
              <a:t>Recapitulação</a:t>
            </a:r>
            <a:endParaRPr lang="pt-BR" dirty="0">
              <a:latin typeface="Fira Code" panose="020B0809050000020004" pitchFamily="49" charset="0"/>
              <a:ea typeface="Fira Code" panose="020B0809050000020004" pitchFamily="49" charset="0"/>
              <a:cs typeface="Fira Code" panose="020B0809050000020004" pitchFamily="49" charset="0"/>
            </a:endParaRPr>
          </a:p>
        </p:txBody>
      </p:sp>
      <p:sp>
        <p:nvSpPr>
          <p:cNvPr id="3" name="Google Shape;51;p13">
            <a:extLst>
              <a:ext uri="{FF2B5EF4-FFF2-40B4-BE49-F238E27FC236}">
                <a16:creationId xmlns:a16="http://schemas.microsoft.com/office/drawing/2014/main" id="{3F372C72-6415-430B-784D-CD1C9A3A6A35}"/>
              </a:ext>
            </a:extLst>
          </p:cNvPr>
          <p:cNvSpPr txBox="1"/>
          <p:nvPr/>
        </p:nvSpPr>
        <p:spPr>
          <a:xfrm>
            <a:off x="240549" y="337905"/>
            <a:ext cx="4463410" cy="3231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r>
              <a:rPr lang="pt-PT" sz="900" dirty="0">
                <a:solidFill>
                  <a:srgbClr val="FFFFFF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Aula 05 | </a:t>
            </a:r>
            <a:r>
              <a:rPr lang="pt-PT" sz="900" dirty="0" err="1">
                <a:solidFill>
                  <a:srgbClr val="FFFFFF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Azure</a:t>
            </a:r>
            <a:r>
              <a:rPr lang="pt-PT" sz="900" dirty="0">
                <a:solidFill>
                  <a:srgbClr val="FFFFFF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 Cosmos DB usando linguagem SQL</a:t>
            </a:r>
          </a:p>
        </p:txBody>
      </p:sp>
      <p:pic>
        <p:nvPicPr>
          <p:cNvPr id="1026" name="Picture 2" descr="Cosmos DB - Wikipedia">
            <a:extLst>
              <a:ext uri="{FF2B5EF4-FFF2-40B4-BE49-F238E27FC236}">
                <a16:creationId xmlns:a16="http://schemas.microsoft.com/office/drawing/2014/main" id="{4CD961A4-E406-3A84-E536-35A00AFD57C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19251" y="1631330"/>
            <a:ext cx="2693547" cy="18808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0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0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0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Google Shape;318;p17"/>
          <p:cNvSpPr txBox="1"/>
          <p:nvPr/>
        </p:nvSpPr>
        <p:spPr>
          <a:xfrm>
            <a:off x="3492149" y="2210090"/>
            <a:ext cx="2663324" cy="7232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3500" dirty="0">
                <a:solidFill>
                  <a:srgbClr val="A6F750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  <a:sym typeface="Ubuntu Light"/>
              </a:rPr>
              <a:t>Obrigado!</a:t>
            </a:r>
            <a:endParaRPr sz="3500" dirty="0">
              <a:solidFill>
                <a:srgbClr val="A6F750"/>
              </a:solidFill>
              <a:latin typeface="Fira Code" panose="020B0809050000020004" pitchFamily="49" charset="0"/>
              <a:ea typeface="Fira Code" panose="020B0809050000020004" pitchFamily="49" charset="0"/>
              <a:cs typeface="Fira Code" panose="020B0809050000020004" pitchFamily="49" charset="0"/>
              <a:sym typeface="Ubuntu Light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Metadata/LabelInfo.xml><?xml version="1.0" encoding="utf-8"?>
<clbl:labelList xmlns:clbl="http://schemas.microsoft.com/office/2020/mipLabelMetadata">
  <clbl:label id="{9d258917-277f-42cd-a3cd-14c4e9ee58bc}" enabled="1" method="Standard" siteId="{38ae3bcd-9579-4fd4-adda-b42e1495d55a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1030</TotalTime>
  <Words>308</Words>
  <Application>Microsoft Office PowerPoint</Application>
  <PresentationFormat>On-screen Show (16:9)</PresentationFormat>
  <Paragraphs>50</Paragraphs>
  <Slides>8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5" baseType="lpstr">
      <vt:lpstr>Fira Code Light</vt:lpstr>
      <vt:lpstr>Ubuntu Light</vt:lpstr>
      <vt:lpstr>Ubuntu</vt:lpstr>
      <vt:lpstr>Wingdings</vt:lpstr>
      <vt:lpstr>Arial</vt:lpstr>
      <vt:lpstr>Fira Code</vt:lpstr>
      <vt:lpstr>Simple Light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Benedicto, Everton Jose (SI IT VC PES PLT)</cp:lastModifiedBy>
  <cp:revision>288</cp:revision>
  <dcterms:modified xsi:type="dcterms:W3CDTF">2025-01-05T21:29:29Z</dcterms:modified>
</cp:coreProperties>
</file>