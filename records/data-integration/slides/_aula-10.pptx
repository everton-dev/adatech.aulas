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4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68" r:id="rId12"/>
    <p:sldId id="261" r:id="rId13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5"/>
      <p:bold r:id="rId16"/>
    </p:embeddedFont>
    <p:embeddedFont>
      <p:font typeface="Ubuntu" panose="020B0504030602030204" pitchFamily="34" charset="0"/>
      <p:regular r:id="rId17"/>
      <p:bold r:id="rId18"/>
      <p:italic r:id="rId19"/>
      <p:boldItalic r:id="rId20"/>
    </p:embeddedFont>
    <p:embeddedFont>
      <p:font typeface="Ubuntu Light" panose="020B0304030602030204" pitchFamily="3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708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CDAC8B26-D58F-DE40-8ABC-AD287B5E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DE043860-C48C-0763-1668-29DAC6507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DA42DD3B-0CF8-3165-AF0E-ABF44BACC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8585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03A1078-5FF4-95AF-6362-D0DC7C7D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51333792-AA88-9080-1E22-3A9EAA2C0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4CFB0B3D-E06A-D808-9197-354D26965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1567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7C23151-5A04-01A6-9C60-AC95EBA5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9F218E7-803E-37F2-35B5-3075B4A874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BBD40D8-FF86-8311-5EAC-DE32D22137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6998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28FFF7E2-CD5F-7F38-B88E-3CC60C868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F05E9124-7F83-056C-5990-8DF91D0A68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89FC8519-3E27-3EA3-CDA6-13CFC3665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524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22CA671D-A4C4-0BD8-1A07-E3C0BB9D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861779ED-26C4-5934-D893-DF1DB40A3C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EF47DFED-AF11-7308-DD5D-45A65D2382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8734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1A36D1F-0E60-1B9F-AFD0-3B5F7B630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A3A3BFDA-67C4-EB57-A093-8F864B478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20641DC8-272B-FA28-C416-13F99434F9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8014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A41BEE8-F4C3-0A27-960A-914F0CEC1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6C93264-392F-E502-614B-DEE57B03E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1AAE0321-833F-699A-D1D6-578D2535C1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9354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1E7BB32B-BD30-C78B-22F7-2B28C26F7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74A90EE2-64B6-D01D-9F13-5AD625876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3881EEE-DE70-A8C9-6A50-E9BE31DAF1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6947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2.png"/><Relationship Id="rId5" Type="http://schemas.openxmlformats.org/officeDocument/2006/relationships/image" Target="../media/image67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6123482" y="3731617"/>
            <a:ext cx="3098772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10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Revisão e encerramento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Sistemas distribuídos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Revisão e encerramento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062B0E-EB64-4A80-B8ED-C5C4396E2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97" y="2090491"/>
            <a:ext cx="374693" cy="374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289517-6B7F-82F2-70A1-7AF47C7C0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68" y="2169598"/>
            <a:ext cx="189877" cy="189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D27EB8-7308-3E51-C364-54D2EE544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890" y="2182898"/>
            <a:ext cx="189877" cy="1898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DD925E-069E-95C6-507B-689E0A010A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693" y="1907532"/>
            <a:ext cx="189877" cy="1898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29E09A-1EE0-74C1-7A5D-2F85A12B8C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060" y="2842257"/>
            <a:ext cx="308965" cy="3089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472C9A-96B5-E335-A037-A70424DE97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673" y="3526373"/>
            <a:ext cx="319719" cy="3197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F8A955-BDF7-8620-34CF-CF9C917A2D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76" y="4389885"/>
            <a:ext cx="291310" cy="2913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D99EBD-7816-90B6-EDB7-6AD05CEA2E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3315" y="2002470"/>
            <a:ext cx="464386" cy="4643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9E4F93-C8A9-E335-8B6E-5CEA158D8E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8521" y="2875962"/>
            <a:ext cx="308965" cy="3089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95D386-2728-0603-B046-EB22884CA0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6291" y="3589458"/>
            <a:ext cx="293193" cy="29319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CFC994C-1585-B710-2438-B4286E2385B3}"/>
              </a:ext>
            </a:extLst>
          </p:cNvPr>
          <p:cNvSpPr txBox="1"/>
          <p:nvPr/>
        </p:nvSpPr>
        <p:spPr>
          <a:xfrm>
            <a:off x="510368" y="2451882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Inicio</a:t>
            </a:r>
            <a:endParaRPr lang="pt-PT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B243D8-0B87-5A3A-67E8-1A9B56915CD2}"/>
              </a:ext>
            </a:extLst>
          </p:cNvPr>
          <p:cNvSpPr txBox="1"/>
          <p:nvPr/>
        </p:nvSpPr>
        <p:spPr>
          <a:xfrm>
            <a:off x="447746" y="3110069"/>
            <a:ext cx="793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Database</a:t>
            </a:r>
            <a:endParaRPr lang="pt-PT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3CFA34-84C7-6E91-8244-A648A9A0B89F}"/>
              </a:ext>
            </a:extLst>
          </p:cNvPr>
          <p:cNvSpPr txBox="1"/>
          <p:nvPr/>
        </p:nvSpPr>
        <p:spPr>
          <a:xfrm>
            <a:off x="339725" y="3802498"/>
            <a:ext cx="1059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Web</a:t>
            </a:r>
          </a:p>
          <a:p>
            <a:pPr algn="ctr"/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programming</a:t>
            </a:r>
            <a:endParaRPr lang="pt-PT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1996CC-459F-7B72-D19B-DCB65626DF0F}"/>
              </a:ext>
            </a:extLst>
          </p:cNvPr>
          <p:cNvSpPr txBox="1"/>
          <p:nvPr/>
        </p:nvSpPr>
        <p:spPr>
          <a:xfrm>
            <a:off x="406280" y="4681195"/>
            <a:ext cx="926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Versionig</a:t>
            </a:r>
            <a:endParaRPr lang="pt-PT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1C4C98-D613-AF1C-4D5C-3E95A66FD532}"/>
              </a:ext>
            </a:extLst>
          </p:cNvPr>
          <p:cNvSpPr txBox="1"/>
          <p:nvPr/>
        </p:nvSpPr>
        <p:spPr>
          <a:xfrm>
            <a:off x="1427815" y="2443738"/>
            <a:ext cx="926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Dev</a:t>
            </a: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team</a:t>
            </a:r>
            <a:endParaRPr lang="pt-PT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DDE36D-BEDA-A886-372E-CFDE80269564}"/>
              </a:ext>
            </a:extLst>
          </p:cNvPr>
          <p:cNvSpPr txBox="1"/>
          <p:nvPr/>
        </p:nvSpPr>
        <p:spPr>
          <a:xfrm>
            <a:off x="1399537" y="3149348"/>
            <a:ext cx="926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Company</a:t>
            </a: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growth</a:t>
            </a:r>
            <a:endParaRPr lang="pt-PT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7ECBFE-E5A8-4DD1-7C94-1047F8BF3CC2}"/>
              </a:ext>
            </a:extLst>
          </p:cNvPr>
          <p:cNvSpPr txBox="1"/>
          <p:nvPr/>
        </p:nvSpPr>
        <p:spPr>
          <a:xfrm>
            <a:off x="1361260" y="3846092"/>
            <a:ext cx="1059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Distributed</a:t>
            </a: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System</a:t>
            </a:r>
            <a:endParaRPr lang="pt-PT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974A722-3F0C-882B-4C3E-A1FFCA0D5D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5825" y="2090491"/>
            <a:ext cx="557133" cy="5571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388DDA-9DA2-0228-37F0-4B2138A952A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05304" y="2561209"/>
            <a:ext cx="557133" cy="5571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56BAA5B-90FA-FD38-AE72-C5DEDD7B17A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04783" y="2090491"/>
            <a:ext cx="557133" cy="55713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1E1284D-D3E6-C88E-DB0A-F179E9D9710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4262" y="2558073"/>
            <a:ext cx="557133" cy="5571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1E7CD66-2A80-D9D4-5ED7-7A88A37EC9F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06082" y="3501232"/>
            <a:ext cx="642921" cy="6429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9A4F1C3-16A3-6048-5580-5B0A943AB93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87415" y="4001269"/>
            <a:ext cx="557133" cy="55713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18E2522-6208-2E20-A768-BECE7210B34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72301" y="3544125"/>
            <a:ext cx="557133" cy="5571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8192BF4-3137-5448-C448-A39CBBD2095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29773" y="4001270"/>
            <a:ext cx="557133" cy="5571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50A4C4D-C970-4096-C133-4049EA1D2B8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27284" y="3544124"/>
            <a:ext cx="557134" cy="55713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3313664-D37D-4BF0-A510-70F71C42786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24796" y="4001268"/>
            <a:ext cx="557134" cy="55713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1F01E72-00EF-3A78-E24B-AF0C4291C489}"/>
              </a:ext>
            </a:extLst>
          </p:cNvPr>
          <p:cNvSpPr txBox="1"/>
          <p:nvPr/>
        </p:nvSpPr>
        <p:spPr>
          <a:xfrm>
            <a:off x="240549" y="874588"/>
            <a:ext cx="858865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Basicamente...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Chamamos de sistemas distribuídos os sistemas computacionais que são executados em mais de um servidor, mas que atuam de forma transparente e parecem ser uma única coisa para quem os utiliza.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E75E95-5F6C-BF17-7247-88870DF853EA}"/>
              </a:ext>
            </a:extLst>
          </p:cNvPr>
          <p:cNvSpPr txBox="1"/>
          <p:nvPr/>
        </p:nvSpPr>
        <p:spPr>
          <a:xfrm>
            <a:off x="4094946" y="2679725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Computação</a:t>
            </a:r>
            <a:endParaRPr lang="pt-PT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A11640-434D-324D-B551-C7DE2FF3B555}"/>
              </a:ext>
            </a:extLst>
          </p:cNvPr>
          <p:cNvSpPr txBox="1"/>
          <p:nvPr/>
        </p:nvSpPr>
        <p:spPr>
          <a:xfrm>
            <a:off x="4791400" y="3090478"/>
            <a:ext cx="1184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Armazenamento</a:t>
            </a:r>
            <a:endParaRPr lang="pt-PT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93CF0D-D010-782F-F93A-7AC54A2D5D0B}"/>
              </a:ext>
            </a:extLst>
          </p:cNvPr>
          <p:cNvSpPr txBox="1"/>
          <p:nvPr/>
        </p:nvSpPr>
        <p:spPr>
          <a:xfrm>
            <a:off x="5688311" y="2612101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Manipulação</a:t>
            </a:r>
          </a:p>
          <a:p>
            <a:pPr algn="ctr"/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 Dados</a:t>
            </a:r>
            <a:endParaRPr lang="pt-PT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FA2EE7-D135-B215-14CE-D487056C8FFD}"/>
              </a:ext>
            </a:extLst>
          </p:cNvPr>
          <p:cNvSpPr txBox="1"/>
          <p:nvPr/>
        </p:nvSpPr>
        <p:spPr>
          <a:xfrm>
            <a:off x="6467302" y="3061816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Comunicação</a:t>
            </a:r>
            <a:endParaRPr lang="pt-PT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F953AE-CD36-E217-A65C-41F847D61D0C}"/>
              </a:ext>
            </a:extLst>
          </p:cNvPr>
          <p:cNvSpPr txBox="1"/>
          <p:nvPr/>
        </p:nvSpPr>
        <p:spPr>
          <a:xfrm>
            <a:off x="3912016" y="3978147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Comunicação</a:t>
            </a:r>
            <a:endParaRPr lang="pt-PT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FB39D7-601E-1966-8822-8F01A6F2B7C1}"/>
              </a:ext>
            </a:extLst>
          </p:cNvPr>
          <p:cNvSpPr txBox="1"/>
          <p:nvPr/>
        </p:nvSpPr>
        <p:spPr>
          <a:xfrm>
            <a:off x="4467121" y="4519607"/>
            <a:ext cx="13388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Disponibilidade</a:t>
            </a:r>
            <a:endParaRPr lang="pt-PT" sz="1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3046A2-4DDC-7FAA-4D29-DE528297C276}"/>
              </a:ext>
            </a:extLst>
          </p:cNvPr>
          <p:cNvSpPr txBox="1"/>
          <p:nvPr/>
        </p:nvSpPr>
        <p:spPr>
          <a:xfrm>
            <a:off x="5382759" y="4038150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Consistência</a:t>
            </a:r>
            <a:endParaRPr lang="pt-PT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710B6C-24EC-E99B-2904-1CEBC5F9B0B8}"/>
              </a:ext>
            </a:extLst>
          </p:cNvPr>
          <p:cNvSpPr txBox="1"/>
          <p:nvPr/>
        </p:nvSpPr>
        <p:spPr>
          <a:xfrm>
            <a:off x="6208031" y="4510380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Tolerância </a:t>
            </a:r>
          </a:p>
          <a:p>
            <a:pPr algn="ctr"/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falha</a:t>
            </a:r>
            <a:endParaRPr lang="pt-PT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63FCE7-1DBA-0CCC-54EC-2EC8AFE98F19}"/>
              </a:ext>
            </a:extLst>
          </p:cNvPr>
          <p:cNvSpPr txBox="1"/>
          <p:nvPr/>
        </p:nvSpPr>
        <p:spPr>
          <a:xfrm>
            <a:off x="7007443" y="4036953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Baixa </a:t>
            </a:r>
          </a:p>
          <a:p>
            <a:pPr algn="ctr"/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latência</a:t>
            </a:r>
            <a:endParaRPr lang="pt-PT" sz="1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E9C8A0-1B60-A2F5-5ABA-B8FBA4B8C49B}"/>
              </a:ext>
            </a:extLst>
          </p:cNvPr>
          <p:cNvSpPr txBox="1"/>
          <p:nvPr/>
        </p:nvSpPr>
        <p:spPr>
          <a:xfrm>
            <a:off x="7663983" y="4519607"/>
            <a:ext cx="8771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Segurança</a:t>
            </a:r>
            <a:endParaRPr lang="pt-PT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D26C13E-87F5-E643-5791-CD802919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0E007E86-1536-91E4-4EC4-7823B154E73A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Escalabilidade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E3A74EE-477C-BA5A-28EC-2FB33CEEF13E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Revisão e encerramento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198FA2-4A70-4EE5-2630-97F453245ADD}"/>
              </a:ext>
            </a:extLst>
          </p:cNvPr>
          <p:cNvSpPr txBox="1"/>
          <p:nvPr/>
        </p:nvSpPr>
        <p:spPr>
          <a:xfrm>
            <a:off x="240549" y="874588"/>
            <a:ext cx="858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Capacidade de um sistema suportar um aumento de carga total quando os recursos assim requisitam.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6812A5-B388-887E-46AC-AD6F84094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835" y="1900187"/>
            <a:ext cx="449440" cy="4494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7813F6-6C8A-2A29-A9D7-A6CFB68FD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115" y="1837320"/>
            <a:ext cx="971818" cy="9718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11F195-5C73-79E6-E218-7A7582499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069" y="2443177"/>
            <a:ext cx="449440" cy="449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732425-2BDF-0F0B-067D-8A3358125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2480" y="2081311"/>
            <a:ext cx="669240" cy="6692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73EB91-F372-1EE1-EC53-FA84C7B3A9CF}"/>
              </a:ext>
            </a:extLst>
          </p:cNvPr>
          <p:cNvSpPr txBox="1"/>
          <p:nvPr/>
        </p:nvSpPr>
        <p:spPr>
          <a:xfrm>
            <a:off x="3843008" y="2288680"/>
            <a:ext cx="10720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Processador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332B2C-7F63-023F-147C-187940A3D42D}"/>
              </a:ext>
            </a:extLst>
          </p:cNvPr>
          <p:cNvSpPr txBox="1"/>
          <p:nvPr/>
        </p:nvSpPr>
        <p:spPr>
          <a:xfrm>
            <a:off x="4039277" y="2736346"/>
            <a:ext cx="6170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Memória</a:t>
            </a:r>
          </a:p>
        </p:txBody>
      </p:sp>
      <p:pic>
        <p:nvPicPr>
          <p:cNvPr id="46" name="Google Shape;61;p14">
            <a:extLst>
              <a:ext uri="{FF2B5EF4-FFF2-40B4-BE49-F238E27FC236}">
                <a16:creationId xmlns:a16="http://schemas.microsoft.com/office/drawing/2014/main" id="{959D73C7-F3D5-FC7D-A410-A5A3FD9F4E89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07966" y="1853015"/>
            <a:ext cx="725836" cy="109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Arrow: Right 46">
            <a:extLst>
              <a:ext uri="{FF2B5EF4-FFF2-40B4-BE49-F238E27FC236}">
                <a16:creationId xmlns:a16="http://schemas.microsoft.com/office/drawing/2014/main" id="{7FD8EE22-B7A7-7514-92DC-86F4D69B4BBA}"/>
              </a:ext>
            </a:extLst>
          </p:cNvPr>
          <p:cNvSpPr/>
          <p:nvPr/>
        </p:nvSpPr>
        <p:spPr>
          <a:xfrm>
            <a:off x="2419186" y="2315694"/>
            <a:ext cx="267141" cy="253518"/>
          </a:xfrm>
          <a:prstGeom prst="rightArrow">
            <a:avLst/>
          </a:prstGeom>
          <a:solidFill>
            <a:srgbClr val="A6F750"/>
          </a:solidFill>
          <a:ln>
            <a:solidFill>
              <a:srgbClr val="A6F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1DA67169-6BF3-A8CF-3716-2EA2612BBA69}"/>
              </a:ext>
            </a:extLst>
          </p:cNvPr>
          <p:cNvSpPr/>
          <p:nvPr/>
        </p:nvSpPr>
        <p:spPr>
          <a:xfrm>
            <a:off x="3609787" y="2330142"/>
            <a:ext cx="267141" cy="253518"/>
          </a:xfrm>
          <a:prstGeom prst="rightArrow">
            <a:avLst/>
          </a:prstGeom>
          <a:solidFill>
            <a:srgbClr val="A6F750"/>
          </a:solidFill>
          <a:ln>
            <a:solidFill>
              <a:srgbClr val="A6F7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7D9990D7-9320-AE64-EB95-5E7886F728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641" y="1705585"/>
            <a:ext cx="414321" cy="414321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9C245D2-4BC6-ACF7-AA32-E08F0B51122A}"/>
              </a:ext>
            </a:extLst>
          </p:cNvPr>
          <p:cNvSpPr txBox="1"/>
          <p:nvPr/>
        </p:nvSpPr>
        <p:spPr>
          <a:xfrm>
            <a:off x="4848905" y="2381013"/>
            <a:ext cx="3382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10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OU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118757FB-9943-4B3E-9FD0-22ED6A3883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4975" y="2003740"/>
            <a:ext cx="824382" cy="824382"/>
          </a:xfrm>
          <a:prstGeom prst="rect">
            <a:avLst/>
          </a:prstGeom>
        </p:spPr>
      </p:pic>
      <p:pic>
        <p:nvPicPr>
          <p:cNvPr id="54" name="Picture 2" descr="Azure platform resiliency - .NET | Microsoft Learn">
            <a:extLst>
              <a:ext uri="{FF2B5EF4-FFF2-40B4-BE49-F238E27FC236}">
                <a16:creationId xmlns:a16="http://schemas.microsoft.com/office/drawing/2014/main" id="{7C37F3C3-1F49-B180-E8EC-8CDEC950B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115" y="3106287"/>
            <a:ext cx="5196961" cy="184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5295852-930D-BFCF-09EF-6B873F5F9A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8249" y="2504123"/>
            <a:ext cx="1072084" cy="107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8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7" grpId="0"/>
      <p:bldP spid="45" grpId="0"/>
      <p:bldP spid="47" grpId="0" animBg="1"/>
      <p:bldP spid="48" grpId="0" animBg="1"/>
      <p:bldP spid="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D8AEFD66-5439-A0EF-3D83-E56C3CA8B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86B016E-12B8-2CE9-A389-5B436F96D89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API Gateway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AE4B6FC1-6D24-474B-1651-52E44DD3C7CC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Revisão e encerramento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435697-A0F7-6F42-2082-E876FA4B7723}"/>
              </a:ext>
            </a:extLst>
          </p:cNvPr>
          <p:cNvSpPr txBox="1"/>
          <p:nvPr/>
        </p:nvSpPr>
        <p:spPr>
          <a:xfrm>
            <a:off x="240549" y="874588"/>
            <a:ext cx="8588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Capacidade de um sistema suportar um aumento de carga total quando os recursos assim requisitam.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021EFC-1234-F86B-8AD1-6A98C5709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504" y="4210292"/>
            <a:ext cx="438928" cy="4389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26658A-7854-8D1C-4229-8D7A29C06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930" y="4083290"/>
            <a:ext cx="354767" cy="354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2BA2C1-45DB-7F2F-D19E-E3E3E8499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23" y="1967543"/>
            <a:ext cx="449211" cy="4492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FC8ADD-F8CC-F03D-B80E-BF7A3752D2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9700" y="4023328"/>
            <a:ext cx="474689" cy="474689"/>
          </a:xfrm>
          <a:prstGeom prst="rect">
            <a:avLst/>
          </a:prstGeom>
        </p:spPr>
      </p:pic>
      <p:pic>
        <p:nvPicPr>
          <p:cNvPr id="11" name="Picture 2" descr="Jwt Plugins — WordPress.com">
            <a:extLst>
              <a:ext uri="{FF2B5EF4-FFF2-40B4-BE49-F238E27FC236}">
                <a16:creationId xmlns:a16="http://schemas.microsoft.com/office/drawing/2014/main" id="{A16FA6C9-22FD-671C-5707-A07CD468D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155" y="1965855"/>
            <a:ext cx="464686" cy="46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Api - ícones de ui grátis">
            <a:extLst>
              <a:ext uri="{FF2B5EF4-FFF2-40B4-BE49-F238E27FC236}">
                <a16:creationId xmlns:a16="http://schemas.microsoft.com/office/drawing/2014/main" id="{9BFDAACA-7616-6894-4714-78CB9E251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782" y="2438835"/>
            <a:ext cx="1622373" cy="162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B66CCF-3688-4AC3-7D76-E82AA3E9B8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5461" y="3030557"/>
            <a:ext cx="438928" cy="4389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585780-6658-574C-790C-CABABB8A64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027" y="3025417"/>
            <a:ext cx="449210" cy="4492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5C4880-93F9-86FE-C1B0-72B0A472AA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18502" y="1746390"/>
            <a:ext cx="438929" cy="438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40650F-5D07-FAE6-EB6A-7070024690DD}"/>
              </a:ext>
            </a:extLst>
          </p:cNvPr>
          <p:cNvSpPr txBox="1"/>
          <p:nvPr/>
        </p:nvSpPr>
        <p:spPr>
          <a:xfrm flipH="1">
            <a:off x="1605229" y="4607991"/>
            <a:ext cx="1065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Basic</a:t>
            </a:r>
          </a:p>
          <a:p>
            <a:pPr algn="ctr"/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Authentication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B7DA77-C05A-EA05-6731-70E916FFC1E6}"/>
              </a:ext>
            </a:extLst>
          </p:cNvPr>
          <p:cNvSpPr txBox="1"/>
          <p:nvPr/>
        </p:nvSpPr>
        <p:spPr>
          <a:xfrm flipH="1">
            <a:off x="2752186" y="4445780"/>
            <a:ext cx="1065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Oauth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algn="ctr"/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Authentication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51297C-58D0-0E32-C219-386EB66C26C9}"/>
              </a:ext>
            </a:extLst>
          </p:cNvPr>
          <p:cNvSpPr txBox="1"/>
          <p:nvPr/>
        </p:nvSpPr>
        <p:spPr>
          <a:xfrm flipH="1">
            <a:off x="504264" y="4445780"/>
            <a:ext cx="1065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Key</a:t>
            </a: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Based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algn="ctr"/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Authentication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353633-09C1-806A-D1E7-923CD9779848}"/>
              </a:ext>
            </a:extLst>
          </p:cNvPr>
          <p:cNvSpPr txBox="1"/>
          <p:nvPr/>
        </p:nvSpPr>
        <p:spPr>
          <a:xfrm flipH="1">
            <a:off x="379191" y="2432352"/>
            <a:ext cx="1065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LDAP</a:t>
            </a:r>
          </a:p>
          <a:p>
            <a:pPr algn="ctr"/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Authentication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5" name="Picture 2" descr="aws api gateway&quot; Icon - Download for free – Iconduck">
            <a:extLst>
              <a:ext uri="{FF2B5EF4-FFF2-40B4-BE49-F238E27FC236}">
                <a16:creationId xmlns:a16="http://schemas.microsoft.com/office/drawing/2014/main" id="{15EE96E3-BDE6-A07C-6C0A-20A34E6A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834" y="1972846"/>
            <a:ext cx="319531" cy="31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DB06987-9197-AF35-E180-1CABABECFAB4}"/>
              </a:ext>
            </a:extLst>
          </p:cNvPr>
          <p:cNvSpPr txBox="1"/>
          <p:nvPr/>
        </p:nvSpPr>
        <p:spPr>
          <a:xfrm>
            <a:off x="4606365" y="2042896"/>
            <a:ext cx="18979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AWS API Gateway</a:t>
            </a:r>
          </a:p>
        </p:txBody>
      </p:sp>
      <p:pic>
        <p:nvPicPr>
          <p:cNvPr id="37" name="Picture 8" descr="Preço do Gerenciamento de API | Microsoft Azure">
            <a:extLst>
              <a:ext uri="{FF2B5EF4-FFF2-40B4-BE49-F238E27FC236}">
                <a16:creationId xmlns:a16="http://schemas.microsoft.com/office/drawing/2014/main" id="{BB58F72A-E3BC-BEE3-47B8-FE6C8D4D7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919" y="2463444"/>
            <a:ext cx="555359" cy="29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A69A1C2-D711-31DA-CC54-00883F314793}"/>
              </a:ext>
            </a:extLst>
          </p:cNvPr>
          <p:cNvSpPr txBox="1"/>
          <p:nvPr/>
        </p:nvSpPr>
        <p:spPr>
          <a:xfrm>
            <a:off x="4603303" y="2524571"/>
            <a:ext cx="20128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Microsoft </a:t>
            </a:r>
            <a:r>
              <a:rPr lang="pt-PT" sz="8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8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API Management</a:t>
            </a:r>
          </a:p>
        </p:txBody>
      </p:sp>
      <p:pic>
        <p:nvPicPr>
          <p:cNvPr id="39" name="Picture 10" descr="Apigee | API Stack">
            <a:extLst>
              <a:ext uri="{FF2B5EF4-FFF2-40B4-BE49-F238E27FC236}">
                <a16:creationId xmlns:a16="http://schemas.microsoft.com/office/drawing/2014/main" id="{3E8A2460-8B19-5B75-B060-960104D9D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660" y="2835065"/>
            <a:ext cx="368458" cy="368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2B7667A-80CB-A85C-A6D0-A6DA11DA5636}"/>
              </a:ext>
            </a:extLst>
          </p:cNvPr>
          <p:cNvSpPr txBox="1"/>
          <p:nvPr/>
        </p:nvSpPr>
        <p:spPr>
          <a:xfrm>
            <a:off x="4603303" y="2907423"/>
            <a:ext cx="19010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Google </a:t>
            </a:r>
            <a:r>
              <a:rPr lang="pt-PT" sz="8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Cloud</a:t>
            </a:r>
            <a:r>
              <a:rPr lang="pt-PT" sz="8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8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Apigee</a:t>
            </a:r>
            <a:endParaRPr lang="pt-PT" sz="8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41" name="Picture 14" descr="kong_gateway">
            <a:extLst>
              <a:ext uri="{FF2B5EF4-FFF2-40B4-BE49-F238E27FC236}">
                <a16:creationId xmlns:a16="http://schemas.microsoft.com/office/drawing/2014/main" id="{1AD12636-B791-2841-63F2-4EA782532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660" y="3194950"/>
            <a:ext cx="368459" cy="368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9EA1B16-C8D7-32E9-C14E-717B7BE46247}"/>
              </a:ext>
            </a:extLst>
          </p:cNvPr>
          <p:cNvSpPr txBox="1"/>
          <p:nvPr/>
        </p:nvSpPr>
        <p:spPr>
          <a:xfrm>
            <a:off x="4592803" y="3278423"/>
            <a:ext cx="1911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Kong Gateway</a:t>
            </a:r>
          </a:p>
        </p:txBody>
      </p:sp>
      <p:pic>
        <p:nvPicPr>
          <p:cNvPr id="43" name="Picture 16" descr="Resurface Labs joins Tyk's global ecosystem with next-level security for  the API economy">
            <a:extLst>
              <a:ext uri="{FF2B5EF4-FFF2-40B4-BE49-F238E27FC236}">
                <a16:creationId xmlns:a16="http://schemas.microsoft.com/office/drawing/2014/main" id="{C992EFC7-15BC-6679-DE47-8AC772F2B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194" y="3644702"/>
            <a:ext cx="342808" cy="17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629C9BE-2FBA-8622-247B-392FFE4504C0}"/>
              </a:ext>
            </a:extLst>
          </p:cNvPr>
          <p:cNvSpPr txBox="1"/>
          <p:nvPr/>
        </p:nvSpPr>
        <p:spPr>
          <a:xfrm>
            <a:off x="4592803" y="3623954"/>
            <a:ext cx="20233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Tyk</a:t>
            </a:r>
            <a:endParaRPr lang="pt-PT" sz="8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56" name="Picture 18" descr="Anypoint Extension Pack - Visual Studio Marketplace">
            <a:extLst>
              <a:ext uri="{FF2B5EF4-FFF2-40B4-BE49-F238E27FC236}">
                <a16:creationId xmlns:a16="http://schemas.microsoft.com/office/drawing/2014/main" id="{D9D13CBB-2A22-6201-0A5A-3516D6860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660" y="3899943"/>
            <a:ext cx="368458" cy="368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02ACA96A-3EA2-70B9-B69E-7062228DA3DA}"/>
              </a:ext>
            </a:extLst>
          </p:cNvPr>
          <p:cNvSpPr txBox="1"/>
          <p:nvPr/>
        </p:nvSpPr>
        <p:spPr>
          <a:xfrm>
            <a:off x="4592803" y="3977764"/>
            <a:ext cx="20233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Mulesoft</a:t>
            </a:r>
            <a:r>
              <a:rPr lang="pt-PT" sz="8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8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Anypoint</a:t>
            </a:r>
            <a:r>
              <a:rPr lang="pt-PT" sz="8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8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Platform</a:t>
            </a:r>
            <a:endParaRPr lang="pt-PT" sz="8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58" name="Picture 20" descr="IBM API Connect Tools - Visual Studio Marketplace">
            <a:extLst>
              <a:ext uri="{FF2B5EF4-FFF2-40B4-BE49-F238E27FC236}">
                <a16:creationId xmlns:a16="http://schemas.microsoft.com/office/drawing/2014/main" id="{F056D728-D379-2F3F-51E5-17E4E7991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251" y="1972846"/>
            <a:ext cx="337176" cy="33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31D3DD2B-E536-62F7-4499-AEB9F2ADCA9D}"/>
              </a:ext>
            </a:extLst>
          </p:cNvPr>
          <p:cNvSpPr txBox="1"/>
          <p:nvPr/>
        </p:nvSpPr>
        <p:spPr>
          <a:xfrm>
            <a:off x="7066581" y="2029990"/>
            <a:ext cx="14159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IBM API </a:t>
            </a:r>
            <a:r>
              <a:rPr lang="pt-PT" sz="8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Connect</a:t>
            </a:r>
            <a:endParaRPr lang="pt-PT" sz="8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60" name="Picture 24" descr="Oracle e Business Suite eCommerce Integration | Clarity">
            <a:extLst>
              <a:ext uri="{FF2B5EF4-FFF2-40B4-BE49-F238E27FC236}">
                <a16:creationId xmlns:a16="http://schemas.microsoft.com/office/drawing/2014/main" id="{7EC85BAE-AD3E-D905-EA99-EC911CFFE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308" y="2434607"/>
            <a:ext cx="337177" cy="33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BB218222-7004-7D7C-1B08-51ECC40C51D8}"/>
              </a:ext>
            </a:extLst>
          </p:cNvPr>
          <p:cNvSpPr txBox="1"/>
          <p:nvPr/>
        </p:nvSpPr>
        <p:spPr>
          <a:xfrm>
            <a:off x="7079427" y="2518050"/>
            <a:ext cx="14159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Oracle API Gateway</a:t>
            </a:r>
          </a:p>
        </p:txBody>
      </p:sp>
      <p:pic>
        <p:nvPicPr>
          <p:cNvPr id="62" name="Picture 26" descr="Boomi AI Reviews: Use Cases, Pricing &amp; Alternatives">
            <a:extLst>
              <a:ext uri="{FF2B5EF4-FFF2-40B4-BE49-F238E27FC236}">
                <a16:creationId xmlns:a16="http://schemas.microsoft.com/office/drawing/2014/main" id="{6C17EB48-B7A2-D47F-578C-F4C35A7A9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308" y="2866346"/>
            <a:ext cx="337177" cy="33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8E016EE4-F90B-9DA3-1F07-019E74F41460}"/>
              </a:ext>
            </a:extLst>
          </p:cNvPr>
          <p:cNvSpPr txBox="1"/>
          <p:nvPr/>
        </p:nvSpPr>
        <p:spPr>
          <a:xfrm>
            <a:off x="7113485" y="2899855"/>
            <a:ext cx="14159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Boomi</a:t>
            </a:r>
            <a:r>
              <a:rPr lang="pt-PT" sz="8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API Management</a:t>
            </a:r>
          </a:p>
        </p:txBody>
      </p:sp>
      <p:pic>
        <p:nvPicPr>
          <p:cNvPr id="64" name="Picture 28" descr="Akana by Perforce - Crunchbase Company Profile &amp; Funding">
            <a:extLst>
              <a:ext uri="{FF2B5EF4-FFF2-40B4-BE49-F238E27FC236}">
                <a16:creationId xmlns:a16="http://schemas.microsoft.com/office/drawing/2014/main" id="{56341295-AA96-D6DD-3014-5A856CE0B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308" y="3194950"/>
            <a:ext cx="337177" cy="33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70F22769-9466-5BC5-2105-39AF0E1EE927}"/>
              </a:ext>
            </a:extLst>
          </p:cNvPr>
          <p:cNvSpPr txBox="1"/>
          <p:nvPr/>
        </p:nvSpPr>
        <p:spPr>
          <a:xfrm>
            <a:off x="7170030" y="3250022"/>
            <a:ext cx="14159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Akana</a:t>
            </a:r>
            <a:r>
              <a:rPr lang="pt-PT" sz="8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8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by</a:t>
            </a:r>
            <a:r>
              <a:rPr lang="pt-PT" sz="8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Performance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26DE62-BF76-573D-3098-61276C817BDE}"/>
              </a:ext>
            </a:extLst>
          </p:cNvPr>
          <p:cNvSpPr txBox="1"/>
          <p:nvPr/>
        </p:nvSpPr>
        <p:spPr>
          <a:xfrm flipH="1">
            <a:off x="488893" y="3460067"/>
            <a:ext cx="1065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Rate and quota </a:t>
            </a: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limiter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30DE8C-2F18-6EF9-7D76-368C35463928}"/>
              </a:ext>
            </a:extLst>
          </p:cNvPr>
          <p:cNvSpPr txBox="1"/>
          <p:nvPr/>
        </p:nvSpPr>
        <p:spPr>
          <a:xfrm flipH="1">
            <a:off x="1613465" y="2165126"/>
            <a:ext cx="10654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Roteamento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4CABCE-E1DD-EA18-A4B3-398C47A75EC3}"/>
              </a:ext>
            </a:extLst>
          </p:cNvPr>
          <p:cNvSpPr txBox="1"/>
          <p:nvPr/>
        </p:nvSpPr>
        <p:spPr>
          <a:xfrm flipH="1">
            <a:off x="2752185" y="3436305"/>
            <a:ext cx="10654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Caching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557B552-07F0-2CF7-2B57-7C09EBFEE65D}"/>
              </a:ext>
            </a:extLst>
          </p:cNvPr>
          <p:cNvSpPr txBox="1"/>
          <p:nvPr/>
        </p:nvSpPr>
        <p:spPr>
          <a:xfrm flipH="1">
            <a:off x="2664432" y="2443534"/>
            <a:ext cx="10654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Jwt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8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16" grpId="0"/>
      <p:bldP spid="17" grpId="0"/>
      <p:bldP spid="18" grpId="0"/>
      <p:bldP spid="19" grpId="0"/>
      <p:bldP spid="36" grpId="0"/>
      <p:bldP spid="38" grpId="0"/>
      <p:bldP spid="40" grpId="0"/>
      <p:bldP spid="42" grpId="0"/>
      <p:bldP spid="44" grpId="0"/>
      <p:bldP spid="57" grpId="0"/>
      <p:bldP spid="59" grpId="0"/>
      <p:bldP spid="61" grpId="0"/>
      <p:bldP spid="63" grpId="0"/>
      <p:bldP spid="65" grpId="0"/>
      <p:bldP spid="66" grpId="0"/>
      <p:bldP spid="67" grpId="0"/>
      <p:bldP spid="68" grpId="0"/>
      <p:bldP spid="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8F09D9B7-7D02-5C7C-9C2F-507968A80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DAAD510-BFCE-2A6F-0497-7B10F4683B05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Microsserviços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e formas de comunicação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C8359492-583A-8A69-83EC-11F4CD997083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Revisão e encerramento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E4D194-1185-30C4-DC9A-63F912260332}"/>
              </a:ext>
            </a:extLst>
          </p:cNvPr>
          <p:cNvSpPr txBox="1"/>
          <p:nvPr/>
        </p:nvSpPr>
        <p:spPr>
          <a:xfrm>
            <a:off x="240549" y="874588"/>
            <a:ext cx="8588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Uma arquitetura monolítica é um modelo tradicional de desenvolvimento de software que usa uma base de código para executar várias funções comerciais.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EEE3EA85-518D-B20A-7E15-E781724C7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97" y="2453082"/>
            <a:ext cx="2384691" cy="1415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8A284E-FE85-A145-5032-7EFD37F17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780" y="2001354"/>
            <a:ext cx="5632427" cy="231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5EB880-FA70-FE64-9881-22F9128714B1}"/>
              </a:ext>
            </a:extLst>
          </p:cNvPr>
          <p:cNvSpPr txBox="1"/>
          <p:nvPr/>
        </p:nvSpPr>
        <p:spPr>
          <a:xfrm flipH="1">
            <a:off x="1126103" y="3964287"/>
            <a:ext cx="10654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Monolítica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82F05-3B14-37B4-6DCA-C83C0E5E8B60}"/>
              </a:ext>
            </a:extLst>
          </p:cNvPr>
          <p:cNvSpPr txBox="1"/>
          <p:nvPr/>
        </p:nvSpPr>
        <p:spPr>
          <a:xfrm flipH="1">
            <a:off x="5618155" y="4379015"/>
            <a:ext cx="12473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Microsserviço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52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6A7D45B2-375B-AB24-F9AD-0444E0C1E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0240B5F2-A307-8F3E-5582-D3C54D5D48E1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Banco de dados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4B1257C-1162-D285-5DF9-E3CE3C9BBB1A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Revisão e encerramento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D98470-065C-FDA3-BA3B-B27EB94B08A2}"/>
              </a:ext>
            </a:extLst>
          </p:cNvPr>
          <p:cNvSpPr txBox="1"/>
          <p:nvPr/>
        </p:nvSpPr>
        <p:spPr>
          <a:xfrm>
            <a:off x="240549" y="874588"/>
            <a:ext cx="85886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Bancos relacionais e não relacionais.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E8FD00-E3E8-7E27-E40A-58F89E2F1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890" y="1621727"/>
            <a:ext cx="3452050" cy="1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8E1ACE7-2F5D-86FE-A2D1-F8E1D28D2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469" y="243847"/>
            <a:ext cx="3368825" cy="304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70FBF3-9E53-C538-6EE2-CAD42D387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484" y="3418202"/>
            <a:ext cx="5726949" cy="135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9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17BBE020-B36B-59BB-BE58-B399CFEF8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573B0613-E257-5963-F5D2-98CF6F3C3C69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CAP, ACID 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Sharding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A6AC255-F0B5-CB2B-4BF7-0457CAEF4437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Revisão e encerramento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144AC9-5E3E-E00C-8F2E-F50D487D4AD8}"/>
              </a:ext>
            </a:extLst>
          </p:cNvPr>
          <p:cNvSpPr txBox="1"/>
          <p:nvPr/>
        </p:nvSpPr>
        <p:spPr>
          <a:xfrm>
            <a:off x="240549" y="874588"/>
            <a:ext cx="85886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>
              <a:buClr>
                <a:srgbClr val="92D050"/>
              </a:buClr>
            </a:pPr>
            <a:r>
              <a:rPr lang="pt-PT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Comportamento dos bancos de dados.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B50A57-C071-D57D-E05C-1A5C5E092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48" y="1911957"/>
            <a:ext cx="4108416" cy="19714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71E1E0-0BC8-AB9E-5D73-C140E2A65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038" y="1864491"/>
            <a:ext cx="4235386" cy="2066340"/>
          </a:xfrm>
          <a:prstGeom prst="rect">
            <a:avLst/>
          </a:prstGeom>
        </p:spPr>
      </p:pic>
      <p:pic>
        <p:nvPicPr>
          <p:cNvPr id="7" name="Google Shape;65;p14">
            <a:extLst>
              <a:ext uri="{FF2B5EF4-FFF2-40B4-BE49-F238E27FC236}">
                <a16:creationId xmlns:a16="http://schemas.microsoft.com/office/drawing/2014/main" id="{6B5B9D67-2F63-5DEE-6BBB-F35B623BD13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3266640" y="2887378"/>
            <a:ext cx="2631285" cy="205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1990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3C203C7F-3045-4560-DA6A-84A62DD6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AB752118-E384-2B6C-9CCA-F37D8019B8B7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Mensageria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4411D02B-AB9F-478A-B111-5C1E163CF4B8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Revisão e encerramento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EC3EC8-832E-63BB-B733-E7B9057EC6C4}"/>
              </a:ext>
            </a:extLst>
          </p:cNvPr>
          <p:cNvSpPr txBox="1"/>
          <p:nvPr/>
        </p:nvSpPr>
        <p:spPr>
          <a:xfrm>
            <a:off x="240549" y="874588"/>
            <a:ext cx="8588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Uma fila pode ser uma saída quando escalar não é uma opção!</a:t>
            </a:r>
            <a:endParaRPr lang="pt-PT" sz="1600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7" name="Google Shape;65;p14">
            <a:extLst>
              <a:ext uri="{FF2B5EF4-FFF2-40B4-BE49-F238E27FC236}">
                <a16:creationId xmlns:a16="http://schemas.microsoft.com/office/drawing/2014/main" id="{B6412CCC-8214-4C2E-69C3-1026ED6902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66640" y="3032513"/>
            <a:ext cx="2631285" cy="20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E3868B4F-5A24-93E2-0834-0C3AA65AA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92" y="1708429"/>
            <a:ext cx="4262315" cy="256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21CECF9-B14F-0192-2C74-73106F4B9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07" y="2251253"/>
            <a:ext cx="4301995" cy="16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4805C00F-2434-3335-0B1A-6E43CFCD5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515" y="4438118"/>
            <a:ext cx="4610100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358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2497EF67-1199-AE29-0B47-09441E5FD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C1C73500-8EA1-FDE8-3A08-111895053966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Cache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F161A4A-1226-476C-D62F-454B2F30AE5E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Revisão e encerramento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704B9-C361-B2E0-739C-A30FEEB0B160}"/>
              </a:ext>
            </a:extLst>
          </p:cNvPr>
          <p:cNvSpPr txBox="1"/>
          <p:nvPr/>
        </p:nvSpPr>
        <p:spPr>
          <a:xfrm>
            <a:off x="240548" y="833709"/>
            <a:ext cx="491131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Objetivo: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Reduzir latência de acesso a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Melhorar desempenho.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Diminuir a carga em banco de dados ou servidores de origem.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DF77DE1-E65E-17C2-3470-BD2C367A2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48" y="3866879"/>
            <a:ext cx="2065637" cy="66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7BADE26-A17A-75D5-2025-7B6DAC1B6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675" y="1795539"/>
            <a:ext cx="7867778" cy="322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30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D0B6192C-C3F3-1A22-11DD-4C9515C3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A5C815D7-6380-F118-BCB0-BE418FB78AA4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Preparação para entrevistas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System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Design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6AEC7D1C-49DE-E05A-725E-99475C373CCC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Revisão e encerramento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C20156-1A9E-0FD8-F86D-05E17B8CB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674" y="1333810"/>
            <a:ext cx="380062" cy="3800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F9C0D7-FE68-F7A7-EAA9-6F46550C7737}"/>
              </a:ext>
            </a:extLst>
          </p:cNvPr>
          <p:cNvSpPr txBox="1"/>
          <p:nvPr/>
        </p:nvSpPr>
        <p:spPr>
          <a:xfrm>
            <a:off x="1703780" y="1686525"/>
            <a:ext cx="673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Software</a:t>
            </a:r>
          </a:p>
          <a:p>
            <a:pPr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Engineer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7AF5B3-A318-DA46-FA6F-E39A43E1E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11" y="1333811"/>
            <a:ext cx="380061" cy="3800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4B1A5D-1E76-D135-512C-BD8E20E20AD7}"/>
              </a:ext>
            </a:extLst>
          </p:cNvPr>
          <p:cNvSpPr txBox="1"/>
          <p:nvPr/>
        </p:nvSpPr>
        <p:spPr>
          <a:xfrm>
            <a:off x="2377630" y="1691792"/>
            <a:ext cx="727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System</a:t>
            </a: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</a:p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Architect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988970-EF65-6361-6256-E63CF63C9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1547" y="1333810"/>
            <a:ext cx="380062" cy="3800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26CB98-03D9-B7E3-DBE1-46C4C0A79270}"/>
              </a:ext>
            </a:extLst>
          </p:cNvPr>
          <p:cNvSpPr txBox="1"/>
          <p:nvPr/>
        </p:nvSpPr>
        <p:spPr>
          <a:xfrm>
            <a:off x="3078067" y="1700419"/>
            <a:ext cx="727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Backend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Developer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3D5EA-A7D3-F52C-0FB7-AC3B54830D8B}"/>
              </a:ext>
            </a:extLst>
          </p:cNvPr>
          <p:cNvSpPr txBox="1"/>
          <p:nvPr/>
        </p:nvSpPr>
        <p:spPr>
          <a:xfrm>
            <a:off x="917947" y="2900484"/>
            <a:ext cx="9193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Scalability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CAEE57-65C3-D2EF-D33B-3BDA3AA4B70C}"/>
              </a:ext>
            </a:extLst>
          </p:cNvPr>
          <p:cNvSpPr txBox="1"/>
          <p:nvPr/>
        </p:nvSpPr>
        <p:spPr>
          <a:xfrm>
            <a:off x="1743044" y="2892656"/>
            <a:ext cx="919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Reliability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57B0A5-6462-AAA2-0812-4CD0C94D2088}"/>
              </a:ext>
            </a:extLst>
          </p:cNvPr>
          <p:cNvSpPr txBox="1"/>
          <p:nvPr/>
        </p:nvSpPr>
        <p:spPr>
          <a:xfrm>
            <a:off x="2551111" y="2901914"/>
            <a:ext cx="7326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Security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9CB758-5272-81A9-7708-092931C7D9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1130" y="2536409"/>
            <a:ext cx="372994" cy="3729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EF08D2-937F-C114-2C1A-38870045B7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3409" y="2568291"/>
            <a:ext cx="372994" cy="3729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FD6C7C-2ED5-B99B-298A-A3236F2026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2628" y="2567757"/>
            <a:ext cx="372994" cy="3729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0283E7-AF8A-794C-D5F9-DADF3F737F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6209" y="2586302"/>
            <a:ext cx="372994" cy="37299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F9D844-A154-1BCA-95A9-C12ACE62A1FF}"/>
              </a:ext>
            </a:extLst>
          </p:cNvPr>
          <p:cNvSpPr txBox="1"/>
          <p:nvPr/>
        </p:nvSpPr>
        <p:spPr>
          <a:xfrm>
            <a:off x="3111689" y="2909403"/>
            <a:ext cx="9003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Performance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B6B445-F44B-99CC-050F-0F38721321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5185" y="2561834"/>
            <a:ext cx="372994" cy="37299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B536AA-28B9-6140-20D2-B630715C515A}"/>
              </a:ext>
            </a:extLst>
          </p:cNvPr>
          <p:cNvSpPr txBox="1"/>
          <p:nvPr/>
        </p:nvSpPr>
        <p:spPr>
          <a:xfrm>
            <a:off x="3857658" y="2902358"/>
            <a:ext cx="10300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Communication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F7FBA2-26EE-4AE7-025A-C96E23BFA1B5}"/>
              </a:ext>
            </a:extLst>
          </p:cNvPr>
          <p:cNvSpPr txBox="1"/>
          <p:nvPr/>
        </p:nvSpPr>
        <p:spPr>
          <a:xfrm>
            <a:off x="1458218" y="3939760"/>
            <a:ext cx="7358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News</a:t>
            </a: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feed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1F1151-0FD4-F3B9-6E92-EBD776B8094B}"/>
              </a:ext>
            </a:extLst>
          </p:cNvPr>
          <p:cNvSpPr txBox="1"/>
          <p:nvPr/>
        </p:nvSpPr>
        <p:spPr>
          <a:xfrm>
            <a:off x="2182882" y="3940947"/>
            <a:ext cx="997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Realtime</a:t>
            </a: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chat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CDB6E4-BF0F-95DF-8620-E3361FD9805A}"/>
              </a:ext>
            </a:extLst>
          </p:cNvPr>
          <p:cNvSpPr txBox="1"/>
          <p:nvPr/>
        </p:nvSpPr>
        <p:spPr>
          <a:xfrm>
            <a:off x="3030757" y="3941535"/>
            <a:ext cx="1063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Recommendation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System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D1A171C-126E-5889-77AD-F23F5D3CC7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9452" y="3578922"/>
            <a:ext cx="355707" cy="3702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5ED85EC-BCE8-21D4-FD89-E83175701B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81721" y="3564818"/>
            <a:ext cx="338439" cy="39850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F0D3403-776C-2040-FE6E-BD4B30A1A6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96392" y="3558187"/>
            <a:ext cx="338439" cy="39850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69B4CBA-AB87-F3C4-4234-6D0C36F86CAB}"/>
              </a:ext>
            </a:extLst>
          </p:cNvPr>
          <p:cNvSpPr txBox="1"/>
          <p:nvPr/>
        </p:nvSpPr>
        <p:spPr>
          <a:xfrm>
            <a:off x="6140676" y="2025079"/>
            <a:ext cx="7516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Flowchart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1B85FD-65A0-7A15-51B0-44A736A62BB2}"/>
              </a:ext>
            </a:extLst>
          </p:cNvPr>
          <p:cNvSpPr txBox="1"/>
          <p:nvPr/>
        </p:nvSpPr>
        <p:spPr>
          <a:xfrm>
            <a:off x="6830265" y="2025079"/>
            <a:ext cx="11339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Requirements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4F900F-81D7-0D3A-704E-B243CA97EDBA}"/>
              </a:ext>
            </a:extLst>
          </p:cNvPr>
          <p:cNvSpPr txBox="1"/>
          <p:nvPr/>
        </p:nvSpPr>
        <p:spPr>
          <a:xfrm>
            <a:off x="6039276" y="2803337"/>
            <a:ext cx="9452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Restrictions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BAFC5A2-ACAC-2B04-3967-672384C6A4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29243" y="1569391"/>
            <a:ext cx="469582" cy="46958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3912EB5-9AEB-6E52-F049-1BBEB96F429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12328" y="1569391"/>
            <a:ext cx="469582" cy="46958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36FDAAF-323A-A38C-4154-88C7A1F261F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5981" y="2364633"/>
            <a:ext cx="469582" cy="4695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BCC56A1-98B9-6718-BE05-9D814A24166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12328" y="2364633"/>
            <a:ext cx="469582" cy="46958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8EC5F2E-1586-E634-312F-967E299D4037}"/>
              </a:ext>
            </a:extLst>
          </p:cNvPr>
          <p:cNvSpPr txBox="1"/>
          <p:nvPr/>
        </p:nvSpPr>
        <p:spPr>
          <a:xfrm>
            <a:off x="6880489" y="2805867"/>
            <a:ext cx="850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High</a:t>
            </a: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level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algn="ctr">
              <a:buClr>
                <a:srgbClr val="92D050"/>
              </a:buClr>
            </a:pP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Project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8A97EC4-073F-C9E0-AF7C-6451913C0FF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29243" y="3220514"/>
            <a:ext cx="469582" cy="46958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5B12916-FB80-E7D2-189E-41B185C4A20F}"/>
              </a:ext>
            </a:extLst>
          </p:cNvPr>
          <p:cNvSpPr txBox="1"/>
          <p:nvPr/>
        </p:nvSpPr>
        <p:spPr>
          <a:xfrm>
            <a:off x="6109250" y="3690096"/>
            <a:ext cx="719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Detailed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algn="ctr">
              <a:buClr>
                <a:srgbClr val="92D050"/>
              </a:buClr>
            </a:pP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Project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02785F5-4DCE-AB0F-557D-CC09DA69626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64483" y="3255530"/>
            <a:ext cx="469582" cy="46958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C699907-F1AE-3820-2562-84C2FF004DB4}"/>
              </a:ext>
            </a:extLst>
          </p:cNvPr>
          <p:cNvSpPr txBox="1"/>
          <p:nvPr/>
        </p:nvSpPr>
        <p:spPr>
          <a:xfrm>
            <a:off x="6700310" y="3728494"/>
            <a:ext cx="1272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8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Final</a:t>
            </a:r>
          </a:p>
          <a:p>
            <a:pPr algn="ctr">
              <a:buClr>
                <a:srgbClr val="92D050"/>
              </a:buClr>
            </a:pPr>
            <a:r>
              <a:rPr lang="pt-PT" sz="8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Considerations</a:t>
            </a:r>
            <a:endParaRPr lang="pt-PT" sz="8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7BA61BE-6241-2677-E2F5-1A630342CB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8814" y="3255530"/>
            <a:ext cx="139213" cy="13921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F65F2B1-42D7-A57F-1F81-02DB2469C3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4583" y="3431855"/>
            <a:ext cx="145194" cy="14519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000998D-08F8-751C-0CF6-F8C5776EE2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0563" y="3607922"/>
            <a:ext cx="139213" cy="13921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F2B54D4-5EAC-BC37-33DE-1317DCAA37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7690" y="3516048"/>
            <a:ext cx="139213" cy="13921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9034A3B-3B40-ECD2-4753-37CEB34704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4526" y="3340218"/>
            <a:ext cx="139213" cy="13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81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0" grpId="0"/>
      <p:bldP spid="11" grpId="0"/>
      <p:bldP spid="12" grpId="0"/>
      <p:bldP spid="17" grpId="0"/>
      <p:bldP spid="19" grpId="0"/>
      <p:bldP spid="20" grpId="0"/>
      <p:bldP spid="21" grpId="0"/>
      <p:bldP spid="22" grpId="0"/>
      <p:bldP spid="26" grpId="0"/>
      <p:bldP spid="27" grpId="0"/>
      <p:bldP spid="28" grpId="0"/>
      <p:bldP spid="33" grpId="0"/>
      <p:bldP spid="35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428789" y="1725379"/>
            <a:ext cx="516753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Sistemas distribuídos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Diversas maneiras de desenhar um sistema.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Procure estar informado.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Estude.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Construa sua resposta começando pelo básico.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Seja você mesmo.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10 | Revisão e encerramento</a:t>
            </a:r>
          </a:p>
        </p:txBody>
      </p:sp>
      <p:pic>
        <p:nvPicPr>
          <p:cNvPr id="9" name="Picture 8" descr="A person standing in front of a whiteboard with students&#10;&#10;AI-generated content may be incorrect.">
            <a:extLst>
              <a:ext uri="{FF2B5EF4-FFF2-40B4-BE49-F238E27FC236}">
                <a16:creationId xmlns:a16="http://schemas.microsoft.com/office/drawing/2014/main" id="{B7B30C2B-7F3F-3ECE-49A8-18ECA960F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318" y="941100"/>
            <a:ext cx="3261298" cy="32612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3986</TotalTime>
  <Words>375</Words>
  <Application>Microsoft Office PowerPoint</Application>
  <PresentationFormat>On-screen Show (16:9)</PresentationFormat>
  <Paragraphs>117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Fira Code</vt:lpstr>
      <vt:lpstr>Wingdings</vt:lpstr>
      <vt:lpstr>Ubuntu Light</vt:lpstr>
      <vt:lpstr>Ubuntu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401</cp:revision>
  <dcterms:modified xsi:type="dcterms:W3CDTF">2025-04-12T17:59:08Z</dcterms:modified>
</cp:coreProperties>
</file>