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6"/>
  </p:notesMasterIdLst>
  <p:sldIdLst>
    <p:sldId id="256" r:id="rId2"/>
    <p:sldId id="306" r:id="rId3"/>
    <p:sldId id="309" r:id="rId4"/>
    <p:sldId id="261" r:id="rId5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7"/>
      <p:bold r:id="rId8"/>
    </p:embeddedFont>
    <p:embeddedFont>
      <p:font typeface="Ubuntu" panose="020B0504030602030204" pitchFamily="34" charset="0"/>
      <p:regular r:id="rId9"/>
      <p:bold r:id="rId10"/>
      <p:italic r:id="rId11"/>
      <p:boldItalic r:id="rId12"/>
    </p:embeddedFont>
    <p:embeddedFont>
      <p:font typeface="Ubuntu Light" panose="020B0304030602030204" pitchFamily="34" charset="0"/>
      <p:regular r:id="rId13"/>
      <p: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155538-8FF2-E591-4F6A-0CA3FF5452A0}" v="3647" dt="2025-02-13T14:48:32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8" d="100"/>
          <a:sy n="128" d="100"/>
        </p:scale>
        <p:origin x="1134" y="33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4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137e3f2783e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137e3f2783e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>
          <a:extLst>
            <a:ext uri="{FF2B5EF4-FFF2-40B4-BE49-F238E27FC236}">
              <a16:creationId xmlns:a16="http://schemas.microsoft.com/office/drawing/2014/main" id="{062A3B90-2843-C450-4804-7F0E3B393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202c3e4d11_0_0:notes">
            <a:extLst>
              <a:ext uri="{FF2B5EF4-FFF2-40B4-BE49-F238E27FC236}">
                <a16:creationId xmlns:a16="http://schemas.microsoft.com/office/drawing/2014/main" id="{9F1215FC-8635-9304-AAB4-ABEDEB6DAB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202c3e4d11_0_0:notes">
            <a:extLst>
              <a:ext uri="{FF2B5EF4-FFF2-40B4-BE49-F238E27FC236}">
                <a16:creationId xmlns:a16="http://schemas.microsoft.com/office/drawing/2014/main" id="{3BE97FD6-C53D-F8E7-4294-1D82BC0F8A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7108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6AC1E6D-9145-118A-D859-E3636E36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1a64a41dd_0_9:notes">
            <a:extLst>
              <a:ext uri="{FF2B5EF4-FFF2-40B4-BE49-F238E27FC236}">
                <a16:creationId xmlns:a16="http://schemas.microsoft.com/office/drawing/2014/main" id="{6F94249E-9A71-5E3D-A3DE-8C8BB80A8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21a64a41dd_0_9:notes">
            <a:extLst>
              <a:ext uri="{FF2B5EF4-FFF2-40B4-BE49-F238E27FC236}">
                <a16:creationId xmlns:a16="http://schemas.microsoft.com/office/drawing/2014/main" id="{782A2239-3B83-433C-5888-2827934E25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9378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37e3f2783e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137e3f2783e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ma | capitulo" type="tx">
  <p:cSld name="TITLE_AND_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3"/>
          <p:cNvPicPr preferRelativeResize="0"/>
          <p:nvPr/>
        </p:nvPicPr>
        <p:blipFill rotWithShape="1">
          <a:blip r:embed="rId2">
            <a:alphaModFix/>
          </a:blip>
          <a:srcRect l="1342" t="11272" r="1342" b="11256"/>
          <a:stretch/>
        </p:blipFill>
        <p:spPr>
          <a:xfrm>
            <a:off x="-129100" y="-72625"/>
            <a:ext cx="9402202" cy="5288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da " type="twoColTx">
  <p:cSld name="TITLE_AND_TWO_COLUMN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4"/>
          <p:cNvPicPr preferRelativeResize="0"/>
          <p:nvPr/>
        </p:nvPicPr>
        <p:blipFill rotWithShape="1">
          <a:blip r:embed="rId2">
            <a:alphaModFix/>
          </a:blip>
          <a:srcRect t="11380" b="-11379"/>
          <a:stretch/>
        </p:blipFill>
        <p:spPr>
          <a:xfrm>
            <a:off x="0" y="-1"/>
            <a:ext cx="9144003" cy="58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ização" type="titleOnly">
  <p:cSld name="TITLE_ONL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t="10190" b="10198"/>
          <a:stretch/>
        </p:blipFill>
        <p:spPr>
          <a:xfrm>
            <a:off x="0" y="1"/>
            <a:ext cx="9144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/>
        </p:nvSpPr>
        <p:spPr>
          <a:xfrm>
            <a:off x="6543206" y="3731617"/>
            <a:ext cx="2679047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Aula 06 |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Azure</a:t>
            </a:r>
            <a:r>
              <a:rPr lang="pt-PT" sz="1500" dirty="0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 Data </a:t>
            </a:r>
            <a:r>
              <a:rPr lang="pt-PT" sz="1500" dirty="0" err="1">
                <a:solidFill>
                  <a:schemeClr val="lt1"/>
                </a:solidFill>
                <a:latin typeface="Ubuntu"/>
                <a:ea typeface="Ubuntu"/>
                <a:cs typeface="Ubuntu"/>
                <a:sym typeface="Ubuntu"/>
              </a:rPr>
              <a:t>Factory</a:t>
            </a:r>
            <a:endParaRPr lang="pt-BR" dirty="0">
              <a:solidFill>
                <a:schemeClr val="lt1"/>
              </a:solidFill>
            </a:endParaRPr>
          </a:p>
        </p:txBody>
      </p:sp>
      <p:grpSp>
        <p:nvGrpSpPr>
          <p:cNvPr id="43" name="Google Shape;43;p12"/>
          <p:cNvGrpSpPr/>
          <p:nvPr/>
        </p:nvGrpSpPr>
        <p:grpSpPr>
          <a:xfrm>
            <a:off x="4197980" y="4066086"/>
            <a:ext cx="4942500" cy="0"/>
            <a:chOff x="4251700" y="5140900"/>
            <a:chExt cx="4942500" cy="0"/>
          </a:xfrm>
        </p:grpSpPr>
        <p:cxnSp>
          <p:nvCxnSpPr>
            <p:cNvPr id="44" name="Google Shape;44;p12"/>
            <p:cNvCxnSpPr/>
            <p:nvPr/>
          </p:nvCxnSpPr>
          <p:spPr>
            <a:xfrm>
              <a:off x="4251700" y="5140900"/>
              <a:ext cx="3690600" cy="0"/>
            </a:xfrm>
            <a:prstGeom prst="straightConnector1">
              <a:avLst/>
            </a:prstGeom>
            <a:noFill/>
            <a:ln w="19050" cap="flat" cmpd="sng">
              <a:solidFill>
                <a:srgbClr val="A6F75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5" name="Google Shape;45;p12"/>
            <p:cNvCxnSpPr/>
            <p:nvPr/>
          </p:nvCxnSpPr>
          <p:spPr>
            <a:xfrm>
              <a:off x="7942300" y="5140900"/>
              <a:ext cx="1251900" cy="0"/>
            </a:xfrm>
            <a:prstGeom prst="straightConnector1">
              <a:avLst/>
            </a:prstGeom>
            <a:noFill/>
            <a:ln w="19050" cap="flat" cmpd="sng">
              <a:solidFill>
                <a:srgbClr val="2371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>
          <a:extLst>
            <a:ext uri="{FF2B5EF4-FFF2-40B4-BE49-F238E27FC236}">
              <a16:creationId xmlns:a16="http://schemas.microsoft.com/office/drawing/2014/main" id="{BE62FF4B-0E95-2D7C-CA50-F67B36056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>
            <a:extLst>
              <a:ext uri="{FF2B5EF4-FFF2-40B4-BE49-F238E27FC236}">
                <a16:creationId xmlns:a16="http://schemas.microsoft.com/office/drawing/2014/main" id="{45934047-FD0D-5E6C-2CF0-D1CD8D39D36A}"/>
              </a:ext>
            </a:extLst>
          </p:cNvPr>
          <p:cNvSpPr txBox="1"/>
          <p:nvPr/>
        </p:nvSpPr>
        <p:spPr>
          <a:xfrm>
            <a:off x="240549" y="124357"/>
            <a:ext cx="747609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400" dirty="0">
                <a:solidFill>
                  <a:srgbClr val="A6F750"/>
                </a:solidFill>
                <a:latin typeface="Ubuntu Light"/>
                <a:sym typeface="Ubuntu Light"/>
              </a:rPr>
              <a:t>Iniciando com ADF - Pipelines</a:t>
            </a:r>
            <a:endParaRPr lang="pt-PT" dirty="0"/>
          </a:p>
        </p:txBody>
      </p:sp>
      <p:sp>
        <p:nvSpPr>
          <p:cNvPr id="51" name="Google Shape;51;p13">
            <a:extLst>
              <a:ext uri="{FF2B5EF4-FFF2-40B4-BE49-F238E27FC236}">
                <a16:creationId xmlns:a16="http://schemas.microsoft.com/office/drawing/2014/main" id="{046AADF5-35CB-013F-EC68-F7F29358AD75}"/>
              </a:ext>
            </a:extLst>
          </p:cNvPr>
          <p:cNvSpPr txBox="1"/>
          <p:nvPr/>
        </p:nvSpPr>
        <p:spPr>
          <a:xfrm>
            <a:off x="240549" y="337905"/>
            <a:ext cx="4463410" cy="323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Azure Data Factory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BB910-AA8C-CB09-04AA-8FED0C58A219}"/>
              </a:ext>
            </a:extLst>
          </p:cNvPr>
          <p:cNvSpPr txBox="1"/>
          <p:nvPr/>
        </p:nvSpPr>
        <p:spPr>
          <a:xfrm>
            <a:off x="240547" y="874588"/>
            <a:ext cx="6722383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O que é o </a:t>
            </a:r>
            <a:r>
              <a:rPr lang="pt-PT" b="1" dirty="0" err="1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Azure</a:t>
            </a: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 </a:t>
            </a:r>
            <a:r>
              <a:rPr lang="pt-PT" b="1" dirty="0" err="1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Datafactory</a:t>
            </a:r>
            <a:r>
              <a:rPr lang="pt-PT" b="1" dirty="0">
                <a:solidFill>
                  <a:srgbClr val="A6F750"/>
                </a:solidFill>
                <a:latin typeface="Fira Code"/>
                <a:ea typeface="Fira Code"/>
                <a:cs typeface="Fira Code"/>
              </a:rPr>
              <a:t>?</a:t>
            </a:r>
            <a:endParaRPr lang="pt-PT" b="1" dirty="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63F5C-C444-1B28-D425-2CFFD63170CF}"/>
              </a:ext>
            </a:extLst>
          </p:cNvPr>
          <p:cNvSpPr txBox="1"/>
          <p:nvPr/>
        </p:nvSpPr>
        <p:spPr>
          <a:xfrm>
            <a:off x="314890" y="1532517"/>
            <a:ext cx="4688291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Resumindo...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Serviço de integração de dados baseado em nuvem.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Nos permite criar, agendar e orquestrar pipelines de dados.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Facilita a movimentação de dados.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C9866A-5EB1-9489-325D-AF1C512A7DE5}"/>
              </a:ext>
            </a:extLst>
          </p:cNvPr>
          <p:cNvSpPr txBox="1"/>
          <p:nvPr/>
        </p:nvSpPr>
        <p:spPr>
          <a:xfrm>
            <a:off x="314889" y="2933876"/>
            <a:ext cx="3035413" cy="123110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buClr>
                <a:srgbClr val="92D050"/>
              </a:buClr>
            </a:pPr>
            <a:r>
              <a:rPr lang="pt-PT" dirty="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Componentes chaves: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Pipelines.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Activities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Dataset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Linked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 Services.</a:t>
            </a:r>
          </a:p>
          <a:p>
            <a:pPr marL="285750" indent="-285750">
              <a:buClr>
                <a:srgbClr val="92D050"/>
              </a:buClr>
              <a:buFont typeface="Wingdings" panose="05000000000000000000" pitchFamily="2" charset="2"/>
              <a:buChar char="ü"/>
            </a:pPr>
            <a:r>
              <a:rPr lang="pt-PT" sz="1200" dirty="0" err="1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Triggers</a:t>
            </a:r>
            <a:r>
              <a:rPr lang="pt-PT" sz="1200" dirty="0">
                <a:solidFill>
                  <a:srgbClr val="FFFFFF"/>
                </a:solidFill>
                <a:latin typeface="Fira Code"/>
                <a:ea typeface="Fira Code"/>
                <a:cs typeface="Fira Code"/>
              </a:rPr>
              <a:t>.</a:t>
            </a:r>
            <a:endParaRPr lang="pt-PT" sz="1200" dirty="0">
              <a:solidFill>
                <a:srgbClr val="FFFFFF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  <p:pic>
        <p:nvPicPr>
          <p:cNvPr id="5" name="Picture 4" descr="Microsoft Azure | One Data">
            <a:extLst>
              <a:ext uri="{FF2B5EF4-FFF2-40B4-BE49-F238E27FC236}">
                <a16:creationId xmlns:a16="http://schemas.microsoft.com/office/drawing/2014/main" id="{2D638E77-680E-C5DB-6236-553D8B3A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073" y="2036729"/>
            <a:ext cx="2734455" cy="182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Azure Data Factory - Visual Studio Marketplace">
            <a:extLst>
              <a:ext uri="{FF2B5EF4-FFF2-40B4-BE49-F238E27FC236}">
                <a16:creationId xmlns:a16="http://schemas.microsoft.com/office/drawing/2014/main" id="{78CA5822-818A-B911-07AF-C3BA5C9FD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784" y="1145826"/>
            <a:ext cx="1496516" cy="14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81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E4C2B231-9285-A386-58AE-833056AC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21a64a41dd_0_9">
            <a:extLst>
              <a:ext uri="{FF2B5EF4-FFF2-40B4-BE49-F238E27FC236}">
                <a16:creationId xmlns:a16="http://schemas.microsoft.com/office/drawing/2014/main" id="{EB4234C4-61DA-B49A-56AE-005202EB8FB6}"/>
              </a:ext>
            </a:extLst>
          </p:cNvPr>
          <p:cNvSpPr txBox="1"/>
          <p:nvPr/>
        </p:nvSpPr>
        <p:spPr>
          <a:xfrm>
            <a:off x="240549" y="124357"/>
            <a:ext cx="563760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1600" dirty="0">
                <a:solidFill>
                  <a:srgbClr val="A6F750"/>
                </a:solidFill>
                <a:latin typeface="Ubuntu Light"/>
                <a:sym typeface="Ubuntu Light"/>
              </a:rPr>
              <a:t>Iniciando com ADF - Pipelines</a:t>
            </a:r>
            <a:endParaRPr dirty="0"/>
          </a:p>
        </p:txBody>
      </p:sp>
      <p:sp>
        <p:nvSpPr>
          <p:cNvPr id="107" name="Google Shape;107;g321a64a41dd_0_9">
            <a:extLst>
              <a:ext uri="{FF2B5EF4-FFF2-40B4-BE49-F238E27FC236}">
                <a16:creationId xmlns:a16="http://schemas.microsoft.com/office/drawing/2014/main" id="{AE2238E4-5FD3-97D1-C6DD-28761EF0E907}"/>
              </a:ext>
            </a:extLst>
          </p:cNvPr>
          <p:cNvSpPr txBox="1"/>
          <p:nvPr/>
        </p:nvSpPr>
        <p:spPr>
          <a:xfrm>
            <a:off x="240549" y="396113"/>
            <a:ext cx="42153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900" dirty="0">
                <a:solidFill>
                  <a:schemeClr val="lt1"/>
                </a:solidFill>
                <a:latin typeface="Fira Code"/>
                <a:ea typeface="Fira Code"/>
                <a:cs typeface="Fira Code"/>
                <a:sym typeface="Ubuntu"/>
              </a:rPr>
              <a:t>Aula 06 | Azure Data Factory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21C887-5650-D65A-C987-E7D2D6E10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666" y="3743012"/>
            <a:ext cx="1539927" cy="1539927"/>
          </a:xfrm>
          <a:prstGeom prst="rect">
            <a:avLst/>
          </a:prstGeom>
        </p:spPr>
      </p:pic>
      <p:pic>
        <p:nvPicPr>
          <p:cNvPr id="3" name="Picture 2" descr="Azure SQL Database の便利機能!!使わないと損ですよ!! - NEXTSCAPE blog">
            <a:extLst>
              <a:ext uri="{FF2B5EF4-FFF2-40B4-BE49-F238E27FC236}">
                <a16:creationId xmlns:a16="http://schemas.microsoft.com/office/drawing/2014/main" id="{91B456D4-6924-3DD8-64ED-825B76F09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9135" y="1002673"/>
            <a:ext cx="1539927" cy="153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Microsoft Azure | One Data">
            <a:extLst>
              <a:ext uri="{FF2B5EF4-FFF2-40B4-BE49-F238E27FC236}">
                <a16:creationId xmlns:a16="http://schemas.microsoft.com/office/drawing/2014/main" id="{00CF6A9D-FB2A-35BA-3685-5C7E2BB0C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861" y="911360"/>
            <a:ext cx="2734455" cy="182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zure Data Factory - Visual Studio Marketplace">
            <a:extLst>
              <a:ext uri="{FF2B5EF4-FFF2-40B4-BE49-F238E27FC236}">
                <a16:creationId xmlns:a16="http://schemas.microsoft.com/office/drawing/2014/main" id="{F18EAB50-171F-4347-7426-9C9A49F02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415" y="2246496"/>
            <a:ext cx="1496516" cy="149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zure Blob Storage pricing | Microsoft Azure">
            <a:extLst>
              <a:ext uri="{FF2B5EF4-FFF2-40B4-BE49-F238E27FC236}">
                <a16:creationId xmlns:a16="http://schemas.microsoft.com/office/drawing/2014/main" id="{771D0E72-141F-B31A-B3A6-48EF32EB0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840555"/>
            <a:ext cx="2175447" cy="114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929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3492149" y="2210090"/>
            <a:ext cx="2663324" cy="723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rgbClr val="A6F75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Ubuntu Light"/>
              </a:rPr>
              <a:t>Obrigado!</a:t>
            </a:r>
            <a:endParaRPr sz="3500">
              <a:solidFill>
                <a:srgbClr val="A6F75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Ubuntu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79</Words>
  <Application>Microsoft Office PowerPoint</Application>
  <PresentationFormat>On-screen Show (16:9)</PresentationFormat>
  <Paragraphs>17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Fira Code</vt:lpstr>
      <vt:lpstr>Ubuntu Light</vt:lpstr>
      <vt:lpstr>Ubuntu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299</cp:revision>
  <dcterms:modified xsi:type="dcterms:W3CDTF">2025-07-22T22:16:07Z</dcterms:modified>
</cp:coreProperties>
</file>