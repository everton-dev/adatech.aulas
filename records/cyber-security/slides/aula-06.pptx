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62" r:id="rId3"/>
    <p:sldId id="300" r:id="rId4"/>
    <p:sldId id="257" r:id="rId5"/>
    <p:sldId id="306" r:id="rId6"/>
    <p:sldId id="301" r:id="rId7"/>
    <p:sldId id="302" r:id="rId8"/>
    <p:sldId id="303" r:id="rId9"/>
    <p:sldId id="304" r:id="rId10"/>
    <p:sldId id="305" r:id="rId11"/>
    <p:sldId id="268" r:id="rId12"/>
    <p:sldId id="261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Ubuntu" panose="020B0504030602030204" pitchFamily="34" charset="0"/>
      <p:regular r:id="rId17"/>
      <p:bold r:id="rId18"/>
      <p:italic r:id="rId19"/>
      <p:boldItalic r:id="rId20"/>
    </p:embeddedFont>
    <p:embeddedFont>
      <p:font typeface="Ubuntu Light" panose="020B0304030602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55538-8FF2-E591-4F6A-0CA3FF5452A0}" v="3647" dt="2025-02-13T14:48:32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10BB6E4-F0A4-6DDC-B95E-11FD913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F2DD82C-B39C-43C5-13F2-7F7B076A9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4173346-6517-13D5-90AA-D21168278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462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92BA0CA-D837-D10A-13CF-4A98FC39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096F3D1-551E-87E2-A8FF-66185FC9A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0A660BD-0B0E-78D1-C57A-6F3009D25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98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F03C1C2-F3F7-20A8-83BC-48B11C2B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B035ACE-E420-3E45-8BF5-5D7D57387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B63821E-39F0-E485-42A3-360593B4F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132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DA46D46-C0EC-B77A-443F-84C94911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C7A57FE-2DF1-16B3-FD41-F24BD4F21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B6DD16D-58BB-42BC-8B28-13F882170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653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9BE860A-C9B8-3434-2B20-5C0CFA6A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2794580-4047-E7E0-584C-A2F359EF0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709051E-3742-542C-F735-056843A96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312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ED972FA-6DED-8436-28D5-EB3BAD79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4D501596-168D-9F6E-8AE6-908EE2D08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1FF26F6-E5BB-D62E-6B0E-0BDBBCEEE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321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B359C89-8565-78FE-D2DE-D33B5F40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BF5B15-7482-24D3-6B5B-27872E770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1A354BD-3907-B61D-4583-4B9DFBF71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968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512527" y="3731617"/>
            <a:ext cx="470972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06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Como se proteger de golpes feitos por IA?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O que são golpes feitos por IA?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Golpes de </a:t>
            </a: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Spear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Phishing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 personalizado e fraldes com </a:t>
            </a: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Deepfake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Estratégias gerais de proteção.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Conclusão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Golpes automatizados por </a:t>
            </a: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chatbots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 maliciosos e automação de </a:t>
            </a:r>
            <a:r>
              <a:rPr lang="pt-PT" b="1" dirty="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Malware</a:t>
            </a:r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 dinâmico.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9FBCF66-6856-6B7F-A2AB-73F661C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5B6EE5C-CD3A-2F06-895E-091351254F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229ADD2-8AEF-BF10-455E-5ACF0A6014B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B8F16-EE62-0DAE-4B3C-170C70385EB6}"/>
              </a:ext>
            </a:extLst>
          </p:cNvPr>
          <p:cNvSpPr txBox="1"/>
          <p:nvPr/>
        </p:nvSpPr>
        <p:spPr>
          <a:xfrm>
            <a:off x="342029" y="1424723"/>
            <a:ext cx="539684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O que são golpes feito por IA?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Ataques cibernéticos.</a:t>
            </a:r>
            <a:endParaRPr lang="pt-PT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Fraudes.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Tecnologia avançada.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B338B-F3E5-6885-BDD7-B05FC999835F}"/>
              </a:ext>
            </a:extLst>
          </p:cNvPr>
          <p:cNvSpPr txBox="1"/>
          <p:nvPr/>
        </p:nvSpPr>
        <p:spPr>
          <a:xfrm>
            <a:off x="341596" y="3124171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Esses golpes envolvem: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Engenharia Social Avançada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Deepfakes</a:t>
            </a:r>
            <a:endParaRPr lang="pt-PT" sz="1200" dirty="0">
              <a:solidFill>
                <a:srgbClr val="FFFFFF"/>
              </a:solidFill>
              <a:latin typeface="Fira Code"/>
              <a:ea typeface="Fira Code"/>
              <a:cs typeface="Fira Code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Automação de Fraudes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Picture 6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930DD682-FEDF-A7C6-29CD-C31565E4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192" y="657195"/>
            <a:ext cx="3292824" cy="328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O que são golpes feitos por IA?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9" y="1157719"/>
            <a:ext cx="4899849" cy="12715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A IA tem facilita nossa vida, mas também é usada para...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Aplicar golpes cada vez mais sofisticados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Mensagens e áudios falsos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Videos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que parecem reais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2663282"/>
            <a:ext cx="4688291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Vamos explorar essas ameaças de Golpes...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Spear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Phishing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personalizados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Fraudes com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Deepfakes</a:t>
            </a:r>
            <a:endParaRPr lang="pt-PT" sz="1200" dirty="0" err="1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Redes sociais com IA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Automatizados por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Chatbots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maliciosos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Automação com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dinâmico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Picture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B44DFA3-0BAD-C016-6C78-C375F7903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708" y="1031719"/>
            <a:ext cx="3263126" cy="3263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5CD5DB5E-A40E-A2BB-567A-1CB7C5CA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E3507D7-2F77-2C24-9CF0-871CE0D04C1B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2844028-89F9-6AA5-DF0F-0A23FF01CA5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36FF6-B6B7-0DA2-772B-116EA3A978BF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Spear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Phishing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personalizados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D5432-E23D-887D-A191-CF6ECCD1BC1F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Mensagens que parecem ser de uma pessoa ou empresa confiável.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2D75D-F346-6CDF-53BD-8A31C103368B}"/>
              </a:ext>
            </a:extLst>
          </p:cNvPr>
          <p:cNvSpPr txBox="1"/>
          <p:nvPr/>
        </p:nvSpPr>
        <p:spPr>
          <a:xfrm>
            <a:off x="314889" y="2933876"/>
            <a:ext cx="4688291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Receber e-mail do seu gerente.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E-mail usa tom e expressões de características de pessoas que conhece.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Tom de urgência.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Tem um link malicioso.</a:t>
            </a: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FC3A3-54F6-BBD5-E4C1-6BAD852D4AD7}"/>
              </a:ext>
            </a:extLst>
          </p:cNvPr>
          <p:cNvSpPr txBox="1"/>
          <p:nvPr/>
        </p:nvSpPr>
        <p:spPr>
          <a:xfrm>
            <a:off x="5330282" y="3531069"/>
            <a:ext cx="369590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Verificar Remetente do e-mail.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Não clique em links diretamente.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Confirme solicitações sensíveis diretamente com a pessoa envolvida.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C5EF7-D134-D89D-0888-C15CC8ACA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998" y="287598"/>
            <a:ext cx="3107471" cy="305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3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864AE7A-B07C-62AC-7886-67B97798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6216352-3B34-3AF4-2673-880896327AF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24E6217-B348-6B38-48D9-6A675D37D742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57772-9245-99E2-40AF-845099C820C3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Fraudes com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044DF-81AC-1FA1-3D43-FBE2DE8A4694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Vídeos ou áudio que imitam pessoas reais.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Incrivelmente realistas.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Fraudes financeiras.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Manipular informação.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01976-7532-94DD-ED41-D11156688EA6}"/>
              </a:ext>
            </a:extLst>
          </p:cNvPr>
          <p:cNvSpPr txBox="1"/>
          <p:nvPr/>
        </p:nvSpPr>
        <p:spPr>
          <a:xfrm>
            <a:off x="314889" y="2933876"/>
            <a:ext cx="4688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Usaram a voz de um CEO para convencer um funcionário a transferir grandes somas de dinheiro para uma “parceria urgente”.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Voz parecia autentica.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Ninguém suspeitou!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AE6CD-1508-CA60-3D02-C254AC5F8AA0}"/>
              </a:ext>
            </a:extLst>
          </p:cNvPr>
          <p:cNvSpPr txBox="1"/>
          <p:nvPr/>
        </p:nvSpPr>
        <p:spPr>
          <a:xfrm>
            <a:off x="5372499" y="2202718"/>
            <a:ext cx="3689726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Adotar protocolos para confirmar pedidos financeiros ou ações sensíveis.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Ligue diretamente a pessoa envolvida.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Desconfie de pedidos com urgência excessiva e sem contexto.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5A276-27A2-8176-D814-7A028550A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46" y="358362"/>
            <a:ext cx="1697375" cy="16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1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ECAA73B-F361-2B34-78D5-C66F78E7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0D899FF-E45B-8960-A849-EC3C3E27C2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3AF97CB-ECA3-B996-6CA6-3C42BF9CC90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42C36-8F6A-5AAF-A2F4-5F7BF9298E96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Golpes em redes sociais com IA 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507A9-4695-FF1F-F751-5C4BE073ADD1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Criar perfis falsos.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Manipular conversas.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Roubar informações pessoais.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6D0B0A-0D34-6EDB-5628-8798DE0DFAFD}"/>
              </a:ext>
            </a:extLst>
          </p:cNvPr>
          <p:cNvSpPr txBox="1"/>
          <p:nvPr/>
        </p:nvSpPr>
        <p:spPr>
          <a:xfrm>
            <a:off x="314889" y="2933876"/>
            <a:ext cx="4688291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Mensagens de emprego, entregas de encomendas, que pedem informações pessoais ou taxas.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541A6-AE34-FE2A-0C6A-C2E5E4C1AA0B}"/>
              </a:ext>
            </a:extLst>
          </p:cNvPr>
          <p:cNvSpPr txBox="1"/>
          <p:nvPr/>
        </p:nvSpPr>
        <p:spPr>
          <a:xfrm>
            <a:off x="5341607" y="3356015"/>
            <a:ext cx="3689726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Verificar histórico do Perfil.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Nunca compartilhe informações sensíveis.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Use ferramentas de verificação.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Confirme a legitimidade antes de qualquer ação.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264B5-0952-86A3-4A08-562C5A55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54" y="657209"/>
            <a:ext cx="2306581" cy="227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9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A69A1FF-CEB6-D0B8-0FDD-F7EE2A26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837EB69-E4F0-33E7-D0A3-FA6CEF9111D1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DF65313-370D-6FCF-CC5F-615E3681A0C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3FFE7-909C-B212-D4D8-D1EDA2F03778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Golpes automatizados por </a:t>
            </a: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Chatbots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maliciosos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E03A9-4F9A-9CC7-3640-6BE7A56A6582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Geralmente usados por empresas para atendimento, onde criminoso utilizam para enganar.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6F1EFF-3B71-DA91-49FD-9441E44F1722}"/>
              </a:ext>
            </a:extLst>
          </p:cNvPr>
          <p:cNvSpPr txBox="1"/>
          <p:nvPr/>
        </p:nvSpPr>
        <p:spPr>
          <a:xfrm>
            <a:off x="314889" y="2933876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Em conversa com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chatbot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e pede informações sensíveis.</a:t>
            </a: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182AA-904C-3379-FD67-4CC131CC10FD}"/>
              </a:ext>
            </a:extLst>
          </p:cNvPr>
          <p:cNvSpPr txBox="1"/>
          <p:nvPr/>
        </p:nvSpPr>
        <p:spPr>
          <a:xfrm>
            <a:off x="5207742" y="2933826"/>
            <a:ext cx="3689726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Nunca compartilhe informações sensíveis em chats, a não ser que tenha certeza da legitimidade do site.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Verifique certificado de segurança do site.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Prefira entrar em contato através de canais oficiais.</a:t>
            </a:r>
          </a:p>
        </p:txBody>
      </p:sp>
      <p:pic>
        <p:nvPicPr>
          <p:cNvPr id="8" name="Picture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7CC20EB-89AD-EC94-64B3-013810CA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89" y="499597"/>
            <a:ext cx="1910576" cy="191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E42C92-84AD-13D7-C635-B2F5C56DD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200" y="4120745"/>
            <a:ext cx="156117" cy="15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0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7E07B175-F95B-2C9A-00DA-046E8F6C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C414750-6962-E96E-D6AD-AAABAEE80BA8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82BD307-73C5-2B9A-865B-C359A63BAE1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6DA35-96D5-FA85-3428-3ADC1C297CE4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Automação de golpes com </a:t>
            </a: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Malware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dinâmico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8E7F6-733E-86B7-023E-D0F2A57C5D6A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Se adaptam em tempo real ao ambiente da vitima.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Dificultam a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detecção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dos sistemas de segurança.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0C345-AF5A-6DEC-42EE-F2F4A5E89E51}"/>
              </a:ext>
            </a:extLst>
          </p:cNvPr>
          <p:cNvSpPr txBox="1"/>
          <p:nvPr/>
        </p:nvSpPr>
        <p:spPr>
          <a:xfrm>
            <a:off x="314889" y="2933876"/>
            <a:ext cx="46882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E-mail malicioso instala um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no seu computador e monitora suas ações.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Rouba as suas senhas.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E7234-31B0-DFB2-B068-1DA03AFA123B}"/>
              </a:ext>
            </a:extLst>
          </p:cNvPr>
          <p:cNvSpPr txBox="1"/>
          <p:nvPr/>
        </p:nvSpPr>
        <p:spPr>
          <a:xfrm>
            <a:off x="5135661" y="3294231"/>
            <a:ext cx="3689726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Antivirus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atualizado, e ative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firewalls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Não baixe anexos ou aplicativos de fontes não conhecidas.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Use autenticação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Multifator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(MFA)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C3331-D485-FD6E-DCF9-4B356D01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427" y="124357"/>
            <a:ext cx="2420957" cy="24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7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6A0EB8-2084-A797-87FE-6E03BA62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21F8F8-CC36-37E0-D9A7-808882A198E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Estratégias Gerais de Proteção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494D661-D296-C942-FF72-106C7BD5829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CFD10054-035E-3E9F-CD96-93BF75ABE5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7786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62948A-CDEE-55A1-74DB-1A8ED105EC06}"/>
              </a:ext>
            </a:extLst>
          </p:cNvPr>
          <p:cNvSpPr txBox="1"/>
          <p:nvPr/>
        </p:nvSpPr>
        <p:spPr>
          <a:xfrm>
            <a:off x="1160313" y="748210"/>
            <a:ext cx="2656322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Educação Digital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Treinamentos regulares de segurança cibernética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Ensine amigos e familiares.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Google Shape;66;p14">
            <a:extLst>
              <a:ext uri="{FF2B5EF4-FFF2-40B4-BE49-F238E27FC236}">
                <a16:creationId xmlns:a16="http://schemas.microsoft.com/office/drawing/2014/main" id="{E342D0D3-4BA3-155D-B787-6F015930F2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222065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9B545C-C4CC-9A90-5799-BBFD8B9C8069}"/>
              </a:ext>
            </a:extLst>
          </p:cNvPr>
          <p:cNvSpPr txBox="1"/>
          <p:nvPr/>
        </p:nvSpPr>
        <p:spPr>
          <a:xfrm>
            <a:off x="1033935" y="2205068"/>
            <a:ext cx="2656322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Verificação Dupla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Confirme identidade de pedidos financeiros 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1" name="Google Shape;66;p14">
            <a:extLst>
              <a:ext uri="{FF2B5EF4-FFF2-40B4-BE49-F238E27FC236}">
                <a16:creationId xmlns:a16="http://schemas.microsoft.com/office/drawing/2014/main" id="{531554B4-F08A-53B4-F717-778F026B98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26" y="36480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140AF8-B9FA-D81E-AAE0-EFD87D6FFD4C}"/>
              </a:ext>
            </a:extLst>
          </p:cNvPr>
          <p:cNvSpPr txBox="1"/>
          <p:nvPr/>
        </p:nvSpPr>
        <p:spPr>
          <a:xfrm>
            <a:off x="963267" y="3602742"/>
            <a:ext cx="291029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Uso de Ferramentas de Segurança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Use </a:t>
            </a:r>
            <a:r>
              <a:rPr lang="pt-PT" sz="120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Antivírus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confiáveis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Use extensões que alertam sites suspeitos.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BFF34A92-C706-3AE6-92B6-AD9E991AAC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330" y="1636239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A2727C-D95B-AD45-74B2-6919F559B60F}"/>
              </a:ext>
            </a:extLst>
          </p:cNvPr>
          <p:cNvSpPr txBox="1"/>
          <p:nvPr/>
        </p:nvSpPr>
        <p:spPr>
          <a:xfrm>
            <a:off x="4676932" y="1613220"/>
            <a:ext cx="2770872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Cuidado com Dados em Redes Sociais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Não compartilhe dados diários ou detalhes pessoais.</a:t>
            </a:r>
          </a:p>
        </p:txBody>
      </p:sp>
      <p:pic>
        <p:nvPicPr>
          <p:cNvPr id="19" name="Google Shape;66;p14">
            <a:extLst>
              <a:ext uri="{FF2B5EF4-FFF2-40B4-BE49-F238E27FC236}">
                <a16:creationId xmlns:a16="http://schemas.microsoft.com/office/drawing/2014/main" id="{840AAD8D-0D32-020C-3EC9-EAC0F02B33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989" y="306619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D78794-7900-718E-B9BD-F2514CB81B16}"/>
              </a:ext>
            </a:extLst>
          </p:cNvPr>
          <p:cNvSpPr txBox="1"/>
          <p:nvPr/>
        </p:nvSpPr>
        <p:spPr>
          <a:xfrm>
            <a:off x="4805141" y="3043177"/>
            <a:ext cx="2656322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Protocolos Corporativos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Implementação politicas claras.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Transações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financieras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2" name="Picture 21" descr="Logotipo&#10;&#10;O conteúdo gerado por IA pode estar incorreto.">
            <a:extLst>
              <a:ext uri="{FF2B5EF4-FFF2-40B4-BE49-F238E27FC236}">
                <a16:creationId xmlns:a16="http://schemas.microsoft.com/office/drawing/2014/main" id="{0276EEB9-B36B-973A-644B-C1B64A3F7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38" y="4404907"/>
            <a:ext cx="477054" cy="4770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EC9093-7C0A-D227-C6E1-C980672A2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836" y="1554889"/>
            <a:ext cx="428258" cy="428258"/>
          </a:xfrm>
          <a:prstGeom prst="rect">
            <a:avLst/>
          </a:prstGeom>
        </p:spPr>
      </p:pic>
      <p:pic>
        <p:nvPicPr>
          <p:cNvPr id="25" name="Picture 24" descr="Uma imagem contendo objeto, relógio, placa&#10;&#10;O conteúdo gerado por IA pode estar incorreto.">
            <a:extLst>
              <a:ext uri="{FF2B5EF4-FFF2-40B4-BE49-F238E27FC236}">
                <a16:creationId xmlns:a16="http://schemas.microsoft.com/office/drawing/2014/main" id="{862D5AC0-BB7A-2FB9-7F4F-A6726111E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98" y="2936103"/>
            <a:ext cx="530035" cy="530035"/>
          </a:xfrm>
          <a:prstGeom prst="rect">
            <a:avLst/>
          </a:prstGeom>
        </p:spPr>
      </p:pic>
      <p:pic>
        <p:nvPicPr>
          <p:cNvPr id="27" name="Picture 26" descr="Ícone&#10;&#10;O conteúdo gerado por IA pode estar incorreto.">
            <a:extLst>
              <a:ext uri="{FF2B5EF4-FFF2-40B4-BE49-F238E27FC236}">
                <a16:creationId xmlns:a16="http://schemas.microsoft.com/office/drawing/2014/main" id="{7CE364D1-9749-9F99-EF45-907D272B91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9578" y="2408664"/>
            <a:ext cx="450841" cy="4508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8FC9882-D7D1-418F-9683-0B47C4D84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858" y="3860148"/>
            <a:ext cx="384749" cy="3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2263988"/>
            <a:ext cx="5255943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IA está sendo usada para criar ameaças</a:t>
            </a: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 sofisticadas.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Estejamos atentos e preparados usando ferramentas adequadas.</a:t>
            </a:r>
            <a:endParaRPr lang="pt-PT" b="1" dirty="0">
              <a:solidFill>
                <a:schemeClr val="lt1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Como se Proteger de Golpes feitos por IA?</a:t>
            </a:r>
            <a:endParaRPr lang="pt-BR"/>
          </a:p>
        </p:txBody>
      </p:sp>
      <p:pic>
        <p:nvPicPr>
          <p:cNvPr id="5" name="Picture 8" descr="Pessoas no palco iluminado tocando instrumentos e cantando&#10;&#10;O conteúdo gerado por IA pode estar incorreto.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Qual dessas estratégias de proteção, é a mais eficaz e porque?</a:t>
            </a:r>
            <a:endParaRPr lang="pt-PT" b="1" i="1" u="sng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742</Words>
  <Application>Microsoft Office PowerPoint</Application>
  <PresentationFormat>On-screen Show (16:9)</PresentationFormat>
  <Paragraphs>119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Ubuntu Light</vt:lpstr>
      <vt:lpstr>Ubuntu</vt:lpstr>
      <vt:lpstr>Wingdings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285</cp:revision>
  <dcterms:modified xsi:type="dcterms:W3CDTF">2025-02-13T23:12:24Z</dcterms:modified>
</cp:coreProperties>
</file>