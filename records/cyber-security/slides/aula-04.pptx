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62" r:id="rId3"/>
    <p:sldId id="257" r:id="rId4"/>
    <p:sldId id="289" r:id="rId5"/>
    <p:sldId id="296" r:id="rId6"/>
    <p:sldId id="295" r:id="rId7"/>
    <p:sldId id="293" r:id="rId8"/>
    <p:sldId id="268" r:id="rId9"/>
    <p:sldId id="261" r:id="rId10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Ubuntu" panose="020B0504030602030204" pitchFamily="34" charset="0"/>
      <p:regular r:id="rId14"/>
      <p:bold r:id="rId15"/>
      <p:italic r:id="rId16"/>
      <p:boldItalic r:id="rId17"/>
    </p:embeddedFont>
    <p:embeddedFont>
      <p:font typeface="Ubuntu Light" panose="020B0304030602030204" pitchFamily="3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0C5366A-DE22-2C96-C60C-0EDCBAA5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9EF4EE6-D07D-296B-2E6C-2006E6F2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D166997-D14A-900C-4740-E8F675F84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23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4778DC2-C327-FF4D-087C-2AE3ADFD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59DE133-F36F-8900-DAB2-7079149F8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5724DEF2-E19D-3904-2DC5-3E18F60B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991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F9C4D6E-265E-FE7B-C9DD-F60F7803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FB7A3D6-B70A-0F86-2C85-06DF56D78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89DC7CA-0661-5B9B-1DCF-84BFD16BF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79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59D873F-96CC-4B11-E6E8-403193F5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CD6E4D3C-9528-FD26-EFA7-42F0178F0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85D959CF-51C5-747D-311D-DDB92DE45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442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4384221" y="3731617"/>
            <a:ext cx="483803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04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IA segura: entendendo os riscos associados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crescimento da IA e seus impactos.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Principais riscos associados à IA.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65312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Analise dos riscos e estratégias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Estratégias para mitigar os ricos da IA.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papel da IA no ambiente corporativo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874588"/>
            <a:ext cx="6459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IA está presente em praticamente todos os setores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8E885B8-B267-C1E6-C6A6-441900E475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691965" y="1765244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Negócios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Chatbots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Sistemas de recomendação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A311F474-407E-8586-FFE1-F137D34D1D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49" y="316334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59BE24-2C36-5C0A-CF8C-F80C79722163}"/>
              </a:ext>
            </a:extLst>
          </p:cNvPr>
          <p:cNvSpPr txBox="1"/>
          <p:nvPr/>
        </p:nvSpPr>
        <p:spPr>
          <a:xfrm>
            <a:off x="691965" y="3207234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Saúde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Diagnósticos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Tratamento personalizado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DE599757-B4CF-8C76-3255-16163FB023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799" y="172135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396D5E-617B-F81C-5789-DA369CDB7DC5}"/>
              </a:ext>
            </a:extLst>
          </p:cNvPr>
          <p:cNvSpPr txBox="1"/>
          <p:nvPr/>
        </p:nvSpPr>
        <p:spPr>
          <a:xfrm>
            <a:off x="3914253" y="1757810"/>
            <a:ext cx="26563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Transporte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Veículos autónomos</a:t>
            </a:r>
          </a:p>
        </p:txBody>
      </p:sp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38E1DBEE-1CF3-DBDC-CF38-C94F8E6564E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799" y="3170781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C85653-54EB-B56A-1EDB-D5CB5874C9A3}"/>
              </a:ext>
            </a:extLst>
          </p:cNvPr>
          <p:cNvSpPr txBox="1"/>
          <p:nvPr/>
        </p:nvSpPr>
        <p:spPr>
          <a:xfrm>
            <a:off x="3914253" y="3207234"/>
            <a:ext cx="2656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Segurança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Monitoramento automatizado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Prevenção de fraudes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485CF2-A929-7E07-D39A-260AE71DF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012" y="3931779"/>
            <a:ext cx="427107" cy="427107"/>
          </a:xfrm>
          <a:prstGeom prst="rect">
            <a:avLst/>
          </a:prstGeom>
        </p:spPr>
      </p:pic>
      <p:pic>
        <p:nvPicPr>
          <p:cNvPr id="23" name="Google Shape;65;p14">
            <a:extLst>
              <a:ext uri="{FF2B5EF4-FFF2-40B4-BE49-F238E27FC236}">
                <a16:creationId xmlns:a16="http://schemas.microsoft.com/office/drawing/2014/main" id="{4772506A-3738-9B31-156F-603D6BA52F1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5373678" y="3040802"/>
            <a:ext cx="2631285" cy="2056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C763980-B1F5-C788-EBB5-1E9107E8EC30}"/>
              </a:ext>
            </a:extLst>
          </p:cNvPr>
          <p:cNvSpPr txBox="1"/>
          <p:nvPr/>
        </p:nvSpPr>
        <p:spPr>
          <a:xfrm>
            <a:off x="6857456" y="886044"/>
            <a:ext cx="21604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Riscos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C347E-EFCC-8C76-08A6-3789217D37B0}"/>
              </a:ext>
            </a:extLst>
          </p:cNvPr>
          <p:cNvSpPr txBox="1"/>
          <p:nvPr/>
        </p:nvSpPr>
        <p:spPr>
          <a:xfrm>
            <a:off x="7473432" y="2030906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Técnicos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C596C3-C49B-F9DC-BF50-E17F1F3966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687" y="3603260"/>
            <a:ext cx="753953" cy="7539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FB028E0-1553-5A80-09FA-787B185C3A36}"/>
              </a:ext>
            </a:extLst>
          </p:cNvPr>
          <p:cNvSpPr txBox="1"/>
          <p:nvPr/>
        </p:nvSpPr>
        <p:spPr>
          <a:xfrm>
            <a:off x="6983624" y="3157162"/>
            <a:ext cx="1951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Falhas nos sistemas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CF722F-F464-3112-CFB7-F437D6BF886A}"/>
              </a:ext>
            </a:extLst>
          </p:cNvPr>
          <p:cNvSpPr txBox="1"/>
          <p:nvPr/>
        </p:nvSpPr>
        <p:spPr>
          <a:xfrm>
            <a:off x="7101536" y="4357213"/>
            <a:ext cx="1672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Éticos e sociais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AED28-C6C6-30F2-4F9F-107AB7F2A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0686" y="1300692"/>
            <a:ext cx="753954" cy="752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7B4430-E540-2EA3-CA8F-7001F517B1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0684" y="2482504"/>
            <a:ext cx="753953" cy="7539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0741AF-E73A-63D4-C5C0-F97F9A525B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618" y="2502716"/>
            <a:ext cx="456745" cy="4567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11D82A-F061-4EBE-CB89-A1586B4714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790" y="3946340"/>
            <a:ext cx="438701" cy="4387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2D82DB-D39E-B459-C1B6-45325F840B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7915" y="2432115"/>
            <a:ext cx="498815" cy="49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24" grpId="0"/>
      <p:bldP spid="25" grpId="0"/>
      <p:bldP spid="30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F53F8C0-A6CB-C554-BB25-64715481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C99A594-552C-C49F-12E9-1A2DC3B10594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Principais riscos associados à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C9A8D79-EA80-E490-504E-E3878774649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C0820EC1-178A-624F-F52D-0FC8FF8854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60" y="153987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EE67EE-BABE-DD90-2399-E8F717D7D5D3}"/>
              </a:ext>
            </a:extLst>
          </p:cNvPr>
          <p:cNvSpPr txBox="1"/>
          <p:nvPr/>
        </p:nvSpPr>
        <p:spPr>
          <a:xfrm>
            <a:off x="952156" y="1524288"/>
            <a:ext cx="245485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Vulnerabilidades em sistemas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Hacking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Manipulados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Vazamento de dados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39A18FE0-0975-4D5A-57A7-F45A2EBCB7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749" y="326097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C903E9-225B-F493-42FF-5139A114B2E8}"/>
              </a:ext>
            </a:extLst>
          </p:cNvPr>
          <p:cNvSpPr txBox="1"/>
          <p:nvPr/>
        </p:nvSpPr>
        <p:spPr>
          <a:xfrm>
            <a:off x="3369844" y="3237958"/>
            <a:ext cx="256711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Dependência excessiva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Confiar demais na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Fatal de supervisão humana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Aumento de riscos de falhas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F91F0854-5329-4B70-0967-A7291E6969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352" y="152428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08567B-EB3D-4CD3-4F72-D1A51315BC28}"/>
              </a:ext>
            </a:extLst>
          </p:cNvPr>
          <p:cNvSpPr txBox="1"/>
          <p:nvPr/>
        </p:nvSpPr>
        <p:spPr>
          <a:xfrm>
            <a:off x="5840316" y="1531005"/>
            <a:ext cx="251507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Treinamento com dados inadequados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incompletos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Resultados incorretos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Discriminação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39B7513-14D8-160E-9262-8E5A55F20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08" y="2306674"/>
            <a:ext cx="427107" cy="427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104173-217A-F3C1-641B-9E4077D12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969" y="4009979"/>
            <a:ext cx="477054" cy="477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2C7E95-701C-8AC7-2F57-CE341002D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9900" y="2303455"/>
            <a:ext cx="430326" cy="4303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89BC12-6267-70B5-8799-3B51ED71B371}"/>
              </a:ext>
            </a:extLst>
          </p:cNvPr>
          <p:cNvSpPr txBox="1"/>
          <p:nvPr/>
        </p:nvSpPr>
        <p:spPr>
          <a:xfrm>
            <a:off x="240549" y="874588"/>
            <a:ext cx="6459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Riscos técnicos</a:t>
            </a:r>
          </a:p>
        </p:txBody>
      </p:sp>
    </p:spTree>
    <p:extLst>
      <p:ext uri="{BB962C8B-B14F-4D97-AF65-F5344CB8AC3E}">
        <p14:creationId xmlns:p14="http://schemas.microsoft.com/office/powerpoint/2010/main" val="385017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61710FF-6D2E-E4B1-4173-C29D128A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F238451E-3FEB-EF3B-6DA0-9CB7D14BE206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Principais riscos associados à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FE1DB80-79E7-CCC0-05D1-E6B73B7EA70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AFCFD1CF-ACE3-B52D-ACE4-001AEA331A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60" y="153987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230A3-8413-DF22-C0C0-1A338F4A27C9}"/>
              </a:ext>
            </a:extLst>
          </p:cNvPr>
          <p:cNvSpPr txBox="1"/>
          <p:nvPr/>
        </p:nvSpPr>
        <p:spPr>
          <a:xfrm>
            <a:off x="952155" y="1494552"/>
            <a:ext cx="256298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Preconceito e discriminação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Dados históricos enviesados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Algoritmo orientado a dados ruins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FF53CEEC-77E3-F28A-D504-3DB04D1822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749" y="326097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0F6B17-5E3B-3445-F566-BBA179F08B9A}"/>
              </a:ext>
            </a:extLst>
          </p:cNvPr>
          <p:cNvSpPr txBox="1"/>
          <p:nvPr/>
        </p:nvSpPr>
        <p:spPr>
          <a:xfrm>
            <a:off x="3369844" y="3237958"/>
            <a:ext cx="256711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Falta de transparência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Caixas-pretas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Falta de explicações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ser um problema nas áreas de saúde ou judicial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730852F1-3352-E8BF-6801-58B567E03F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352" y="152428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5A97FF-0026-2B8F-03B9-0DF114592661}"/>
              </a:ext>
            </a:extLst>
          </p:cNvPr>
          <p:cNvSpPr txBox="1"/>
          <p:nvPr/>
        </p:nvSpPr>
        <p:spPr>
          <a:xfrm>
            <a:off x="5840316" y="1531005"/>
            <a:ext cx="251507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Uso malicioso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Fake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news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Deepfakes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Ataques cibernéticos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7A6E5-6B6C-190F-6DED-496C7AD0AA67}"/>
              </a:ext>
            </a:extLst>
          </p:cNvPr>
          <p:cNvSpPr txBox="1"/>
          <p:nvPr/>
        </p:nvSpPr>
        <p:spPr>
          <a:xfrm>
            <a:off x="240549" y="874588"/>
            <a:ext cx="6459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Riscos Éticos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D5105-06E8-B09C-58DE-DCC680C37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9" y="2304585"/>
            <a:ext cx="457736" cy="4577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5A72F8-ABA0-C3E3-BA87-3C2C009B5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171" y="2294157"/>
            <a:ext cx="427107" cy="427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DF5603-697E-6FB2-7225-FE6C5B9C6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729" y="4017447"/>
            <a:ext cx="451813" cy="45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2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14EAE8C2-617F-F768-D39C-3CFA1BB1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C0CB91E-2E76-E7F4-99D4-857ABF461939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Principais riscos associados à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5821B48-698E-995F-B271-C89BDD3A73D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5805C8F7-1A60-26E7-580E-5DC852656C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60" y="153987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77F45-3256-5357-9541-6EBD7298C9F2}"/>
              </a:ext>
            </a:extLst>
          </p:cNvPr>
          <p:cNvSpPr txBox="1"/>
          <p:nvPr/>
        </p:nvSpPr>
        <p:spPr>
          <a:xfrm>
            <a:off x="952156" y="1524288"/>
            <a:ext cx="2454858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Impacto no emprego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Substituição de empregos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Desemprego em massa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F1DC746C-81F2-10A5-03A6-323B5708B7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749" y="3260977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A27C5B-E7CA-AF51-1CE0-499A3603247D}"/>
              </a:ext>
            </a:extLst>
          </p:cNvPr>
          <p:cNvSpPr txBox="1"/>
          <p:nvPr/>
        </p:nvSpPr>
        <p:spPr>
          <a:xfrm>
            <a:off x="3369844" y="3237958"/>
            <a:ext cx="256711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Desinformação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Criação automática de textos e mensagens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Espalhar informações falsas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751B6EDF-195F-8A1C-5570-5FDFAE19E0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352" y="152428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3CBAF7-4BC5-5C94-E7F4-B3BCEC2756E5}"/>
              </a:ext>
            </a:extLst>
          </p:cNvPr>
          <p:cNvSpPr txBox="1"/>
          <p:nvPr/>
        </p:nvSpPr>
        <p:spPr>
          <a:xfrm>
            <a:off x="5795712" y="1531005"/>
            <a:ext cx="251507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Concentração de poder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Monopolização de mercado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Desigualdade econômica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CCFDE-F9A0-DA32-DF3C-828556F80255}"/>
              </a:ext>
            </a:extLst>
          </p:cNvPr>
          <p:cNvSpPr txBox="1"/>
          <p:nvPr/>
        </p:nvSpPr>
        <p:spPr>
          <a:xfrm>
            <a:off x="240549" y="874588"/>
            <a:ext cx="6459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Riscos sociais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4573C-CBB3-0830-C376-32E016097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1" y="2285717"/>
            <a:ext cx="478338" cy="478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471281-D56A-B706-E200-AAAF323E7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683" y="4046659"/>
            <a:ext cx="402161" cy="4021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164A08-D1CF-5261-9C3B-27833D5A2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887" y="2260136"/>
            <a:ext cx="444561" cy="44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1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34F217D-1DE8-307F-F7A0-E24752BA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9C674270-517B-07E2-67E5-2F2DBA6133EE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Estratégias para mitigar os riscos de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AFAAC8F-E836-2489-38DE-5E1657EA542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FB62E68F-582E-726F-4689-A98DC9786A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2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058741-4F18-0F14-02E9-A41E4CF14DFA}"/>
              </a:ext>
            </a:extLst>
          </p:cNvPr>
          <p:cNvSpPr txBox="1"/>
          <p:nvPr/>
        </p:nvSpPr>
        <p:spPr>
          <a:xfrm>
            <a:off x="1345579" y="754927"/>
            <a:ext cx="26891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Governança e regulamentação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1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Empresas e governos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1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Criação de regulamentos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1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Desenvolvimento e uso de IA</a:t>
            </a:r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595BFFAB-20B7-6D0F-CD54-2C50E42C91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922" y="218276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E95820-F4D6-6662-21FB-CEA4B8F2F872}"/>
              </a:ext>
            </a:extLst>
          </p:cNvPr>
          <p:cNvSpPr txBox="1"/>
          <p:nvPr/>
        </p:nvSpPr>
        <p:spPr>
          <a:xfrm>
            <a:off x="1487413" y="2159747"/>
            <a:ext cx="256711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Auditorias regulares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Avaliar continuamente os sistemas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Correção de falhas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Revisar os dados e </a:t>
            </a:r>
            <a:r>
              <a:rPr lang="pt-PT" sz="12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retreinar</a:t>
            </a: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 IA</a:t>
            </a: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F666BA11-F31E-DC01-E471-D6203AADD2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722" y="3661694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5B46B-597D-DB52-3D08-CEBC0DF66C90}"/>
              </a:ext>
            </a:extLst>
          </p:cNvPr>
          <p:cNvSpPr txBox="1"/>
          <p:nvPr/>
        </p:nvSpPr>
        <p:spPr>
          <a:xfrm>
            <a:off x="1519648" y="3638675"/>
            <a:ext cx="251507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Supervisão humana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Humanos no controle das decisões da 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Ex. setor de credito, financeiro, saúde e etc...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8" name="Google Shape;66;p14">
            <a:extLst>
              <a:ext uri="{FF2B5EF4-FFF2-40B4-BE49-F238E27FC236}">
                <a16:creationId xmlns:a16="http://schemas.microsoft.com/office/drawing/2014/main" id="{01D53F2B-BACA-0AC0-F52D-B2AFEAF151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740776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1B3673-960F-EE8E-18C0-541A732A79D3}"/>
              </a:ext>
            </a:extLst>
          </p:cNvPr>
          <p:cNvSpPr txBox="1"/>
          <p:nvPr/>
        </p:nvSpPr>
        <p:spPr>
          <a:xfrm>
            <a:off x="5882855" y="725191"/>
            <a:ext cx="265632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Transparência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Sempre deixar explicita para o cliente os detalhes da decisão da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Google Shape;66;p14">
            <a:extLst>
              <a:ext uri="{FF2B5EF4-FFF2-40B4-BE49-F238E27FC236}">
                <a16:creationId xmlns:a16="http://schemas.microsoft.com/office/drawing/2014/main" id="{5930511B-7552-1F85-16B1-2C988F09BF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219128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0B79BD-1F23-F2D1-9749-CB5409F35AEA}"/>
              </a:ext>
            </a:extLst>
          </p:cNvPr>
          <p:cNvSpPr txBox="1"/>
          <p:nvPr/>
        </p:nvSpPr>
        <p:spPr>
          <a:xfrm>
            <a:off x="5791200" y="2183134"/>
            <a:ext cx="2733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2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Educação e conscientização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Treinar os colaboradores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Conscientizar o público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Riscos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Boas práticas</a:t>
            </a:r>
          </a:p>
        </p:txBody>
      </p:sp>
      <p:pic>
        <p:nvPicPr>
          <p:cNvPr id="4" name="Google Shape;66;p14">
            <a:extLst>
              <a:ext uri="{FF2B5EF4-FFF2-40B4-BE49-F238E27FC236}">
                <a16:creationId xmlns:a16="http://schemas.microsoft.com/office/drawing/2014/main" id="{82FC9CB7-FC13-0E8A-AF5E-DC9F998E5E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401" y="3669845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745BE-223A-1703-1EA9-E626638C4A00}"/>
              </a:ext>
            </a:extLst>
          </p:cNvPr>
          <p:cNvSpPr txBox="1"/>
          <p:nvPr/>
        </p:nvSpPr>
        <p:spPr>
          <a:xfrm>
            <a:off x="5867987" y="3631958"/>
            <a:ext cx="265632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Proteção contra ataques cibernéticos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Fortalecer a segurança dos sistemas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Simular cenários de ataque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73943-E6BA-2004-7BC4-AFB15359D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646" y="1501339"/>
            <a:ext cx="451813" cy="4518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B56D5C-628D-0B95-7180-D554BCC6D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552" y="1498203"/>
            <a:ext cx="449964" cy="4499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511924-2CF3-BEAD-D161-41926CA17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866" y="2920817"/>
            <a:ext cx="452650" cy="452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F0B438-EC5C-A0EB-3166-5AFBD036B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697" y="4428063"/>
            <a:ext cx="434896" cy="4348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978655-5FC6-C248-6BC4-B3D43D3B58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069" y="2963269"/>
            <a:ext cx="428258" cy="4282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2AB7B0-36E8-585F-DC82-98BE10DBC7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5279" y="4405761"/>
            <a:ext cx="494400" cy="4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9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428789" y="1833101"/>
            <a:ext cx="5255943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IA nos traz benefícios.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Riscos que devemos gerenciar.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Devemos ter responsabilidade sobre esses riscos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Governança, transparência e supervisão.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Usar a IA com segurança e ética.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IA segura: entendendo os riscos associados</a:t>
            </a:r>
          </a:p>
        </p:txBody>
      </p:sp>
      <p:pic>
        <p:nvPicPr>
          <p:cNvPr id="5" name="Picture 8" descr="Thumbnail Image cyber security com o tema: A educação e a conscientização dos usuários continuam sendo essenciais para garantir a segurança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“Qual dos riscos associados à IA mais preocupa a você e porque?”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3264</TotalTime>
  <Words>425</Words>
  <Application>Microsoft Office PowerPoint</Application>
  <PresentationFormat>On-screen Show (16:9)</PresentationFormat>
  <Paragraphs>99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Ubuntu Light</vt:lpstr>
      <vt:lpstr>Ubuntu</vt:lpstr>
      <vt:lpstr>Fira Code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349</cp:revision>
  <dcterms:modified xsi:type="dcterms:W3CDTF">2025-02-09T14:37:29Z</dcterms:modified>
</cp:coreProperties>
</file>