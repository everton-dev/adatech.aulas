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7"/>
  </p:notesMasterIdLst>
  <p:sldIdLst>
    <p:sldId id="256" r:id="rId2"/>
    <p:sldId id="262" r:id="rId3"/>
    <p:sldId id="257" r:id="rId4"/>
    <p:sldId id="322" r:id="rId5"/>
    <p:sldId id="323" r:id="rId6"/>
    <p:sldId id="324" r:id="rId7"/>
    <p:sldId id="325" r:id="rId8"/>
    <p:sldId id="306" r:id="rId9"/>
    <p:sldId id="326" r:id="rId10"/>
    <p:sldId id="320" r:id="rId11"/>
    <p:sldId id="310" r:id="rId12"/>
    <p:sldId id="311" r:id="rId13"/>
    <p:sldId id="321" r:id="rId14"/>
    <p:sldId id="268" r:id="rId15"/>
    <p:sldId id="261" r:id="rId16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8"/>
      <p:bold r:id="rId19"/>
    </p:embeddedFont>
    <p:embeddedFont>
      <p:font typeface="Ubuntu" panose="020B0504030602030204" pitchFamily="34" charset="0"/>
      <p:regular r:id="rId20"/>
      <p:bold r:id="rId21"/>
      <p:italic r:id="rId22"/>
      <p:boldItalic r:id="rId23"/>
    </p:embeddedFont>
    <p:embeddedFont>
      <p:font typeface="Ubuntu Light" panose="020B0304030602030204" pitchFamily="34" charset="0"/>
      <p:regular r:id="rId24"/>
      <p: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8F99F-44A7-0F8B-9A97-88BECF28B341}" v="1087" dt="2024-12-09T16:07:07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546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CF71E8AF-03CE-F173-CE77-41681C0EF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38337057-5446-72C9-EE2E-EF2019878A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BC9DE773-4B75-3287-9138-A6A9F3F0DD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8295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DF04BFFF-C0C3-3001-5EF1-461520F83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96F77AB5-206C-3E12-621E-05A2AA1800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C088D329-6675-9694-4B20-FA30572336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24248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D8CF14C7-C8BD-1632-DD9E-36A156CE2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CDDE4426-E822-ECAB-758E-C507E277C5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0BFE2C05-1F72-086F-B8CB-31F2CE2581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20269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703FD92A-4547-2A53-4AF4-122A3BC06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058C03A3-6759-C256-7FA9-489DD6B63F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7648262E-0AB0-E1B1-465D-5BA01E0BA2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15175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C87B4DDA-CB4E-1FB5-1B2A-75CF0DC19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97FE4B24-EFDB-2C82-CF4F-1C0660DD35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20AABDAE-0C9D-27C4-5535-3CF42C68D1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36636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6905DE58-5928-B6A6-E34A-A566A5FA7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1EAFAF0B-A00C-5E59-8740-B80B674803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FE3D39FC-FCAE-36E2-A570-24460F41E8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10423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B3EAE90D-AA2A-7042-9048-58E748DA6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A1273C8C-BDE5-4E44-8FE1-8B73B20351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6317FF0B-85FA-6DB7-41AF-8114AF1462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25783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4666BA9E-F2F4-9097-C54B-CF96F84C9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F7ACCACA-9C17-0B79-BDBE-CDAC9C36D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90D9565D-2610-877C-D981-B5D8875E10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43482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446AE6AB-ED3F-8CCB-EAD1-716D7D838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A6E9ED9B-8A75-9AC8-2B60-78E00693C1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F6A38F68-F9CA-CC12-DDC0-D7C91DE473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78274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DF93EB33-4972-D2CF-F211-3ADECDAC0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D7BFA98A-E09B-8DFD-6B7B-3FA0C154AB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68E261BD-936C-20F1-6B99-B7BF58F0C3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38605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1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5635083" y="3731617"/>
            <a:ext cx="3587171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09 |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 Simulando um ataque de IA!</a:t>
            </a: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197980" y="4066086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41E96825-65C5-6CCC-642F-5CEC20F1091B}"/>
              </a:ext>
            </a:extLst>
          </p:cNvPr>
          <p:cNvSpPr txBox="1"/>
          <p:nvPr/>
        </p:nvSpPr>
        <p:spPr>
          <a:xfrm>
            <a:off x="243551" y="191491"/>
            <a:ext cx="418041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400" b="0" i="0" u="none" strike="noStrike" cap="none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vamos aprender?</a:t>
            </a:r>
            <a:endParaRPr lang="pt-PT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17" name="Google Shape;74;p14">
            <a:extLst>
              <a:ext uri="{FF2B5EF4-FFF2-40B4-BE49-F238E27FC236}">
                <a16:creationId xmlns:a16="http://schemas.microsoft.com/office/drawing/2014/main" id="{38EB1F19-5A96-7625-D2A5-80FA81A253A8}"/>
              </a:ext>
            </a:extLst>
          </p:cNvPr>
          <p:cNvGrpSpPr/>
          <p:nvPr/>
        </p:nvGrpSpPr>
        <p:grpSpPr>
          <a:xfrm>
            <a:off x="1137371" y="2430725"/>
            <a:ext cx="457200" cy="457200"/>
            <a:chOff x="1249800" y="282500"/>
            <a:chExt cx="4839225" cy="4809625"/>
          </a:xfrm>
        </p:grpSpPr>
        <p:sp>
          <p:nvSpPr>
            <p:cNvPr id="14" name="Google Shape;75;p14">
              <a:extLst>
                <a:ext uri="{FF2B5EF4-FFF2-40B4-BE49-F238E27FC236}">
                  <a16:creationId xmlns:a16="http://schemas.microsoft.com/office/drawing/2014/main" id="{A9B46A0D-A028-E123-1636-B9CA86E2675E}"/>
                </a:ext>
              </a:extLst>
            </p:cNvPr>
            <p:cNvSpPr/>
            <p:nvPr/>
          </p:nvSpPr>
          <p:spPr>
            <a:xfrm>
              <a:off x="1249800" y="2825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1840"/>
                  </a:moveTo>
                  <a:cubicBezTo>
                    <a:pt x="142661" y="11840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1840"/>
                    <a:pt x="96193" y="11840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5" name="Google Shape;76;p14">
              <a:extLst>
                <a:ext uri="{FF2B5EF4-FFF2-40B4-BE49-F238E27FC236}">
                  <a16:creationId xmlns:a16="http://schemas.microsoft.com/office/drawing/2014/main" id="{0516AAFA-09B7-04AF-95F1-B08CFB6AA9B6}"/>
                </a:ext>
              </a:extLst>
            </p:cNvPr>
            <p:cNvSpPr/>
            <p:nvPr/>
          </p:nvSpPr>
          <p:spPr>
            <a:xfrm>
              <a:off x="2241325" y="282500"/>
              <a:ext cx="3847700" cy="4809625"/>
            </a:xfrm>
            <a:custGeom>
              <a:avLst/>
              <a:gdLst/>
              <a:ahLst/>
              <a:cxnLst/>
              <a:rect l="l" t="t" r="r" b="b"/>
              <a:pathLst>
                <a:path w="153908" h="192385" extrusionOk="0">
                  <a:moveTo>
                    <a:pt x="56532" y="1"/>
                  </a:moveTo>
                  <a:lnTo>
                    <a:pt x="56532" y="11840"/>
                  </a:lnTo>
                  <a:cubicBezTo>
                    <a:pt x="69850" y="11840"/>
                    <a:pt x="82873" y="15096"/>
                    <a:pt x="94712" y="21015"/>
                  </a:cubicBezTo>
                  <a:cubicBezTo>
                    <a:pt x="106551" y="27231"/>
                    <a:pt x="116910" y="35814"/>
                    <a:pt x="124606" y="46765"/>
                  </a:cubicBezTo>
                  <a:cubicBezTo>
                    <a:pt x="132597" y="57420"/>
                    <a:pt x="137629" y="69851"/>
                    <a:pt x="139700" y="82874"/>
                  </a:cubicBezTo>
                  <a:cubicBezTo>
                    <a:pt x="141772" y="96193"/>
                    <a:pt x="140588" y="109511"/>
                    <a:pt x="136741" y="122238"/>
                  </a:cubicBezTo>
                  <a:cubicBezTo>
                    <a:pt x="132597" y="134669"/>
                    <a:pt x="125494" y="146212"/>
                    <a:pt x="116022" y="155683"/>
                  </a:cubicBezTo>
                  <a:cubicBezTo>
                    <a:pt x="106551" y="165155"/>
                    <a:pt x="95304" y="171962"/>
                    <a:pt x="82577" y="176106"/>
                  </a:cubicBezTo>
                  <a:cubicBezTo>
                    <a:pt x="73960" y="178911"/>
                    <a:pt x="65072" y="180360"/>
                    <a:pt x="56187" y="180360"/>
                  </a:cubicBezTo>
                  <a:cubicBezTo>
                    <a:pt x="51950" y="180360"/>
                    <a:pt x="47714" y="180030"/>
                    <a:pt x="43509" y="179361"/>
                  </a:cubicBezTo>
                  <a:cubicBezTo>
                    <a:pt x="30190" y="177290"/>
                    <a:pt x="17759" y="171962"/>
                    <a:pt x="7104" y="164267"/>
                  </a:cubicBezTo>
                  <a:lnTo>
                    <a:pt x="0" y="174034"/>
                  </a:lnTo>
                  <a:cubicBezTo>
                    <a:pt x="12431" y="182913"/>
                    <a:pt x="26638" y="188833"/>
                    <a:pt x="41437" y="191200"/>
                  </a:cubicBezTo>
                  <a:cubicBezTo>
                    <a:pt x="46468" y="191990"/>
                    <a:pt x="51533" y="192384"/>
                    <a:pt x="56586" y="192384"/>
                  </a:cubicBezTo>
                  <a:cubicBezTo>
                    <a:pt x="66693" y="192384"/>
                    <a:pt x="76756" y="190806"/>
                    <a:pt x="86425" y="187649"/>
                  </a:cubicBezTo>
                  <a:cubicBezTo>
                    <a:pt x="100632" y="182913"/>
                    <a:pt x="113951" y="174922"/>
                    <a:pt x="124606" y="164267"/>
                  </a:cubicBezTo>
                  <a:cubicBezTo>
                    <a:pt x="135261" y="153316"/>
                    <a:pt x="143252" y="140293"/>
                    <a:pt x="147988" y="125790"/>
                  </a:cubicBezTo>
                  <a:cubicBezTo>
                    <a:pt x="152723" y="111287"/>
                    <a:pt x="153907" y="96193"/>
                    <a:pt x="151539" y="81098"/>
                  </a:cubicBezTo>
                  <a:cubicBezTo>
                    <a:pt x="149172" y="66003"/>
                    <a:pt x="143252" y="51796"/>
                    <a:pt x="134373" y="39661"/>
                  </a:cubicBezTo>
                  <a:cubicBezTo>
                    <a:pt x="125494" y="27231"/>
                    <a:pt x="113655" y="17167"/>
                    <a:pt x="100336" y="10360"/>
                  </a:cubicBezTo>
                  <a:cubicBezTo>
                    <a:pt x="86721" y="3553"/>
                    <a:pt x="71626" y="1"/>
                    <a:pt x="56532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6" name="Google Shape;77;p14">
              <a:extLst>
                <a:ext uri="{FF2B5EF4-FFF2-40B4-BE49-F238E27FC236}">
                  <a16:creationId xmlns:a16="http://schemas.microsoft.com/office/drawing/2014/main" id="{2DD2EC3A-3CC3-F56F-1309-A5CA03A8934A}"/>
                </a:ext>
              </a:extLst>
            </p:cNvPr>
            <p:cNvSpPr/>
            <p:nvPr/>
          </p:nvSpPr>
          <p:spPr>
            <a:xfrm>
              <a:off x="2966450" y="1910375"/>
              <a:ext cx="1331925" cy="1605675"/>
            </a:xfrm>
            <a:custGeom>
              <a:avLst/>
              <a:gdLst/>
              <a:ahLst/>
              <a:cxnLst/>
              <a:rect l="l" t="t" r="r" b="b"/>
              <a:pathLst>
                <a:path w="53277" h="64227" extrusionOk="0">
                  <a:moveTo>
                    <a:pt x="13320" y="0"/>
                  </a:moveTo>
                  <a:lnTo>
                    <a:pt x="12432" y="4144"/>
                  </a:lnTo>
                  <a:lnTo>
                    <a:pt x="46173" y="4144"/>
                  </a:lnTo>
                  <a:lnTo>
                    <a:pt x="22791" y="28118"/>
                  </a:lnTo>
                  <a:lnTo>
                    <a:pt x="21903" y="31670"/>
                  </a:lnTo>
                  <a:lnTo>
                    <a:pt x="25455" y="31670"/>
                  </a:lnTo>
                  <a:cubicBezTo>
                    <a:pt x="36702" y="31670"/>
                    <a:pt x="42029" y="35813"/>
                    <a:pt x="42029" y="43804"/>
                  </a:cubicBezTo>
                  <a:cubicBezTo>
                    <a:pt x="42029" y="53572"/>
                    <a:pt x="34334" y="60083"/>
                    <a:pt x="21607" y="60083"/>
                  </a:cubicBezTo>
                  <a:cubicBezTo>
                    <a:pt x="12728" y="60083"/>
                    <a:pt x="5920" y="56531"/>
                    <a:pt x="2665" y="52092"/>
                  </a:cubicBezTo>
                  <a:lnTo>
                    <a:pt x="1" y="55643"/>
                  </a:lnTo>
                  <a:cubicBezTo>
                    <a:pt x="3553" y="60675"/>
                    <a:pt x="11544" y="64227"/>
                    <a:pt x="21607" y="64227"/>
                  </a:cubicBezTo>
                  <a:cubicBezTo>
                    <a:pt x="36702" y="64227"/>
                    <a:pt x="46765" y="55939"/>
                    <a:pt x="46765" y="43804"/>
                  </a:cubicBezTo>
                  <a:cubicBezTo>
                    <a:pt x="46765" y="34037"/>
                    <a:pt x="40549" y="28414"/>
                    <a:pt x="28710" y="27822"/>
                  </a:cubicBezTo>
                  <a:lnTo>
                    <a:pt x="52684" y="3256"/>
                  </a:lnTo>
                  <a:lnTo>
                    <a:pt x="53276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2" name="Google Shape;78;p14">
            <a:extLst>
              <a:ext uri="{FF2B5EF4-FFF2-40B4-BE49-F238E27FC236}">
                <a16:creationId xmlns:a16="http://schemas.microsoft.com/office/drawing/2014/main" id="{8103873E-9B9F-4052-1975-D61AA785F4AB}"/>
              </a:ext>
            </a:extLst>
          </p:cNvPr>
          <p:cNvGrpSpPr/>
          <p:nvPr/>
        </p:nvGrpSpPr>
        <p:grpSpPr>
          <a:xfrm>
            <a:off x="1158144" y="3090601"/>
            <a:ext cx="457200" cy="457200"/>
            <a:chOff x="1212800" y="289900"/>
            <a:chExt cx="4883625" cy="4809625"/>
          </a:xfrm>
        </p:grpSpPr>
        <p:sp>
          <p:nvSpPr>
            <p:cNvPr id="19" name="Google Shape;79;p14">
              <a:extLst>
                <a:ext uri="{FF2B5EF4-FFF2-40B4-BE49-F238E27FC236}">
                  <a16:creationId xmlns:a16="http://schemas.microsoft.com/office/drawing/2014/main" id="{8543AE75-53D4-2C5E-66C7-E5FFEAAAF0DE}"/>
                </a:ext>
              </a:extLst>
            </p:cNvPr>
            <p:cNvSpPr/>
            <p:nvPr/>
          </p:nvSpPr>
          <p:spPr>
            <a:xfrm>
              <a:off x="1249800" y="2899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0" name="Google Shape;80;p14">
              <a:extLst>
                <a:ext uri="{FF2B5EF4-FFF2-40B4-BE49-F238E27FC236}">
                  <a16:creationId xmlns:a16="http://schemas.microsoft.com/office/drawing/2014/main" id="{5F18C28A-6F6D-9B86-0A77-FE1F67022A75}"/>
                </a:ext>
              </a:extLst>
            </p:cNvPr>
            <p:cNvSpPr/>
            <p:nvPr/>
          </p:nvSpPr>
          <p:spPr>
            <a:xfrm>
              <a:off x="1212800" y="289900"/>
              <a:ext cx="4883625" cy="4809625"/>
            </a:xfrm>
            <a:custGeom>
              <a:avLst/>
              <a:gdLst/>
              <a:ahLst/>
              <a:cxnLst/>
              <a:rect l="l" t="t" r="r" b="b"/>
              <a:pathLst>
                <a:path w="195345" h="192385" extrusionOk="0">
                  <a:moveTo>
                    <a:pt x="97673" y="1"/>
                  </a:moveTo>
                  <a:lnTo>
                    <a:pt x="97673" y="12136"/>
                  </a:lnTo>
                  <a:cubicBezTo>
                    <a:pt x="115431" y="12136"/>
                    <a:pt x="132894" y="17759"/>
                    <a:pt x="147100" y="28118"/>
                  </a:cubicBezTo>
                  <a:cubicBezTo>
                    <a:pt x="161603" y="38478"/>
                    <a:pt x="172258" y="53276"/>
                    <a:pt x="177882" y="70147"/>
                  </a:cubicBezTo>
                  <a:cubicBezTo>
                    <a:pt x="183209" y="87017"/>
                    <a:pt x="183209" y="105368"/>
                    <a:pt x="177882" y="122238"/>
                  </a:cubicBezTo>
                  <a:cubicBezTo>
                    <a:pt x="172258" y="139109"/>
                    <a:pt x="161603" y="153908"/>
                    <a:pt x="147100" y="164267"/>
                  </a:cubicBezTo>
                  <a:cubicBezTo>
                    <a:pt x="132894" y="174626"/>
                    <a:pt x="115431" y="180249"/>
                    <a:pt x="97673" y="180249"/>
                  </a:cubicBezTo>
                  <a:cubicBezTo>
                    <a:pt x="79914" y="180249"/>
                    <a:pt x="62748" y="174626"/>
                    <a:pt x="48245" y="164267"/>
                  </a:cubicBezTo>
                  <a:cubicBezTo>
                    <a:pt x="33742" y="153908"/>
                    <a:pt x="23087" y="139109"/>
                    <a:pt x="17759" y="122238"/>
                  </a:cubicBezTo>
                  <a:cubicBezTo>
                    <a:pt x="12136" y="105368"/>
                    <a:pt x="12136" y="87017"/>
                    <a:pt x="17759" y="70147"/>
                  </a:cubicBezTo>
                  <a:lnTo>
                    <a:pt x="6216" y="66595"/>
                  </a:lnTo>
                  <a:cubicBezTo>
                    <a:pt x="1" y="85833"/>
                    <a:pt x="1" y="106552"/>
                    <a:pt x="6216" y="126086"/>
                  </a:cubicBezTo>
                  <a:cubicBezTo>
                    <a:pt x="12432" y="145324"/>
                    <a:pt x="24863" y="162195"/>
                    <a:pt x="41141" y="174034"/>
                  </a:cubicBezTo>
                  <a:cubicBezTo>
                    <a:pt x="57716" y="185873"/>
                    <a:pt x="77250" y="192384"/>
                    <a:pt x="97673" y="192384"/>
                  </a:cubicBezTo>
                  <a:cubicBezTo>
                    <a:pt x="118095" y="192384"/>
                    <a:pt x="137925" y="185873"/>
                    <a:pt x="154204" y="174034"/>
                  </a:cubicBezTo>
                  <a:cubicBezTo>
                    <a:pt x="170778" y="162195"/>
                    <a:pt x="182913" y="145324"/>
                    <a:pt x="189129" y="126086"/>
                  </a:cubicBezTo>
                  <a:cubicBezTo>
                    <a:pt x="195344" y="106552"/>
                    <a:pt x="195344" y="85833"/>
                    <a:pt x="189129" y="66595"/>
                  </a:cubicBezTo>
                  <a:cubicBezTo>
                    <a:pt x="182913" y="47061"/>
                    <a:pt x="170778" y="30486"/>
                    <a:pt x="154204" y="18351"/>
                  </a:cubicBezTo>
                  <a:cubicBezTo>
                    <a:pt x="137925" y="6512"/>
                    <a:pt x="118095" y="1"/>
                    <a:pt x="9767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1" name="Google Shape;81;p14">
              <a:extLst>
                <a:ext uri="{FF2B5EF4-FFF2-40B4-BE49-F238E27FC236}">
                  <a16:creationId xmlns:a16="http://schemas.microsoft.com/office/drawing/2014/main" id="{C7B0CC13-64CC-BBBE-7F53-947151A27C03}"/>
                </a:ext>
              </a:extLst>
            </p:cNvPr>
            <p:cNvSpPr/>
            <p:nvPr/>
          </p:nvSpPr>
          <p:spPr>
            <a:xfrm>
              <a:off x="2981250" y="1917775"/>
              <a:ext cx="1383725" cy="1598275"/>
            </a:xfrm>
            <a:custGeom>
              <a:avLst/>
              <a:gdLst/>
              <a:ahLst/>
              <a:cxnLst/>
              <a:rect l="l" t="t" r="r" b="b"/>
              <a:pathLst>
                <a:path w="55349" h="63931" extrusionOk="0">
                  <a:moveTo>
                    <a:pt x="43509" y="0"/>
                  </a:moveTo>
                  <a:lnTo>
                    <a:pt x="889" y="42917"/>
                  </a:lnTo>
                  <a:lnTo>
                    <a:pt x="1" y="46172"/>
                  </a:lnTo>
                  <a:lnTo>
                    <a:pt x="36406" y="46172"/>
                  </a:lnTo>
                  <a:lnTo>
                    <a:pt x="32854" y="63931"/>
                  </a:lnTo>
                  <a:lnTo>
                    <a:pt x="37590" y="63931"/>
                  </a:lnTo>
                  <a:lnTo>
                    <a:pt x="41141" y="46172"/>
                  </a:lnTo>
                  <a:lnTo>
                    <a:pt x="54460" y="46172"/>
                  </a:lnTo>
                  <a:lnTo>
                    <a:pt x="55348" y="42029"/>
                  </a:lnTo>
                  <a:lnTo>
                    <a:pt x="42029" y="42029"/>
                  </a:lnTo>
                  <a:lnTo>
                    <a:pt x="44989" y="26342"/>
                  </a:lnTo>
                  <a:lnTo>
                    <a:pt x="40549" y="26342"/>
                  </a:lnTo>
                  <a:lnTo>
                    <a:pt x="37294" y="42029"/>
                  </a:lnTo>
                  <a:lnTo>
                    <a:pt x="7104" y="42029"/>
                  </a:lnTo>
                  <a:lnTo>
                    <a:pt x="49133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7" name="Google Shape;82;p14">
            <a:extLst>
              <a:ext uri="{FF2B5EF4-FFF2-40B4-BE49-F238E27FC236}">
                <a16:creationId xmlns:a16="http://schemas.microsoft.com/office/drawing/2014/main" id="{F5830BA0-5D9F-61A0-036D-F68BCC09D986}"/>
              </a:ext>
            </a:extLst>
          </p:cNvPr>
          <p:cNvGrpSpPr/>
          <p:nvPr/>
        </p:nvGrpSpPr>
        <p:grpSpPr>
          <a:xfrm>
            <a:off x="1153034" y="1770849"/>
            <a:ext cx="457200" cy="457200"/>
            <a:chOff x="1249800" y="260300"/>
            <a:chExt cx="4846625" cy="4809625"/>
          </a:xfrm>
        </p:grpSpPr>
        <p:sp>
          <p:nvSpPr>
            <p:cNvPr id="24" name="Google Shape;83;p14">
              <a:extLst>
                <a:ext uri="{FF2B5EF4-FFF2-40B4-BE49-F238E27FC236}">
                  <a16:creationId xmlns:a16="http://schemas.microsoft.com/office/drawing/2014/main" id="{163C9035-933D-45BD-AAC4-68E7FFE6A9E6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5" name="Google Shape;84;p14">
              <a:extLst>
                <a:ext uri="{FF2B5EF4-FFF2-40B4-BE49-F238E27FC236}">
                  <a16:creationId xmlns:a16="http://schemas.microsoft.com/office/drawing/2014/main" id="{31AA322B-8004-7869-753F-3A70695AC03E}"/>
                </a:ext>
              </a:extLst>
            </p:cNvPr>
            <p:cNvSpPr/>
            <p:nvPr/>
          </p:nvSpPr>
          <p:spPr>
            <a:xfrm>
              <a:off x="3654600" y="260300"/>
              <a:ext cx="2441825" cy="4350850"/>
            </a:xfrm>
            <a:custGeom>
              <a:avLst/>
              <a:gdLst/>
              <a:ahLst/>
              <a:cxnLst/>
              <a:rect l="l" t="t" r="r" b="b"/>
              <a:pathLst>
                <a:path w="97673" h="174034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cubicBezTo>
                    <a:pt x="85537" y="87017"/>
                    <a:pt x="85537" y="105368"/>
                    <a:pt x="80210" y="122238"/>
                  </a:cubicBezTo>
                  <a:cubicBezTo>
                    <a:pt x="74586" y="139109"/>
                    <a:pt x="63931" y="153908"/>
                    <a:pt x="49428" y="164267"/>
                  </a:cubicBezTo>
                  <a:lnTo>
                    <a:pt x="56532" y="174034"/>
                  </a:lnTo>
                  <a:cubicBezTo>
                    <a:pt x="73106" y="161899"/>
                    <a:pt x="85241" y="145028"/>
                    <a:pt x="91457" y="125790"/>
                  </a:cubicBezTo>
                  <a:cubicBezTo>
                    <a:pt x="97672" y="106552"/>
                    <a:pt x="97672" y="85834"/>
                    <a:pt x="91457" y="66299"/>
                  </a:cubicBez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6" name="Google Shape;85;p14">
              <a:extLst>
                <a:ext uri="{FF2B5EF4-FFF2-40B4-BE49-F238E27FC236}">
                  <a16:creationId xmlns:a16="http://schemas.microsoft.com/office/drawing/2014/main" id="{A44F6A6C-14ED-7BEC-E284-5E14AC7C8F32}"/>
                </a:ext>
              </a:extLst>
            </p:cNvPr>
            <p:cNvSpPr/>
            <p:nvPr/>
          </p:nvSpPr>
          <p:spPr>
            <a:xfrm>
              <a:off x="2981250" y="1888175"/>
              <a:ext cx="1265325" cy="1605675"/>
            </a:xfrm>
            <a:custGeom>
              <a:avLst/>
              <a:gdLst/>
              <a:ahLst/>
              <a:cxnLst/>
              <a:rect l="l" t="t" r="r" b="b"/>
              <a:pathLst>
                <a:path w="50613" h="64227" extrusionOk="0">
                  <a:moveTo>
                    <a:pt x="31670" y="0"/>
                  </a:moveTo>
                  <a:cubicBezTo>
                    <a:pt x="22791" y="0"/>
                    <a:pt x="14504" y="3256"/>
                    <a:pt x="9176" y="8880"/>
                  </a:cubicBezTo>
                  <a:lnTo>
                    <a:pt x="12432" y="11543"/>
                  </a:lnTo>
                  <a:cubicBezTo>
                    <a:pt x="16871" y="6808"/>
                    <a:pt x="23975" y="4144"/>
                    <a:pt x="31078" y="4144"/>
                  </a:cubicBezTo>
                  <a:cubicBezTo>
                    <a:pt x="41141" y="4144"/>
                    <a:pt x="45877" y="8584"/>
                    <a:pt x="45877" y="15391"/>
                  </a:cubicBezTo>
                  <a:cubicBezTo>
                    <a:pt x="45877" y="21311"/>
                    <a:pt x="43213" y="26342"/>
                    <a:pt x="33446" y="34333"/>
                  </a:cubicBezTo>
                  <a:lnTo>
                    <a:pt x="593" y="60971"/>
                  </a:lnTo>
                  <a:lnTo>
                    <a:pt x="1" y="64227"/>
                  </a:lnTo>
                  <a:lnTo>
                    <a:pt x="44101" y="64227"/>
                  </a:lnTo>
                  <a:lnTo>
                    <a:pt x="44693" y="60083"/>
                  </a:lnTo>
                  <a:lnTo>
                    <a:pt x="8288" y="60083"/>
                  </a:lnTo>
                  <a:lnTo>
                    <a:pt x="36702" y="36997"/>
                  </a:lnTo>
                  <a:cubicBezTo>
                    <a:pt x="47357" y="28414"/>
                    <a:pt x="50613" y="21902"/>
                    <a:pt x="50613" y="14799"/>
                  </a:cubicBezTo>
                  <a:cubicBezTo>
                    <a:pt x="50613" y="5920"/>
                    <a:pt x="44101" y="0"/>
                    <a:pt x="31670" y="0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2" name="Google Shape;86;p14">
            <a:extLst>
              <a:ext uri="{FF2B5EF4-FFF2-40B4-BE49-F238E27FC236}">
                <a16:creationId xmlns:a16="http://schemas.microsoft.com/office/drawing/2014/main" id="{3ABA7813-2D47-8D12-99BE-D3FCC73FC7A4}"/>
              </a:ext>
            </a:extLst>
          </p:cNvPr>
          <p:cNvGrpSpPr/>
          <p:nvPr/>
        </p:nvGrpSpPr>
        <p:grpSpPr>
          <a:xfrm>
            <a:off x="1154549" y="1110973"/>
            <a:ext cx="457200" cy="457200"/>
            <a:chOff x="1249800" y="260300"/>
            <a:chExt cx="4809625" cy="4809625"/>
          </a:xfrm>
        </p:grpSpPr>
        <p:sp>
          <p:nvSpPr>
            <p:cNvPr id="29" name="Google Shape;87;p14">
              <a:extLst>
                <a:ext uri="{FF2B5EF4-FFF2-40B4-BE49-F238E27FC236}">
                  <a16:creationId xmlns:a16="http://schemas.microsoft.com/office/drawing/2014/main" id="{FED135AB-8780-C719-08CA-1E502207D5A2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0" name="Google Shape;88;p14">
              <a:extLst>
                <a:ext uri="{FF2B5EF4-FFF2-40B4-BE49-F238E27FC236}">
                  <a16:creationId xmlns:a16="http://schemas.microsoft.com/office/drawing/2014/main" id="{193F2A82-CE4A-51F3-8580-87831057D124}"/>
                </a:ext>
              </a:extLst>
            </p:cNvPr>
            <p:cNvSpPr/>
            <p:nvPr/>
          </p:nvSpPr>
          <p:spPr>
            <a:xfrm>
              <a:off x="3654600" y="260300"/>
              <a:ext cx="2286425" cy="1753675"/>
            </a:xfrm>
            <a:custGeom>
              <a:avLst/>
              <a:gdLst/>
              <a:ahLst/>
              <a:cxnLst/>
              <a:rect l="l" t="t" r="r" b="b"/>
              <a:pathLst>
                <a:path w="91457" h="70147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lnTo>
                    <a:pt x="91457" y="66595"/>
                  </a:ln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1" name="Google Shape;89;p14">
              <a:extLst>
                <a:ext uri="{FF2B5EF4-FFF2-40B4-BE49-F238E27FC236}">
                  <a16:creationId xmlns:a16="http://schemas.microsoft.com/office/drawing/2014/main" id="{D5A6CF78-AC12-D586-D698-0C2455FE0CBA}"/>
                </a:ext>
              </a:extLst>
            </p:cNvPr>
            <p:cNvSpPr/>
            <p:nvPr/>
          </p:nvSpPr>
          <p:spPr>
            <a:xfrm>
              <a:off x="3395625" y="1888175"/>
              <a:ext cx="525375" cy="1598275"/>
            </a:xfrm>
            <a:custGeom>
              <a:avLst/>
              <a:gdLst/>
              <a:ahLst/>
              <a:cxnLst/>
              <a:rect l="l" t="t" r="r" b="b"/>
              <a:pathLst>
                <a:path w="21015" h="63931" extrusionOk="0">
                  <a:moveTo>
                    <a:pt x="888" y="0"/>
                  </a:moveTo>
                  <a:lnTo>
                    <a:pt x="0" y="4144"/>
                  </a:lnTo>
                  <a:lnTo>
                    <a:pt x="15391" y="4144"/>
                  </a:lnTo>
                  <a:lnTo>
                    <a:pt x="3552" y="63931"/>
                  </a:lnTo>
                  <a:lnTo>
                    <a:pt x="8288" y="63931"/>
                  </a:lnTo>
                  <a:lnTo>
                    <a:pt x="21015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7" name="Google Shape;90;p14">
            <a:extLst>
              <a:ext uri="{FF2B5EF4-FFF2-40B4-BE49-F238E27FC236}">
                <a16:creationId xmlns:a16="http://schemas.microsoft.com/office/drawing/2014/main" id="{DC85C384-F303-3136-B350-98CC10BC3539}"/>
              </a:ext>
            </a:extLst>
          </p:cNvPr>
          <p:cNvGrpSpPr/>
          <p:nvPr/>
        </p:nvGrpSpPr>
        <p:grpSpPr>
          <a:xfrm>
            <a:off x="1145248" y="3750476"/>
            <a:ext cx="457200" cy="457200"/>
            <a:chOff x="1249800" y="297300"/>
            <a:chExt cx="4809625" cy="4809625"/>
          </a:xfrm>
        </p:grpSpPr>
        <p:sp>
          <p:nvSpPr>
            <p:cNvPr id="34" name="Google Shape;91;p14">
              <a:extLst>
                <a:ext uri="{FF2B5EF4-FFF2-40B4-BE49-F238E27FC236}">
                  <a16:creationId xmlns:a16="http://schemas.microsoft.com/office/drawing/2014/main" id="{56EB96B5-6474-0BC9-864B-59CDAEF3623C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5" name="Google Shape;92;p14">
              <a:extLst>
                <a:ext uri="{FF2B5EF4-FFF2-40B4-BE49-F238E27FC236}">
                  <a16:creationId xmlns:a16="http://schemas.microsoft.com/office/drawing/2014/main" id="{8EDDF46F-D18A-0894-B63F-0C0CE7708B34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6" name="Google Shape;93;p14">
              <a:extLst>
                <a:ext uri="{FF2B5EF4-FFF2-40B4-BE49-F238E27FC236}">
                  <a16:creationId xmlns:a16="http://schemas.microsoft.com/office/drawing/2014/main" id="{726B0E0B-46B3-3FE5-AC22-A215577A5080}"/>
                </a:ext>
              </a:extLst>
            </p:cNvPr>
            <p:cNvSpPr/>
            <p:nvPr/>
          </p:nvSpPr>
          <p:spPr>
            <a:xfrm>
              <a:off x="2996050" y="1925175"/>
              <a:ext cx="1309725" cy="1613075"/>
            </a:xfrm>
            <a:custGeom>
              <a:avLst/>
              <a:gdLst/>
              <a:ahLst/>
              <a:cxnLst/>
              <a:rect l="l" t="t" r="r" b="b"/>
              <a:pathLst>
                <a:path w="52389" h="64523" extrusionOk="0">
                  <a:moveTo>
                    <a:pt x="18351" y="0"/>
                  </a:moveTo>
                  <a:lnTo>
                    <a:pt x="8880" y="31078"/>
                  </a:lnTo>
                  <a:lnTo>
                    <a:pt x="23087" y="31078"/>
                  </a:lnTo>
                  <a:cubicBezTo>
                    <a:pt x="36998" y="31078"/>
                    <a:pt x="42325" y="35813"/>
                    <a:pt x="42325" y="43804"/>
                  </a:cubicBezTo>
                  <a:cubicBezTo>
                    <a:pt x="42325" y="54164"/>
                    <a:pt x="34630" y="60083"/>
                    <a:pt x="21903" y="60083"/>
                  </a:cubicBezTo>
                  <a:cubicBezTo>
                    <a:pt x="12728" y="60083"/>
                    <a:pt x="5920" y="56827"/>
                    <a:pt x="2961" y="52388"/>
                  </a:cubicBezTo>
                  <a:lnTo>
                    <a:pt x="1" y="55643"/>
                  </a:lnTo>
                  <a:cubicBezTo>
                    <a:pt x="3552" y="60971"/>
                    <a:pt x="11544" y="64523"/>
                    <a:pt x="21607" y="64523"/>
                  </a:cubicBezTo>
                  <a:cubicBezTo>
                    <a:pt x="36998" y="64523"/>
                    <a:pt x="47061" y="56235"/>
                    <a:pt x="47061" y="43508"/>
                  </a:cubicBezTo>
                  <a:cubicBezTo>
                    <a:pt x="47061" y="33149"/>
                    <a:pt x="39957" y="26934"/>
                    <a:pt x="23975" y="26934"/>
                  </a:cubicBezTo>
                  <a:lnTo>
                    <a:pt x="14800" y="26934"/>
                  </a:lnTo>
                  <a:lnTo>
                    <a:pt x="21903" y="4144"/>
                  </a:lnTo>
                  <a:lnTo>
                    <a:pt x="51500" y="4144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67A718C-8145-D8F7-0D0F-A89CE750AE0D}"/>
              </a:ext>
            </a:extLst>
          </p:cNvPr>
          <p:cNvSpPr txBox="1"/>
          <p:nvPr/>
        </p:nvSpPr>
        <p:spPr>
          <a:xfrm>
            <a:off x="1644184" y="1208768"/>
            <a:ext cx="659284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 que é Google </a:t>
            </a:r>
            <a:r>
              <a:rPr lang="pt-PT" b="1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Hacking</a:t>
            </a: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?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306F0E9-B41C-4B7E-3418-E09900A809D4}"/>
              </a:ext>
            </a:extLst>
          </p:cNvPr>
          <p:cNvSpPr txBox="1"/>
          <p:nvPr/>
        </p:nvSpPr>
        <p:spPr>
          <a:xfrm>
            <a:off x="1678456" y="1865598"/>
            <a:ext cx="697489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Melhorando ataques com IA.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324433-DEB7-CCA9-A042-647C66B3B71E}"/>
              </a:ext>
            </a:extLst>
          </p:cNvPr>
          <p:cNvSpPr txBox="1"/>
          <p:nvPr/>
        </p:nvSpPr>
        <p:spPr>
          <a:xfrm>
            <a:off x="1644184" y="3165312"/>
            <a:ext cx="5879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Como se previr de ser vítima.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4132CC5-F6D0-6013-783E-4FC51F43D1E3}"/>
              </a:ext>
            </a:extLst>
          </p:cNvPr>
          <p:cNvSpPr txBox="1"/>
          <p:nvPr/>
        </p:nvSpPr>
        <p:spPr>
          <a:xfrm>
            <a:off x="1644184" y="3853596"/>
            <a:ext cx="419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Conclusão e reflexão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27170B4-15B4-932B-A6EA-D4557355A49F}"/>
              </a:ext>
            </a:extLst>
          </p:cNvPr>
          <p:cNvSpPr txBox="1"/>
          <p:nvPr/>
        </p:nvSpPr>
        <p:spPr>
          <a:xfrm>
            <a:off x="243550" y="403166"/>
            <a:ext cx="4700157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09 | Simulando um ataque de IA!</a:t>
            </a:r>
          </a:p>
        </p:txBody>
      </p:sp>
      <p:sp>
        <p:nvSpPr>
          <p:cNvPr id="2" name="CaixaDeTexto 41">
            <a:extLst>
              <a:ext uri="{FF2B5EF4-FFF2-40B4-BE49-F238E27FC236}">
                <a16:creationId xmlns:a16="http://schemas.microsoft.com/office/drawing/2014/main" id="{E955987F-B6D3-1A84-2CB9-7B01818851A5}"/>
              </a:ext>
            </a:extLst>
          </p:cNvPr>
          <p:cNvSpPr txBox="1"/>
          <p:nvPr/>
        </p:nvSpPr>
        <p:spPr>
          <a:xfrm>
            <a:off x="1644184" y="2505436"/>
            <a:ext cx="700916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Exemplo de Ataque de Engenharia Social – Uso de IA.</a:t>
            </a:r>
          </a:p>
        </p:txBody>
      </p:sp>
    </p:spTree>
    <p:extLst>
      <p:ext uri="{BB962C8B-B14F-4D97-AF65-F5344CB8AC3E}">
        <p14:creationId xmlns:p14="http://schemas.microsoft.com/office/powerpoint/2010/main" val="189079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2" grpId="0"/>
      <p:bldP spid="43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Google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Hacking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 -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Dorks</a:t>
            </a:r>
            <a:endParaRPr lang="pt-PT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  <p:sp>
        <p:nvSpPr>
          <p:cNvPr id="51" name="Google Shape;51;p13"/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09 | Simulando um ataque de IA!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60F7F2-6972-7E20-A4F6-EA70842765CC}"/>
              </a:ext>
            </a:extLst>
          </p:cNvPr>
          <p:cNvSpPr txBox="1"/>
          <p:nvPr/>
        </p:nvSpPr>
        <p:spPr>
          <a:xfrm>
            <a:off x="240548" y="833709"/>
            <a:ext cx="4985657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Características: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Técnica de busca do google (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prompt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- google.com).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Pesquisas mais profundas.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Levantar informações sigilosas dentro de sites.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Buscar documentos em sites.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Buscar no cache de sites (versões anteriores).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DB0904-D677-5FA5-9966-66329E78AD66}"/>
              </a:ext>
            </a:extLst>
          </p:cNvPr>
          <p:cNvSpPr txBox="1"/>
          <p:nvPr/>
        </p:nvSpPr>
        <p:spPr>
          <a:xfrm>
            <a:off x="240548" y="4037072"/>
            <a:ext cx="491131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Engenharia social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Teste de invasão.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Identificar vulnerabilidades.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9208EE6-3E60-3732-CAC4-A21E7CE85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9858" y="2237484"/>
            <a:ext cx="5648325" cy="263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063EF3F7-3FF4-7868-FA3D-52710A24C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F7CCC8F3-1626-79DF-2646-C1F9F0E0E75A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Google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Hacking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 com IA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27C9F165-CF38-D58C-0844-2D528BBB2086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09 | Simulando um ataque de IA!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DAE83C-99B3-DA02-22DF-49F139AFAF68}"/>
              </a:ext>
            </a:extLst>
          </p:cNvPr>
          <p:cNvSpPr txBox="1"/>
          <p:nvPr/>
        </p:nvSpPr>
        <p:spPr>
          <a:xfrm>
            <a:off x="240548" y="833709"/>
            <a:ext cx="498565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Geração de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Dorks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com IA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https://www.dorkgpt.com/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E28D84-C864-9DA7-143C-3ED7FF2F9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884" y="1326151"/>
            <a:ext cx="8173188" cy="3479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176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5063478E-47B2-FE0E-96B2-9B778AA8F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E8AE6D62-56A0-0C24-9D55-6BC922D93150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Google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Hacking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 com IA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F2AB5069-3F4F-6E5F-5EAF-FBD3C2ECA943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09 | Simulando um ataque de IA!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6A07A8-A413-78C1-DCA6-42D80735C0E9}"/>
              </a:ext>
            </a:extLst>
          </p:cNvPr>
          <p:cNvSpPr txBox="1"/>
          <p:nvPr/>
        </p:nvSpPr>
        <p:spPr>
          <a:xfrm>
            <a:off x="2796566" y="874588"/>
            <a:ext cx="3550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Teste das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dorks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 geradas pela IA</a:t>
            </a:r>
            <a:endParaRPr lang="pt-PT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9C284A-1C90-D51D-27A8-1C3E56C3D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4705" y="1141486"/>
            <a:ext cx="4838507" cy="372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384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0A892A97-53E1-0BC3-5058-79637DA7D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C3F69ABD-2757-38B8-039E-334F36EADD2E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Criação de conteúdo de e-mail com IA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7DC69265-7548-7344-CD32-528C3D367181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09 | Simulando um ataque de IA!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185631-1A96-425E-11C7-2E66A86BB1B5}"/>
              </a:ext>
            </a:extLst>
          </p:cNvPr>
          <p:cNvSpPr txBox="1"/>
          <p:nvPr/>
        </p:nvSpPr>
        <p:spPr>
          <a:xfrm>
            <a:off x="240549" y="737984"/>
            <a:ext cx="3982046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Usando o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ChatGPT</a:t>
            </a:r>
            <a:endParaRPr lang="pt-PT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  <a:p>
            <a:pPr>
              <a:buClr>
                <a:srgbClr val="92D050"/>
              </a:buClr>
            </a:pPr>
            <a:r>
              <a:rPr lang="pt-PT" sz="1200" b="1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Prompt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: Escreve um e-mail profissional para a Ana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Julia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 dos recursos humanos da empresa "Support" um empresa de Suporte técnico em São Paulo no Brasil. A Ana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Julia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gosta de cães, de modo que, quero que escreva um e-mail para a mesma se inscrever no novo website da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Dogs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care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 enviar o código promocional para desconto o desconto de 50% em qualquer produto, "DOGCARE2025", e colocar o link de acesso ao site.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9EEA0D-DB82-9F2C-1A5B-B667FD1E5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8781" y="499472"/>
            <a:ext cx="4624670" cy="44824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2A09E9-9271-A93C-741C-8F089BFAD7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731" y="3278458"/>
            <a:ext cx="1330248" cy="1330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700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682AA806-97CE-9B93-1595-B97B33D7E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92C14A84-809F-9FAD-6687-6D691E15E37A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Melhorando conteúdos gerados por IA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927FCAC1-EACB-5FD8-36BE-05F943F986B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09 | Simulando um ataque de IA!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6A4F50-5ED4-9351-4DCA-C41180C22F14}"/>
              </a:ext>
            </a:extLst>
          </p:cNvPr>
          <p:cNvSpPr txBox="1"/>
          <p:nvPr/>
        </p:nvSpPr>
        <p:spPr>
          <a:xfrm>
            <a:off x="240548" y="737984"/>
            <a:ext cx="451730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Humanizando textos com IA</a:t>
            </a:r>
          </a:p>
          <a:p>
            <a:pPr>
              <a:buClr>
                <a:srgbClr val="92D050"/>
              </a:buClr>
            </a:pPr>
            <a:r>
              <a:rPr lang="pt-PT" sz="1200" b="1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https://www.bypassgpt.ai/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80BC1E-FC0D-74E6-14B7-D36382D26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69" y="1230427"/>
            <a:ext cx="5817067" cy="382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891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45534571-872F-6B2B-1235-5A94A2E75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8FBEF864-D70D-D8E6-104A-BF50D6267CF0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Exemplo de Ataque de Engenharia Social – Uso de IA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2728C1BD-A423-33B0-0EE8-BB79FC7903C9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09 | Simulando um ataque de IA!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0124B0-E92F-AE31-C4C5-06F6455120E0}"/>
              </a:ext>
            </a:extLst>
          </p:cNvPr>
          <p:cNvSpPr txBox="1"/>
          <p:nvPr/>
        </p:nvSpPr>
        <p:spPr>
          <a:xfrm>
            <a:off x="240548" y="874588"/>
            <a:ext cx="536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Deepfake</a:t>
            </a:r>
            <a:r>
              <a:rPr lang="pt-PT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e </a:t>
            </a:r>
            <a:r>
              <a:rPr lang="pt-PT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Phising</a:t>
            </a:r>
            <a:r>
              <a:rPr lang="pt-PT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Avançado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BEA674-0ABD-6829-2090-3917854F06AC}"/>
              </a:ext>
            </a:extLst>
          </p:cNvPr>
          <p:cNvSpPr txBox="1"/>
          <p:nvPr/>
        </p:nvSpPr>
        <p:spPr>
          <a:xfrm>
            <a:off x="3019597" y="3418705"/>
            <a:ext cx="363264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Descrição do cenário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Chamada de vídeo.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Solicitação de uma transferência urgente.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Imagem – aparentemente legitima.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Voz – aparentemente legitima.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CDC42BA-5653-27F1-C40F-270254E31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409" y="2120160"/>
            <a:ext cx="4229100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8FD880-84B7-C75E-21ED-702E49E9DB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2038" y="1373995"/>
            <a:ext cx="601718" cy="6017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EA4A55-F820-6A6B-18C1-3A9D998B6839}"/>
              </a:ext>
            </a:extLst>
          </p:cNvPr>
          <p:cNvSpPr txBox="1"/>
          <p:nvPr/>
        </p:nvSpPr>
        <p:spPr>
          <a:xfrm>
            <a:off x="4383756" y="1580010"/>
            <a:ext cx="13901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Top Financial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7852C4-CB0A-28B0-5085-C649D8D7B3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6710" y="2061387"/>
            <a:ext cx="563598" cy="5635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6D3B78D-74F4-634B-9FEC-0E3CE61FB261}"/>
              </a:ext>
            </a:extLst>
          </p:cNvPr>
          <p:cNvSpPr txBox="1"/>
          <p:nvPr/>
        </p:nvSpPr>
        <p:spPr>
          <a:xfrm>
            <a:off x="2611711" y="3043170"/>
            <a:ext cx="7469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000" b="1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Gerente</a:t>
            </a:r>
          </a:p>
        </p:txBody>
      </p:sp>
    </p:spTree>
    <p:extLst>
      <p:ext uri="{BB962C8B-B14F-4D97-AF65-F5344CB8AC3E}">
        <p14:creationId xmlns:p14="http://schemas.microsoft.com/office/powerpoint/2010/main" val="1364986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8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819D8DA5-13DA-BAD1-AF42-1354C3251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739E5565-E12E-66B8-564C-5F9A6904675D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Exemplo de Ataque de Engenharia Social – Uso de IA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2F444D70-5CDD-6902-98AA-3DB7CF478A17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09 | Simulando um ataque de IA!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C4ABF9-D20F-AC12-3963-E5162E584D0D}"/>
              </a:ext>
            </a:extLst>
          </p:cNvPr>
          <p:cNvSpPr txBox="1"/>
          <p:nvPr/>
        </p:nvSpPr>
        <p:spPr>
          <a:xfrm>
            <a:off x="240548" y="874588"/>
            <a:ext cx="536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Deepfake</a:t>
            </a:r>
            <a:r>
              <a:rPr lang="pt-PT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e </a:t>
            </a:r>
            <a:r>
              <a:rPr lang="pt-PT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Phising</a:t>
            </a:r>
            <a:r>
              <a:rPr lang="pt-PT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Avançado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DA4C12-7D07-20C1-84FC-838734960DD2}"/>
              </a:ext>
            </a:extLst>
          </p:cNvPr>
          <p:cNvSpPr txBox="1"/>
          <p:nvPr/>
        </p:nvSpPr>
        <p:spPr>
          <a:xfrm>
            <a:off x="655933" y="1716824"/>
            <a:ext cx="3826857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Descrição do cenário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Tom e formato semelhante aos e-mails que a CEO costuma enviar.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Assinatura digital aparentemente autêntica.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566395-015F-198F-41BE-44161445F9A4}"/>
              </a:ext>
            </a:extLst>
          </p:cNvPr>
          <p:cNvSpPr txBox="1"/>
          <p:nvPr/>
        </p:nvSpPr>
        <p:spPr>
          <a:xfrm>
            <a:off x="655932" y="3118894"/>
            <a:ext cx="3826857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Desfecho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Carlos realiza a transferência.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Depois descobre que foi vitima de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deepfake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e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sper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phising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 atacante utilizou IA.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DA112882-5EAE-77AA-FA62-C25036456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5103" y="874588"/>
            <a:ext cx="5059997" cy="4096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7220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8C55A2F8-F655-B3D3-8FDC-9F782B722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2F9C27A7-1424-0A84-7462-092699A72550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Exemplo de Ataque de Engenharia Social -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Phising</a:t>
            </a:r>
            <a:endParaRPr lang="pt-PT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4C40B5E0-6F03-4078-9032-F9AE325ACBC0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09 | Simulando um ataque de IA!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AA7489-0DD6-9A18-B5B3-B34E3AC26F4A}"/>
              </a:ext>
            </a:extLst>
          </p:cNvPr>
          <p:cNvSpPr txBox="1"/>
          <p:nvPr/>
        </p:nvSpPr>
        <p:spPr>
          <a:xfrm>
            <a:off x="240548" y="874588"/>
            <a:ext cx="536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Ações do atacante</a:t>
            </a:r>
          </a:p>
        </p:txBody>
      </p:sp>
      <p:pic>
        <p:nvPicPr>
          <p:cNvPr id="3" name="Google Shape;66;p14">
            <a:extLst>
              <a:ext uri="{FF2B5EF4-FFF2-40B4-BE49-F238E27FC236}">
                <a16:creationId xmlns:a16="http://schemas.microsoft.com/office/drawing/2014/main" id="{59766867-6C4F-7B25-BDCB-2605DA0F047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549" y="1721357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1CBBB6-BD69-1BF2-04A9-93C3468D041A}"/>
              </a:ext>
            </a:extLst>
          </p:cNvPr>
          <p:cNvSpPr txBox="1"/>
          <p:nvPr/>
        </p:nvSpPr>
        <p:spPr>
          <a:xfrm>
            <a:off x="691965" y="1765244"/>
            <a:ext cx="265632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Coleta de informações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Analisa dados públicos: vídeos, áudios e postagens da CEO.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5" name="Google Shape;66;p14">
            <a:extLst>
              <a:ext uri="{FF2B5EF4-FFF2-40B4-BE49-F238E27FC236}">
                <a16:creationId xmlns:a16="http://schemas.microsoft.com/office/drawing/2014/main" id="{EEDC2D35-1736-CAE9-EB38-A0B5053887F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549" y="3163347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BEAE6E-446E-BB25-27BE-C3B116A2CDB6}"/>
              </a:ext>
            </a:extLst>
          </p:cNvPr>
          <p:cNvSpPr txBox="1"/>
          <p:nvPr/>
        </p:nvSpPr>
        <p:spPr>
          <a:xfrm>
            <a:off x="744003" y="3147762"/>
            <a:ext cx="265632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Criação de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deepfake</a:t>
            </a:r>
            <a:endParaRPr lang="pt-PT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Utiliza ferramentas para gerar vídeo convincente.</a:t>
            </a:r>
          </a:p>
        </p:txBody>
      </p:sp>
      <p:pic>
        <p:nvPicPr>
          <p:cNvPr id="8" name="Google Shape;66;p14">
            <a:extLst>
              <a:ext uri="{FF2B5EF4-FFF2-40B4-BE49-F238E27FC236}">
                <a16:creationId xmlns:a16="http://schemas.microsoft.com/office/drawing/2014/main" id="{09E54F7E-FD1F-AB1F-BD4E-18273737E88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8434" y="1684904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295F82-D6ED-DFD7-4083-487C09A5B5D3}"/>
              </a:ext>
            </a:extLst>
          </p:cNvPr>
          <p:cNvSpPr txBox="1"/>
          <p:nvPr/>
        </p:nvSpPr>
        <p:spPr>
          <a:xfrm>
            <a:off x="6111888" y="1721357"/>
            <a:ext cx="265632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Engajamento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Chamada de vídeo.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Urgência e autoridade.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Envia e-mail convincente.</a:t>
            </a:r>
          </a:p>
        </p:txBody>
      </p:sp>
      <p:pic>
        <p:nvPicPr>
          <p:cNvPr id="10" name="Google Shape;66;p14">
            <a:extLst>
              <a:ext uri="{FF2B5EF4-FFF2-40B4-BE49-F238E27FC236}">
                <a16:creationId xmlns:a16="http://schemas.microsoft.com/office/drawing/2014/main" id="{04047B1F-19F0-5810-18FB-AE6D1154F97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8434" y="3134328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AA24108-333D-E35B-CD81-A2789748272C}"/>
              </a:ext>
            </a:extLst>
          </p:cNvPr>
          <p:cNvSpPr txBox="1"/>
          <p:nvPr/>
        </p:nvSpPr>
        <p:spPr>
          <a:xfrm>
            <a:off x="6134190" y="3089007"/>
            <a:ext cx="265632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Execução do golpe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Convence o Carlos a realizar a transferência.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A34FBCB-85A1-1E28-0897-73EC6E8ED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2219" y="1967578"/>
            <a:ext cx="1759561" cy="175956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AA14F62-2074-9DAC-6B95-ECE3330D02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927" y="2436905"/>
            <a:ext cx="542818" cy="5428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420A5A-44D2-7BC1-4A1D-212E793FD4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438" y="3887956"/>
            <a:ext cx="466899" cy="4668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28550F1-ABBF-2CDB-5207-2E13EE61D1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8806" y="2453749"/>
            <a:ext cx="471272" cy="47127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6E44A51-BF11-F99E-BE99-7F7A52BDDA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95490" y="3852453"/>
            <a:ext cx="537903" cy="537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225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  <p:bldP spid="7" grpId="0"/>
      <p:bldP spid="9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BD40C51B-8B5B-EBCA-3110-160D684EE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44C71D3F-A2F7-844D-0E25-2E1A0AD86955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Como se prevenir de ser vítima?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676AAAA7-9265-8FC6-5089-D6FCBA97966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09 | Simulando um ataque de IA!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C4AD7C-47B8-4900-1F21-5FDDB8C1D2E6}"/>
              </a:ext>
            </a:extLst>
          </p:cNvPr>
          <p:cNvSpPr txBox="1"/>
          <p:nvPr/>
        </p:nvSpPr>
        <p:spPr>
          <a:xfrm>
            <a:off x="352061" y="781672"/>
            <a:ext cx="37427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Estabelecer políticas internas de verificação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Protocolos formais de autorização.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Validação do protocolo através de várias pessoas.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D56A0B-F0F0-2358-722A-B2B76AF3CA15}"/>
              </a:ext>
            </a:extLst>
          </p:cNvPr>
          <p:cNvSpPr txBox="1"/>
          <p:nvPr/>
        </p:nvSpPr>
        <p:spPr>
          <a:xfrm>
            <a:off x="352061" y="1906091"/>
            <a:ext cx="382592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Desconfiar da urgência exagerada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Questione pedidos urgentes ou fora do padrão.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Mesmo que venha de pessoas de autoridade.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D562D4-C817-A3CD-E33E-8B39F1D63C64}"/>
              </a:ext>
            </a:extLst>
          </p:cNvPr>
          <p:cNvSpPr txBox="1"/>
          <p:nvPr/>
        </p:nvSpPr>
        <p:spPr>
          <a:xfrm>
            <a:off x="344627" y="2962342"/>
            <a:ext cx="435693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Use ferramentas de validação de identidade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Código ou palavras-chave previamente acordados.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Sistemas de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detecção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de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deepfake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C26407-8CEB-2133-A0AC-5AB8FE840DD5}"/>
              </a:ext>
            </a:extLst>
          </p:cNvPr>
          <p:cNvSpPr txBox="1"/>
          <p:nvPr/>
        </p:nvSpPr>
        <p:spPr>
          <a:xfrm>
            <a:off x="352061" y="4092478"/>
            <a:ext cx="444854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Cuidado com dados expostos online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Minimize a quantidade de vídeos, áudios ou informações sensíveis na rede publica.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2E89B1-08DB-EDF5-757A-CAF0A447C17C}"/>
              </a:ext>
            </a:extLst>
          </p:cNvPr>
          <p:cNvSpPr txBox="1"/>
          <p:nvPr/>
        </p:nvSpPr>
        <p:spPr>
          <a:xfrm>
            <a:off x="5225145" y="2051572"/>
            <a:ext cx="324978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Educação sobre ataques de IA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Treinamento.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Informação.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418B7B-0E8F-82C6-16D7-6A36B4D1D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824" y="851369"/>
            <a:ext cx="705779" cy="7057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DC61E4A-35E7-FF75-44F1-3BD4D18B1A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0936" y="2008570"/>
            <a:ext cx="710631" cy="7106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8A0D361-1A11-B5C2-CC3E-657F397635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4597" y="2359712"/>
            <a:ext cx="617034" cy="6170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846F43-7463-8914-E507-7B25456573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9010" y="3043751"/>
            <a:ext cx="905111" cy="9051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1F7760-7998-7FCC-DE05-BF84FDC9F6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1565" y="4036480"/>
            <a:ext cx="861774" cy="861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790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4" grpId="0"/>
      <p:bldP spid="17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1CE485FB-C758-8140-A3F3-687031C96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248C63B7-6AFC-AB78-E46A-315B2984C03D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Contramedidas para evitar golpes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2DD26E8E-CA7B-CAB8-27C8-33B000B4AD46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09 | Simulando um ataque de IA!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8C4E6C-5B17-A9A5-DF34-19D3983EF6AB}"/>
              </a:ext>
            </a:extLst>
          </p:cNvPr>
          <p:cNvSpPr txBox="1"/>
          <p:nvPr/>
        </p:nvSpPr>
        <p:spPr>
          <a:xfrm>
            <a:off x="352061" y="1908802"/>
            <a:ext cx="600413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Análise de comunicação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Verificar inconsistências em vídeos ou áudio.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Descompasso labial.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Falha em tons emocionais.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7567BC-7AB9-D693-118F-6FA6A9898BB7}"/>
              </a:ext>
            </a:extLst>
          </p:cNvPr>
          <p:cNvSpPr txBox="1"/>
          <p:nvPr/>
        </p:nvSpPr>
        <p:spPr>
          <a:xfrm>
            <a:off x="352061" y="913989"/>
            <a:ext cx="600413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Ferramentas de autenticação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multifator</a:t>
            </a:r>
            <a:endParaRPr lang="pt-PT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Exigir verificações adicionais antes de autorizar transações críticas.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C9E92F-E877-D280-FA57-A13E85F4EB77}"/>
              </a:ext>
            </a:extLst>
          </p:cNvPr>
          <p:cNvSpPr txBox="1"/>
          <p:nvPr/>
        </p:nvSpPr>
        <p:spPr>
          <a:xfrm>
            <a:off x="352060" y="3041699"/>
            <a:ext cx="600413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Implementar tecnologia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anti-deepfake</a:t>
            </a:r>
            <a:endParaRPr lang="pt-PT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Utilize softwares que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detectem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manipulações em vídeos ou áudios.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009778-618E-DB16-2CAC-C21A7C2A7D7D}"/>
              </a:ext>
            </a:extLst>
          </p:cNvPr>
          <p:cNvSpPr txBox="1"/>
          <p:nvPr/>
        </p:nvSpPr>
        <p:spPr>
          <a:xfrm>
            <a:off x="352061" y="4041264"/>
            <a:ext cx="600413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Monitoramento contínuo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Configure sistemas para alertar sobre transferências financeiras fora do padrão.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FB9CB2-5C81-C59E-C4D8-D2BCD7AC9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597" y="4015257"/>
            <a:ext cx="743414" cy="7434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2C4018B-D189-1A71-2301-13287F42A8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7597" y="880836"/>
            <a:ext cx="743414" cy="74341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5261152-849B-1229-C1DD-8FC5714588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8267" y="987449"/>
            <a:ext cx="528651" cy="52865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F32287E-88C2-4706-5981-73A0959B1F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7597" y="1967982"/>
            <a:ext cx="743414" cy="7434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E2A382C-5389-D7B5-86F6-CF11A8998B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3926" y="1979113"/>
            <a:ext cx="743414" cy="74341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07C563B-9F22-8F3E-FCBA-D919FA3156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7597" y="3003301"/>
            <a:ext cx="743414" cy="74341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039F96A-C223-3CDF-ECA4-42B060761B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53926" y="2913721"/>
            <a:ext cx="743414" cy="74341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80BEF40-F005-553E-CA43-42E95CF2A6F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28267" y="4015256"/>
            <a:ext cx="743415" cy="743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586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4" grpId="0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63283301-F6E8-9F8A-AE57-37EE266FA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0710E762-303C-16D6-EBA5-C4812408AEC9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Exemplo de Ataque de Engenharia Social – Uso de IA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51F21B6C-6B99-9F84-28DA-018FF4EC379B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09 | Simulando um ataque de IA!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CDCF5A-86BC-5B97-DACB-714C803DBCD0}"/>
              </a:ext>
            </a:extLst>
          </p:cNvPr>
          <p:cNvSpPr txBox="1"/>
          <p:nvPr/>
        </p:nvSpPr>
        <p:spPr>
          <a:xfrm>
            <a:off x="240548" y="874588"/>
            <a:ext cx="536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Exemplo de Resposta Consciente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F992C95-279B-744E-ECE5-D0B362AC8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2947" y="737984"/>
            <a:ext cx="5656058" cy="4206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175F43F-E970-0A7E-769E-523C7B73CA81}"/>
              </a:ext>
            </a:extLst>
          </p:cNvPr>
          <p:cNvSpPr txBox="1"/>
          <p:nvPr/>
        </p:nvSpPr>
        <p:spPr>
          <a:xfrm>
            <a:off x="240548" y="2990827"/>
            <a:ext cx="382685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Desfecho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Carlos evita um ataque sofisticado de engaria social envolvendo IA.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718CE-3750-50A7-3FAA-683B42A9E7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3046" y="592789"/>
            <a:ext cx="563598" cy="563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714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/>
        </p:nvSpPr>
        <p:spPr>
          <a:xfrm>
            <a:off x="428788" y="1725379"/>
            <a:ext cx="5255943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Uso de IA para melhorar ataques</a:t>
            </a: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Analisamos cenários de </a:t>
            </a:r>
            <a:r>
              <a:rPr lang="pt-PT" b="1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deepfake</a:t>
            </a: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 e engenharia social com uso de IA.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Como se proteger.</a:t>
            </a:r>
          </a:p>
        </p:txBody>
      </p:sp>
      <p:sp>
        <p:nvSpPr>
          <p:cNvPr id="2" name="Google Shape;50;p13">
            <a:extLst>
              <a:ext uri="{FF2B5EF4-FFF2-40B4-BE49-F238E27FC236}">
                <a16:creationId xmlns:a16="http://schemas.microsoft.com/office/drawing/2014/main" id="{F18BA85D-2531-1CFB-C2E5-EFC5AD82FE85}"/>
              </a:ext>
            </a:extLst>
          </p:cNvPr>
          <p:cNvSpPr txBox="1"/>
          <p:nvPr/>
        </p:nvSpPr>
        <p:spPr>
          <a:xfrm>
            <a:off x="240549" y="124357"/>
            <a:ext cx="56324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Conclusão e reflexão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Google Shape;51;p13">
            <a:extLst>
              <a:ext uri="{FF2B5EF4-FFF2-40B4-BE49-F238E27FC236}">
                <a16:creationId xmlns:a16="http://schemas.microsoft.com/office/drawing/2014/main" id="{3F372C72-6415-430B-784D-CD1C9A3A6A3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09 | Simulando um ataque de IA!</a:t>
            </a:r>
          </a:p>
        </p:txBody>
      </p:sp>
      <p:pic>
        <p:nvPicPr>
          <p:cNvPr id="5" name="Picture 8" descr="Thumbnail Image cyber security com o tema: A educação e a conscientização dos usuários continuam sendo essenciais para garantir a segurança">
            <a:extLst>
              <a:ext uri="{FF2B5EF4-FFF2-40B4-BE49-F238E27FC236}">
                <a16:creationId xmlns:a16="http://schemas.microsoft.com/office/drawing/2014/main" id="{3E83A537-49C8-769C-90A1-A37C484EB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9425" y="1126500"/>
            <a:ext cx="2890500" cy="28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94;p12">
            <a:extLst>
              <a:ext uri="{FF2B5EF4-FFF2-40B4-BE49-F238E27FC236}">
                <a16:creationId xmlns:a16="http://schemas.microsoft.com/office/drawing/2014/main" id="{E1BCB11D-E551-8054-970B-384D3ABBFAF4}"/>
              </a:ext>
            </a:extLst>
          </p:cNvPr>
          <p:cNvSpPr txBox="1"/>
          <p:nvPr/>
        </p:nvSpPr>
        <p:spPr>
          <a:xfrm>
            <a:off x="428789" y="3709238"/>
            <a:ext cx="5255943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</a:pPr>
            <a:r>
              <a:rPr lang="pt-PT" b="1" i="1" u="sng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“Eu realmente estou preparado caso eu esteja em um cenário de </a:t>
            </a:r>
            <a:r>
              <a:rPr lang="pt-PT" b="1" i="1" u="sng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deepfake</a:t>
            </a:r>
            <a:r>
              <a:rPr lang="pt-PT" b="1" i="1" u="sng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?”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49" y="2210090"/>
            <a:ext cx="266332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Obrigado!</a:t>
            </a:r>
            <a:endParaRPr sz="35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5621</TotalTime>
  <Words>730</Words>
  <Application>Microsoft Office PowerPoint</Application>
  <PresentationFormat>On-screen Show (16:9)</PresentationFormat>
  <Paragraphs>107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Ubuntu</vt:lpstr>
      <vt:lpstr>Fira Code</vt:lpstr>
      <vt:lpstr>Wingdings</vt:lpstr>
      <vt:lpstr>Arial</vt:lpstr>
      <vt:lpstr>Ubuntu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436</cp:revision>
  <dcterms:modified xsi:type="dcterms:W3CDTF">2025-02-18T14:54:10Z</dcterms:modified>
</cp:coreProperties>
</file>