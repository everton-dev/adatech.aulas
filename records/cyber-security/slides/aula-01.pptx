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9"/>
  </p:notesMasterIdLst>
  <p:sldIdLst>
    <p:sldId id="256" r:id="rId2"/>
    <p:sldId id="262" r:id="rId3"/>
    <p:sldId id="257" r:id="rId4"/>
    <p:sldId id="284" r:id="rId5"/>
    <p:sldId id="283" r:id="rId6"/>
    <p:sldId id="268" r:id="rId7"/>
    <p:sldId id="261" r:id="rId8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0"/>
      <p:bold r:id="rId11"/>
    </p:embeddedFont>
    <p:embeddedFont>
      <p:font typeface="Ubuntu" panose="020B0504030602030204" pitchFamily="34" charset="0"/>
      <p:regular r:id="rId12"/>
      <p:bold r:id="rId13"/>
      <p:italic r:id="rId14"/>
      <p:boldItalic r:id="rId15"/>
    </p:embeddedFont>
    <p:embeddedFont>
      <p:font typeface="Ubuntu Light" panose="020B0304030602030204" pitchFamily="34" charset="0"/>
      <p:regular r:id="rId16"/>
      <p: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CF1ED66E-11F5-52BF-CA28-3497A1FFF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FC21A3A1-73B8-4C92-393E-DAE53A4ED1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D68FB35-B80A-8F97-31DC-A21E47CB29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7138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6935356C-78F3-7A5D-6B3A-58F897552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324AD18-B87E-61C0-DD6E-35EBF2BDD3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ACCF2E4-4751-3B88-82E1-DE736FF522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369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5531654" y="3731617"/>
            <a:ext cx="3690600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01 | 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O que é inteligência artificial?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5" y="1208768"/>
            <a:ext cx="551489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Introdução ao conceito de IA.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45587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Como a inteligência artificial aprende?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90237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Inteligência artificial generativa.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Conclusão e reflexão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O que é inteligência artificial?</a:t>
            </a:r>
            <a:endParaRPr lang="pt-BR" sz="900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700916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Aprendizados: supervisionado, não supervisionado e por reforço.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64501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Introdução ao conceito de inteligência artificial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O que é inteligência artificial?</a:t>
            </a:r>
            <a:endParaRPr lang="pt-BR" sz="900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C5BF2-6BFF-B924-7A1E-757AFFB391CD}"/>
              </a:ext>
            </a:extLst>
          </p:cNvPr>
          <p:cNvSpPr txBox="1"/>
          <p:nvPr/>
        </p:nvSpPr>
        <p:spPr>
          <a:xfrm>
            <a:off x="240549" y="1014662"/>
            <a:ext cx="4182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básico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é inteligência artificial?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081206-1C80-E68A-96F7-7F5E5EEE0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346" y="936703"/>
            <a:ext cx="3694771" cy="36947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601DD2-4342-A73C-9030-D370318C4896}"/>
              </a:ext>
            </a:extLst>
          </p:cNvPr>
          <p:cNvSpPr txBox="1"/>
          <p:nvPr/>
        </p:nvSpPr>
        <p:spPr>
          <a:xfrm>
            <a:off x="240549" y="1986975"/>
            <a:ext cx="41827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Elas aprendem a fazer nosso trabalho.</a:t>
            </a:r>
          </a:p>
          <a:p>
            <a:pPr>
              <a:buClr>
                <a:srgbClr val="92D050"/>
              </a:buClr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Processos cognitivos humanos.</a:t>
            </a:r>
          </a:p>
          <a:p>
            <a:pPr marL="285750" lvl="8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Aprendizagem.</a:t>
            </a:r>
          </a:p>
          <a:p>
            <a:pPr marL="285750" lvl="8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Raciocínio.</a:t>
            </a:r>
          </a:p>
          <a:p>
            <a:pPr marL="285750" lvl="8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Resolução de problemas.</a:t>
            </a:r>
          </a:p>
          <a:p>
            <a:pPr marL="285750" lvl="8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Percepção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lvl="8">
              <a:buClr>
                <a:srgbClr val="92D050"/>
              </a:buClr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Algoritmos inteligentes.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624F5C93-5114-BF11-E2F4-B7988C437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489EB8E7-08C2-50C4-0314-A9FB6ED1DC98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Como a inteligência artificial aprende?</a:t>
            </a: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811A86A8-F1CD-ED9D-9D64-7F843ECE5487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O que é inteligência artificial?</a:t>
            </a:r>
            <a:endParaRPr lang="pt-BR" sz="900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2" name="Google Shape;108;g321a64a41dd_0_9">
            <a:extLst>
              <a:ext uri="{FF2B5EF4-FFF2-40B4-BE49-F238E27FC236}">
                <a16:creationId xmlns:a16="http://schemas.microsoft.com/office/drawing/2014/main" id="{FB899498-5F17-BE1E-4592-C3AC50E659F6}"/>
              </a:ext>
            </a:extLst>
          </p:cNvPr>
          <p:cNvGrpSpPr/>
          <p:nvPr/>
        </p:nvGrpSpPr>
        <p:grpSpPr>
          <a:xfrm>
            <a:off x="4818519" y="734988"/>
            <a:ext cx="3559725" cy="1616125"/>
            <a:chOff x="4818513" y="1089027"/>
            <a:chExt cx="3559725" cy="1616125"/>
          </a:xfrm>
        </p:grpSpPr>
        <p:pic>
          <p:nvPicPr>
            <p:cNvPr id="16" name="Google Shape;109;g321a64a41dd_0_9">
              <a:extLst>
                <a:ext uri="{FF2B5EF4-FFF2-40B4-BE49-F238E27FC236}">
                  <a16:creationId xmlns:a16="http://schemas.microsoft.com/office/drawing/2014/main" id="{6CF5C179-5714-9568-3B91-230788D68D4E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18513" y="1089027"/>
              <a:ext cx="3559725" cy="161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111;g321a64a41dd_0_9">
              <a:extLst>
                <a:ext uri="{FF2B5EF4-FFF2-40B4-BE49-F238E27FC236}">
                  <a16:creationId xmlns:a16="http://schemas.microsoft.com/office/drawing/2014/main" id="{6BF9B3C6-D793-7747-5D1F-E1921C2614C5}"/>
                </a:ext>
              </a:extLst>
            </p:cNvPr>
            <p:cNvSpPr txBox="1"/>
            <p:nvPr/>
          </p:nvSpPr>
          <p:spPr>
            <a:xfrm>
              <a:off x="5640263" y="1226699"/>
              <a:ext cx="2469600" cy="1159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 dirty="0">
                  <a:solidFill>
                    <a:srgbClr val="A6F75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Fira Code" panose="020B0809050000020004" pitchFamily="49" charset="0"/>
                  <a:sym typeface="Fira Code Light"/>
                </a:rPr>
                <a:t>Não supervisionado</a:t>
              </a:r>
              <a:endParaRPr sz="1100" dirty="0">
                <a:solidFill>
                  <a:schemeClr val="dk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dirty="0">
                  <a:solidFill>
                    <a:schemeClr val="lt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Fira Code" panose="020B0809050000020004" pitchFamily="49" charset="0"/>
                  <a:sym typeface="Fira Code Light"/>
                </a:rPr>
                <a:t>A máquina explora por ela própria identificando padrões e agrupando informações semelhantes.</a:t>
              </a:r>
              <a:endParaRPr sz="1100" dirty="0">
                <a:solidFill>
                  <a:schemeClr val="dk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4" name="Google Shape;116;g321a64a41dd_0_9">
            <a:extLst>
              <a:ext uri="{FF2B5EF4-FFF2-40B4-BE49-F238E27FC236}">
                <a16:creationId xmlns:a16="http://schemas.microsoft.com/office/drawing/2014/main" id="{C32A71AA-A087-9C5D-E94F-77AFB15779D7}"/>
              </a:ext>
            </a:extLst>
          </p:cNvPr>
          <p:cNvGrpSpPr/>
          <p:nvPr/>
        </p:nvGrpSpPr>
        <p:grpSpPr>
          <a:xfrm>
            <a:off x="694906" y="734988"/>
            <a:ext cx="3559725" cy="1616125"/>
            <a:chOff x="694900" y="1089027"/>
            <a:chExt cx="3559725" cy="1616125"/>
          </a:xfrm>
        </p:grpSpPr>
        <p:pic>
          <p:nvPicPr>
            <p:cNvPr id="10" name="Google Shape;117;g321a64a41dd_0_9">
              <a:extLst>
                <a:ext uri="{FF2B5EF4-FFF2-40B4-BE49-F238E27FC236}">
                  <a16:creationId xmlns:a16="http://schemas.microsoft.com/office/drawing/2014/main" id="{8A618200-40DE-9F06-35C4-C08C33F56AA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4900" y="1089027"/>
              <a:ext cx="3559725" cy="161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19;g321a64a41dd_0_9">
              <a:extLst>
                <a:ext uri="{FF2B5EF4-FFF2-40B4-BE49-F238E27FC236}">
                  <a16:creationId xmlns:a16="http://schemas.microsoft.com/office/drawing/2014/main" id="{A06BBDE4-FA27-CB96-DD0D-84088B74C07A}"/>
                </a:ext>
              </a:extLst>
            </p:cNvPr>
            <p:cNvSpPr txBox="1"/>
            <p:nvPr/>
          </p:nvSpPr>
          <p:spPr>
            <a:xfrm>
              <a:off x="1516650" y="1226700"/>
              <a:ext cx="2469600" cy="996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 dirty="0">
                  <a:solidFill>
                    <a:srgbClr val="A6F75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Fira Code" panose="020B0809050000020004" pitchFamily="49" charset="0"/>
                  <a:sym typeface="Fira Code Light"/>
                </a:rPr>
                <a:t>Supervisionado</a:t>
              </a:r>
              <a:endParaRPr dirty="0">
                <a:solidFill>
                  <a:schemeClr val="dk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dirty="0">
                  <a:solidFill>
                    <a:schemeClr val="lt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Fira Code" panose="020B0809050000020004" pitchFamily="49" charset="0"/>
                  <a:sym typeface="Fira Code Light"/>
                </a:rPr>
                <a:t>Mostramos exemplos corretos e incorretos para máquina, e a máquina aprende por amostras.</a:t>
              </a:r>
              <a:endParaRPr sz="11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endParaRPr>
            </a:p>
          </p:txBody>
        </p:sp>
      </p:grpSp>
      <p:grpSp>
        <p:nvGrpSpPr>
          <p:cNvPr id="5" name="Google Shape;120;g321a64a41dd_0_9">
            <a:extLst>
              <a:ext uri="{FF2B5EF4-FFF2-40B4-BE49-F238E27FC236}">
                <a16:creationId xmlns:a16="http://schemas.microsoft.com/office/drawing/2014/main" id="{24AB4F06-5B68-D0DE-432F-B26382F546C1}"/>
              </a:ext>
            </a:extLst>
          </p:cNvPr>
          <p:cNvGrpSpPr/>
          <p:nvPr/>
        </p:nvGrpSpPr>
        <p:grpSpPr>
          <a:xfrm>
            <a:off x="734431" y="2792388"/>
            <a:ext cx="3559725" cy="1616125"/>
            <a:chOff x="734425" y="3146427"/>
            <a:chExt cx="3559725" cy="1616125"/>
          </a:xfrm>
        </p:grpSpPr>
        <p:pic>
          <p:nvPicPr>
            <p:cNvPr id="6" name="Google Shape;121;g321a64a41dd_0_9">
              <a:extLst>
                <a:ext uri="{FF2B5EF4-FFF2-40B4-BE49-F238E27FC236}">
                  <a16:creationId xmlns:a16="http://schemas.microsoft.com/office/drawing/2014/main" id="{1948F6A0-CB8C-14DB-D587-33D538837828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4425" y="3146427"/>
              <a:ext cx="3559725" cy="1616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123;g321a64a41dd_0_9">
              <a:extLst>
                <a:ext uri="{FF2B5EF4-FFF2-40B4-BE49-F238E27FC236}">
                  <a16:creationId xmlns:a16="http://schemas.microsoft.com/office/drawing/2014/main" id="{D5271CF4-F7D4-AD1D-8C2B-7D5A012EF563}"/>
                </a:ext>
              </a:extLst>
            </p:cNvPr>
            <p:cNvSpPr txBox="1"/>
            <p:nvPr/>
          </p:nvSpPr>
          <p:spPr>
            <a:xfrm>
              <a:off x="1556175" y="3284099"/>
              <a:ext cx="2469600" cy="13548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b="1" dirty="0">
                  <a:solidFill>
                    <a:srgbClr val="A6F75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Fira Code" panose="020B0809050000020004" pitchFamily="49" charset="0"/>
                  <a:sym typeface="Fira Code Light"/>
                </a:rPr>
                <a:t>Por reforço</a:t>
              </a:r>
              <a:endParaRPr dirty="0">
                <a:solidFill>
                  <a:schemeClr val="dk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pt-PT" sz="1100" dirty="0">
                  <a:solidFill>
                    <a:schemeClr val="lt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Fira Code" panose="020B0809050000020004" pitchFamily="49" charset="0"/>
                  <a:sym typeface="Fira Code Light"/>
                </a:rPr>
                <a:t>Aprende por tentativa e erro, recebendo recompensas e punições pelas suas ações.</a:t>
              </a:r>
              <a:endParaRPr dirty="0">
                <a:solidFill>
                  <a:schemeClr val="dk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1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endParaRPr>
            </a:p>
          </p:txBody>
        </p:sp>
      </p:grpSp>
      <p:pic>
        <p:nvPicPr>
          <p:cNvPr id="1026" name="Picture 2" descr="Ícone de Supervisionado Wanicon Lineal Color | Freepik">
            <a:extLst>
              <a:ext uri="{FF2B5EF4-FFF2-40B4-BE49-F238E27FC236}">
                <a16:creationId xmlns:a16="http://schemas.microsoft.com/office/drawing/2014/main" id="{02DDB295-AC52-97D6-ACA9-836613A46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63" y="1617379"/>
            <a:ext cx="555361" cy="55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30 Ícones, Logotipos, Símbolos de Svm - Gratuito em SVG, PNG, GIF |  IconScout">
            <a:extLst>
              <a:ext uri="{FF2B5EF4-FFF2-40B4-BE49-F238E27FC236}">
                <a16:creationId xmlns:a16="http://schemas.microsoft.com/office/drawing/2014/main" id="{75820F64-A8BF-672C-0E20-47F0828EB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161" y="1617379"/>
            <a:ext cx="624467" cy="62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Escolher - ícones de entretenimento grátis">
            <a:extLst>
              <a:ext uri="{FF2B5EF4-FFF2-40B4-BE49-F238E27FC236}">
                <a16:creationId xmlns:a16="http://schemas.microsoft.com/office/drawing/2014/main" id="{20FC78F3-45DF-BF81-D084-CA792C029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71" y="3739826"/>
            <a:ext cx="475053" cy="47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econhecimento facial Ícones -3,111 ícones gratuitos">
            <a:extLst>
              <a:ext uri="{FF2B5EF4-FFF2-40B4-BE49-F238E27FC236}">
                <a16:creationId xmlns:a16="http://schemas.microsoft.com/office/drawing/2014/main" id="{9CFF6968-5A08-2EE0-14EA-5D710DE4F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472" y="2523815"/>
            <a:ext cx="1747025" cy="174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39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4E1798A4-2D1D-0369-38E5-F295B0AF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7DDD4EF2-A378-028D-DF57-61BD36CEE91E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Inteligência artificial generativa</a:t>
            </a:r>
            <a:endParaRPr lang="pt-BR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6352DE7C-82D9-9B74-A281-703EDF647B21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O que é inteligência artificial?</a:t>
            </a:r>
            <a:endParaRPr lang="pt-BR" sz="900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A415EF-01F4-F407-EF34-D23E3F256013}"/>
              </a:ext>
            </a:extLst>
          </p:cNvPr>
          <p:cNvSpPr txBox="1"/>
          <p:nvPr/>
        </p:nvSpPr>
        <p:spPr>
          <a:xfrm>
            <a:off x="240548" y="772221"/>
            <a:ext cx="6851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Imagine...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Já pensou em uma máquina que possa criar obras de arte, escrever histórias ou até mesmo compor músicas?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B24EF1-6AFE-7732-E53E-06631BAF9E34}"/>
              </a:ext>
            </a:extLst>
          </p:cNvPr>
          <p:cNvSpPr txBox="1"/>
          <p:nvPr/>
        </p:nvSpPr>
        <p:spPr>
          <a:xfrm>
            <a:off x="322325" y="2507159"/>
            <a:ext cx="42496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Características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Cria conteúdos a partir do que aprendeu.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Recebe enorme quantidade de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Simula a criatividade.</a:t>
            </a:r>
          </a:p>
        </p:txBody>
      </p:sp>
      <p:grpSp>
        <p:nvGrpSpPr>
          <p:cNvPr id="2" name="Google Shape;109;p14">
            <a:extLst>
              <a:ext uri="{FF2B5EF4-FFF2-40B4-BE49-F238E27FC236}">
                <a16:creationId xmlns:a16="http://schemas.microsoft.com/office/drawing/2014/main" id="{82A4EAC9-0EAF-413D-ACD5-1D31D84D76A6}"/>
              </a:ext>
            </a:extLst>
          </p:cNvPr>
          <p:cNvGrpSpPr/>
          <p:nvPr/>
        </p:nvGrpSpPr>
        <p:grpSpPr>
          <a:xfrm>
            <a:off x="4756912" y="1714399"/>
            <a:ext cx="4006626" cy="3157566"/>
            <a:chOff x="527225" y="1006888"/>
            <a:chExt cx="6536100" cy="3409800"/>
          </a:xfrm>
        </p:grpSpPr>
        <p:sp>
          <p:nvSpPr>
            <p:cNvPr id="3" name="Google Shape;110;p14">
              <a:extLst>
                <a:ext uri="{FF2B5EF4-FFF2-40B4-BE49-F238E27FC236}">
                  <a16:creationId xmlns:a16="http://schemas.microsoft.com/office/drawing/2014/main" id="{7390952A-F367-5A1F-420E-34E97076C93C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4" name="Google Shape;111;p14">
              <a:extLst>
                <a:ext uri="{FF2B5EF4-FFF2-40B4-BE49-F238E27FC236}">
                  <a16:creationId xmlns:a16="http://schemas.microsoft.com/office/drawing/2014/main" id="{BC1A8F51-149E-602E-A0F3-4B9C90D839DB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5" name="CaixaDeTexto 9">
            <a:extLst>
              <a:ext uri="{FF2B5EF4-FFF2-40B4-BE49-F238E27FC236}">
                <a16:creationId xmlns:a16="http://schemas.microsoft.com/office/drawing/2014/main" id="{056F70F5-F4F9-416A-B8F1-AD9E8FE6C03D}"/>
              </a:ext>
            </a:extLst>
          </p:cNvPr>
          <p:cNvSpPr txBox="1"/>
          <p:nvPr/>
        </p:nvSpPr>
        <p:spPr>
          <a:xfrm>
            <a:off x="4922860" y="1892936"/>
            <a:ext cx="382209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solidFill>
                  <a:srgbClr val="92D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Gerar imagem de gato com chapéu...</a:t>
            </a:r>
          </a:p>
        </p:txBody>
      </p:sp>
      <p:pic>
        <p:nvPicPr>
          <p:cNvPr id="2050" name="Picture 2" descr="Thumbnail Image gato usando um chapéu">
            <a:extLst>
              <a:ext uri="{FF2B5EF4-FFF2-40B4-BE49-F238E27FC236}">
                <a16:creationId xmlns:a16="http://schemas.microsoft.com/office/drawing/2014/main" id="{CC0081B1-C6A8-E22E-3229-06A60BD0F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335" y="2322799"/>
            <a:ext cx="1175244" cy="1175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umbnail Image gato usando um chapéu">
            <a:extLst>
              <a:ext uri="{FF2B5EF4-FFF2-40B4-BE49-F238E27FC236}">
                <a16:creationId xmlns:a16="http://schemas.microsoft.com/office/drawing/2014/main" id="{5B1E0B05-0CE9-C8CD-2848-6E8E9F21D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176" y="2311894"/>
            <a:ext cx="1180574" cy="118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humbnail Image gato usando um chapéu">
            <a:extLst>
              <a:ext uri="{FF2B5EF4-FFF2-40B4-BE49-F238E27FC236}">
                <a16:creationId xmlns:a16="http://schemas.microsoft.com/office/drawing/2014/main" id="{70623895-6CF3-56A6-E227-E2F9E2037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176" y="3523506"/>
            <a:ext cx="1180574" cy="118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humbnail Image gato usando um chapéu">
            <a:extLst>
              <a:ext uri="{FF2B5EF4-FFF2-40B4-BE49-F238E27FC236}">
                <a16:creationId xmlns:a16="http://schemas.microsoft.com/office/drawing/2014/main" id="{DC772B26-0887-C059-9311-4E296AD69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004" y="3523505"/>
            <a:ext cx="1180575" cy="118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34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651512" y="1833101"/>
            <a:ext cx="48105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Inteligência artificial e IA Generativa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IA apresenta desafios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b="1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Não é boa e nem é ruim</a:t>
            </a:r>
            <a:endParaRPr lang="pt-PT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Conclusão e reflexão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01 | 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O que é inteligência artificial?</a:t>
            </a:r>
            <a:endParaRPr lang="pt-BR" sz="900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B4EFA-81A1-D77F-518D-2BB247783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976" y="1047968"/>
            <a:ext cx="2401231" cy="24012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250</Words>
  <Application>Microsoft Office PowerPoint</Application>
  <PresentationFormat>On-screen Show (16:9)</PresentationFormat>
  <Paragraphs>44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Wingdings</vt:lpstr>
      <vt:lpstr>Arial</vt:lpstr>
      <vt:lpstr>Ubuntu Light</vt:lpstr>
      <vt:lpstr>Ubuntu</vt:lpstr>
      <vt:lpstr>Fira Code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310</cp:revision>
  <dcterms:modified xsi:type="dcterms:W3CDTF">2025-02-01T15:24:18Z</dcterms:modified>
</cp:coreProperties>
</file>