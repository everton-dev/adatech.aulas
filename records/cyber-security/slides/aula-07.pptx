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62" r:id="rId3"/>
    <p:sldId id="306" r:id="rId4"/>
    <p:sldId id="257" r:id="rId5"/>
    <p:sldId id="300" r:id="rId6"/>
    <p:sldId id="301" r:id="rId7"/>
    <p:sldId id="302" r:id="rId8"/>
    <p:sldId id="303" r:id="rId9"/>
    <p:sldId id="307" r:id="rId10"/>
    <p:sldId id="305" r:id="rId11"/>
    <p:sldId id="268" r:id="rId12"/>
    <p:sldId id="261" r:id="rId13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5"/>
      <p:bold r:id="rId16"/>
    </p:embeddedFont>
    <p:embeddedFont>
      <p:font typeface="Ubuntu" panose="020B0504030602030204" pitchFamily="34" charset="0"/>
      <p:regular r:id="rId17"/>
      <p:bold r:id="rId18"/>
      <p:italic r:id="rId19"/>
      <p:boldItalic r:id="rId20"/>
    </p:embeddedFont>
    <p:embeddedFont>
      <p:font typeface="Ubuntu Light" panose="020B0304030602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0EDFA-EB58-6F6A-6688-1787A628859A}" v="4427" dt="2025-02-13T16:35:51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62A3B90-2843-C450-4804-7F0E3B393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F1215FC-8635-9304-AAB4-ABEDEB6DAB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3BE97FD6-C53D-F8E7-4294-1D82BC0F8A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7108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710BB6E4-F0A4-6DDC-B95E-11FD9134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5F2DD82C-B39C-43C5-13F2-7F7B076A9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4173346-6517-13D5-90AA-D21168278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462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F03C1C2-F3F7-20A8-83BC-48B11C2B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B035ACE-E420-3E45-8BF5-5D7D57387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B63821E-39F0-E485-42A3-360593B4F2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0132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5DA46D46-C0EC-B77A-443F-84C94911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6C7A57FE-2DF1-16B3-FD41-F24BD4F21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9B6DD16D-58BB-42BC-8B28-13F882170F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653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9BE860A-C9B8-3434-2B20-5C0CFA6AF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12794580-4047-E7E0-584C-A2F359EF0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709051E-3742-542C-F735-056843A96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312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3B07EB05-1A4B-5D5C-0B70-714EC9B7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B371A2A9-1935-639E-EB03-9E8CF8DE3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02C41C01-4B54-3D67-B3E0-55DC27A8A0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3075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6B359C89-8565-78FE-D2DE-D33B5F40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77BF5B15-7482-24D3-6B5B-27872E770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1A354BD-3907-B61D-4583-4B9DFBF71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4968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5040350" y="3731617"/>
            <a:ext cx="4181903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07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Cultura de segurança da informação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4" y="1208768"/>
            <a:ext cx="659284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O que é cultura de segurança da informação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69748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Riscos trazidos pela IA na segurança da informação.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071794"/>
            <a:ext cx="58791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Investimento em tecnologia de segurança baseada em IA.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Cultura de segurança da informação</a:t>
            </a:r>
            <a:endParaRPr lang="pt-BR" sz="900" dirty="0"/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/>
                <a:ea typeface="Fira Code"/>
                <a:cs typeface="Fira Code"/>
              </a:rPr>
              <a:t>Construindo uma cultura de segurança forte.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E62FF4B-0E95-2D7C-CA50-F67B3605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5934047-FD0D-5E6C-2CF0-D1CD8D39D36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046AADF5-35CB-013F-EC68-F7F29358AD7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Cultura de segurança da informação</a:t>
            </a:r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BB910-AA8C-CB09-04AA-8FED0C58A219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O que é cultura de segurança da informação?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63F5C-C444-1B28-D425-2CFFD63170CF}"/>
              </a:ext>
            </a:extLst>
          </p:cNvPr>
          <p:cNvSpPr txBox="1"/>
          <p:nvPr/>
        </p:nvSpPr>
        <p:spPr>
          <a:xfrm>
            <a:off x="314890" y="1532517"/>
            <a:ext cx="46882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Conscientização continua.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Práticas consistentes.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Responsabilidade compartilhada.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C9866A-5EB1-9489-325D-AF1C512A7DE5}"/>
              </a:ext>
            </a:extLst>
          </p:cNvPr>
          <p:cNvSpPr txBox="1"/>
          <p:nvPr/>
        </p:nvSpPr>
        <p:spPr>
          <a:xfrm>
            <a:off x="314889" y="2933876"/>
            <a:ext cx="46882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Compartilhar informações sigilosas, sem saber que está violando politicas.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CDD75-601A-A13A-C240-4393B912F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901" y="873037"/>
            <a:ext cx="2638192" cy="261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1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  <a:sym typeface="Ubuntu Light"/>
              </a:rPr>
              <a:t>O impacto da IA em </a:t>
            </a:r>
            <a:r>
              <a:rPr lang="pt-PT" dirty="0" err="1">
                <a:solidFill>
                  <a:srgbClr val="A6F750"/>
                </a:solidFill>
                <a:latin typeface="Fira Code"/>
                <a:ea typeface="Fira Code"/>
                <a:cs typeface="Fira Code"/>
                <a:sym typeface="Ubuntu Light"/>
              </a:rPr>
              <a:t>cibersegurança</a:t>
            </a:r>
            <a:endParaRPr lang="pt-BR" dirty="0" err="1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Cultura de segurança da informação</a:t>
            </a:r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0F7F2-6972-7E20-A4F6-EA70842765CC}"/>
              </a:ext>
            </a:extLst>
          </p:cNvPr>
          <p:cNvSpPr txBox="1"/>
          <p:nvPr/>
        </p:nvSpPr>
        <p:spPr>
          <a:xfrm>
            <a:off x="240549" y="1167405"/>
            <a:ext cx="5364798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Riscos trazidos pela IA na segurança de informação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endParaRPr lang="pt-PT" dirty="0">
              <a:solidFill>
                <a:srgbClr val="A6F750"/>
              </a:solidFill>
              <a:latin typeface="Fira Code"/>
              <a:ea typeface="Fira Code"/>
              <a:cs typeface="Fira Code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Exposição de dados sensíveis.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Decisões automatizadas maliciosas.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Uso da IA em ataques cibernéticos.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Falta de conscientização sobre ferramentas de IA.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9" name="Picture 8" descr="Grupo de pessoas sentadas ao redor de mesa com computador&#10;&#10;O conteúdo gerado por IA pode estar incorreto.">
            <a:extLst>
              <a:ext uri="{FF2B5EF4-FFF2-40B4-BE49-F238E27FC236}">
                <a16:creationId xmlns:a16="http://schemas.microsoft.com/office/drawing/2014/main" id="{EB44DFA3-0BAD-C016-6C78-C375F7903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623" y="859804"/>
            <a:ext cx="3263126" cy="32631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89FBCF66-6856-6B7F-A2AB-73F661C8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5B6EE5C-CD3A-2F06-895E-091351254F3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229ADD2-8AEF-BF10-455E-5ACF0A6014B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Cultura de segurança da informação</a:t>
            </a:r>
            <a:endParaRPr lang="pt-BR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B8F16-EE62-0DAE-4B3C-170C70385EB6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Exposição de dados sensíveis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B338B-F3E5-6885-BDD7-B05FC999835F}"/>
              </a:ext>
            </a:extLst>
          </p:cNvPr>
          <p:cNvSpPr txBox="1"/>
          <p:nvPr/>
        </p:nvSpPr>
        <p:spPr>
          <a:xfrm>
            <a:off x="314890" y="1532517"/>
            <a:ext cx="4688291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Grande volume de dados.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>
              <a:buClr>
                <a:srgbClr val="92D050"/>
              </a:buClr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9ED37-0ECF-FC15-2FFA-4A32C223661B}"/>
              </a:ext>
            </a:extLst>
          </p:cNvPr>
          <p:cNvSpPr txBox="1"/>
          <p:nvPr/>
        </p:nvSpPr>
        <p:spPr>
          <a:xfrm>
            <a:off x="314889" y="2933876"/>
            <a:ext cx="46882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Utilização IA para analise de clientes, e não configura os protocolos de segurança.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Vazamento de dados.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05323-40A5-4A38-B93A-2CBC7D392578}"/>
              </a:ext>
            </a:extLst>
          </p:cNvPr>
          <p:cNvSpPr txBox="1"/>
          <p:nvPr/>
        </p:nvSpPr>
        <p:spPr>
          <a:xfrm>
            <a:off x="5260987" y="3457230"/>
            <a:ext cx="3689726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Limitar acesso aos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Criptografe dados Sensíveis.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Utilização de plataformas confiáveis.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0DD682-FEDF-A7C6-29CD-C31565E4A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011" y="287598"/>
            <a:ext cx="2935558" cy="291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864AE7A-B07C-62AC-7886-67B97798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A6216352-3B34-3AF4-2673-880896327AF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24E6217-B348-6B38-48D9-6A675D37D742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Cultura de segurança da informação</a:t>
            </a:r>
            <a:endParaRPr lang="pt-BR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57772-9245-99E2-40AF-845099C820C3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Decisões automatizadas maliciosas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044DF-81AC-1FA1-3D43-FBE2DE8A4694}"/>
              </a:ext>
            </a:extLst>
          </p:cNvPr>
          <p:cNvSpPr txBox="1"/>
          <p:nvPr/>
        </p:nvSpPr>
        <p:spPr>
          <a:xfrm>
            <a:off x="314890" y="1532517"/>
            <a:ext cx="4688291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IA pode ser usada para automatizar ações criticas.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Pode causar sérios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dadnos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>
              <a:buClr>
                <a:srgbClr val="92D050"/>
              </a:buClr>
            </a:pP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01976-7532-94DD-ED41-D11156688EA6}"/>
              </a:ext>
            </a:extLst>
          </p:cNvPr>
          <p:cNvSpPr txBox="1"/>
          <p:nvPr/>
        </p:nvSpPr>
        <p:spPr>
          <a:xfrm>
            <a:off x="314889" y="2933876"/>
            <a:ext cx="4688291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Algoritmo treinado para autorização pagamentos, pode ser manipulado.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AE6CD-1508-CA60-3D02-C254AC5F8AA0}"/>
              </a:ext>
            </a:extLst>
          </p:cNvPr>
          <p:cNvSpPr txBox="1"/>
          <p:nvPr/>
        </p:nvSpPr>
        <p:spPr>
          <a:xfrm>
            <a:off x="5121597" y="3610559"/>
            <a:ext cx="3689726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Realizar auditorias regulares no sistema 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Estabeleça revisões humanas para decisões criticas.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8" name="Picture 7" descr="Uma imagem contendo tráfego, luz, moto, rua&#10;&#10;O conteúdo gerado por IA pode estar incorreto.">
            <a:extLst>
              <a:ext uri="{FF2B5EF4-FFF2-40B4-BE49-F238E27FC236}">
                <a16:creationId xmlns:a16="http://schemas.microsoft.com/office/drawing/2014/main" id="{E055A276-27A2-8176-D814-7A028550A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339777"/>
            <a:ext cx="2784618" cy="279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1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CECAA73B-F361-2B34-78D5-C66F78E7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C0D899FF-E45B-8960-A849-EC3C3E27C23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E3AF97CB-ECA3-B996-6CA6-3C42BF9CC90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Cultura de segurança da informação</a:t>
            </a:r>
            <a:endParaRPr lang="pt-BR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42C36-8F6A-5AAF-A2F4-5F7BF9298E96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Uso de IA em ataques cibernéticos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507A9-4695-FF1F-F751-5C4BE073ADD1}"/>
              </a:ext>
            </a:extLst>
          </p:cNvPr>
          <p:cNvSpPr txBox="1"/>
          <p:nvPr/>
        </p:nvSpPr>
        <p:spPr>
          <a:xfrm>
            <a:off x="314890" y="1532517"/>
            <a:ext cx="4688291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Pode proteger de ataques.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Pode atacar também.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Phishing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,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deepfake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e outros.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6D0B0A-0D34-6EDB-5628-8798DE0DFAFD}"/>
              </a:ext>
            </a:extLst>
          </p:cNvPr>
          <p:cNvSpPr txBox="1"/>
          <p:nvPr/>
        </p:nvSpPr>
        <p:spPr>
          <a:xfrm>
            <a:off x="314889" y="2933876"/>
            <a:ext cx="4688291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Recebimento de uma ligação gerada por um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deepfake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, solicitando informações sensíveis.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541A6-AE34-FE2A-0C6A-C2E5E4C1AA0B}"/>
              </a:ext>
            </a:extLst>
          </p:cNvPr>
          <p:cNvSpPr txBox="1"/>
          <p:nvPr/>
        </p:nvSpPr>
        <p:spPr>
          <a:xfrm>
            <a:off x="5159296" y="3499529"/>
            <a:ext cx="3880625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Medidas de proteção:</a:t>
            </a:r>
            <a:endParaRPr lang="pt-BR" dirty="0"/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Treine colaboradores.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Adoção autenticação MFA e protocolos.</a:t>
            </a:r>
          </a:p>
        </p:txBody>
      </p:sp>
      <p:pic>
        <p:nvPicPr>
          <p:cNvPr id="7" name="Picture 6" descr="Grupo de pessoas sentadas ao redor de uma mesa&#10;&#10;O conteúdo gerado por IA pode estar incorreto.">
            <a:extLst>
              <a:ext uri="{FF2B5EF4-FFF2-40B4-BE49-F238E27FC236}">
                <a16:creationId xmlns:a16="http://schemas.microsoft.com/office/drawing/2014/main" id="{567264B5-0952-86A3-4A08-562C5A55C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187" y="520957"/>
            <a:ext cx="2605203" cy="258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9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A69A1FF-CEB6-D0B8-0FDD-F7EE2A26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8837EB69-E4F0-33E7-D0A3-FA6CEF9111D1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Ameaças cibernéticas alimentadas por IA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DF65313-370D-6FCF-CC5F-615E3681A0C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Cultura de segurança da informação</a:t>
            </a:r>
            <a:endParaRPr lang="pt-BR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3FFE7-909C-B212-D4D8-D1EDA2F03778}"/>
              </a:ext>
            </a:extLst>
          </p:cNvPr>
          <p:cNvSpPr txBox="1"/>
          <p:nvPr/>
        </p:nvSpPr>
        <p:spPr>
          <a:xfrm>
            <a:off x="240548" y="874588"/>
            <a:ext cx="536479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Falta de consciência sobre ferramentas de IA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E03A9-4F9A-9CC7-3640-6BE7A56A6582}"/>
              </a:ext>
            </a:extLst>
          </p:cNvPr>
          <p:cNvSpPr txBox="1"/>
          <p:nvPr/>
        </p:nvSpPr>
        <p:spPr>
          <a:xfrm>
            <a:off x="314890" y="1532517"/>
            <a:ext cx="4688291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Utilização ferramentas de IA sem considerar os riscos.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Copiar dados confidenciais para plataformas públicas.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6F1EFF-3B71-DA91-49FD-9441E44F1722}"/>
              </a:ext>
            </a:extLst>
          </p:cNvPr>
          <p:cNvSpPr txBox="1"/>
          <p:nvPr/>
        </p:nvSpPr>
        <p:spPr>
          <a:xfrm>
            <a:off x="314889" y="3231242"/>
            <a:ext cx="4688291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Exemplo: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Geração de resumo de documentos internos, sem saber onde os dados são armazenados.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182AA-904C-3379-FD67-4CC131CC10FD}"/>
              </a:ext>
            </a:extLst>
          </p:cNvPr>
          <p:cNvSpPr txBox="1"/>
          <p:nvPr/>
        </p:nvSpPr>
        <p:spPr>
          <a:xfrm>
            <a:off x="5372499" y="2202718"/>
            <a:ext cx="3689726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Medidas de proteção: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Politicas claras sobre uso de IA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Treinamentos regulares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CC20EB-89AD-EC94-64B3-013810CA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346" y="262759"/>
            <a:ext cx="1910576" cy="191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0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D3F243A-2144-0036-352A-88714AA1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0C1E684D-D426-8670-3157-B77A3F155E7C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  <a:sym typeface="Ubuntu Light"/>
              </a:rPr>
              <a:t>O impacto da IA em </a:t>
            </a:r>
            <a:r>
              <a:rPr lang="pt-PT" dirty="0" err="1">
                <a:solidFill>
                  <a:srgbClr val="A6F750"/>
                </a:solidFill>
                <a:latin typeface="Fira Code"/>
                <a:ea typeface="Fira Code"/>
                <a:cs typeface="Fira Code"/>
                <a:sym typeface="Ubuntu Light"/>
              </a:rPr>
              <a:t>Cibersegurança</a:t>
            </a:r>
            <a:endParaRPr lang="pt-BR" dirty="0" err="1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F5AE9B9C-D37C-F78A-A41A-F95B878667B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Cultura de segurança da informação</a:t>
            </a:r>
            <a:endParaRPr lang="pt-BR" sz="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8195B-DCE6-F204-E987-558FF40997EA}"/>
              </a:ext>
            </a:extLst>
          </p:cNvPr>
          <p:cNvSpPr txBox="1"/>
          <p:nvPr/>
        </p:nvSpPr>
        <p:spPr>
          <a:xfrm>
            <a:off x="240549" y="1167405"/>
            <a:ext cx="5364798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Construindo uma cultura de segurança forte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endParaRPr lang="pt-PT" dirty="0">
              <a:solidFill>
                <a:srgbClr val="A6F750"/>
              </a:solidFill>
              <a:latin typeface="Fira Code"/>
              <a:ea typeface="Fira Code"/>
              <a:cs typeface="Fira Code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Promova conscientização continua.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Integre a segurança no cotidiano.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Estabeleça protocolos para IA.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Liderança pelo exemplo.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Invista em tecnologia de segurança baseada em IA.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9" name="Picture 8" descr="Grupo de pessoas sentadas ao redor de mesa com computador&#10;&#10;O conteúdo gerado por IA pode estar incorreto.">
            <a:extLst>
              <a:ext uri="{FF2B5EF4-FFF2-40B4-BE49-F238E27FC236}">
                <a16:creationId xmlns:a16="http://schemas.microsoft.com/office/drawing/2014/main" id="{85E1EB5E-E746-3B31-9B9C-AF3E4B7F9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623" y="859804"/>
            <a:ext cx="3263126" cy="326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8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D6A0EB8-2084-A797-87FE-6E03BA62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921F8F8-CC36-37E0-D9A7-808882A198E2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Estratégias para mitigar as ameaças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D494D661-D296-C942-FF72-106C7BD5829B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Cultura de Segurança da Informação</a:t>
            </a:r>
            <a:endParaRPr lang="pt-BR" dirty="0"/>
          </a:p>
        </p:txBody>
      </p:sp>
      <p:pic>
        <p:nvPicPr>
          <p:cNvPr id="5" name="Google Shape;66;p14">
            <a:extLst>
              <a:ext uri="{FF2B5EF4-FFF2-40B4-BE49-F238E27FC236}">
                <a16:creationId xmlns:a16="http://schemas.microsoft.com/office/drawing/2014/main" id="{CFD10054-035E-3E9F-CD96-93BF75ABE5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67" y="778663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62948A-CDEE-55A1-74DB-1A8ED105EC06}"/>
              </a:ext>
            </a:extLst>
          </p:cNvPr>
          <p:cNvSpPr txBox="1"/>
          <p:nvPr/>
        </p:nvSpPr>
        <p:spPr>
          <a:xfrm>
            <a:off x="609260" y="780734"/>
            <a:ext cx="2585980" cy="8463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300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Conscientização continua</a:t>
            </a:r>
            <a:endParaRPr lang="pt-PT" sz="13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Campanhas de Conscientização.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Boletins mensais.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9" name="Google Shape;66;p14">
            <a:extLst>
              <a:ext uri="{FF2B5EF4-FFF2-40B4-BE49-F238E27FC236}">
                <a16:creationId xmlns:a16="http://schemas.microsoft.com/office/drawing/2014/main" id="{E342D0D3-4BA3-155D-B787-6F015930F2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31" y="2327519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9B545C-C4CC-9A90-5799-BBFD8B9C8069}"/>
              </a:ext>
            </a:extLst>
          </p:cNvPr>
          <p:cNvSpPr txBox="1"/>
          <p:nvPr/>
        </p:nvSpPr>
        <p:spPr>
          <a:xfrm>
            <a:off x="731923" y="2325872"/>
            <a:ext cx="2447237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Integre a segurança no cotidiano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Implementação de Politicas.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Relatar atividades Suspeitas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endParaRPr lang="pt-PT" sz="1200" dirty="0">
              <a:solidFill>
                <a:srgbClr val="FFFFFF"/>
              </a:solidFill>
              <a:latin typeface="Fira Code"/>
              <a:ea typeface="Fira Code"/>
              <a:cs typeface="Fira Code"/>
            </a:endParaRPr>
          </a:p>
        </p:txBody>
      </p:sp>
      <p:pic>
        <p:nvPicPr>
          <p:cNvPr id="11" name="Google Shape;66;p14">
            <a:extLst>
              <a:ext uri="{FF2B5EF4-FFF2-40B4-BE49-F238E27FC236}">
                <a16:creationId xmlns:a16="http://schemas.microsoft.com/office/drawing/2014/main" id="{531554B4-F08A-53B4-F717-778F026B98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5324" y="2170150"/>
            <a:ext cx="3413467" cy="158882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140AF8-B9FA-D81E-AAE0-EFD87D6FFD4C}"/>
              </a:ext>
            </a:extLst>
          </p:cNvPr>
          <p:cNvSpPr txBox="1"/>
          <p:nvPr/>
        </p:nvSpPr>
        <p:spPr>
          <a:xfrm>
            <a:off x="6262104" y="2192843"/>
            <a:ext cx="2756962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Investimento tecnologia IA de segurança 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Ferramentas que ajudam </a:t>
            </a: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detectar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ameaças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Ferramentas que analisam comportamentos em rede.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3" name="Google Shape;66;p14">
            <a:extLst>
              <a:ext uri="{FF2B5EF4-FFF2-40B4-BE49-F238E27FC236}">
                <a16:creationId xmlns:a16="http://schemas.microsoft.com/office/drawing/2014/main" id="{BFF34A92-C706-3AE6-92B6-AD9E991AAC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8613" y="3795909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A2727C-D95B-AD45-74B2-6919F559B60F}"/>
              </a:ext>
            </a:extLst>
          </p:cNvPr>
          <p:cNvSpPr txBox="1"/>
          <p:nvPr/>
        </p:nvSpPr>
        <p:spPr>
          <a:xfrm>
            <a:off x="3022081" y="3851877"/>
            <a:ext cx="2585019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 Protocolos para IA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Use ferramentas de IA autorizadas.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Restringir upload de dados sensíveis.</a:t>
            </a:r>
          </a:p>
        </p:txBody>
      </p:sp>
      <p:pic>
        <p:nvPicPr>
          <p:cNvPr id="19" name="Google Shape;66;p14">
            <a:extLst>
              <a:ext uri="{FF2B5EF4-FFF2-40B4-BE49-F238E27FC236}">
                <a16:creationId xmlns:a16="http://schemas.microsoft.com/office/drawing/2014/main" id="{840AAD8D-0D32-020C-3EC9-EAC0F02B33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5446" y="680488"/>
            <a:ext cx="3018529" cy="133791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D78794-7900-718E-B9BD-F2514CB81B16}"/>
              </a:ext>
            </a:extLst>
          </p:cNvPr>
          <p:cNvSpPr txBox="1"/>
          <p:nvPr/>
        </p:nvSpPr>
        <p:spPr>
          <a:xfrm>
            <a:off x="6156598" y="657469"/>
            <a:ext cx="2656322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Liderança pelo exemplo</a:t>
            </a:r>
            <a:endParaRPr lang="pt-PT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Lideres compartilhando experiencias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Reforço impacto da cultura de segurança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2" name="Picture 21" descr="Ícone&#10;&#10;O conteúdo gerado por IA pode estar incorreto.">
            <a:extLst>
              <a:ext uri="{FF2B5EF4-FFF2-40B4-BE49-F238E27FC236}">
                <a16:creationId xmlns:a16="http://schemas.microsoft.com/office/drawing/2014/main" id="{0276EEB9-B36B-973A-644B-C1B64A3F7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540" y="3101446"/>
            <a:ext cx="477054" cy="4770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7EC9093-7C0A-D227-C6E1-C980672A2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617" y="1554889"/>
            <a:ext cx="428258" cy="4282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2D5AC0-BB7A-2FB9-7F4F-A6726111E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288" y="3084786"/>
            <a:ext cx="530035" cy="530035"/>
          </a:xfrm>
          <a:prstGeom prst="rect">
            <a:avLst/>
          </a:prstGeom>
        </p:spPr>
      </p:pic>
      <p:pic>
        <p:nvPicPr>
          <p:cNvPr id="27" name="Picture 26" descr="Ícone&#10;&#10;O conteúdo gerado por IA pode estar incorreto.">
            <a:extLst>
              <a:ext uri="{FF2B5EF4-FFF2-40B4-BE49-F238E27FC236}">
                <a16:creationId xmlns:a16="http://schemas.microsoft.com/office/drawing/2014/main" id="{7CE364D1-9749-9F99-EF45-907D272B91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9276" y="4566827"/>
            <a:ext cx="450841" cy="450841"/>
          </a:xfrm>
          <a:prstGeom prst="rect">
            <a:avLst/>
          </a:prstGeom>
        </p:spPr>
      </p:pic>
      <p:pic>
        <p:nvPicPr>
          <p:cNvPr id="29" name="Picture 28" descr="Ícone&#10;&#10;O conteúdo gerado por IA pode estar incorreto.">
            <a:extLst>
              <a:ext uri="{FF2B5EF4-FFF2-40B4-BE49-F238E27FC236}">
                <a16:creationId xmlns:a16="http://schemas.microsoft.com/office/drawing/2014/main" id="{D8FC9882-D7D1-418F-9683-0B47C4D842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315" y="1474440"/>
            <a:ext cx="384749" cy="38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5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238288" y="1193069"/>
            <a:ext cx="5255943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Educação e treinamento.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Politica de segurança.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Autenticação </a:t>
            </a:r>
            <a:r>
              <a:rPr lang="pt-PT" b="1" dirty="0" err="1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multifator</a:t>
            </a: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Atualização e </a:t>
            </a:r>
            <a:r>
              <a:rPr lang="pt-PT" b="1" dirty="0" err="1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patches</a:t>
            </a: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Monitoramento e auditoria.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Controle de acesso.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Simulação de ataque.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Cultura de segurança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Implementação de protocolos.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/>
                <a:ea typeface="Fira Code"/>
                <a:cs typeface="Fira Code"/>
              </a:rPr>
              <a:t>Conscientização continua.</a:t>
            </a:r>
          </a:p>
          <a:p>
            <a:pPr marL="285750" indent="-298450">
              <a:buClr>
                <a:srgbClr val="A6F750"/>
              </a:buClr>
              <a:buSzPts val="1600"/>
              <a:buFont typeface="Ubuntu Light"/>
              <a:buChar char="✔"/>
            </a:pPr>
            <a:endParaRPr lang="pt-PT" b="1" dirty="0">
              <a:solidFill>
                <a:schemeClr val="lt1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07 | Cultura de Segurança da Informação</a:t>
            </a:r>
            <a:endParaRPr lang="pt-BR" dirty="0">
              <a:solidFill>
                <a:schemeClr val="lt1"/>
              </a:solidFill>
            </a:endParaRPr>
          </a:p>
        </p:txBody>
      </p:sp>
      <p:pic>
        <p:nvPicPr>
          <p:cNvPr id="5" name="Picture 8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E83A537-49C8-769C-90A1-A37C484EB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9425" y="1126500"/>
            <a:ext cx="2890500" cy="28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94;p12">
            <a:extLst>
              <a:ext uri="{FF2B5EF4-FFF2-40B4-BE49-F238E27FC236}">
                <a16:creationId xmlns:a16="http://schemas.microsoft.com/office/drawing/2014/main" id="{E1BCB11D-E551-8054-970B-384D3ABBFAF4}"/>
              </a:ext>
            </a:extLst>
          </p:cNvPr>
          <p:cNvSpPr txBox="1"/>
          <p:nvPr/>
        </p:nvSpPr>
        <p:spPr>
          <a:xfrm>
            <a:off x="428789" y="3709238"/>
            <a:ext cx="525594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rgbClr val="A6F750"/>
              </a:buClr>
              <a:buSzPts val="1600"/>
            </a:pPr>
            <a:r>
              <a:rPr lang="pt-PT" b="1" i="1" u="sng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Quais ações podem </a:t>
            </a:r>
            <a:r>
              <a:rPr lang="pt-PT" b="1" i="1" u="sng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implementar</a:t>
            </a:r>
            <a:r>
              <a:rPr lang="pt-PT" b="1" i="1" u="sng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 Light"/>
              </a:rPr>
              <a:t> imediatamente, seja no trabalho ou na vida pessoal, para melhorar a segurança da informação?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3374</TotalTime>
  <Words>603</Words>
  <Application>Microsoft Office PowerPoint</Application>
  <PresentationFormat>On-screen Show (16:9)</PresentationFormat>
  <Paragraphs>111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Ubuntu Light</vt:lpstr>
      <vt:lpstr>Ubuntu</vt:lpstr>
      <vt:lpstr>Wingdings</vt:lpstr>
      <vt:lpstr>Fira Code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777</cp:revision>
  <dcterms:modified xsi:type="dcterms:W3CDTF">2025-02-13T23:51:44Z</dcterms:modified>
</cp:coreProperties>
</file>