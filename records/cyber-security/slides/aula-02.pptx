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62" r:id="rId3"/>
    <p:sldId id="257" r:id="rId4"/>
    <p:sldId id="285" r:id="rId5"/>
    <p:sldId id="286" r:id="rId6"/>
    <p:sldId id="287" r:id="rId7"/>
    <p:sldId id="288" r:id="rId8"/>
    <p:sldId id="268" r:id="rId9"/>
    <p:sldId id="261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Ubuntu" panose="020B0504030602030204" pitchFamily="34" charset="0"/>
      <p:regular r:id="rId14"/>
      <p:bold r:id="rId15"/>
      <p:italic r:id="rId16"/>
      <p:boldItalic r:id="rId17"/>
    </p:embeddedFont>
    <p:embeddedFont>
      <p:font typeface="Ubuntu Light" panose="020B0304030602030204" pitchFamily="3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3F6AD11-A280-05F4-CE73-F71F55D0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3C43B24B-9477-9353-791A-18EEDE66F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DF8C78B5-64D8-B503-E320-C0D215998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68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0E7117A-0316-3259-4758-98BD36F1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14C4B64-7DF8-B28F-17ED-079C5F7DA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DFC57A51-D2A7-CC54-ACEC-0AF1083CB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62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7051FE5-7712-C290-E7CD-530A27E6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D080AC9-8785-ED80-EF44-80B48D44F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7F11403-1BF4-A194-9284-CDD4F5CC0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256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1A2625C-A566-2BD1-7931-26C3F42D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45777EF-6754-3A58-035E-B5A63E956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74028734-CBFD-21F5-ACD6-CED93D3E7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751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426927" y="3731617"/>
            <a:ext cx="379532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02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 importância do fator humano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Conceito de IA e sua aplicação na Segurança da Informação.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a IA pode apoiar as pessoas na defesa da informação?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Desafios e Oportunidades.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fator humano na era da IA.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conceito de IA e sua aplicação na segurança da informação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9" y="1014662"/>
            <a:ext cx="418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Qual o papel da IA?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Identificar, prevenir e reagir a ameaças cibernéticas.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9" y="2266790"/>
            <a:ext cx="41827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Onde geralmente ela atua?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Monitoramento de grandes volumes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Analise de atividades suspeitas.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Fraudes.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Analise de tráfego de redes corporativas.</a:t>
            </a:r>
          </a:p>
        </p:txBody>
      </p:sp>
      <p:pic>
        <p:nvPicPr>
          <p:cNvPr id="1026" name="Picture 2" descr="Thumbnail Image A IA pode ser utilizada para monitorar grandes volumes de dados em tempo real e identificar padrões de comportamento que indicam atividades suspeitas, como tentativas de invasão ou fraudes. Por exemplo, ferramentas de IA podem analisar o tráfego da rede de uma organização e detectar acessos não autorizados ou mal-intencionados antes que causem danos.">
            <a:extLst>
              <a:ext uri="{FF2B5EF4-FFF2-40B4-BE49-F238E27FC236}">
                <a16:creationId xmlns:a16="http://schemas.microsoft.com/office/drawing/2014/main" id="{E3C26ADD-AC7C-BA3F-8844-C0FA80C9E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815" y="751035"/>
            <a:ext cx="3790485" cy="379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64B5F70-4CDC-7F20-D2FA-E4DCBDDC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D76C6DC-8609-E65C-B32A-138C9C975C2F}"/>
              </a:ext>
            </a:extLst>
          </p:cNvPr>
          <p:cNvSpPr txBox="1"/>
          <p:nvPr/>
        </p:nvSpPr>
        <p:spPr>
          <a:xfrm>
            <a:off x="240549" y="124357"/>
            <a:ext cx="813773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As pessoas como principal linha de defesa na segurança da informação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B2F96AFB-E784-3E4F-E13A-96D32AAA9EC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F2C98-E58B-E7B8-4D39-B94670F63598}"/>
              </a:ext>
            </a:extLst>
          </p:cNvPr>
          <p:cNvSpPr txBox="1"/>
          <p:nvPr/>
        </p:nvSpPr>
        <p:spPr>
          <a:xfrm>
            <a:off x="240549" y="1043754"/>
            <a:ext cx="47180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Muitos incidentes de segurança ocorrem devido a </a:t>
            </a:r>
            <a:r>
              <a:rPr lang="pt-PT" sz="16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erros humanos</a:t>
            </a: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!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Clicar em links maliciosos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Usar senhas fracas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Compartilhamento de informações sensíveis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FD045-02FE-1E52-86A1-F3F863A37CCA}"/>
              </a:ext>
            </a:extLst>
          </p:cNvPr>
          <p:cNvSpPr txBox="1"/>
          <p:nvPr/>
        </p:nvSpPr>
        <p:spPr>
          <a:xfrm>
            <a:off x="240549" y="3281359"/>
            <a:ext cx="4718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90% dos ataques envolvem falha humana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“A </a:t>
            </a:r>
            <a:r>
              <a:rPr lang="pt-PT" sz="1600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educação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a </a:t>
            </a:r>
            <a:r>
              <a:rPr lang="pt-PT" sz="1600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conscientização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dos usuários continuam sendo essenciais para garantir a </a:t>
            </a:r>
            <a:r>
              <a:rPr lang="pt-PT" sz="1600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segurança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”.</a:t>
            </a:r>
          </a:p>
        </p:txBody>
      </p:sp>
      <p:pic>
        <p:nvPicPr>
          <p:cNvPr id="2050" name="Picture 2" descr="Thumbnail Image um usuário clicando em um link malicioso">
            <a:extLst>
              <a:ext uri="{FF2B5EF4-FFF2-40B4-BE49-F238E27FC236}">
                <a16:creationId xmlns:a16="http://schemas.microsoft.com/office/drawing/2014/main" id="{6C7AF1BB-6823-D3E4-C113-DEC4DAEF3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575" y="929746"/>
            <a:ext cx="1797679" cy="179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umbnail Image um usuário usando uma senha fraca">
            <a:extLst>
              <a:ext uri="{FF2B5EF4-FFF2-40B4-BE49-F238E27FC236}">
                <a16:creationId xmlns:a16="http://schemas.microsoft.com/office/drawing/2014/main" id="{A94B9906-F0BC-A607-3019-528C80454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772" y="929745"/>
            <a:ext cx="1797679" cy="179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umbnail Image um funcionário compartilhando informações sensíveis da empresa">
            <a:extLst>
              <a:ext uri="{FF2B5EF4-FFF2-40B4-BE49-F238E27FC236}">
                <a16:creationId xmlns:a16="http://schemas.microsoft.com/office/drawing/2014/main" id="{F660F499-5C60-F44C-6764-CCA19E39C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771" y="2921129"/>
            <a:ext cx="1797680" cy="17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F6AFA791-C543-6E7B-59E1-2EFC99496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575" y="2921128"/>
            <a:ext cx="1797681" cy="179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12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3D11147-3B2C-A8C0-0C82-AD03E3F8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B773F6-644C-2D2A-0F67-12B27D4A3191}"/>
              </a:ext>
            </a:extLst>
          </p:cNvPr>
          <p:cNvSpPr txBox="1"/>
          <p:nvPr/>
        </p:nvSpPr>
        <p:spPr>
          <a:xfrm>
            <a:off x="240549" y="124357"/>
            <a:ext cx="813773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Como a IA pode apoiar as pessoas na defesa da informação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78DB51A-DA22-B484-D133-9FDC99E988C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F1F58-D6DA-67B0-7FD4-92548FF7BBBC}"/>
              </a:ext>
            </a:extLst>
          </p:cNvPr>
          <p:cNvSpPr txBox="1"/>
          <p:nvPr/>
        </p:nvSpPr>
        <p:spPr>
          <a:xfrm>
            <a:off x="240549" y="1043754"/>
            <a:ext cx="47180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IA pode ser uma aliada importante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Ferramentas de auxilio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Autenticação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Reconhecimento facial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Biometria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460730-3D0E-BE5C-C7FF-599B85A5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887" y="702568"/>
            <a:ext cx="2076009" cy="2076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2780B8-32A3-D3F3-0CB3-B4EF4AD26ADD}"/>
              </a:ext>
            </a:extLst>
          </p:cNvPr>
          <p:cNvSpPr txBox="1"/>
          <p:nvPr/>
        </p:nvSpPr>
        <p:spPr>
          <a:xfrm>
            <a:off x="4309416" y="2648932"/>
            <a:ext cx="4133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Humanos são e serão o elo mais fraco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0FF3E2-3B91-5A83-FB0A-8955CFA8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890" y="550317"/>
            <a:ext cx="690911" cy="6909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01C5AC-37BE-791A-F019-E7203AF03BB9}"/>
              </a:ext>
            </a:extLst>
          </p:cNvPr>
          <p:cNvSpPr txBox="1"/>
          <p:nvPr/>
        </p:nvSpPr>
        <p:spPr>
          <a:xfrm>
            <a:off x="7751890" y="1214085"/>
            <a:ext cx="788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Ativo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7B197-08EF-A4E0-1FE8-D68F126638EE}"/>
              </a:ext>
            </a:extLst>
          </p:cNvPr>
          <p:cNvSpPr txBox="1"/>
          <p:nvPr/>
        </p:nvSpPr>
        <p:spPr>
          <a:xfrm>
            <a:off x="1251593" y="3168250"/>
            <a:ext cx="57216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 habilidades humanas que a IA não substitui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Criatividade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Julgamento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Empatia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Adaptabilidade</a:t>
            </a:r>
          </a:p>
        </p:txBody>
      </p:sp>
    </p:spTree>
    <p:extLst>
      <p:ext uri="{BB962C8B-B14F-4D97-AF65-F5344CB8AC3E}">
        <p14:creationId xmlns:p14="http://schemas.microsoft.com/office/powerpoint/2010/main" val="405097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48BAFBE-1088-8D4A-4C7A-877B3884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EB33116-3923-5800-8A2E-E323ED5355FA}"/>
              </a:ext>
            </a:extLst>
          </p:cNvPr>
          <p:cNvSpPr txBox="1"/>
          <p:nvPr/>
        </p:nvSpPr>
        <p:spPr>
          <a:xfrm>
            <a:off x="240549" y="124357"/>
            <a:ext cx="813773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Fator humano na era de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E7313AD-3845-9ACE-8FFB-2297B447C16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0189B-45B3-1A6B-02B3-BFC2FF4832E7}"/>
              </a:ext>
            </a:extLst>
          </p:cNvPr>
          <p:cNvSpPr txBox="1"/>
          <p:nvPr/>
        </p:nvSpPr>
        <p:spPr>
          <a:xfrm>
            <a:off x="453749" y="1145216"/>
            <a:ext cx="3699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IA como ferramenta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Detecção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ameaças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Análise de incidentes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Automatização de tarefas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C2A2F8-79FE-DC06-1B1F-3488ECB27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289" y="2397554"/>
            <a:ext cx="2076009" cy="20760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4602B8-6ED0-8231-07B9-8E9E2E708FA9}"/>
              </a:ext>
            </a:extLst>
          </p:cNvPr>
          <p:cNvSpPr txBox="1"/>
          <p:nvPr/>
        </p:nvSpPr>
        <p:spPr>
          <a:xfrm>
            <a:off x="4210383" y="2896949"/>
            <a:ext cx="3887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Papel dos humanos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Configuração e treinamento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Interpretação de resultados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Gerenciamento de risco</a:t>
            </a:r>
          </a:p>
        </p:txBody>
      </p:sp>
    </p:spTree>
    <p:extLst>
      <p:ext uri="{BB962C8B-B14F-4D97-AF65-F5344CB8AC3E}">
        <p14:creationId xmlns:p14="http://schemas.microsoft.com/office/powerpoint/2010/main" val="115029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53F3CB98-59BD-50AF-C7D3-65FA5E24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E6EC055-BE0F-4AA1-DA6B-1CADED230726}"/>
              </a:ext>
            </a:extLst>
          </p:cNvPr>
          <p:cNvSpPr txBox="1"/>
          <p:nvPr/>
        </p:nvSpPr>
        <p:spPr>
          <a:xfrm>
            <a:off x="240549" y="124357"/>
            <a:ext cx="813773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Desafios e Oportunidades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D10D71E-DF81-459C-33C8-7F192741741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B720B087-2633-9F02-0DCF-C36F48BF0DD4}"/>
              </a:ext>
            </a:extLst>
          </p:cNvPr>
          <p:cNvGrpSpPr/>
          <p:nvPr/>
        </p:nvGrpSpPr>
        <p:grpSpPr>
          <a:xfrm>
            <a:off x="1145609" y="1385791"/>
            <a:ext cx="3104817" cy="1781156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42A4FACA-2CEC-A855-16E4-76BE6BE4337C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4D31B64F-1A3D-D056-7E8E-72169EBF2BB3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06EBFEF-159D-5743-DA3A-294402F3AEFF}"/>
              </a:ext>
            </a:extLst>
          </p:cNvPr>
          <p:cNvSpPr txBox="1"/>
          <p:nvPr/>
        </p:nvSpPr>
        <p:spPr>
          <a:xfrm>
            <a:off x="2116430" y="1385791"/>
            <a:ext cx="1163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Desafios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32BCA-E4B4-B88F-91ED-D3BFDEBB3F76}"/>
              </a:ext>
            </a:extLst>
          </p:cNvPr>
          <p:cNvSpPr txBox="1"/>
          <p:nvPr/>
        </p:nvSpPr>
        <p:spPr>
          <a:xfrm>
            <a:off x="1508686" y="1959959"/>
            <a:ext cx="2378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Confiança na IA</a:t>
            </a:r>
          </a:p>
        </p:txBody>
      </p:sp>
      <p:grpSp>
        <p:nvGrpSpPr>
          <p:cNvPr id="8" name="Google Shape;109;p14">
            <a:extLst>
              <a:ext uri="{FF2B5EF4-FFF2-40B4-BE49-F238E27FC236}">
                <a16:creationId xmlns:a16="http://schemas.microsoft.com/office/drawing/2014/main" id="{8377AB9B-B30F-3807-A03A-4610305FFF7D}"/>
              </a:ext>
            </a:extLst>
          </p:cNvPr>
          <p:cNvGrpSpPr/>
          <p:nvPr/>
        </p:nvGrpSpPr>
        <p:grpSpPr>
          <a:xfrm>
            <a:off x="4893576" y="1385791"/>
            <a:ext cx="3104817" cy="1781156"/>
            <a:chOff x="527225" y="1006888"/>
            <a:chExt cx="6536100" cy="3409800"/>
          </a:xfrm>
        </p:grpSpPr>
        <p:sp>
          <p:nvSpPr>
            <p:cNvPr id="10" name="Google Shape;110;p14">
              <a:extLst>
                <a:ext uri="{FF2B5EF4-FFF2-40B4-BE49-F238E27FC236}">
                  <a16:creationId xmlns:a16="http://schemas.microsoft.com/office/drawing/2014/main" id="{97775A8E-421F-0FE1-7DE4-A23BB7A79876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1;p14">
              <a:extLst>
                <a:ext uri="{FF2B5EF4-FFF2-40B4-BE49-F238E27FC236}">
                  <a16:creationId xmlns:a16="http://schemas.microsoft.com/office/drawing/2014/main" id="{7D49EF74-DE1C-76D7-D5C2-FC7401CA62F4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1F009D3-98B5-7293-F6CF-C9F77B6AD29B}"/>
              </a:ext>
            </a:extLst>
          </p:cNvPr>
          <p:cNvSpPr txBox="1"/>
          <p:nvPr/>
        </p:nvSpPr>
        <p:spPr>
          <a:xfrm>
            <a:off x="5553009" y="1385114"/>
            <a:ext cx="1785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Oportunidades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20B1F3-0CFD-D11A-3745-00C68D81259A}"/>
              </a:ext>
            </a:extLst>
          </p:cNvPr>
          <p:cNvSpPr txBox="1"/>
          <p:nvPr/>
        </p:nvSpPr>
        <p:spPr>
          <a:xfrm>
            <a:off x="5002042" y="1806975"/>
            <a:ext cx="2930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Melhora da segurança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FF31C8-DBA4-5291-7687-CD112A4DB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1" y="3449802"/>
            <a:ext cx="1058993" cy="1058993"/>
          </a:xfrm>
          <a:prstGeom prst="rect">
            <a:avLst/>
          </a:prstGeom>
        </p:spPr>
      </p:pic>
      <p:pic>
        <p:nvPicPr>
          <p:cNvPr id="1028" name="Picture 4" descr="Ai Ethics Icon - Free Download Science &amp; Technology Icons | IconScout">
            <a:extLst>
              <a:ext uri="{FF2B5EF4-FFF2-40B4-BE49-F238E27FC236}">
                <a16:creationId xmlns:a16="http://schemas.microsoft.com/office/drawing/2014/main" id="{652022A0-2716-76AA-9859-DB6C990C9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18" y="3616454"/>
            <a:ext cx="1058993" cy="105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ponsible ai practices - Free icons">
            <a:extLst>
              <a:ext uri="{FF2B5EF4-FFF2-40B4-BE49-F238E27FC236}">
                <a16:creationId xmlns:a16="http://schemas.microsoft.com/office/drawing/2014/main" id="{D2C4D8AD-46B0-6ED0-99ED-8ADF55D5F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601" y="3204592"/>
            <a:ext cx="1374211" cy="137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tualizar - ícones de grátis">
            <a:extLst>
              <a:ext uri="{FF2B5EF4-FFF2-40B4-BE49-F238E27FC236}">
                <a16:creationId xmlns:a16="http://schemas.microsoft.com/office/drawing/2014/main" id="{698CE982-57FD-BD91-DF88-DBB8B2780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72" y="3404191"/>
            <a:ext cx="975012" cy="97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portunidades de emprego - ícones de negócios e finanças grátis">
            <a:extLst>
              <a:ext uri="{FF2B5EF4-FFF2-40B4-BE49-F238E27FC236}">
                <a16:creationId xmlns:a16="http://schemas.microsoft.com/office/drawing/2014/main" id="{9F6CF1FF-2258-1FF1-4EA6-892D74B45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146" y="3722459"/>
            <a:ext cx="1058994" cy="105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novação - ícones de marketing grátis">
            <a:extLst>
              <a:ext uri="{FF2B5EF4-FFF2-40B4-BE49-F238E27FC236}">
                <a16:creationId xmlns:a16="http://schemas.microsoft.com/office/drawing/2014/main" id="{1F6E6C12-3D65-C942-9DBC-3CAEEFFE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702" y="3404191"/>
            <a:ext cx="1058995" cy="105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5DC8169-3E60-6989-1BB1-5E571FC7FE62}"/>
              </a:ext>
            </a:extLst>
          </p:cNvPr>
          <p:cNvSpPr txBox="1"/>
          <p:nvPr/>
        </p:nvSpPr>
        <p:spPr>
          <a:xfrm>
            <a:off x="1508686" y="2230879"/>
            <a:ext cx="2378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Privacidade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F6E6B5-C9C9-3462-0CDD-33EE6BBFEA22}"/>
              </a:ext>
            </a:extLst>
          </p:cNvPr>
          <p:cNvSpPr txBox="1"/>
          <p:nvPr/>
        </p:nvSpPr>
        <p:spPr>
          <a:xfrm>
            <a:off x="1508683" y="2472008"/>
            <a:ext cx="2378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Ética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E2A0D-11A3-0D76-8FB2-82198CBE5271}"/>
              </a:ext>
            </a:extLst>
          </p:cNvPr>
          <p:cNvSpPr txBox="1"/>
          <p:nvPr/>
        </p:nvSpPr>
        <p:spPr>
          <a:xfrm>
            <a:off x="4980948" y="2071962"/>
            <a:ext cx="2930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Novas oportunidades de carreira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834A21-09C9-E1F2-8AD5-8EAD7A541342}"/>
              </a:ext>
            </a:extLst>
          </p:cNvPr>
          <p:cNvSpPr txBox="1"/>
          <p:nvPr/>
        </p:nvSpPr>
        <p:spPr>
          <a:xfrm>
            <a:off x="5002042" y="2558569"/>
            <a:ext cx="2930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Inovação</a:t>
            </a:r>
          </a:p>
        </p:txBody>
      </p:sp>
    </p:spTree>
    <p:extLst>
      <p:ext uri="{BB962C8B-B14F-4D97-AF65-F5344CB8AC3E}">
        <p14:creationId xmlns:p14="http://schemas.microsoft.com/office/powerpoint/2010/main" val="359045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  <p:bldP spid="14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90" y="1940823"/>
            <a:ext cx="5255943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Ameaças cibernéticas.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Pessoas continuam sendo fundamentais.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 inteligência artificial depende dos humanos para serem conscientes e educadas.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Importante que estejamos sempre atualizados.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A importância do fator humano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2655</TotalTime>
  <Words>340</Words>
  <Application>Microsoft Office PowerPoint</Application>
  <PresentationFormat>On-screen Show (16:9)</PresentationFormat>
  <Paragraphs>66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Ubuntu</vt:lpstr>
      <vt:lpstr>Arial</vt:lpstr>
      <vt:lpstr>Wingdings</vt:lpstr>
      <vt:lpstr>Fira Code</vt:lpstr>
      <vt:lpstr>Ubuntu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317</cp:revision>
  <dcterms:modified xsi:type="dcterms:W3CDTF">2025-02-08T20:53:08Z</dcterms:modified>
</cp:coreProperties>
</file>