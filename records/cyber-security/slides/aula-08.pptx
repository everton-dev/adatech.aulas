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9"/>
  </p:notesMasterIdLst>
  <p:sldIdLst>
    <p:sldId id="256" r:id="rId2"/>
    <p:sldId id="262" r:id="rId3"/>
    <p:sldId id="257" r:id="rId4"/>
    <p:sldId id="315" r:id="rId5"/>
    <p:sldId id="313" r:id="rId6"/>
    <p:sldId id="314" r:id="rId7"/>
    <p:sldId id="316" r:id="rId8"/>
    <p:sldId id="317" r:id="rId9"/>
    <p:sldId id="318" r:id="rId10"/>
    <p:sldId id="319" r:id="rId11"/>
    <p:sldId id="306" r:id="rId12"/>
    <p:sldId id="320" r:id="rId13"/>
    <p:sldId id="310" r:id="rId14"/>
    <p:sldId id="311" r:id="rId15"/>
    <p:sldId id="321" r:id="rId16"/>
    <p:sldId id="268" r:id="rId17"/>
    <p:sldId id="261" r:id="rId18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20"/>
      <p:bold r:id="rId21"/>
    </p:embeddedFont>
    <p:embeddedFont>
      <p:font typeface="Ubuntu" panose="020B0504030602030204" pitchFamily="34" charset="0"/>
      <p:regular r:id="rId22"/>
      <p:bold r:id="rId23"/>
      <p:italic r:id="rId24"/>
      <p:boldItalic r:id="rId25"/>
    </p:embeddedFont>
    <p:embeddedFont>
      <p:font typeface="Ubuntu Light" panose="020B0304030602030204" pitchFamily="34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62B914D-36F6-8EF8-8410-E42FCEEE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4542A71-BD7B-1E75-B19D-207C738BF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E4202B9-358B-FF35-99A6-2B87053BA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52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5222659-1299-510B-6053-1603D9F0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15054DF-3505-38C3-9AFA-BCA04A018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66FD6C6-FEC8-75DC-3498-087183059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840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BA9FAEF-D0FB-E52E-D903-6456F319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C228BA0-6B55-647D-999A-99600DAA6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6B033C4-8797-79CF-3E97-AF0C1824B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32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86D82FCA-871D-810A-1227-6D1A833F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4619DD96-7CDB-023F-85B0-7D11226F2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7898A74-6CC0-F66A-A591-75CDE1DAA5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410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1F56F36-BECB-1189-404F-5FCA8760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155B785-30F2-7C4D-36E0-59F86C9EB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986881C-5A0E-815A-22E2-DBACF6754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24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2A01E10-73B6-75BB-4C57-93505058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690920D-8683-B7FF-234D-B1368D911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5990A35-CEBE-C707-E52B-B6CA2ADEB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45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2C23821-351D-F8ED-AF88-67E471F1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EA2454C-5004-0CFD-D29B-C6D8E99BC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73C5F79-57C6-A6B6-C202-E05A48469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1736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87B4DDA-CB4E-1FB5-1B2A-75CF0DC1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7FE4B24-EFDB-2C82-CF4F-1C0660DD35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0AABDAE-0C9D-27C4-5535-3CF42C68D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663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B3EAE90D-AA2A-7042-9048-58E748DA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1273C8C-BDE5-4E44-8FE1-8B73B2035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317FF0B-85FA-6DB7-41AF-8114AF146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578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666BA9E-F2F4-9097-C54B-CF96F84C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7ACCACA-9C17-0B79-BDBE-CDAC9C36D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0D9565D-2610-877C-D981-B5D8875E1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348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446AE6AB-ED3F-8CCB-EAD1-716D7D83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6E9ED9B-8A75-9AC8-2B60-78E00693C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6A38F68-F9CA-CC12-DDC0-D7C91DE47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827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F93EB33-4972-D2CF-F211-3ADECDAC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7BFA98A-E09B-8DFD-6B7B-3FA0C154A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8E261BD-936C-20F1-6B99-B7BF58F0C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860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415668" y="3731617"/>
            <a:ext cx="2806586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08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Simulando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phishing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!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Alisando um cenário de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se previr de ser vítima.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Ataque de engenharia social –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?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8" y="833709"/>
            <a:ext cx="491131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Ataque cibernético.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 e-mails, mensagens de texto, telefones ou sites fraudulentos.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Engana as pessoas a compartilhar dados confidenciais.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2422150"/>
            <a:ext cx="49113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Engenharia social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Erros humanos.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Histórias falsas.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Pressão para manipular as vitimas.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A2EBA-EF77-54BE-A087-D73337A2F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654" y="988277"/>
            <a:ext cx="3166946" cy="3166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90D8EE-EECE-F810-213B-0ED8381FC64A}"/>
              </a:ext>
            </a:extLst>
          </p:cNvPr>
          <p:cNvSpPr txBox="1"/>
          <p:nvPr/>
        </p:nvSpPr>
        <p:spPr>
          <a:xfrm>
            <a:off x="240548" y="3540989"/>
            <a:ext cx="53647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Preste atenção nos sinais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Emoções fortes e táticas de pressão.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Solicitação de dinheiro ou informações confidenciais.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Erro de ortografia e gramatica.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Mensagens genéricas.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URLs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endereços de e-mail falsos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B680483-8094-7C23-BDD1-AFA7A3FD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208F3AF-2638-C5BE-9A0A-57136F572729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Alisando um cenário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– Email recebido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E52861B-BBFE-E7E6-62C2-47E2B56C10D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50133-9574-6A90-07D6-F41A8A39F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07" y="661040"/>
            <a:ext cx="8095785" cy="4402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FC61CD-FD36-2768-D290-3FC79C172664}"/>
              </a:ext>
            </a:extLst>
          </p:cNvPr>
          <p:cNvSpPr txBox="1"/>
          <p:nvPr/>
        </p:nvSpPr>
        <p:spPr>
          <a:xfrm>
            <a:off x="2271131" y="1340909"/>
            <a:ext cx="42151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dirty="0"/>
              <a:t>Empresa Support </a:t>
            </a:r>
            <a:r>
              <a:rPr lang="pt-PT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&lt;support@suport.com&gt;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68EE88-C162-D344-78D8-D92BCBF04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135" y="683343"/>
            <a:ext cx="640080" cy="101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D40C21-DA3C-3CF3-5E67-A2811C4BCD1B}"/>
              </a:ext>
            </a:extLst>
          </p:cNvPr>
          <p:cNvSpPr txBox="1"/>
          <p:nvPr/>
        </p:nvSpPr>
        <p:spPr>
          <a:xfrm>
            <a:off x="1287980" y="648860"/>
            <a:ext cx="81144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500" dirty="0">
                <a:solidFill>
                  <a:schemeClr val="bg1">
                    <a:lumMod val="65000"/>
                  </a:schemeClr>
                </a:solidFill>
              </a:rPr>
              <a:t>everton@support.com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A6B99F5B-25B5-03F2-F669-A92B4273C4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7372" y="3587148"/>
            <a:ext cx="314090" cy="3140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BC8914-168E-7026-2A6F-2C5AD8CD2AC8}"/>
              </a:ext>
            </a:extLst>
          </p:cNvPr>
          <p:cNvSpPr/>
          <p:nvPr/>
        </p:nvSpPr>
        <p:spPr>
          <a:xfrm>
            <a:off x="3226420" y="1340909"/>
            <a:ext cx="1196897" cy="2154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F6895-0021-64C4-138A-B9D818BB7F9F}"/>
              </a:ext>
            </a:extLst>
          </p:cNvPr>
          <p:cNvSpPr/>
          <p:nvPr/>
        </p:nvSpPr>
        <p:spPr>
          <a:xfrm>
            <a:off x="2691161" y="3070302"/>
            <a:ext cx="542693" cy="1263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B770B-2211-B110-E7CB-3A5D2D6734B6}"/>
              </a:ext>
            </a:extLst>
          </p:cNvPr>
          <p:cNvSpPr/>
          <p:nvPr/>
        </p:nvSpPr>
        <p:spPr>
          <a:xfrm>
            <a:off x="2914186" y="4081346"/>
            <a:ext cx="386575" cy="1263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FE997A-AF4E-CF1D-9951-CCF1E358E3DC}"/>
              </a:ext>
            </a:extLst>
          </p:cNvPr>
          <p:cNvSpPr txBox="1"/>
          <p:nvPr/>
        </p:nvSpPr>
        <p:spPr>
          <a:xfrm>
            <a:off x="4423317" y="1303818"/>
            <a:ext cx="1563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b="1" dirty="0">
                <a:solidFill>
                  <a:srgbClr val="C00000"/>
                </a:solidFill>
              </a:rPr>
              <a:t>Domínio incorreto!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AA33F6-EFBA-859A-22AB-809268D9FCAD}"/>
              </a:ext>
            </a:extLst>
          </p:cNvPr>
          <p:cNvSpPr txBox="1"/>
          <p:nvPr/>
        </p:nvSpPr>
        <p:spPr>
          <a:xfrm>
            <a:off x="2271131" y="3500515"/>
            <a:ext cx="1612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b="1" dirty="0">
                <a:solidFill>
                  <a:srgbClr val="C00000"/>
                </a:solidFill>
              </a:rPr>
              <a:t>Erros de ortografia </a:t>
            </a:r>
          </a:p>
        </p:txBody>
      </p:sp>
    </p:spTree>
    <p:extLst>
      <p:ext uri="{BB962C8B-B14F-4D97-AF65-F5344CB8AC3E}">
        <p14:creationId xmlns:p14="http://schemas.microsoft.com/office/powerpoint/2010/main" val="32289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3E71652-A2A1-DC6C-6F7A-25D5277E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3DEF3F7-46CE-60DD-D176-7F532ABB91EC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Alisando um cenário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– Link clicado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4A18390-90F9-8062-47D0-37DF47555844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pic>
        <p:nvPicPr>
          <p:cNvPr id="1032" name="Picture 8" descr="Arc Browser, uma nova experiência de navegação na internet - MacMagazine">
            <a:extLst>
              <a:ext uri="{FF2B5EF4-FFF2-40B4-BE49-F238E27FC236}">
                <a16:creationId xmlns:a16="http://schemas.microsoft.com/office/drawing/2014/main" id="{63861035-32EE-3637-2B6B-E5AC276AA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2" y="324396"/>
            <a:ext cx="7340755" cy="478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453E71-15EB-C55A-3A49-82F7D401E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89" y="961331"/>
            <a:ext cx="5835804" cy="3654146"/>
          </a:xfrm>
          <a:prstGeom prst="rect">
            <a:avLst/>
          </a:prstGeom>
        </p:spPr>
      </p:pic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DAB5918B-9FBF-EFAF-DA37-6A396912E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2709" y="3623681"/>
            <a:ext cx="314090" cy="314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B67EA8-27F8-0218-579C-FD020330E7C0}"/>
              </a:ext>
            </a:extLst>
          </p:cNvPr>
          <p:cNvSpPr txBox="1"/>
          <p:nvPr/>
        </p:nvSpPr>
        <p:spPr>
          <a:xfrm>
            <a:off x="6799855" y="961331"/>
            <a:ext cx="22846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roubados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Site dentro do padrão visual da empresa.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Aparentemente profissional.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Roubo das credencias.</a:t>
            </a:r>
          </a:p>
        </p:txBody>
      </p:sp>
    </p:spTree>
    <p:extLst>
      <p:ext uri="{BB962C8B-B14F-4D97-AF65-F5344CB8AC3E}">
        <p14:creationId xmlns:p14="http://schemas.microsoft.com/office/powerpoint/2010/main" val="366896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2C7A8DF-3F23-A74E-23AC-FB05C393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9050427-719E-5E8F-2722-F639F8522BDB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Alisando um cenário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– Dados enviado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36D705B-9755-1E9D-F6F4-1098C0021E6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pic>
        <p:nvPicPr>
          <p:cNvPr id="1032" name="Picture 8" descr="Arc Browser, uma nova experiência de navegação na internet - MacMagazine">
            <a:extLst>
              <a:ext uri="{FF2B5EF4-FFF2-40B4-BE49-F238E27FC236}">
                <a16:creationId xmlns:a16="http://schemas.microsoft.com/office/drawing/2014/main" id="{401A07A2-A379-1AAD-9372-D398CE49B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77" y="324396"/>
            <a:ext cx="7340755" cy="478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AE909A-2D99-62A1-DC90-D6613E1DF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092" y="968804"/>
            <a:ext cx="5843240" cy="3666919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DCCC68CA-2052-039C-B8E1-7C6A1348F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8962" y="3504735"/>
            <a:ext cx="314090" cy="3140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964B27-8DDB-816D-73B2-5F00B637F927}"/>
              </a:ext>
            </a:extLst>
          </p:cNvPr>
          <p:cNvSpPr/>
          <p:nvPr/>
        </p:nvSpPr>
        <p:spPr>
          <a:xfrm>
            <a:off x="2014654" y="1918010"/>
            <a:ext cx="2802673" cy="19008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835A2-1DE3-C82D-A28C-4E356A59223F}"/>
              </a:ext>
            </a:extLst>
          </p:cNvPr>
          <p:cNvSpPr txBox="1"/>
          <p:nvPr/>
        </p:nvSpPr>
        <p:spPr>
          <a:xfrm>
            <a:off x="4899102" y="2456510"/>
            <a:ext cx="2230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C00000"/>
                </a:solidFill>
              </a:rPr>
              <a:t>Dados enviados para o agressor!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636BF-6996-EBD7-6C8C-84F27D043A41}"/>
              </a:ext>
            </a:extLst>
          </p:cNvPr>
          <p:cNvSpPr/>
          <p:nvPr/>
        </p:nvSpPr>
        <p:spPr>
          <a:xfrm>
            <a:off x="2706029" y="4140820"/>
            <a:ext cx="1412488" cy="1784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65244-F899-1B4B-5365-DAA58D291516}"/>
              </a:ext>
            </a:extLst>
          </p:cNvPr>
          <p:cNvSpPr txBox="1"/>
          <p:nvPr/>
        </p:nvSpPr>
        <p:spPr>
          <a:xfrm>
            <a:off x="5010615" y="3424098"/>
            <a:ext cx="2230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C00000"/>
                </a:solidFill>
              </a:rPr>
              <a:t>Pressão emocional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549067-8F3A-4768-2C1A-295D2657A3A4}"/>
              </a:ext>
            </a:extLst>
          </p:cNvPr>
          <p:cNvCxnSpPr>
            <a:stCxn id="8" idx="3"/>
          </p:cNvCxnSpPr>
          <p:nvPr/>
        </p:nvCxnSpPr>
        <p:spPr>
          <a:xfrm flipV="1">
            <a:off x="4118517" y="3661780"/>
            <a:ext cx="973873" cy="5682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A4DB64-10E8-9ED4-0E28-A5B6399A6FA5}"/>
              </a:ext>
            </a:extLst>
          </p:cNvPr>
          <p:cNvSpPr txBox="1"/>
          <p:nvPr/>
        </p:nvSpPr>
        <p:spPr>
          <a:xfrm>
            <a:off x="4966009" y="3968419"/>
            <a:ext cx="2230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C00000"/>
                </a:solidFill>
              </a:rPr>
              <a:t>Ao clicar neste botão o </a:t>
            </a:r>
            <a:r>
              <a:rPr lang="pt-PT" b="1" dirty="0" err="1">
                <a:solidFill>
                  <a:srgbClr val="C00000"/>
                </a:solidFill>
              </a:rPr>
              <a:t>malware</a:t>
            </a:r>
            <a:r>
              <a:rPr lang="pt-PT" b="1" dirty="0">
                <a:solidFill>
                  <a:srgbClr val="C00000"/>
                </a:solidFill>
              </a:rPr>
              <a:t> será instalado!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51B72D-5771-D943-3408-355FC0E2C5F0}"/>
              </a:ext>
            </a:extLst>
          </p:cNvPr>
          <p:cNvCxnSpPr>
            <a:endCxn id="12" idx="1"/>
          </p:cNvCxnSpPr>
          <p:nvPr/>
        </p:nvCxnSpPr>
        <p:spPr>
          <a:xfrm flipV="1">
            <a:off x="3783052" y="4230029"/>
            <a:ext cx="1182957" cy="1838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8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BD65B9-7F61-A669-C2F7-C2C22778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F02F78A-7E35-E13F-C8B7-2C23DCF98D7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Alisando um cenário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– Resultado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187ABA6-5FD4-36CE-4F16-F67E525B871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pic>
        <p:nvPicPr>
          <p:cNvPr id="1032" name="Picture 8" descr="Arc Browser, uma nova experiência de navegação na internet - MacMagazine">
            <a:extLst>
              <a:ext uri="{FF2B5EF4-FFF2-40B4-BE49-F238E27FC236}">
                <a16:creationId xmlns:a16="http://schemas.microsoft.com/office/drawing/2014/main" id="{4204DA2F-B13A-D4BF-6F05-7FB231FE5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585" y="324396"/>
            <a:ext cx="7340755" cy="478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C77D43C4-2CA9-01AF-391C-60B74DED8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8962" y="3504735"/>
            <a:ext cx="314090" cy="3140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0A9507-8FE1-4F2F-B922-622147001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0433" y="968961"/>
            <a:ext cx="5835807" cy="36983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DF2C37-5F43-08B2-0739-CCD91E0DCC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549" y="737984"/>
            <a:ext cx="1649450" cy="1649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7E418-083E-4A8F-B048-14DCE3B9B685}"/>
              </a:ext>
            </a:extLst>
          </p:cNvPr>
          <p:cNvSpPr txBox="1"/>
          <p:nvPr/>
        </p:nvSpPr>
        <p:spPr>
          <a:xfrm>
            <a:off x="41358" y="2619731"/>
            <a:ext cx="22846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Campanha do hacker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Conseguiu dados sensíveis da empresa e dos colaboradores.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Instalou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malware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Centralizou tudo em uma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388869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BC573B8-9F24-FFA0-AFD5-5B0C265E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92A832B-A7F7-706A-D52D-CF59567B8508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Alisando um cenário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– Feedback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724105B-A1C1-866A-0B9F-FE479B7D0EB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1C9C95-DAAA-2FE0-9A37-5F90C73C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194" y="815659"/>
            <a:ext cx="1649450" cy="1649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0F4F24-587F-9F8A-DFFE-C39819DC02A1}"/>
              </a:ext>
            </a:extLst>
          </p:cNvPr>
          <p:cNvSpPr txBox="1"/>
          <p:nvPr/>
        </p:nvSpPr>
        <p:spPr>
          <a:xfrm>
            <a:off x="187579" y="971312"/>
            <a:ext cx="47412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Dicas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Sempre que receber uma mensagem DESCONFIE.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Verifique o remetente.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Preste atenção a erros de ortografia e concordância.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Desconfie de mensagens urgentes.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Passe o mouse em cima de links para conferir o endereço real.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D1B29-B1A1-F88E-EEA4-5D70F8FB8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62" y="3001600"/>
            <a:ext cx="3606491" cy="1794244"/>
          </a:xfrm>
          <a:prstGeom prst="rect">
            <a:avLst/>
          </a:prstGeom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6327990D-2B0C-CEE4-7550-B1A311517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3372" y="3214803"/>
            <a:ext cx="314090" cy="31409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1CD1C6-4EBB-62FE-5246-19E3068AE793}"/>
              </a:ext>
            </a:extLst>
          </p:cNvPr>
          <p:cNvCxnSpPr/>
          <p:nvPr/>
        </p:nvCxnSpPr>
        <p:spPr>
          <a:xfrm flipH="1">
            <a:off x="1628078" y="3293327"/>
            <a:ext cx="1449659" cy="13604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93E38EF-B4B8-73BC-7C89-63050B07C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0124" y="2571750"/>
            <a:ext cx="4376297" cy="238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2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78A77451-3DA9-CBBF-6E90-0FF9B595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42DCABB-97F3-7A08-38B4-F9AF5708528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Outros cenários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A81DF01-E5E4-833E-AB57-C1AF8F5A9B7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4A3FF-B189-B310-0699-DDD223A2A3FD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Bank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of</a:t>
            </a: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America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050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285BC6B-206A-A28B-8B20-53670DFAA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58" y="1182365"/>
            <a:ext cx="7714088" cy="366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2D881E-16DD-F16E-9C52-77B9449988D6}"/>
              </a:ext>
            </a:extLst>
          </p:cNvPr>
          <p:cNvSpPr/>
          <p:nvPr/>
        </p:nvSpPr>
        <p:spPr>
          <a:xfrm>
            <a:off x="1761893" y="1590907"/>
            <a:ext cx="2326887" cy="1709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C127B-687F-DD94-4ACB-41B026253A12}"/>
              </a:ext>
            </a:extLst>
          </p:cNvPr>
          <p:cNvSpPr txBox="1"/>
          <p:nvPr/>
        </p:nvSpPr>
        <p:spPr>
          <a:xfrm>
            <a:off x="2222809" y="1884118"/>
            <a:ext cx="416812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C00000"/>
                </a:solidFill>
              </a:rPr>
              <a:t>E-mail não é da DHL e muito menos do Banco da América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43DD8A-83B6-6B15-D019-5D8C57493E94}"/>
              </a:ext>
            </a:extLst>
          </p:cNvPr>
          <p:cNvCxnSpPr/>
          <p:nvPr/>
        </p:nvCxnSpPr>
        <p:spPr>
          <a:xfrm>
            <a:off x="3070302" y="1761893"/>
            <a:ext cx="289932" cy="12222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04642-069B-90AD-6F6A-4911ED7C03AB}"/>
              </a:ext>
            </a:extLst>
          </p:cNvPr>
          <p:cNvSpPr/>
          <p:nvPr/>
        </p:nvSpPr>
        <p:spPr>
          <a:xfrm>
            <a:off x="359395" y="2274849"/>
            <a:ext cx="740860" cy="1726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AFFF8-6A5F-9632-92D1-751B8732865E}"/>
              </a:ext>
            </a:extLst>
          </p:cNvPr>
          <p:cNvSpPr txBox="1"/>
          <p:nvPr/>
        </p:nvSpPr>
        <p:spPr>
          <a:xfrm>
            <a:off x="1401341" y="2218669"/>
            <a:ext cx="3903633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C00000"/>
                </a:solidFill>
              </a:rPr>
              <a:t>Parece ser um e-mail sem destinatário, muito genérico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B2728D-0790-A030-E225-414C8039DDA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1100255" y="2357169"/>
            <a:ext cx="301086" cy="3991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99A97E2-DEBD-355F-ABB3-234E211B99F5}"/>
              </a:ext>
            </a:extLst>
          </p:cNvPr>
          <p:cNvSpPr/>
          <p:nvPr/>
        </p:nvSpPr>
        <p:spPr>
          <a:xfrm>
            <a:off x="350120" y="2553220"/>
            <a:ext cx="3738660" cy="1529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E5EDDE-4A5B-F56F-FC88-70E8D5444AAA}"/>
              </a:ext>
            </a:extLst>
          </p:cNvPr>
          <p:cNvSpPr txBox="1"/>
          <p:nvPr/>
        </p:nvSpPr>
        <p:spPr>
          <a:xfrm>
            <a:off x="2619894" y="3058921"/>
            <a:ext cx="4003929" cy="46166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C00000"/>
                </a:solidFill>
              </a:rPr>
              <a:t>Pedido para ligar imediatamente, possível tentativa de recolha de informações pessoais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84C14F-4115-B93E-BF41-02EC12CCF00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658529" y="2706176"/>
            <a:ext cx="961365" cy="583578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444F9B5-9F08-58CC-BFED-A05F782AAADB}"/>
              </a:ext>
            </a:extLst>
          </p:cNvPr>
          <p:cNvSpPr/>
          <p:nvPr/>
        </p:nvSpPr>
        <p:spPr>
          <a:xfrm>
            <a:off x="4306873" y="3731941"/>
            <a:ext cx="1573537" cy="1708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37BE-ED23-610B-3259-AF023DA21E8E}"/>
              </a:ext>
            </a:extLst>
          </p:cNvPr>
          <p:cNvSpPr txBox="1"/>
          <p:nvPr/>
        </p:nvSpPr>
        <p:spPr>
          <a:xfrm>
            <a:off x="3360234" y="4141391"/>
            <a:ext cx="432842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C00000"/>
                </a:solidFill>
              </a:rPr>
              <a:t>E-mail de domínio publico, não é um e-mail do domínio DHL.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C58472-C28F-8FD9-5047-673C2106926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018049" y="3902775"/>
            <a:ext cx="506400" cy="238616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99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5" grpId="0" animBg="1"/>
      <p:bldP spid="12" grpId="0" animBg="1"/>
      <p:bldP spid="14" grpId="0" animBg="1"/>
      <p:bldP spid="19" grpId="0" animBg="1"/>
      <p:bldP spid="20" grpId="0" animBg="1"/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FD043ADD-C8D0-3C72-B604-F33747BC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63E1F61-39EC-890C-4BFA-C574C7FF2848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Outros cenários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A822261-6A5D-E461-C754-043AEF9E534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30D443-9A3F-0A72-626F-2B477F9DC2E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Zendesk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6146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76FA74A-8ADA-9EBD-286D-305D8B5B3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38" y="1182365"/>
            <a:ext cx="8512832" cy="362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8096F3-6E89-415A-808A-FD412CB78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410" y="1707321"/>
            <a:ext cx="1322813" cy="1322813"/>
          </a:xfrm>
          <a:prstGeom prst="rect">
            <a:avLst/>
          </a:prstGeom>
        </p:spPr>
      </p:pic>
      <p:pic>
        <p:nvPicPr>
          <p:cNvPr id="6150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6696728-B8EC-4C06-5C8C-F16E7272C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709" y="1318969"/>
            <a:ext cx="3238500" cy="190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898CA31C-D086-0320-4A7E-EAD5B9DCD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5320" y="2327972"/>
            <a:ext cx="314090" cy="3140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D74B8E-3F7E-5C9C-32E0-02F51FABAD76}"/>
              </a:ext>
            </a:extLst>
          </p:cNvPr>
          <p:cNvCxnSpPr>
            <a:endCxn id="6150" idx="1"/>
          </p:cNvCxnSpPr>
          <p:nvPr/>
        </p:nvCxnSpPr>
        <p:spPr>
          <a:xfrm>
            <a:off x="2282283" y="2041480"/>
            <a:ext cx="802426" cy="229989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91FAFB-BC68-B32A-498D-FFB52B55E66A}"/>
              </a:ext>
            </a:extLst>
          </p:cNvPr>
          <p:cNvSpPr txBox="1"/>
          <p:nvPr/>
        </p:nvSpPr>
        <p:spPr>
          <a:xfrm>
            <a:off x="2581089" y="3553116"/>
            <a:ext cx="4003929" cy="46166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rgbClr val="C00000"/>
                </a:solidFill>
              </a:rPr>
              <a:t>Ao passar o mouse em cima do link, identificamos que o domínio não condiz com o da </a:t>
            </a:r>
            <a:r>
              <a:rPr lang="pt-PT" sz="1200" dirty="0" err="1">
                <a:solidFill>
                  <a:srgbClr val="C00000"/>
                </a:solidFill>
              </a:rPr>
              <a:t>Zendesk</a:t>
            </a:r>
            <a:r>
              <a:rPr lang="pt-PT" sz="1200" dirty="0">
                <a:solidFill>
                  <a:srgbClr val="C00000"/>
                </a:solidFill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542F73-3535-346A-A6DF-6B31C54C9BB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791415" y="3285893"/>
            <a:ext cx="791639" cy="267223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08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5534571-872F-6B2B-1235-5A94A2E7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FBEF864-D70D-D8E6-104A-BF50D6267CF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Ataque de Engenharia Social -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728C1BD-A423-33B0-0EE8-BB79FC7903C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124B0-E92F-AE31-C4C5-06F6455120E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Cenário do ataque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75C5478-FC3B-42D1-4C52-AB8658166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043" y="1242432"/>
            <a:ext cx="59817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BEA674-0ABD-6829-2090-3917854F06AC}"/>
              </a:ext>
            </a:extLst>
          </p:cNvPr>
          <p:cNvSpPr txBox="1"/>
          <p:nvPr/>
        </p:nvSpPr>
        <p:spPr>
          <a:xfrm>
            <a:off x="234257" y="2571750"/>
            <a:ext cx="363264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Descrição do cenário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Logo legitimo da Microsoft.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Urgência do e-mail.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Ana clica no link.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Insere seu nome de usuário e senha na página falsa.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Atacante agora tem posse das credenciais de acesso da Ana.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98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C55A2F8-F655-B3D3-8FDC-9F782B72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F9C27A7-1424-0A84-7462-092699A7255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Ataque de Engenharia Social -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C40B5E0-6F03-4078-9032-F9AE325ACBC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A7489-0DD6-9A18-B5B3-B34E3AC26F4A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Ações do atacante</a:t>
            </a: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59766867-6C4F-7B25-BDCB-2605DA0F04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72135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CBBB6-BD69-1BF2-04A9-93C3468D041A}"/>
              </a:ext>
            </a:extLst>
          </p:cNvPr>
          <p:cNvSpPr txBox="1"/>
          <p:nvPr/>
        </p:nvSpPr>
        <p:spPr>
          <a:xfrm>
            <a:off x="691965" y="1765244"/>
            <a:ext cx="26563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Criação de e-mail falso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Domínio micr0soft.com.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Logotipo e design para transferir autenticidade</a:t>
            </a:r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EEDC2D35-1736-CAE9-EB38-A0B5053887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316334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AE6E-446E-BB25-27BE-C3B116A2CDB6}"/>
              </a:ext>
            </a:extLst>
          </p:cNvPr>
          <p:cNvSpPr txBox="1"/>
          <p:nvPr/>
        </p:nvSpPr>
        <p:spPr>
          <a:xfrm>
            <a:off x="744003" y="3147762"/>
            <a:ext cx="2656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Geração de urgência ou medo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Frase “atividade suspeita”.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Induz ação rápida</a:t>
            </a:r>
          </a:p>
        </p:txBody>
      </p:sp>
      <p:pic>
        <p:nvPicPr>
          <p:cNvPr id="8" name="Google Shape;66;p14">
            <a:extLst>
              <a:ext uri="{FF2B5EF4-FFF2-40B4-BE49-F238E27FC236}">
                <a16:creationId xmlns:a16="http://schemas.microsoft.com/office/drawing/2014/main" id="{09E54F7E-FD1F-AB1F-BD4E-18273737E8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434" y="168490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295F82-D6ED-DFD7-4083-487C09A5B5D3}"/>
              </a:ext>
            </a:extLst>
          </p:cNvPr>
          <p:cNvSpPr txBox="1"/>
          <p:nvPr/>
        </p:nvSpPr>
        <p:spPr>
          <a:xfrm>
            <a:off x="6111888" y="1721357"/>
            <a:ext cx="2656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Redirecionamento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para páginas falsas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Simula página oficial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Coletada dados sensíveis</a:t>
            </a:r>
          </a:p>
        </p:txBody>
      </p:sp>
      <p:pic>
        <p:nvPicPr>
          <p:cNvPr id="10" name="Google Shape;66;p14">
            <a:extLst>
              <a:ext uri="{FF2B5EF4-FFF2-40B4-BE49-F238E27FC236}">
                <a16:creationId xmlns:a16="http://schemas.microsoft.com/office/drawing/2014/main" id="{04047B1F-19F0-5810-18FB-AE6D1154F9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434" y="3134328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A24108-333D-E35B-CD81-A2789748272C}"/>
              </a:ext>
            </a:extLst>
          </p:cNvPr>
          <p:cNvSpPr txBox="1"/>
          <p:nvPr/>
        </p:nvSpPr>
        <p:spPr>
          <a:xfrm>
            <a:off x="6134190" y="3089007"/>
            <a:ext cx="265632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Exploração dos dados coletados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Acessa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o sistema corporativo.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Envia novos emails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34FBCB-85A1-1E28-0897-73EC6E8ED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219" y="1967578"/>
            <a:ext cx="1759561" cy="17595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A14F62-2074-9DAC-6B95-ECE3330D0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27" y="2436905"/>
            <a:ext cx="542818" cy="5428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B9F023-D154-1227-1151-66AE5C100B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50" y="3940098"/>
            <a:ext cx="400723" cy="4007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332A65-909D-5E11-2F1A-6F196F8857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976" y="2433100"/>
            <a:ext cx="431659" cy="4316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8122D3-C3A8-9DE6-DFE1-4362AD68AE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3138" y="3895494"/>
            <a:ext cx="485283" cy="4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2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40C51B-8B5B-EBCA-3110-160D684EE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4C71D3F-A2F7-844D-0E25-2E1A0AD8695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Como se prevenir de ser vítima?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76AAAA7-9265-8FC6-5089-D6FCBA97966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4AD7C-47B8-4900-1F21-5FDDB8C1D2E6}"/>
              </a:ext>
            </a:extLst>
          </p:cNvPr>
          <p:cNvSpPr txBox="1"/>
          <p:nvPr/>
        </p:nvSpPr>
        <p:spPr>
          <a:xfrm>
            <a:off x="352061" y="781672"/>
            <a:ext cx="374276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Inspecionar o remetente do e-mail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Verifique o e-mail completo do remetente.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Domínios incomuns ou erros sutis indicam fraude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56A0B-F0F0-2358-722A-B2B76AF3CA15}"/>
              </a:ext>
            </a:extLst>
          </p:cNvPr>
          <p:cNvSpPr txBox="1"/>
          <p:nvPr/>
        </p:nvSpPr>
        <p:spPr>
          <a:xfrm>
            <a:off x="352061" y="1906091"/>
            <a:ext cx="38259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Evitar clicar em links diretamente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Passe o mouse sobre o link.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Prefira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acessar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o site oficial digitando o endereço no navegador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562D4-C817-A3CD-E33E-8B39F1D63C64}"/>
              </a:ext>
            </a:extLst>
          </p:cNvPr>
          <p:cNvSpPr txBox="1"/>
          <p:nvPr/>
        </p:nvSpPr>
        <p:spPr>
          <a:xfrm>
            <a:off x="344628" y="2962342"/>
            <a:ext cx="36400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Mensagens com urgência extrema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Desconfie.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Táticas padrões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C26407-8CEB-2133-A0AC-5AB8FE840DD5}"/>
              </a:ext>
            </a:extLst>
          </p:cNvPr>
          <p:cNvSpPr txBox="1"/>
          <p:nvPr/>
        </p:nvSpPr>
        <p:spPr>
          <a:xfrm>
            <a:off x="352061" y="3988402"/>
            <a:ext cx="44485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Usar autenticação em dois fatores (2FA)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Mesmo que o atacante obtenha credenciais, o 2FA impede acessos não autorizados.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2E89B1-08DB-EDF5-757A-CAF0A447C17C}"/>
              </a:ext>
            </a:extLst>
          </p:cNvPr>
          <p:cNvSpPr txBox="1"/>
          <p:nvPr/>
        </p:nvSpPr>
        <p:spPr>
          <a:xfrm>
            <a:off x="5225145" y="2051572"/>
            <a:ext cx="28111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Educar-se sobre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phishing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Treinamento.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Informação.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418B7B-0E8F-82C6-16D7-6A36B4D1D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824" y="851369"/>
            <a:ext cx="705779" cy="705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AC2E78-D972-D1E3-5CF0-1B60D9355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110" y="2037237"/>
            <a:ext cx="705779" cy="7057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C61E4A-35E7-FF75-44F1-3BD4D18B1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08" y="2955690"/>
            <a:ext cx="710631" cy="710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0515BB-B19A-F256-04FB-F3854BF2D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3" y="3865445"/>
            <a:ext cx="1107688" cy="11076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A0D361-1A11-B5C2-CC3E-657F39763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2031" y="2088347"/>
            <a:ext cx="617034" cy="6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9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  <p:bldP spid="17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CE485FB-C758-8140-A3F3-687031C9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48C63B7-6AFC-AB78-E46A-315B2984C03D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Contramedidas para evitar golpes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DD26E8E-CA7B-CAB8-27C8-33B000B4AD4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C4E6C-5B17-A9A5-DF34-19D3983EF6AB}"/>
              </a:ext>
            </a:extLst>
          </p:cNvPr>
          <p:cNvSpPr txBox="1"/>
          <p:nvPr/>
        </p:nvSpPr>
        <p:spPr>
          <a:xfrm>
            <a:off x="352061" y="2250771"/>
            <a:ext cx="54465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Politicas de conscientização corporativa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Realize simulações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phising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Divulgue alertas sobre ataques recentes relacionados à sua organização.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567BC-7AB9-D693-118F-6FA6A9898BB7}"/>
              </a:ext>
            </a:extLst>
          </p:cNvPr>
          <p:cNvSpPr txBox="1"/>
          <p:nvPr/>
        </p:nvSpPr>
        <p:spPr>
          <a:xfrm>
            <a:off x="426402" y="913254"/>
            <a:ext cx="53722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Ferramentas de segurança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Utilize filtros de spam e soluções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detecção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phishing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em sistemas de e-mail.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Implante softwares de segurança que analisem links e anexo.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C9E92F-E877-D280-FA57-A13E85F4EB77}"/>
              </a:ext>
            </a:extLst>
          </p:cNvPr>
          <p:cNvSpPr txBox="1"/>
          <p:nvPr/>
        </p:nvSpPr>
        <p:spPr>
          <a:xfrm>
            <a:off x="352061" y="3526729"/>
            <a:ext cx="53722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Monitoramento e resposta rápida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Ative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logs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notificações para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detectar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acessos suspeitos em contas comprometidas.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Revogue imediatamente o acesso de contas identificadas como comprometidas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C621F-3B54-B179-6D3B-C5376CE16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16" y="2158377"/>
            <a:ext cx="861896" cy="861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755937-7C1B-0A1C-690B-F29420549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416" y="780586"/>
            <a:ext cx="1053457" cy="1053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09F781-5856-3F5A-5E3D-22E67B5DE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707" y="2115014"/>
            <a:ext cx="954168" cy="954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C5D6C2-37D9-A67D-FBFD-CB2F9C608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416" y="3344607"/>
            <a:ext cx="1053458" cy="1053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ABBC21-4258-E103-64A1-A78B609B18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8041" y="3394251"/>
            <a:ext cx="954169" cy="954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5D0E8E-A54E-A5C6-D012-FB721C12EA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4237" y="780586"/>
            <a:ext cx="1231107" cy="123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3283301-F6E8-9F8A-AE57-37EE266F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710E762-303C-16D6-EBA5-C4812408AEC9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Ataque de Engenharia Social -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Phising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1F21B6C-6B99-9F84-28DA-018FF4EC379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DCF5A-86BC-5B97-DACB-714C803DBCD0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 de Resposta Consciente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0815E9D-0FA7-C49A-6932-9FAC9B76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8" y="524436"/>
            <a:ext cx="7843024" cy="43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71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1725379"/>
            <a:ext cx="525594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Phishing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Analisamos cenários de ataque </a:t>
            </a: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phishing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Como se proteger.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Simulando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phishing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!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“Eu realmente estou preparado caso eu esteja em um cenário de </a:t>
            </a:r>
            <a:r>
              <a:rPr lang="pt-PT" b="1" i="1" u="sng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phishing</a:t>
            </a: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?”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4643</TotalTime>
  <Words>755</Words>
  <Application>Microsoft Office PowerPoint</Application>
  <PresentationFormat>On-screen Show (16:9)</PresentationFormat>
  <Paragraphs>128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Fira Code</vt:lpstr>
      <vt:lpstr>Arial</vt:lpstr>
      <vt:lpstr>Ubuntu Light</vt:lpstr>
      <vt:lpstr>Ubuntu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408</cp:revision>
  <dcterms:modified xsi:type="dcterms:W3CDTF">2025-02-16T10:37:28Z</dcterms:modified>
</cp:coreProperties>
</file>