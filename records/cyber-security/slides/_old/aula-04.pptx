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0"/>
  </p:notesMasterIdLst>
  <p:sldIdLst>
    <p:sldId id="256" r:id="rId2"/>
    <p:sldId id="262" r:id="rId3"/>
    <p:sldId id="270" r:id="rId4"/>
    <p:sldId id="257" r:id="rId5"/>
    <p:sldId id="269" r:id="rId6"/>
    <p:sldId id="267" r:id="rId7"/>
    <p:sldId id="268" r:id="rId8"/>
    <p:sldId id="261" r:id="rId9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1"/>
      <p:bold r:id="rId12"/>
    </p:embeddedFont>
    <p:embeddedFont>
      <p:font typeface="Fira Code Light" panose="020B0809050000020004" pitchFamily="49" charset="0"/>
      <p:regular r:id="rId13"/>
      <p:bold r:id="rId14"/>
    </p:embeddedFont>
    <p:embeddedFont>
      <p:font typeface="Ubuntu" panose="020B0504030602030204" pitchFamily="34" charset="0"/>
      <p:regular r:id="rId15"/>
      <p:bold r:id="rId16"/>
      <p:italic r:id="rId17"/>
      <p:boldItalic r:id="rId18"/>
    </p:embeddedFont>
    <p:embeddedFont>
      <p:font typeface="Ubuntu Light" panose="020B0304030602030204" pitchFamily="34" charset="0"/>
      <p:regular r:id="rId19"/>
      <p: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F41BCE98-8BFD-923C-DA87-D0E07C2D8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E47DA5CC-5B27-F6DD-F34F-41E319CDA0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30F57833-BE6A-D3D9-4212-340D0D35B4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3230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C5D9B170-1F10-ABF6-A217-343C7CDC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24F0E4B2-18EF-00E9-1636-EB042D87DB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B35D4077-4969-AAB3-22BE-34F9F14720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8371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PT"/>
              <a:t>Os bancos de dados na nuvem são particularmente úteis em cenários de e-commerce e aplicativos móveis. Eles permitem que as empresas armazenem dados de produtos, clientes e usuários de forma eficiente e segura, o que é essencial para o sucesso nesses mercados altamente competitivos.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capa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 rotWithShape="1">
          <a:blip r:embed="rId2">
            <a:alphaModFix/>
          </a:blip>
          <a:srcRect t="10223" b="10215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00" y="780750"/>
            <a:ext cx="2012820" cy="124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3843454" y="3731617"/>
            <a:ext cx="5374888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04 | </a:t>
            </a:r>
            <a:r>
              <a:rPr lang="pt-PT" sz="1500" dirty="0">
                <a:solidFill>
                  <a:schemeClr val="lt1"/>
                </a:solidFill>
                <a:ea typeface="Ubuntu"/>
                <a:sym typeface="Ubuntu"/>
              </a:rPr>
              <a:t>Modelagem de dados </a:t>
            </a:r>
            <a:r>
              <a:rPr lang="pt-PT" sz="1500" dirty="0" err="1">
                <a:solidFill>
                  <a:schemeClr val="lt1"/>
                </a:solidFill>
                <a:ea typeface="Ubuntu"/>
                <a:sym typeface="Ubuntu"/>
              </a:rPr>
              <a:t>NoSQL</a:t>
            </a:r>
            <a:r>
              <a:rPr lang="pt-PT" sz="1500" dirty="0">
                <a:solidFill>
                  <a:schemeClr val="lt1"/>
                </a:solidFill>
                <a:ea typeface="Ubuntu"/>
                <a:sym typeface="Ubuntu"/>
              </a:rPr>
              <a:t> no </a:t>
            </a:r>
            <a:r>
              <a:rPr lang="pt-PT" sz="1500" dirty="0" err="1">
                <a:solidFill>
                  <a:schemeClr val="lt1"/>
                </a:solidFill>
                <a:ea typeface="Ubuntu"/>
                <a:sym typeface="Ubuntu"/>
              </a:rPr>
              <a:t>Azure</a:t>
            </a:r>
            <a:r>
              <a:rPr lang="pt-PT" sz="1500" dirty="0">
                <a:solidFill>
                  <a:schemeClr val="lt1"/>
                </a:solidFill>
                <a:ea typeface="Ubuntu"/>
                <a:sym typeface="Ubuntu"/>
              </a:rPr>
              <a:t> Cosmos DB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5" y="1208768"/>
            <a:ext cx="551489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Fundamentos de modelagem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NoSQL</a:t>
            </a:r>
            <a:endParaRPr lang="pt-PT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41461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Fundamentos de modelagem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NoSQL</a:t>
            </a:r>
            <a:endParaRPr lang="pt-PT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85BEAFD-161A-AF11-A80C-E4FCBE20C006}"/>
              </a:ext>
            </a:extLst>
          </p:cNvPr>
          <p:cNvSpPr txBox="1"/>
          <p:nvPr/>
        </p:nvSpPr>
        <p:spPr>
          <a:xfrm>
            <a:off x="1625579" y="2529418"/>
            <a:ext cx="419902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Partições físicas e lógicas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90237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Modelos de dados no </a:t>
            </a:r>
            <a:r>
              <a:rPr lang="pt-PT" b="1" dirty="0" err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Demonstração</a:t>
            </a:r>
            <a:endParaRPr lang="pt-BR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04 | Modelagem de dados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NoSQL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no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  <p:bldP spid="42" grpId="0"/>
      <p:bldP spid="4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9262133A-5CC9-1658-F919-90E3D9FF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109;p14">
            <a:extLst>
              <a:ext uri="{FF2B5EF4-FFF2-40B4-BE49-F238E27FC236}">
                <a16:creationId xmlns:a16="http://schemas.microsoft.com/office/drawing/2014/main" id="{47D800A9-F8F9-3B10-9067-D83461B0349E}"/>
              </a:ext>
            </a:extLst>
          </p:cNvPr>
          <p:cNvGrpSpPr/>
          <p:nvPr/>
        </p:nvGrpSpPr>
        <p:grpSpPr>
          <a:xfrm>
            <a:off x="397280" y="737984"/>
            <a:ext cx="8315540" cy="4228025"/>
            <a:chOff x="527225" y="1006888"/>
            <a:chExt cx="6536100" cy="3409800"/>
          </a:xfrm>
        </p:grpSpPr>
        <p:sp>
          <p:nvSpPr>
            <p:cNvPr id="7" name="Google Shape;110;p14">
              <a:extLst>
                <a:ext uri="{FF2B5EF4-FFF2-40B4-BE49-F238E27FC236}">
                  <a16:creationId xmlns:a16="http://schemas.microsoft.com/office/drawing/2014/main" id="{8220D4C3-F92F-FEE6-4B19-B8C0888084CC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dirty="0"/>
            </a:p>
          </p:txBody>
        </p:sp>
        <p:sp>
          <p:nvSpPr>
            <p:cNvPr id="8" name="Google Shape;111;p14">
              <a:extLst>
                <a:ext uri="{FF2B5EF4-FFF2-40B4-BE49-F238E27FC236}">
                  <a16:creationId xmlns:a16="http://schemas.microsoft.com/office/drawing/2014/main" id="{C36E6BB0-97A1-6159-4498-69A765D24A82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</a:endParaRPr>
            </a:p>
          </p:txBody>
        </p:sp>
      </p:grpSp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21DB0336-81D8-6C34-CC99-F7AABC4BDCDD}"/>
              </a:ext>
            </a:extLst>
          </p:cNvPr>
          <p:cNvSpPr txBox="1"/>
          <p:nvPr/>
        </p:nvSpPr>
        <p:spPr>
          <a:xfrm>
            <a:off x="240549" y="124357"/>
            <a:ext cx="657656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Modelos de dados no Azure Cosmos DB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84A84695-A61A-E942-9637-5A4DAE3F0569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04 | Modelagem de dados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NoSQL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no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10796B-091C-D2A4-164C-D6C814DF7217}"/>
              </a:ext>
            </a:extLst>
          </p:cNvPr>
          <p:cNvSpPr txBox="1"/>
          <p:nvPr/>
        </p:nvSpPr>
        <p:spPr>
          <a:xfrm>
            <a:off x="2405894" y="4930653"/>
            <a:ext cx="45961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900" i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https://learn.microsoft.com/pt-br/azure/cosmos-db/resource-model</a:t>
            </a:r>
          </a:p>
        </p:txBody>
      </p:sp>
      <p:pic>
        <p:nvPicPr>
          <p:cNvPr id="2050" name="Picture 2" descr="Diagrama do relacionamento entre um contêiner e os itens, incluindo entidades irmãs como procedimentos armazenados, funções definidas pelo usuário e gatilhos.">
            <a:extLst>
              <a:ext uri="{FF2B5EF4-FFF2-40B4-BE49-F238E27FC236}">
                <a16:creationId xmlns:a16="http://schemas.microsoft.com/office/drawing/2014/main" id="{D4206221-F2A1-A5BD-0A29-83DEED387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52" y="1061536"/>
            <a:ext cx="7961971" cy="354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1563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109;p14">
            <a:extLst>
              <a:ext uri="{FF2B5EF4-FFF2-40B4-BE49-F238E27FC236}">
                <a16:creationId xmlns:a16="http://schemas.microsoft.com/office/drawing/2014/main" id="{15EA5BF0-130C-2C18-BD48-33AC3246593E}"/>
              </a:ext>
            </a:extLst>
          </p:cNvPr>
          <p:cNvGrpSpPr/>
          <p:nvPr/>
        </p:nvGrpSpPr>
        <p:grpSpPr>
          <a:xfrm>
            <a:off x="397280" y="737984"/>
            <a:ext cx="8315540" cy="4228025"/>
            <a:chOff x="527225" y="1006888"/>
            <a:chExt cx="6536100" cy="3409800"/>
          </a:xfrm>
        </p:grpSpPr>
        <p:sp>
          <p:nvSpPr>
            <p:cNvPr id="7" name="Google Shape;110;p14">
              <a:extLst>
                <a:ext uri="{FF2B5EF4-FFF2-40B4-BE49-F238E27FC236}">
                  <a16:creationId xmlns:a16="http://schemas.microsoft.com/office/drawing/2014/main" id="{18004C40-0F59-F04D-1314-B985E75EAB02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dirty="0"/>
            </a:p>
          </p:txBody>
        </p:sp>
        <p:sp>
          <p:nvSpPr>
            <p:cNvPr id="8" name="Google Shape;111;p14">
              <a:extLst>
                <a:ext uri="{FF2B5EF4-FFF2-40B4-BE49-F238E27FC236}">
                  <a16:creationId xmlns:a16="http://schemas.microsoft.com/office/drawing/2014/main" id="{580286A2-B31D-2180-2F56-5AA349813B2C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</a:endParaRPr>
            </a:p>
          </p:txBody>
        </p:sp>
      </p:grpSp>
      <p:sp>
        <p:nvSpPr>
          <p:cNvPr id="50" name="Google Shape;50;p13"/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Fundamentos de modelagem NoSQL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04 | Modelagem de dados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NoSQL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no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9794AF-1C8F-F121-64A7-8C70B7091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032" y="874588"/>
            <a:ext cx="2582358" cy="393100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1A8BCE2-39B4-BA31-BC43-1FC7DD88C7C9}"/>
              </a:ext>
            </a:extLst>
          </p:cNvPr>
          <p:cNvSpPr/>
          <p:nvPr/>
        </p:nvSpPr>
        <p:spPr>
          <a:xfrm>
            <a:off x="1248937" y="874588"/>
            <a:ext cx="2319453" cy="39310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151492-B6A2-43BC-EA8F-F8F04DDA5368}"/>
              </a:ext>
            </a:extLst>
          </p:cNvPr>
          <p:cNvSpPr/>
          <p:nvPr/>
        </p:nvSpPr>
        <p:spPr>
          <a:xfrm>
            <a:off x="1501698" y="1248937"/>
            <a:ext cx="1687551" cy="1040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BD02C7-235B-93FD-0A5B-1B3EF37567B0}"/>
              </a:ext>
            </a:extLst>
          </p:cNvPr>
          <p:cNvSpPr/>
          <p:nvPr/>
        </p:nvSpPr>
        <p:spPr>
          <a:xfrm>
            <a:off x="1501697" y="2286001"/>
            <a:ext cx="1687551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2BD5613-2B86-0937-A001-561BEDEA279B}"/>
              </a:ext>
            </a:extLst>
          </p:cNvPr>
          <p:cNvCxnSpPr/>
          <p:nvPr/>
        </p:nvCxnSpPr>
        <p:spPr>
          <a:xfrm>
            <a:off x="3568390" y="936702"/>
            <a:ext cx="12923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8C798F-7570-624D-E80B-7E51AF1C9E98}"/>
              </a:ext>
            </a:extLst>
          </p:cNvPr>
          <p:cNvCxnSpPr>
            <a:cxnSpLocks/>
          </p:cNvCxnSpPr>
          <p:nvPr/>
        </p:nvCxnSpPr>
        <p:spPr>
          <a:xfrm>
            <a:off x="3189248" y="1325505"/>
            <a:ext cx="167144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DB80FB2-32E9-52B7-353C-1B52C4E374BC}"/>
              </a:ext>
            </a:extLst>
          </p:cNvPr>
          <p:cNvCxnSpPr>
            <a:cxnSpLocks/>
          </p:cNvCxnSpPr>
          <p:nvPr/>
        </p:nvCxnSpPr>
        <p:spPr>
          <a:xfrm>
            <a:off x="3189248" y="2430965"/>
            <a:ext cx="167144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557FCB1-CDD4-413C-415F-B181C73BB5DC}"/>
              </a:ext>
            </a:extLst>
          </p:cNvPr>
          <p:cNvSpPr txBox="1"/>
          <p:nvPr/>
        </p:nvSpPr>
        <p:spPr>
          <a:xfrm>
            <a:off x="4954859" y="782813"/>
            <a:ext cx="2225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Objeto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D9E625-9AF1-870C-D25A-7D8558F70896}"/>
              </a:ext>
            </a:extLst>
          </p:cNvPr>
          <p:cNvSpPr txBox="1"/>
          <p:nvPr/>
        </p:nvSpPr>
        <p:spPr>
          <a:xfrm>
            <a:off x="4954859" y="1171616"/>
            <a:ext cx="2999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Objeto – Lista de contatos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85FE2F-8ECF-452D-02BC-ACE876EDF30D}"/>
              </a:ext>
            </a:extLst>
          </p:cNvPr>
          <p:cNvSpPr txBox="1"/>
          <p:nvPr/>
        </p:nvSpPr>
        <p:spPr>
          <a:xfrm>
            <a:off x="4954859" y="2277076"/>
            <a:ext cx="2999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Objeto – Endereço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C7D996-FE2C-F4A7-2A81-C75C3D87479B}"/>
              </a:ext>
            </a:extLst>
          </p:cNvPr>
          <p:cNvSpPr/>
          <p:nvPr/>
        </p:nvSpPr>
        <p:spPr>
          <a:xfrm>
            <a:off x="1962615" y="1619755"/>
            <a:ext cx="981308" cy="1421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9EF4F65-DDAE-BD0D-63EB-831E08A8FE5F}"/>
              </a:ext>
            </a:extLst>
          </p:cNvPr>
          <p:cNvCxnSpPr>
            <a:stCxn id="24" idx="3"/>
          </p:cNvCxnSpPr>
          <p:nvPr/>
        </p:nvCxnSpPr>
        <p:spPr>
          <a:xfrm>
            <a:off x="2943923" y="1690824"/>
            <a:ext cx="1916767" cy="41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C04BCD4-2F02-4CFD-5877-474193A04C14}"/>
              </a:ext>
            </a:extLst>
          </p:cNvPr>
          <p:cNvSpPr txBox="1"/>
          <p:nvPr/>
        </p:nvSpPr>
        <p:spPr>
          <a:xfrm>
            <a:off x="4947427" y="1536935"/>
            <a:ext cx="2999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*Esquema flexível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2" grpId="0" animBg="1"/>
      <p:bldP spid="20" grpId="0"/>
      <p:bldP spid="21" grpId="0"/>
      <p:bldP spid="22" grpId="0"/>
      <p:bldP spid="24" grpId="0" animBg="1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2C16A199-7E4F-2FC4-50D5-412FBA682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109;p14">
            <a:extLst>
              <a:ext uri="{FF2B5EF4-FFF2-40B4-BE49-F238E27FC236}">
                <a16:creationId xmlns:a16="http://schemas.microsoft.com/office/drawing/2014/main" id="{D0F42C89-0815-9805-DDD1-9FA40D4BE8D5}"/>
              </a:ext>
            </a:extLst>
          </p:cNvPr>
          <p:cNvGrpSpPr/>
          <p:nvPr/>
        </p:nvGrpSpPr>
        <p:grpSpPr>
          <a:xfrm>
            <a:off x="397280" y="737984"/>
            <a:ext cx="8315540" cy="4228025"/>
            <a:chOff x="527225" y="1006888"/>
            <a:chExt cx="6536100" cy="3409800"/>
          </a:xfrm>
        </p:grpSpPr>
        <p:sp>
          <p:nvSpPr>
            <p:cNvPr id="7" name="Google Shape;110;p14">
              <a:extLst>
                <a:ext uri="{FF2B5EF4-FFF2-40B4-BE49-F238E27FC236}">
                  <a16:creationId xmlns:a16="http://schemas.microsoft.com/office/drawing/2014/main" id="{FD2CAA71-9A90-8046-2621-10B754DFFDEE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0" dirty="0"/>
            </a:p>
          </p:txBody>
        </p:sp>
        <p:sp>
          <p:nvSpPr>
            <p:cNvPr id="8" name="Google Shape;111;p14">
              <a:extLst>
                <a:ext uri="{FF2B5EF4-FFF2-40B4-BE49-F238E27FC236}">
                  <a16:creationId xmlns:a16="http://schemas.microsoft.com/office/drawing/2014/main" id="{9A1D9FB1-01B7-F8F4-62B5-4FDE549BAFAA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</a:endParaRPr>
            </a:p>
          </p:txBody>
        </p:sp>
      </p:grpSp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3EE1B696-C9B6-584F-925E-F6690541E13F}"/>
              </a:ext>
            </a:extLst>
          </p:cNvPr>
          <p:cNvSpPr txBox="1"/>
          <p:nvPr/>
        </p:nvSpPr>
        <p:spPr>
          <a:xfrm>
            <a:off x="240549" y="124357"/>
            <a:ext cx="657656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Fundamentos de modelagem NoSQL | Partições Fisicas e Lógicas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FCF40A47-860F-B391-AC39-32BD017D421D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04 | Modelagem de dados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NoSQL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no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</a:t>
            </a:r>
          </a:p>
        </p:txBody>
      </p:sp>
      <p:pic>
        <p:nvPicPr>
          <p:cNvPr id="1028" name="Picture 4" descr="Introdução ao Azure Cosmos DB + ASP.NET Core. Parte 1 | by Talles Destefani  de Souza Valiatti | tallesvaliatti.com">
            <a:extLst>
              <a:ext uri="{FF2B5EF4-FFF2-40B4-BE49-F238E27FC236}">
                <a16:creationId xmlns:a16="http://schemas.microsoft.com/office/drawing/2014/main" id="{2DE74AEF-7C1F-7DCA-29BC-C8174F9CD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227" y="762172"/>
            <a:ext cx="7285463" cy="4256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64DAF3-DDEA-8A74-3F1B-306EE8532789}"/>
              </a:ext>
            </a:extLst>
          </p:cNvPr>
          <p:cNvSpPr txBox="1"/>
          <p:nvPr/>
        </p:nvSpPr>
        <p:spPr>
          <a:xfrm>
            <a:off x="2164641" y="4914330"/>
            <a:ext cx="50786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900" i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https://learn.microsoft.com/pt-br/azure/cosmos-db/partitioning-overview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D40F5-4E3A-2B03-67E5-BCD804083D3E}"/>
              </a:ext>
            </a:extLst>
          </p:cNvPr>
          <p:cNvSpPr txBox="1"/>
          <p:nvPr/>
        </p:nvSpPr>
        <p:spPr>
          <a:xfrm>
            <a:off x="1810219" y="441498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10.000 </a:t>
            </a:r>
            <a:r>
              <a:rPr lang="pt-PT" sz="1100" dirty="0" err="1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RUs</a:t>
            </a:r>
            <a:endParaRPr lang="pt-PT" sz="1100" dirty="0">
              <a:solidFill>
                <a:srgbClr val="FF000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0285AB-8491-C6E2-7AD1-3F340E8F3D9F}"/>
              </a:ext>
            </a:extLst>
          </p:cNvPr>
          <p:cNvSpPr txBox="1"/>
          <p:nvPr/>
        </p:nvSpPr>
        <p:spPr>
          <a:xfrm>
            <a:off x="2878318" y="441498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10.000 </a:t>
            </a:r>
            <a:r>
              <a:rPr lang="pt-PT" sz="1100" dirty="0" err="1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RUs</a:t>
            </a:r>
            <a:endParaRPr lang="pt-PT" sz="1100" dirty="0">
              <a:solidFill>
                <a:srgbClr val="FF000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01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58D395-4B12-FFC9-3A25-7B8C0C508DA9}"/>
              </a:ext>
            </a:extLst>
          </p:cNvPr>
          <p:cNvSpPr txBox="1"/>
          <p:nvPr/>
        </p:nvSpPr>
        <p:spPr>
          <a:xfrm>
            <a:off x="3652846" y="2202418"/>
            <a:ext cx="237757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>
                <a:solidFill>
                  <a:srgbClr val="92D050"/>
                </a:solidFill>
                <a:latin typeface="Fira Code Light"/>
                <a:ea typeface="+mn-ea"/>
                <a:cs typeface="+mn-cs"/>
              </a:rPr>
              <a:t>Demostração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Criar um container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Criar documentos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Executar consultas</a:t>
            </a:r>
          </a:p>
        </p:txBody>
      </p:sp>
      <p:sp>
        <p:nvSpPr>
          <p:cNvPr id="3" name="Google Shape;50;p13">
            <a:extLst>
              <a:ext uri="{FF2B5EF4-FFF2-40B4-BE49-F238E27FC236}">
                <a16:creationId xmlns:a16="http://schemas.microsoft.com/office/drawing/2014/main" id="{C45CC126-0126-9072-1059-8CFA458712D1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Vamos praticar!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Google Shape;51;p13">
            <a:extLst>
              <a:ext uri="{FF2B5EF4-FFF2-40B4-BE49-F238E27FC236}">
                <a16:creationId xmlns:a16="http://schemas.microsoft.com/office/drawing/2014/main" id="{FBE14C4E-3F63-139D-90B7-6894ECBE4A6C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04 | Modelagem de dados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NoSQL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no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</a:t>
            </a:r>
          </a:p>
        </p:txBody>
      </p:sp>
    </p:spTree>
    <p:extLst>
      <p:ext uri="{BB962C8B-B14F-4D97-AF65-F5344CB8AC3E}">
        <p14:creationId xmlns:p14="http://schemas.microsoft.com/office/powerpoint/2010/main" val="1245481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651512" y="2048544"/>
            <a:ext cx="48105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Modelagem </a:t>
            </a:r>
            <a:r>
              <a:rPr lang="pt-PT" sz="1400" b="1" i="0" u="none" strike="noStrike" cap="none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NoSQL</a:t>
            </a: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Partições físicas e lógicas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Modelos de dados no </a:t>
            </a:r>
            <a:r>
              <a:rPr lang="pt-PT" sz="1400" b="1" i="0" u="none" strike="noStrike" cap="none" dirty="0" err="1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Azure</a:t>
            </a: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 Cosmos DB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 Light"/>
                <a:ea typeface="Fira Code Light"/>
                <a:cs typeface="Fira Code Light"/>
                <a:sym typeface="Fira Code Light"/>
              </a:rPr>
              <a:t>Demonstração</a:t>
            </a: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Recapitulação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04 | Modelagem de dados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NoSQL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no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Cosmos DB</a:t>
            </a:r>
          </a:p>
        </p:txBody>
      </p:sp>
      <p:pic>
        <p:nvPicPr>
          <p:cNvPr id="1026" name="Picture 2" descr="Cosmos DB - Wikipedia">
            <a:extLst>
              <a:ext uri="{FF2B5EF4-FFF2-40B4-BE49-F238E27FC236}">
                <a16:creationId xmlns:a16="http://schemas.microsoft.com/office/drawing/2014/main" id="{4CD961A4-E406-3A84-E536-35A00AFD5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251" y="1631330"/>
            <a:ext cx="2693547" cy="188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244</Words>
  <Application>Microsoft Office PowerPoint</Application>
  <PresentationFormat>On-screen Show (16:9)</PresentationFormat>
  <Paragraphs>36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Wingdings</vt:lpstr>
      <vt:lpstr>Fira Code</vt:lpstr>
      <vt:lpstr>Arial</vt:lpstr>
      <vt:lpstr>Fira Code Light</vt:lpstr>
      <vt:lpstr>Ubuntu Light</vt:lpstr>
      <vt:lpstr>Ubuntu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282</cp:revision>
  <dcterms:modified xsi:type="dcterms:W3CDTF">2025-01-05T15:37:40Z</dcterms:modified>
</cp:coreProperties>
</file>