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62" r:id="rId3"/>
    <p:sldId id="257" r:id="rId4"/>
    <p:sldId id="264" r:id="rId5"/>
    <p:sldId id="265" r:id="rId6"/>
    <p:sldId id="263" r:id="rId7"/>
    <p:sldId id="267" r:id="rId8"/>
    <p:sldId id="268" r:id="rId9"/>
    <p:sldId id="261" r:id="rId10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Fira Code Light" panose="020B0809050000020004" pitchFamily="49" charset="0"/>
      <p:regular r:id="rId14"/>
      <p:bold r:id="rId15"/>
    </p:embeddedFont>
    <p:embeddedFont>
      <p:font typeface="Ubuntu" panose="020B0504030602030204" pitchFamily="34" charset="0"/>
      <p:regular r:id="rId16"/>
      <p:bold r:id="rId17"/>
      <p:italic r:id="rId18"/>
      <p:boldItalic r:id="rId19"/>
    </p:embeddedFont>
    <p:embeddedFont>
      <p:font typeface="Ubuntu Light" panose="020B0304030602030204" pitchFamily="3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/>
              <a:t>Os bancos de dados na nuvem são particularmente úteis em cenários de e-commerce e aplicativos móveis. Eles permitem que as empresas armazenem dados de produtos, clientes e usuários de forma eficiente e segura, o que é essencial para o sucesso nesses mercados altamente competitivos.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capa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t="10223" b="1021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00" y="780750"/>
            <a:ext cx="2012820" cy="12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196920" y="3731617"/>
            <a:ext cx="4944796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03 | </a:t>
            </a:r>
            <a:r>
              <a:rPr lang="pt-BR" sz="1500" dirty="0">
                <a:solidFill>
                  <a:schemeClr val="lt1"/>
                </a:solidFill>
                <a:ea typeface="Ubuntu"/>
                <a:sym typeface="Ubuntu"/>
              </a:rPr>
              <a:t>Introdução ao Azure Cosmos DB e Azure SQL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são bancos de dados gerenciados em nuvem? </a:t>
            </a:r>
          </a:p>
          <a:p>
            <a:pPr algn="l"/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1461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DB?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85BEAFD-161A-AF11-A80C-E4FCBE20C006}"/>
              </a:ext>
            </a:extLst>
          </p:cNvPr>
          <p:cNvSpPr txBox="1"/>
          <p:nvPr/>
        </p:nvSpPr>
        <p:spPr>
          <a:xfrm>
            <a:off x="1625579" y="2529418"/>
            <a:ext cx="419902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Database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?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Comparação entre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 Server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Demonstração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03 | Introdução ao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são bancos de dados gerenciados em nuvem? 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03 | Introdução ao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52" name="Google Shape;52;p13"/>
          <p:cNvSpPr txBox="1"/>
          <p:nvPr/>
        </p:nvSpPr>
        <p:spPr>
          <a:xfrm>
            <a:off x="575049" y="1463769"/>
            <a:ext cx="340222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100" b="1" dirty="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Banco de Dados como Serviço (DBaaS)</a:t>
            </a:r>
            <a:r>
              <a:rPr lang="pt-BR" sz="1100" dirty="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 </a:t>
            </a:r>
          </a:p>
          <a:p>
            <a:endParaRPr lang="pt-BR" sz="1100" dirty="0">
              <a:solidFill>
                <a:srgbClr val="242424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É um modelo de serviço em nuvem que permite às empresas utilizar bancos de dados sem a necessidade de gerenciar a infraestrutura física ou o software de banco de dados. Em vez disso, um provedor de serviços cuida da administração e manutenção do banco de dados, permitindo que os usuários se concentrem em suas aplicações e dados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endParaRPr lang="pt-BR" sz="11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" name="Imagem 1" descr="Cidade grande com prédios altos&#10;&#10;Descrição gerada automaticamente">
            <a:extLst>
              <a:ext uri="{FF2B5EF4-FFF2-40B4-BE49-F238E27FC236}">
                <a16:creationId xmlns:a16="http://schemas.microsoft.com/office/drawing/2014/main" id="{570CF8C2-B028-0CC8-190A-F1AE917F0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50" y="557092"/>
            <a:ext cx="4572503" cy="4581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;p14" descr="Padrão do plano de fundo&#10;&#10;Descrição gerada automaticamente">
            <a:extLst>
              <a:ext uri="{FF2B5EF4-FFF2-40B4-BE49-F238E27FC236}">
                <a16:creationId xmlns:a16="http://schemas.microsoft.com/office/drawing/2014/main" id="{90226159-BD87-68F9-110C-A0B53C9FE0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6878" y="1205505"/>
            <a:ext cx="4125377" cy="19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D078473-1F5B-69FD-EE69-88AB68A984D4}"/>
              </a:ext>
            </a:extLst>
          </p:cNvPr>
          <p:cNvSpPr txBox="1"/>
          <p:nvPr/>
        </p:nvSpPr>
        <p:spPr>
          <a:xfrm>
            <a:off x="1136225" y="1708288"/>
            <a:ext cx="3242487" cy="93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 um serviço de banco de dados NoSQL distribuído globalmente, projetado para aplicações que requerem alta escalabilidade, baixa latência e replicação global. 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E28328-BB54-8AA7-C5E8-75BBF2D66E4F}"/>
              </a:ext>
            </a:extLst>
          </p:cNvPr>
          <p:cNvSpPr txBox="1"/>
          <p:nvPr/>
        </p:nvSpPr>
        <p:spPr>
          <a:xfrm>
            <a:off x="1649299" y="1241273"/>
            <a:ext cx="194875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 Cosmos DB</a:t>
            </a:r>
          </a:p>
        </p:txBody>
      </p:sp>
      <p:grpSp>
        <p:nvGrpSpPr>
          <p:cNvPr id="9" name="Google Shape;109;p14">
            <a:extLst>
              <a:ext uri="{FF2B5EF4-FFF2-40B4-BE49-F238E27FC236}">
                <a16:creationId xmlns:a16="http://schemas.microsoft.com/office/drawing/2014/main" id="{C56934CB-1744-49AE-2CDA-0022CDC051A0}"/>
              </a:ext>
            </a:extLst>
          </p:cNvPr>
          <p:cNvGrpSpPr/>
          <p:nvPr/>
        </p:nvGrpSpPr>
        <p:grpSpPr>
          <a:xfrm>
            <a:off x="4756912" y="2731629"/>
            <a:ext cx="4006626" cy="2140336"/>
            <a:chOff x="527225" y="1006888"/>
            <a:chExt cx="6536100" cy="3409800"/>
          </a:xfrm>
        </p:grpSpPr>
        <p:sp>
          <p:nvSpPr>
            <p:cNvPr id="7" name="Google Shape;110;p14">
              <a:extLst>
                <a:ext uri="{FF2B5EF4-FFF2-40B4-BE49-F238E27FC236}">
                  <a16:creationId xmlns:a16="http://schemas.microsoft.com/office/drawing/2014/main" id="{BDAA7326-8655-AF85-1F07-B7232F41471E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8" name="Google Shape;111;p14">
              <a:extLst>
                <a:ext uri="{FF2B5EF4-FFF2-40B4-BE49-F238E27FC236}">
                  <a16:creationId xmlns:a16="http://schemas.microsoft.com/office/drawing/2014/main" id="{A667FC7C-893E-5CB6-0D44-00E134E5A11A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334BDA6-06E2-6A50-1222-383F16112A71}"/>
              </a:ext>
            </a:extLst>
          </p:cNvPr>
          <p:cNvSpPr txBox="1"/>
          <p:nvPr/>
        </p:nvSpPr>
        <p:spPr>
          <a:xfrm>
            <a:off x="5676275" y="2852513"/>
            <a:ext cx="27920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Quando Utilizar?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B92F096-ECBB-E020-235D-C1A8248EB5AD}"/>
              </a:ext>
            </a:extLst>
          </p:cNvPr>
          <p:cNvSpPr txBox="1"/>
          <p:nvPr/>
        </p:nvSpPr>
        <p:spPr>
          <a:xfrm>
            <a:off x="4875249" y="3228795"/>
            <a:ext cx="359304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Aplicativos de IoT e telemetria.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Comércio eletrônico com necessidade de personalização em tempo real.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Aplicativos de jogos e redes sociais que exigem alta taxa de transferência e baixa latência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l"/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A2CA8E79-BAE2-A33A-C13E-D1BD0FF3D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64" y="2320357"/>
            <a:ext cx="652993" cy="618068"/>
          </a:xfrm>
          <a:prstGeom prst="rect">
            <a:avLst/>
          </a:prstGeom>
        </p:spPr>
      </p:pic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5ED5302B-F8EB-C95D-DEDE-A0E385546C00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Azure Cosmos DB?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" name="Google Shape;51;p13">
            <a:extLst>
              <a:ext uri="{FF2B5EF4-FFF2-40B4-BE49-F238E27FC236}">
                <a16:creationId xmlns:a16="http://schemas.microsoft.com/office/drawing/2014/main" id="{1B31205F-5B70-B78C-DA90-E2B6D4D4E64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03 | Introdução ao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162027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;p14" descr="Padrão do plano de fundo&#10;&#10;Descrição gerada automaticamente">
            <a:extLst>
              <a:ext uri="{FF2B5EF4-FFF2-40B4-BE49-F238E27FC236}">
                <a16:creationId xmlns:a16="http://schemas.microsoft.com/office/drawing/2014/main" id="{66DB40F2-6F67-B9AB-64FF-036869959A7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549" y="1174192"/>
            <a:ext cx="4125377" cy="19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1B2C997-2F82-46EA-A5EF-E38DB8D8115B}"/>
              </a:ext>
            </a:extLst>
          </p:cNvPr>
          <p:cNvSpPr txBox="1"/>
          <p:nvPr/>
        </p:nvSpPr>
        <p:spPr>
          <a:xfrm>
            <a:off x="1227580" y="1711472"/>
            <a:ext cx="3032991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 um serviço de banco de dados relacional totalmente gerenciado, baseado no mecanismo SQL Server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A16453-F294-47EF-961F-C7C4DC36BB2A}"/>
              </a:ext>
            </a:extLst>
          </p:cNvPr>
          <p:cNvSpPr txBox="1"/>
          <p:nvPr/>
        </p:nvSpPr>
        <p:spPr>
          <a:xfrm>
            <a:off x="1566681" y="1317493"/>
            <a:ext cx="235479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 SQL </a:t>
            </a:r>
            <a:r>
              <a:rPr lang="pt-BR" dirty="0" err="1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Database</a:t>
            </a:r>
          </a:p>
        </p:txBody>
      </p:sp>
      <p:grpSp>
        <p:nvGrpSpPr>
          <p:cNvPr id="11" name="Google Shape;109;p14">
            <a:extLst>
              <a:ext uri="{FF2B5EF4-FFF2-40B4-BE49-F238E27FC236}">
                <a16:creationId xmlns:a16="http://schemas.microsoft.com/office/drawing/2014/main" id="{B347751E-3C81-AEC6-2C78-759799C74B92}"/>
              </a:ext>
            </a:extLst>
          </p:cNvPr>
          <p:cNvGrpSpPr/>
          <p:nvPr/>
        </p:nvGrpSpPr>
        <p:grpSpPr>
          <a:xfrm>
            <a:off x="4778076" y="2739063"/>
            <a:ext cx="4006626" cy="2140336"/>
            <a:chOff x="527225" y="1006888"/>
            <a:chExt cx="6536100" cy="3409800"/>
          </a:xfrm>
        </p:grpSpPr>
        <p:sp>
          <p:nvSpPr>
            <p:cNvPr id="9" name="Google Shape;110;p14">
              <a:extLst>
                <a:ext uri="{FF2B5EF4-FFF2-40B4-BE49-F238E27FC236}">
                  <a16:creationId xmlns:a16="http://schemas.microsoft.com/office/drawing/2014/main" id="{9A5EA405-0517-527C-F857-CF50EFA43EC7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0" name="Google Shape;111;p14">
              <a:extLst>
                <a:ext uri="{FF2B5EF4-FFF2-40B4-BE49-F238E27FC236}">
                  <a16:creationId xmlns:a16="http://schemas.microsoft.com/office/drawing/2014/main" id="{52906B3E-D87D-2BF8-5267-B159BA225651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5761D48-E10F-F8DD-0370-DFB8F228D4F6}"/>
              </a:ext>
            </a:extLst>
          </p:cNvPr>
          <p:cNvSpPr txBox="1"/>
          <p:nvPr/>
        </p:nvSpPr>
        <p:spPr>
          <a:xfrm>
            <a:off x="5826498" y="2881481"/>
            <a:ext cx="1909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Quando Utilizar?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AF5FB29-B6C9-4F65-55C4-CCC378C25B51}"/>
              </a:ext>
            </a:extLst>
          </p:cNvPr>
          <p:cNvSpPr txBox="1"/>
          <p:nvPr/>
        </p:nvSpPr>
        <p:spPr>
          <a:xfrm>
            <a:off x="4896413" y="3236229"/>
            <a:ext cx="3593041" cy="1492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Aplicativos empresariais que exigem transações ACID.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Sistemas de gerenciamento de conteúdo e CRM.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Aplicativos que precisam de consultas complexas e relatórios analíticos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endParaRPr lang="pt-BR" sz="11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l"/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8" name="Imagem 17" descr="Logotipo&#10;&#10;Descrição gerada automaticamente">
            <a:extLst>
              <a:ext uri="{FF2B5EF4-FFF2-40B4-BE49-F238E27FC236}">
                <a16:creationId xmlns:a16="http://schemas.microsoft.com/office/drawing/2014/main" id="{7ED999C9-A3E5-636A-7CDB-FBA0FAC6B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79" y="2314444"/>
            <a:ext cx="591656" cy="620184"/>
          </a:xfrm>
          <a:prstGeom prst="rect">
            <a:avLst/>
          </a:prstGeom>
        </p:spPr>
      </p:pic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B905CBCD-68C9-2AB1-7BA1-47D01696ABC8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Azure SQL Database?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BEB1DAD4-E1A6-F647-83BC-FBD70F900B4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03 | Introdução ao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286168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70;p14">
            <a:extLst>
              <a:ext uri="{FF2B5EF4-FFF2-40B4-BE49-F238E27FC236}">
                <a16:creationId xmlns:a16="http://schemas.microsoft.com/office/drawing/2014/main" id="{2AACA208-588C-FF7B-C287-15599A93D05B}"/>
              </a:ext>
            </a:extLst>
          </p:cNvPr>
          <p:cNvGrpSpPr/>
          <p:nvPr/>
        </p:nvGrpSpPr>
        <p:grpSpPr>
          <a:xfrm>
            <a:off x="1613988" y="780581"/>
            <a:ext cx="5913311" cy="3835204"/>
            <a:chOff x="243550" y="1397650"/>
            <a:chExt cx="7128250" cy="2938103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D598CAE6-29E2-9A1E-9492-C949184DBB02}"/>
                </a:ext>
              </a:extLst>
            </p:cNvPr>
            <p:cNvSpPr/>
            <p:nvPr/>
          </p:nvSpPr>
          <p:spPr>
            <a:xfrm>
              <a:off x="243550" y="2659903"/>
              <a:ext cx="7128250" cy="1675850"/>
            </a:xfrm>
            <a:custGeom>
              <a:avLst/>
              <a:gdLst/>
              <a:ahLst/>
              <a:cxnLst/>
              <a:rect l="l" t="t" r="r" b="b"/>
              <a:pathLst>
                <a:path w="285130" h="67034" extrusionOk="0">
                  <a:moveTo>
                    <a:pt x="0" y="1"/>
                  </a:moveTo>
                  <a:lnTo>
                    <a:pt x="0" y="63311"/>
                  </a:lnTo>
                  <a:cubicBezTo>
                    <a:pt x="0" y="65359"/>
                    <a:pt x="1675" y="67034"/>
                    <a:pt x="3722" y="67034"/>
                  </a:cubicBezTo>
                  <a:lnTo>
                    <a:pt x="281407" y="67034"/>
                  </a:lnTo>
                  <a:cubicBezTo>
                    <a:pt x="283455" y="67034"/>
                    <a:pt x="285130" y="65359"/>
                    <a:pt x="285130" y="63311"/>
                  </a:cubicBezTo>
                  <a:lnTo>
                    <a:pt x="285130" y="1"/>
                  </a:ln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indent="-285750">
                <a:buChar char="•"/>
              </a:pPr>
              <a:endParaRPr lang="en-US" sz="600" dirty="0">
                <a:solidFill>
                  <a:srgbClr val="242424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9" name="Google Shape;72;p14">
              <a:extLst>
                <a:ext uri="{FF2B5EF4-FFF2-40B4-BE49-F238E27FC236}">
                  <a16:creationId xmlns:a16="http://schemas.microsoft.com/office/drawing/2014/main" id="{D2C0735E-A33E-9250-E6F9-4A1B33E66E9B}"/>
                </a:ext>
              </a:extLst>
            </p:cNvPr>
            <p:cNvSpPr/>
            <p:nvPr/>
          </p:nvSpPr>
          <p:spPr>
            <a:xfrm>
              <a:off x="243550" y="2029650"/>
              <a:ext cx="7128250" cy="600250"/>
            </a:xfrm>
            <a:custGeom>
              <a:avLst/>
              <a:gdLst/>
              <a:ahLst/>
              <a:cxnLst/>
              <a:rect l="l" t="t" r="r" b="b"/>
              <a:pathLst>
                <a:path w="285130" h="24010" extrusionOk="0">
                  <a:moveTo>
                    <a:pt x="0" y="1"/>
                  </a:moveTo>
                  <a:lnTo>
                    <a:pt x="0" y="24010"/>
                  </a:lnTo>
                  <a:lnTo>
                    <a:pt x="285130" y="24010"/>
                  </a:lnTo>
                  <a:lnTo>
                    <a:pt x="285130" y="1"/>
                  </a:lnTo>
                  <a:close/>
                </a:path>
              </a:pathLst>
            </a:custGeom>
            <a:solidFill>
              <a:srgbClr val="383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0" name="Google Shape;73;p14">
              <a:extLst>
                <a:ext uri="{FF2B5EF4-FFF2-40B4-BE49-F238E27FC236}">
                  <a16:creationId xmlns:a16="http://schemas.microsoft.com/office/drawing/2014/main" id="{E2A79D04-E634-E6A7-410C-9023C4D71153}"/>
                </a:ext>
              </a:extLst>
            </p:cNvPr>
            <p:cNvSpPr/>
            <p:nvPr/>
          </p:nvSpPr>
          <p:spPr>
            <a:xfrm>
              <a:off x="243550" y="1397650"/>
              <a:ext cx="7128250" cy="632025"/>
            </a:xfrm>
            <a:custGeom>
              <a:avLst/>
              <a:gdLst/>
              <a:ahLst/>
              <a:cxnLst/>
              <a:rect l="l" t="t" r="r" b="b"/>
              <a:pathLst>
                <a:path w="285130" h="25281" extrusionOk="0">
                  <a:moveTo>
                    <a:pt x="3722" y="0"/>
                  </a:moveTo>
                  <a:cubicBezTo>
                    <a:pt x="1675" y="0"/>
                    <a:pt x="0" y="1644"/>
                    <a:pt x="0" y="3691"/>
                  </a:cubicBezTo>
                  <a:lnTo>
                    <a:pt x="0" y="25281"/>
                  </a:lnTo>
                  <a:lnTo>
                    <a:pt x="285130" y="25281"/>
                  </a:lnTo>
                  <a:lnTo>
                    <a:pt x="285130" y="3691"/>
                  </a:lnTo>
                  <a:cubicBezTo>
                    <a:pt x="285130" y="1644"/>
                    <a:pt x="283455" y="0"/>
                    <a:pt x="281407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cxnSp>
        <p:nvCxnSpPr>
          <p:cNvPr id="13" name="Google Shape;101;p14">
            <a:extLst>
              <a:ext uri="{FF2B5EF4-FFF2-40B4-BE49-F238E27FC236}">
                <a16:creationId xmlns:a16="http://schemas.microsoft.com/office/drawing/2014/main" id="{C69D759A-8A5A-93D5-660A-CFCA0976B02F}"/>
              </a:ext>
            </a:extLst>
          </p:cNvPr>
          <p:cNvCxnSpPr/>
          <p:nvPr/>
        </p:nvCxnSpPr>
        <p:spPr>
          <a:xfrm flipH="1">
            <a:off x="4593008" y="1591068"/>
            <a:ext cx="5291" cy="3025600"/>
          </a:xfrm>
          <a:prstGeom prst="straightConnector1">
            <a:avLst/>
          </a:prstGeom>
          <a:noFill/>
          <a:ln w="9525" cap="flat" cmpd="sng">
            <a:solidFill>
              <a:srgbClr val="6A6A6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02;p14">
            <a:extLst>
              <a:ext uri="{FF2B5EF4-FFF2-40B4-BE49-F238E27FC236}">
                <a16:creationId xmlns:a16="http://schemas.microsoft.com/office/drawing/2014/main" id="{45438A5E-19BC-4FCE-1B78-F8B00527D179}"/>
              </a:ext>
            </a:extLst>
          </p:cNvPr>
          <p:cNvSpPr txBox="1"/>
          <p:nvPr/>
        </p:nvSpPr>
        <p:spPr>
          <a:xfrm>
            <a:off x="2401986" y="1062750"/>
            <a:ext cx="433731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Por que Azure Cosmos DB e Azure SQL? </a:t>
            </a:r>
            <a:endParaRPr lang="pt-BR" dirty="0">
              <a:solidFill>
                <a:schemeClr val="tx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7" name="Google Shape;103;p14">
            <a:extLst>
              <a:ext uri="{FF2B5EF4-FFF2-40B4-BE49-F238E27FC236}">
                <a16:creationId xmlns:a16="http://schemas.microsoft.com/office/drawing/2014/main" id="{E58AEE2C-F85B-4314-F37E-A1884F4844D6}"/>
              </a:ext>
            </a:extLst>
          </p:cNvPr>
          <p:cNvSpPr txBox="1"/>
          <p:nvPr/>
        </p:nvSpPr>
        <p:spPr>
          <a:xfrm>
            <a:off x="2135467" y="1797275"/>
            <a:ext cx="194956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Azure Cosmos DB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9" name="Google Shape;104;p14">
            <a:extLst>
              <a:ext uri="{FF2B5EF4-FFF2-40B4-BE49-F238E27FC236}">
                <a16:creationId xmlns:a16="http://schemas.microsoft.com/office/drawing/2014/main" id="{E787E3A2-2738-1583-2065-AD08F945C6E7}"/>
              </a:ext>
            </a:extLst>
          </p:cNvPr>
          <p:cNvSpPr txBox="1"/>
          <p:nvPr/>
        </p:nvSpPr>
        <p:spPr>
          <a:xfrm>
            <a:off x="5483713" y="1793279"/>
            <a:ext cx="122912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Azure SQL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1" name="Google Shape;105;p14">
            <a:extLst>
              <a:ext uri="{FF2B5EF4-FFF2-40B4-BE49-F238E27FC236}">
                <a16:creationId xmlns:a16="http://schemas.microsoft.com/office/drawing/2014/main" id="{9D6E2DA1-203F-B814-5370-BEEFD3CC01B6}"/>
              </a:ext>
            </a:extLst>
          </p:cNvPr>
          <p:cNvSpPr txBox="1"/>
          <p:nvPr/>
        </p:nvSpPr>
        <p:spPr>
          <a:xfrm>
            <a:off x="4703958" y="2737197"/>
            <a:ext cx="2689867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92D050"/>
              </a:buClr>
              <a:buSzPts val="1100"/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Compatibilidade com SQL Server</a:t>
            </a:r>
          </a:p>
          <a:p>
            <a:pPr marL="171450" indent="-171450">
              <a:lnSpc>
                <a:spcPct val="150000"/>
              </a:lnSpc>
              <a:buClr>
                <a:srgbClr val="92D050"/>
              </a:buClr>
              <a:buSzPts val="1100"/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Alta Segurança</a:t>
            </a:r>
          </a:p>
          <a:p>
            <a:pPr marL="171450" indent="-171450">
              <a:lnSpc>
                <a:spcPct val="150000"/>
              </a:lnSpc>
              <a:buClr>
                <a:srgbClr val="92D050"/>
              </a:buClr>
              <a:buSzPts val="1100"/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 e Elasticidade</a:t>
            </a:r>
          </a:p>
          <a:p>
            <a:pPr marL="171450" indent="-171450">
              <a:lnSpc>
                <a:spcPct val="150000"/>
              </a:lnSpc>
              <a:buClr>
                <a:srgbClr val="92D050"/>
              </a:buClr>
              <a:buSzPts val="1100"/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Gerenciamento Simplificado</a:t>
            </a:r>
          </a:p>
        </p:txBody>
      </p:sp>
      <p:sp>
        <p:nvSpPr>
          <p:cNvPr id="23" name="Google Shape;106;p14">
            <a:extLst>
              <a:ext uri="{FF2B5EF4-FFF2-40B4-BE49-F238E27FC236}">
                <a16:creationId xmlns:a16="http://schemas.microsoft.com/office/drawing/2014/main" id="{2A5E37C7-852B-0E3D-485B-97A6B7FBC250}"/>
              </a:ext>
            </a:extLst>
          </p:cNvPr>
          <p:cNvSpPr txBox="1"/>
          <p:nvPr/>
        </p:nvSpPr>
        <p:spPr>
          <a:xfrm>
            <a:off x="1848941" y="2737197"/>
            <a:ext cx="2236091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92D050"/>
              </a:buClr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Distribuição Global</a:t>
            </a:r>
            <a:endParaRPr lang="pt-BR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indent="-171450">
              <a:lnSpc>
                <a:spcPct val="150000"/>
              </a:lnSpc>
              <a:buClr>
                <a:srgbClr val="92D050"/>
              </a:buClr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 elástica</a:t>
            </a:r>
          </a:p>
          <a:p>
            <a:pPr marL="171450" indent="-171450">
              <a:lnSpc>
                <a:spcPct val="150000"/>
              </a:lnSpc>
              <a:buClr>
                <a:srgbClr val="92D050"/>
              </a:buClr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Baixa latência</a:t>
            </a:r>
          </a:p>
          <a:p>
            <a:pPr marL="171450" indent="-171450">
              <a:lnSpc>
                <a:spcPct val="150000"/>
              </a:lnSpc>
              <a:buClr>
                <a:srgbClr val="92D050"/>
              </a:buClr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Suporte a APIs múltiplas</a:t>
            </a:r>
          </a:p>
          <a:p>
            <a:pPr marL="171450" indent="-171450">
              <a:lnSpc>
                <a:spcPct val="150000"/>
              </a:lnSpc>
              <a:buClr>
                <a:srgbClr val="92D050"/>
              </a:buClr>
              <a:buFont typeface="Wingdings"/>
              <a:buChar char="Ø"/>
            </a:pPr>
            <a:r>
              <a:rPr lang="pt-BR" sz="10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Modelo NoSQL flexível</a:t>
            </a:r>
          </a:p>
          <a:p>
            <a:pPr marL="171450" indent="-171450">
              <a:lnSpc>
                <a:spcPct val="150000"/>
              </a:lnSpc>
              <a:buClr>
                <a:srgbClr val="92D050"/>
              </a:buClr>
              <a:buFont typeface="Wingdings"/>
              <a:buChar char="Ø"/>
            </a:pPr>
            <a:endParaRPr lang="pt-BR" sz="6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1D3ED0CD-0F53-F5A3-BDA1-739CE38A39BC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Comparação entre Azure Cosmos DB e Azure SQL Server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4DF65B59-C8F7-2CBB-FF54-042591C2DEA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03 | Introdução ao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293231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8D395-4B12-FFC9-3A25-7B8C0C508DA9}"/>
              </a:ext>
            </a:extLst>
          </p:cNvPr>
          <p:cNvSpPr txBox="1"/>
          <p:nvPr/>
        </p:nvSpPr>
        <p:spPr>
          <a:xfrm>
            <a:off x="3652846" y="2202418"/>
            <a:ext cx="45544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rgbClr val="92D050"/>
                </a:solidFill>
                <a:latin typeface="Fira Code Light"/>
                <a:ea typeface="+mn-ea"/>
                <a:cs typeface="+mn-cs"/>
              </a:rPr>
              <a:t>Demostração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uma instancia Cosmos DB no </a:t>
            </a:r>
            <a:r>
              <a:rPr lang="pt-PT" b="1" dirty="0" err="1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Azure</a:t>
            </a:r>
            <a:endParaRPr lang="pt-PT" b="1" dirty="0">
              <a:solidFill>
                <a:schemeClr val="bg1"/>
              </a:solidFill>
              <a:latin typeface="Fira Code Light"/>
              <a:ea typeface="+mn-ea"/>
              <a:cs typeface="+mn-cs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uma instancia </a:t>
            </a:r>
            <a:r>
              <a:rPr lang="pt-PT" b="1" dirty="0" err="1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 SQL Server</a:t>
            </a:r>
          </a:p>
        </p:txBody>
      </p:sp>
      <p:sp>
        <p:nvSpPr>
          <p:cNvPr id="3" name="Google Shape;50;p13">
            <a:extLst>
              <a:ext uri="{FF2B5EF4-FFF2-40B4-BE49-F238E27FC236}">
                <a16:creationId xmlns:a16="http://schemas.microsoft.com/office/drawing/2014/main" id="{C45CC126-0126-9072-1059-8CFA458712D1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Vamos praticar!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FBE14C4E-3F63-139D-90B7-6894ECBE4A6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03 | Introdução ao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124548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508177" y="1498854"/>
            <a:ext cx="48105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 que são bancos de dados gerenciados em nuvem? 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 que é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Azure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Cosmos DB?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 que é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Azure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SQL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Database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?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Comparação entre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Azure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Cosmos DB e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Azure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SQL Server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Demonstração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endParaRPr lang="pt-PT" sz="1400" b="1" i="0" u="none" strike="noStrike" cap="none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endParaRPr lang="pt-PT" sz="1400" b="1" i="0" u="none" strike="noStrike" cap="none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endParaRPr lang="pt-PT" sz="1400" b="1" i="0" u="none" strike="noStrike" cap="none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03 | Introdução ao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1026" name="Picture 2" descr="Cosmos DB - Wikipedia">
            <a:extLst>
              <a:ext uri="{FF2B5EF4-FFF2-40B4-BE49-F238E27FC236}">
                <a16:creationId xmlns:a16="http://schemas.microsoft.com/office/drawing/2014/main" id="{4CD961A4-E406-3A84-E536-35A00AFD5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04" y="1040780"/>
            <a:ext cx="2693547" cy="18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w Azure SQL Database free offer - Azure SQL Devs' Corner">
            <a:extLst>
              <a:ext uri="{FF2B5EF4-FFF2-40B4-BE49-F238E27FC236}">
                <a16:creationId xmlns:a16="http://schemas.microsoft.com/office/drawing/2014/main" id="{60C94AD7-F51B-08BA-30D7-A4715B1EB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83005"/>
            <a:ext cx="3009342" cy="18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477</Words>
  <Application>Microsoft Office PowerPoint</Application>
  <PresentationFormat>On-screen Show (16:9)</PresentationFormat>
  <Paragraphs>58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Fira Code Light</vt:lpstr>
      <vt:lpstr>Fira Code</vt:lpstr>
      <vt:lpstr>Ubuntu Light</vt:lpstr>
      <vt:lpstr>Ubuntu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276</cp:revision>
  <dcterms:modified xsi:type="dcterms:W3CDTF">2024-12-26T14:02:12Z</dcterms:modified>
</cp:coreProperties>
</file>